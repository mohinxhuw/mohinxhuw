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4.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5.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6.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7.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8.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9.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10.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1.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12.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13.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1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charts/chart15.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charts/chart16.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charts/chart17.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charts/chart18.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charts/chart21.xml" ContentType="application/vnd.openxmlformats-officedocument.drawingml.chart+xml"/>
  <Override PartName="/ppt/slideMasters/slideMaster66.xml" ContentType="application/vnd.openxmlformats-officedocument.presentationml.slideMaster+xml"/>
  <Override PartName="/ppt/slides/slide66.xml" ContentType="application/vnd.openxmlformats-officedocument.presentationml.slide+xml"/>
  <Override PartName="/ppt/charts/chart22.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charts/chart23.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charts/chart24.xml" ContentType="application/vnd.openxmlformats-officedocument.drawingml.chart+xml"/>
  <Override PartName="/ppt/slideMasters/slideMaster71.xml" ContentType="application/vnd.openxmlformats-officedocument.presentationml.slideMaster+xml"/>
  <Override PartName="/ppt/slides/slide71.xml" ContentType="application/vnd.openxmlformats-officedocument.presentationml.slide+xml"/>
  <Override PartName="/ppt/charts/chart25.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charts/chart26.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charts/chart27.xml" ContentType="application/vnd.openxmlformats-officedocument.drawingml.chart+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charts/chart28.xml" ContentType="application/vnd.openxmlformats-officedocument.drawingml.chart+xml"/>
  <Override PartName="/ppt/charts/chart29.xml" ContentType="application/vnd.openxmlformats-officedocument.drawingml.chart+xml"/>
  <Override PartName="/ppt/slideMasters/slideMaster94.xml" ContentType="application/vnd.openxmlformats-officedocument.presentationml.slideMaster+xml"/>
  <Override PartName="/ppt/slides/slide94.xml" ContentType="application/vnd.openxmlformats-officedocument.presentationml.slide+xml"/>
  <Override PartName="/ppt/charts/chart30.xml" ContentType="application/vnd.openxmlformats-officedocument.drawingml.chart+xml"/>
  <Override PartName="/ppt/charts/chart31.xml" ContentType="application/vnd.openxmlformats-officedocument.drawingml.chart+xml"/>
  <Override PartName="/ppt/slideMasters/slideMaster95.xml" ContentType="application/vnd.openxmlformats-officedocument.presentationml.slideMaster+xml"/>
  <Override PartName="/ppt/slides/slide95.xml" ContentType="application/vnd.openxmlformats-officedocument.presentationml.slide+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slideMasters/slideMaster96.xml" ContentType="application/vnd.openxmlformats-officedocument.presentationml.slideMaster+xml"/>
  <Override PartName="/ppt/slides/slide96.xml" ContentType="application/vnd.openxmlformats-officedocument.presentationml.slide+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c:v>
                </c:pt>
              </c:strCache>
            </c:strRef>
          </c:tx>
          <c:spPr>
            <a:solidFill>
              <a:schemeClr val="accent4"/>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dPt>
            <c:idx val="0"/>
            <c:invertIfNegative val="0"/>
            <c:bubble3D val="0"/>
            <c:spPr>
              <a:solidFill>
                <a:schemeClr val="accent4"/>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tx1"/>
              </a:solidFill>
              <a:effectLst/>
            </c:spPr>
          </c:dPt>
          <c:cat>
            <c:multiLvlStrRef>
              <c:f>Sheet1!$A$2:$A$6</c:f>
              <c:multiLvlStrCache>
                <c:ptCount val="5"/>
                <c:lvl>
                  <c:pt idx="0">
                    <c:v>A</c:v>
                  </c:pt>
                  <c:pt idx="1">
                    <c:v>B</c:v>
                  </c:pt>
                  <c:pt idx="2">
                    <c:v>C</c:v>
                  </c:pt>
                  <c:pt idx="3">
                    <c:v>D</c:v>
                  </c:pt>
                  <c:pt idx="4">
                    <c:v>E</c:v>
                  </c:pt>
                </c:lvl>
              </c:multiLvlStrCache>
            </c:multiLvlStrRef>
          </c:cat>
          <c:val>
            <c:numRef>
              <c:f>Sheet1!$B$2:$B$6</c:f>
              <c:numCache>
                <c:formatCode>General</c:formatCode>
                <c:ptCount val="5"/>
                <c:pt idx="0">
                  <c:v>3</c:v>
                </c:pt>
                <c:pt idx="1">
                  <c:v>4</c:v>
                </c:pt>
                <c:pt idx="2">
                  <c:v>3.5</c:v>
                </c:pt>
                <c:pt idx="3">
                  <c:v>5</c:v>
                </c:pt>
                <c:pt idx="4">
                  <c:v>7</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1"/>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c:v>
                </c:pt>
              </c:strCache>
            </c:strRef>
          </c:tx>
          <c:spPr>
            <a:solidFill>
              <a:srgbClr val="8A5CF6"/>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dPt>
            <c:idx val="0"/>
            <c:invertIfNegative val="0"/>
            <c:bubble3D val="0"/>
            <c:spPr>
              <a:solidFill>
                <a:srgbClr val="8A5CF6"/>
              </a:solidFill>
              <a:effectLst/>
            </c:spPr>
          </c:dPt>
          <c:dPt>
            <c:idx val="1"/>
            <c:invertIfNegative val="0"/>
            <c:bubble3D val="0"/>
            <c:spPr>
              <a:solidFill>
                <a:srgbClr val="F59E0B"/>
              </a:solidFill>
              <a:effectLst/>
            </c:spPr>
          </c:dPt>
          <c:dPt>
            <c:idx val="2"/>
            <c:invertIfNegative val="0"/>
            <c:bubble3D val="0"/>
            <c:spPr>
              <a:solidFill>
                <a:srgbClr val="10B981"/>
              </a:solidFill>
              <a:effectLst/>
            </c:spPr>
          </c:dPt>
          <c:dPt>
            <c:idx val="3"/>
            <c:invertIfNegative val="0"/>
            <c:bubble3D val="0"/>
            <c:spPr>
              <a:solidFill>
                <a:srgbClr val="EF4444"/>
              </a:solidFill>
              <a:effectLst/>
            </c:spPr>
          </c:dPt>
          <c:dPt>
            <c:idx val="4"/>
            <c:invertIfNegative val="0"/>
            <c:bubble3D val="0"/>
            <c:spPr>
              <a:solidFill>
                <a:srgbClr val="3B82F6"/>
              </a:solidFill>
              <a:effectLst/>
            </c:spPr>
          </c:dPt>
          <c:cat>
            <c:multiLvlStrRef>
              <c:f>Sheet1!$A$2:$A$6</c:f>
              <c:multiLvlStrCache>
                <c:ptCount val="5"/>
                <c:lvl>
                  <c:pt idx="0">
                    <c:v>EU</c:v>
                  </c:pt>
                  <c:pt idx="1">
                    <c:v>NA</c:v>
                  </c:pt>
                  <c:pt idx="2">
                    <c:v>APAC</c:v>
                  </c:pt>
                  <c:pt idx="3">
                    <c:v>LATAM</c:v>
                  </c:pt>
                  <c:pt idx="4">
                    <c:v>MEA</c:v>
                  </c:pt>
                </c:lvl>
              </c:multiLvlStrCache>
            </c:multiLvlStrRef>
          </c:cat>
          <c:val>
            <c:numRef>
              <c:f>Sheet1!$B$2:$B$6</c:f>
              <c:numCache>
                <c:formatCode>General</c:formatCode>
                <c:ptCount val="5"/>
                <c:pt idx="0">
                  <c:v>52</c:v>
                </c:pt>
                <c:pt idx="1">
                  <c:v>31</c:v>
                </c:pt>
                <c:pt idx="2">
                  <c:v>11</c:v>
                </c:pt>
                <c:pt idx="3">
                  <c:v>4</c:v>
                </c:pt>
                <c:pt idx="4">
                  <c:v>2</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majorGridlines>
          <c:spPr>
            <a:ln w="9525" cap="flat">
              <a:solidFill>
                <a:srgbClr val="BBBBBB"/>
              </a:solidFill>
              <a:prstDash val="solid"/>
              <a:round/>
            </a:ln>
          </c:spPr>
        </c:majorGridlines>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BBBBBB"/>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r"/>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c:v>
                </c:pt>
              </c:strCache>
            </c:strRef>
          </c:tx>
          <c:spPr>
            <a:solidFill>
              <a:schemeClr val="tx1"/>
            </a:solidFill>
            <a:effectLst/>
          </c:spPr>
          <c:invertIfNegative val="0"/>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tx1"/>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accent4"/>
              </a:solidFill>
              <a:effectLst/>
            </c:spPr>
          </c:dPt>
          <c:cat>
            <c:multiLvlStrRef>
              <c:f>Sheet1!$A$2:$A$6</c:f>
              <c:multiLvlStrCache>
                <c:ptCount val="5"/>
                <c:lvl>
                  <c:pt idx="0">
                    <c:v>EU</c:v>
                  </c:pt>
                  <c:pt idx="1">
                    <c:v>NA</c:v>
                  </c:pt>
                  <c:pt idx="2">
                    <c:v>APAC</c:v>
                  </c:pt>
                  <c:pt idx="3">
                    <c:v>LATAM</c:v>
                  </c:pt>
                  <c:pt idx="4">
                    <c:v>MEA</c:v>
                  </c:pt>
                </c:lvl>
              </c:multiLvlStrCache>
            </c:multiLvlStrRef>
          </c:cat>
          <c:val>
            <c:numRef>
              <c:f>Sheet1!$B$2:$B$6</c:f>
              <c:numCache>
                <c:formatCode>General</c:formatCode>
                <c:ptCount val="5"/>
                <c:pt idx="0">
                  <c:v>52</c:v>
                </c:pt>
                <c:pt idx="1">
                  <c:v>31</c:v>
                </c:pt>
                <c:pt idx="2">
                  <c:v>11</c:v>
                </c:pt>
                <c:pt idx="3">
                  <c:v>4</c:v>
                </c:pt>
                <c:pt idx="4">
                  <c:v>2</c:v>
                </c:pt>
              </c:numCache>
            </c:numRef>
          </c:val>
        </c:ser>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Spend</c:v>
                </c:pt>
              </c:strCache>
            </c:strRef>
          </c:tx>
          <c:spPr>
            <a:solidFill>
              <a:schemeClr val="accent2"/>
            </a:solidFill>
            <a:effectLst/>
          </c:spPr>
          <c:invertIfNegative val="0"/>
          <c:dLbls>
            <c:numFmt formatCode="0.0"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accent2"/>
              </a:solidFill>
              <a:effectLst/>
            </c:spPr>
          </c:dPt>
          <c:dPt>
            <c:idx val="1"/>
            <c:invertIfNegative val="0"/>
            <c:bubble3D val="0"/>
            <c:spPr>
              <a:solidFill>
                <a:schemeClr val="accent2"/>
              </a:solidFill>
              <a:effectLst/>
            </c:spPr>
          </c:dPt>
          <c:dPt>
            <c:idx val="2"/>
            <c:invertIfNegative val="0"/>
            <c:bubble3D val="0"/>
            <c:spPr>
              <a:solidFill>
                <a:schemeClr val="accent2"/>
              </a:solidFill>
              <a:effectLst/>
            </c:spPr>
          </c:dPt>
          <c:dPt>
            <c:idx val="3"/>
            <c:invertIfNegative val="0"/>
            <c:bubble3D val="0"/>
            <c:spPr>
              <a:solidFill>
                <a:schemeClr val="accent1"/>
              </a:solidFill>
              <a:effectLst/>
            </c:spPr>
          </c:dPt>
          <c:dPt>
            <c:idx val="4"/>
            <c:invertIfNegative val="0"/>
            <c:bubble3D val="0"/>
            <c:spPr>
              <a:solidFill>
                <a:schemeClr val="accent1"/>
              </a:solidFill>
              <a:effectLst/>
            </c:spPr>
          </c:dPt>
          <c:dPt>
            <c:idx val="5"/>
            <c:invertIfNegative val="0"/>
            <c:bubble3D val="0"/>
            <c:spPr>
              <a:solidFill>
                <a:schemeClr val="accent1"/>
              </a:solidFill>
              <a:effectLst/>
            </c:spPr>
          </c:dPt>
          <c:cat>
            <c:multiLvlStrRef>
              <c:f>Sheet1!$A$2:$A$7</c:f>
              <c:multiLvlStrCache>
                <c:ptCount val="6"/>
                <c:lvl>
                  <c:pt idx="0">
                    <c:v>2023</c:v>
                  </c:pt>
                  <c:pt idx="1">
                    <c:v>2024</c:v>
                  </c:pt>
                  <c:pt idx="2">
                    <c:v>2025</c:v>
                  </c:pt>
                  <c:pt idx="3">
                    <c:v>2026</c:v>
                  </c:pt>
                  <c:pt idx="4">
                    <c:v>2027</c:v>
                  </c:pt>
                  <c:pt idx="5">
                    <c:v>2028</c:v>
                  </c:pt>
                </c:lvl>
              </c:multiLvlStrCache>
            </c:multiLvlStrRef>
          </c:cat>
          <c:val>
            <c:numRef>
              <c:f>Sheet1!$B$2:$B$7</c:f>
              <c:numCache>
                <c:formatCode>General</c:formatCode>
                <c:ptCount val="6"/>
                <c:pt idx="0">
                  <c:v>4</c:v>
                </c:pt>
                <c:pt idx="1">
                  <c:v>5.1</c:v>
                </c:pt>
                <c:pt idx="2">
                  <c:v>6.3</c:v>
                </c:pt>
                <c:pt idx="3">
                  <c:v>7.9</c:v>
                </c:pt>
                <c:pt idx="4">
                  <c:v>9.9</c:v>
                </c:pt>
                <c:pt idx="5">
                  <c:v>12.4</c:v>
                </c:pt>
              </c:numCache>
            </c:numRef>
          </c:val>
        </c:ser>
        <c:dLbls>
          <c:numFmt formatCode="0.0"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rgbClr val="24334C"/>
            </a:solidFill>
            <a:prstDash val="solid"/>
            <a:round/>
          </a:ln>
        </c:spPr>
        <c:txPr>
          <a:bodyPr/>
          <a:lstStyle/>
          <a:p>
            <a:pPr>
              <a:defRPr sz="950" b="0" i="0" u="none" strike="noStrike">
                <a:solidFill>
                  <a:schemeClr val="accent4"/>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4"/>
                </a:solidFill>
                <a:latin typeface="Inter"/>
              </a:defRPr>
            </a:pPr>
            <a:endParaRPr lang="en-US"/>
          </a:p>
        </c:txPr>
        <c:crossAx val="2094734554"/>
        <c:crosses val="autoZero"/>
        <c:crossBetween val="between"/>
      </c:valAx>
      <c:spPr>
        <a:solidFill>
          <a:schemeClr val="accent5"/>
        </a:solidFill>
        <a:ln>
          <a:noFill/>
        </a:ln>
        <a:effectLst/>
      </c:spPr>
    </c:plotArea>
    <c:plotVisOnly val="1"/>
    <c:dispBlanksAs val="span"/>
  </c:chart>
  <c:spPr>
    <a:solidFill>
      <a:schemeClr val="accent5"/>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Forecast</c:v>
                </c:pt>
              </c:strCache>
            </c:strRef>
          </c:tx>
          <c:spPr>
            <a:solidFill>
              <a:schemeClr val="tx1"/>
            </a:solidFill>
            <a:ln w="25400" cap="flat">
              <a:solidFill>
                <a:schemeClr val="tx1"/>
              </a:solidFill>
              <a:prstDash val="solid,dash"/>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none"/>
            <c:size val="6"/>
            <c:spPr>
              <a:solidFill>
                <a:schemeClr val="tx1"/>
              </a:solidFill>
              <a:ln w="9525" cap="flat">
                <a:solidFill>
                  <a:schemeClr val="tx1"/>
                </a:solidFill>
                <a:prstDash val="solid"/>
                <a:round/>
              </a:ln>
              <a:effectLst/>
            </c:spPr>
          </c:marker>
          <c:cat>
            <c:multiLvlStrRef>
              <c:f>Sheet1!$A$2:$A$11</c:f>
              <c:multiLvlStrCache>
                <c:ptCount val="10"/>
                <c:lvl>
                  <c:pt idx="0">
                    <c:v>W1</c:v>
                  </c:pt>
                  <c:pt idx="1">
                    <c:v>W2</c:v>
                  </c:pt>
                  <c:pt idx="2">
                    <c:v>W3</c:v>
                  </c:pt>
                  <c:pt idx="3">
                    <c:v>W4</c:v>
                  </c:pt>
                  <c:pt idx="4">
                    <c:v>W5</c:v>
                  </c:pt>
                  <c:pt idx="5">
                    <c:v>W6</c:v>
                  </c:pt>
                  <c:pt idx="6">
                    <c:v>W7</c:v>
                  </c:pt>
                  <c:pt idx="7">
                    <c:v>W8</c:v>
                  </c:pt>
                  <c:pt idx="8">
                    <c:v>W9</c:v>
                  </c:pt>
                  <c:pt idx="9">
                    <c:v>W10</c:v>
                  </c:pt>
                </c:lvl>
              </c:multiLvlStrCache>
            </c:multiLvlStrRef>
          </c:cat>
          <c:val>
            <c:numRef>
              <c:f>Sheet1!$B$2:$B$11</c:f>
              <c:numCache>
                <c:formatCode>General</c:formatCode>
                <c:ptCount val="10"/>
                <c:pt idx="0">
                  <c:v>9.1</c:v>
                </c:pt>
                <c:pt idx="1">
                  <c:v>9.8</c:v>
                </c:pt>
                <c:pt idx="2">
                  <c:v>10.4</c:v>
                </c:pt>
                <c:pt idx="3">
                  <c:v>11.2</c:v>
                </c:pt>
                <c:pt idx="4">
                  <c:v>11.9</c:v>
                </c:pt>
                <c:pt idx="5">
                  <c:v>12.4</c:v>
                </c:pt>
                <c:pt idx="6">
                  <c:v>13.1</c:v>
                </c:pt>
                <c:pt idx="7">
                  <c:v>13.6</c:v>
                </c:pt>
                <c:pt idx="8">
                  <c:v>13.9</c:v>
                </c:pt>
                <c:pt idx="9">
                  <c:v>14.2</c:v>
                </c:pt>
              </c:numCache>
            </c:numRef>
          </c:val>
          <c:smooth val="0"/>
        </c:ser>
        <c:ser>
          <c:idx val="1"/>
          <c:order val="1"/>
          <c:tx>
            <c:strRef>
              <c:f>Sheet1!$C$1</c:f>
              <c:strCache>
                <c:ptCount val="1"/>
                <c:pt idx="0">
                  <c:v>Target</c:v>
                </c:pt>
              </c:strCache>
            </c:strRef>
          </c:tx>
          <c:spPr>
            <a:solidFill>
              <a:schemeClr val="accent1"/>
            </a:solidFill>
            <a:ln w="25400" cap="flat">
              <a:solidFill>
                <a:schemeClr val="accent1"/>
              </a:solidFill>
              <a:prstDash val="solid,dash"/>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none"/>
            <c:size val="6"/>
            <c:spPr>
              <a:solidFill>
                <a:schemeClr val="accent1"/>
              </a:solidFill>
              <a:ln w="9525" cap="flat">
                <a:solidFill>
                  <a:schemeClr val="accent1"/>
                </a:solidFill>
                <a:prstDash val="solid"/>
                <a:round/>
              </a:ln>
              <a:effectLst/>
            </c:spPr>
          </c:marker>
          <c:cat>
            <c:multiLvlStrRef>
              <c:f>Sheet1!$A$2:$A$11</c:f>
              <c:multiLvlStrCache>
                <c:ptCount val="10"/>
                <c:lvl>
                  <c:pt idx="0">
                    <c:v>W1</c:v>
                  </c:pt>
                  <c:pt idx="1">
                    <c:v>W2</c:v>
                  </c:pt>
                  <c:pt idx="2">
                    <c:v>W3</c:v>
                  </c:pt>
                  <c:pt idx="3">
                    <c:v>W4</c:v>
                  </c:pt>
                  <c:pt idx="4">
                    <c:v>W5</c:v>
                  </c:pt>
                  <c:pt idx="5">
                    <c:v>W6</c:v>
                  </c:pt>
                  <c:pt idx="6">
                    <c:v>W7</c:v>
                  </c:pt>
                  <c:pt idx="7">
                    <c:v>W8</c:v>
                  </c:pt>
                  <c:pt idx="8">
                    <c:v>W9</c:v>
                  </c:pt>
                  <c:pt idx="9">
                    <c:v>W10</c:v>
                  </c:pt>
                </c:lvl>
              </c:multiLvlStrCache>
            </c:multiLvlStrRef>
          </c:cat>
          <c:val>
            <c:numRef>
              <c:f>Sheet1!$C$2:$C$11</c:f>
              <c:numCache>
                <c:formatCode>General</c:formatCode>
                <c:ptCount val="10"/>
                <c:pt idx="0">
                  <c:v>13.5</c:v>
                </c:pt>
                <c:pt idx="1">
                  <c:v>13.5</c:v>
                </c:pt>
                <c:pt idx="2">
                  <c:v>13.5</c:v>
                </c:pt>
                <c:pt idx="3">
                  <c:v>13.5</c:v>
                </c:pt>
                <c:pt idx="4">
                  <c:v>13.5</c:v>
                </c:pt>
                <c:pt idx="5">
                  <c:v>13.5</c:v>
                </c:pt>
                <c:pt idx="6">
                  <c:v>13.5</c:v>
                </c:pt>
                <c:pt idx="7">
                  <c:v>13.5</c:v>
                </c:pt>
                <c:pt idx="8">
                  <c:v>13.5</c:v>
                </c:pt>
                <c:pt idx="9">
                  <c:v>13.5</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chemeClr val="tx1"/>
            </a:solidFill>
            <a:ln w="31750" cap="flat">
              <a:solidFill>
                <a:schemeClr val="tx1"/>
              </a:solidFill>
              <a:prstDash val="solid,dash"/>
              <a:round/>
            </a:ln>
            <a:effectLst/>
          </c:spPr>
          <c:invertIfNegative val="0"/>
          <c:dLbls>
            <c:numFmt formatCode="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c:symbol val="circle"/>
            <c:size val="6"/>
            <c:spPr>
              <a:solidFill>
                <a:schemeClr val="tx1"/>
              </a:solidFill>
              <a:ln w="9525" cap="flat">
                <a:solidFill>
                  <a:schemeClr val="tx1"/>
                </a:solidFill>
                <a:prstDash val="solid"/>
                <a:round/>
              </a:ln>
              <a:effectLst/>
            </c:spPr>
          </c:marker>
          <c:cat>
            <c:multiLvlStrRef>
              <c:f>Sheet1!$A$2:$A$12</c:f>
              <c:multiLvlStrCache>
                <c:ptCount val="11"/>
                <c:lvl>
                  <c:pt idx="0">
                    <c:v>2020</c:v>
                  </c:pt>
                  <c:pt idx="1">
                    <c:v>2021</c:v>
                  </c:pt>
                  <c:pt idx="2">
                    <c:v>2022</c:v>
                  </c:pt>
                  <c:pt idx="3">
                    <c:v>2023</c:v>
                  </c:pt>
                  <c:pt idx="4">
                    <c:v>2024</c:v>
                  </c:pt>
                  <c:pt idx="5">
                    <c:v>2025</c:v>
                  </c:pt>
                  <c:pt idx="6">
                    <c:v>2026</c:v>
                  </c:pt>
                  <c:pt idx="7">
                    <c:v>2027</c:v>
                  </c:pt>
                  <c:pt idx="8">
                    <c:v>2028</c:v>
                  </c:pt>
                  <c:pt idx="9">
                    <c:v>2029</c:v>
                  </c:pt>
                  <c:pt idx="10">
                    <c:v>2030</c:v>
                  </c:pt>
                </c:lvl>
              </c:multiLvlStrCache>
            </c:multiLvlStrRef>
          </c:cat>
          <c:val>
            <c:numRef>
              <c:f>Sheet1!$B$2:$B$12</c:f>
              <c:numCache>
                <c:formatCode>General</c:formatCode>
                <c:ptCount val="11"/>
                <c:pt idx="0">
                  <c:v>14.2</c:v>
                </c:pt>
                <c:pt idx="1">
                  <c:v>16.8</c:v>
                </c:pt>
                <c:pt idx="2">
                  <c:v>19.9</c:v>
                </c:pt>
                <c:pt idx="3">
                  <c:v>23.4</c:v>
                </c:pt>
                <c:pt idx="4">
                  <c:v>27.1</c:v>
                </c:pt>
                <c:pt idx="5">
                  <c:v>32</c:v>
                </c:pt>
                <c:pt idx="6">
                  <c:v>38</c:v>
                </c:pt>
                <c:pt idx="7">
                  <c:v/>
                </c:pt>
                <c:pt idx="8">
                  <c:v/>
                </c:pt>
                <c:pt idx="9">
                  <c:v/>
                </c:pt>
                <c:pt idx="10">
                  <c:v/>
                </c:pt>
              </c:numCache>
            </c:numRef>
          </c:val>
          <c:smooth val="0"/>
        </c:ser>
        <c:ser>
          <c:idx val="1"/>
          <c:order val="1"/>
          <c:tx>
            <c:strRef>
              <c:f>Sheet1!$C$1</c:f>
              <c:strCache>
                <c:ptCount val="1"/>
                <c:pt idx="0">
                  <c:v>Forecast</c:v>
                </c:pt>
              </c:strCache>
            </c:strRef>
          </c:tx>
          <c:spPr>
            <a:solidFill>
              <a:schemeClr val="accent3"/>
            </a:solidFill>
            <a:ln w="31750" cap="flat">
              <a:solidFill>
                <a:schemeClr val="accent3"/>
              </a:solidFill>
              <a:prstDash val="solid,dash"/>
              <a:round/>
            </a:ln>
            <a:effectLst/>
          </c:spPr>
          <c:invertIfNegative val="0"/>
          <c:dLbls>
            <c:numFmt formatCode="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c:symbol val="circle"/>
            <c:size val="6"/>
            <c:spPr>
              <a:solidFill>
                <a:schemeClr val="accent3"/>
              </a:solidFill>
              <a:ln w="9525" cap="flat">
                <a:solidFill>
                  <a:schemeClr val="accent3"/>
                </a:solidFill>
                <a:prstDash val="solid"/>
                <a:round/>
              </a:ln>
              <a:effectLst/>
            </c:spPr>
          </c:marker>
          <c:cat>
            <c:multiLvlStrRef>
              <c:f>Sheet1!$A$2:$A$12</c:f>
              <c:multiLvlStrCache>
                <c:ptCount val="11"/>
                <c:lvl>
                  <c:pt idx="0">
                    <c:v>2020</c:v>
                  </c:pt>
                  <c:pt idx="1">
                    <c:v>2021</c:v>
                  </c:pt>
                  <c:pt idx="2">
                    <c:v>2022</c:v>
                  </c:pt>
                  <c:pt idx="3">
                    <c:v>2023</c:v>
                  </c:pt>
                  <c:pt idx="4">
                    <c:v>2024</c:v>
                  </c:pt>
                  <c:pt idx="5">
                    <c:v>2025</c:v>
                  </c:pt>
                  <c:pt idx="6">
                    <c:v>2026</c:v>
                  </c:pt>
                  <c:pt idx="7">
                    <c:v>2027</c:v>
                  </c:pt>
                  <c:pt idx="8">
                    <c:v>2028</c:v>
                  </c:pt>
                  <c:pt idx="9">
                    <c:v>2029</c:v>
                  </c:pt>
                  <c:pt idx="10">
                    <c:v>2030</c:v>
                  </c:pt>
                </c:lvl>
              </c:multiLvlStrCache>
            </c:multiLvlStrRef>
          </c:cat>
          <c:val>
            <c:numRef>
              <c:f>Sheet1!$C$2:$C$12</c:f>
              <c:numCache>
                <c:formatCode>General</c:formatCode>
                <c:ptCount val="11"/>
                <c:pt idx="0">
                  <c:v/>
                </c:pt>
                <c:pt idx="1">
                  <c:v/>
                </c:pt>
                <c:pt idx="2">
                  <c:v/>
                </c:pt>
                <c:pt idx="3">
                  <c:v/>
                </c:pt>
                <c:pt idx="4">
                  <c:v/>
                </c:pt>
                <c:pt idx="5">
                  <c:v/>
                </c:pt>
                <c:pt idx="6">
                  <c:v>38</c:v>
                </c:pt>
                <c:pt idx="7">
                  <c:v>45.1</c:v>
                </c:pt>
                <c:pt idx="8">
                  <c:v>53.8</c:v>
                </c:pt>
                <c:pt idx="9">
                  <c:v>64</c:v>
                </c:pt>
                <c:pt idx="10">
                  <c:v>76.2</c:v>
                </c:pt>
              </c:numCache>
            </c:numRef>
          </c:val>
          <c:smooth val="0"/>
        </c:ser>
        <c:dLbls>
          <c:numFmt formatCode="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8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20"/>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Enterprise</c:v>
                </c:pt>
              </c:strCache>
            </c:strRef>
          </c:tx>
          <c:spPr>
            <a:solidFill>
              <a:schemeClr val="accent2"/>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Sheet1!$A$2:$A$6</c:f>
              <c:multiLvlStrCache>
                <c:ptCount val="5"/>
                <c:lvl>
                  <c:pt idx="0">
                    <c:v>North America</c:v>
                  </c:pt>
                  <c:pt idx="1">
                    <c:v>Europe</c:v>
                  </c:pt>
                  <c:pt idx="2">
                    <c:v>Asia-Pacific</c:v>
                  </c:pt>
                  <c:pt idx="3">
                    <c:v>Latin America</c:v>
                  </c:pt>
                  <c:pt idx="4">
                    <c:v>Middle East &amp; Africa</c:v>
                  </c:pt>
                </c:lvl>
              </c:multiLvlStrCache>
            </c:multiLvlStrRef>
          </c:cat>
          <c:val>
            <c:numRef>
              <c:f>Sheet1!$B$2:$B$6</c:f>
              <c:numCache>
                <c:formatCode>General</c:formatCode>
                <c:ptCount val="5"/>
                <c:pt idx="0">
                  <c:v>42</c:v>
                </c:pt>
                <c:pt idx="1">
                  <c:v>38</c:v>
                </c:pt>
                <c:pt idx="2">
                  <c:v>45</c:v>
                </c:pt>
                <c:pt idx="3">
                  <c:v>30</c:v>
                </c:pt>
                <c:pt idx="4">
                  <c:v>36</c:v>
                </c:pt>
              </c:numCache>
            </c:numRef>
          </c:val>
        </c:ser>
        <c:ser>
          <c:idx val="1"/>
          <c:order val="1"/>
          <c:tx>
            <c:strRef>
              <c:f>Sheet1!$C$1</c:f>
              <c:strCache>
                <c:ptCount val="1"/>
                <c:pt idx="0">
                  <c:v>Mid-market</c:v>
                </c:pt>
              </c:strCache>
            </c:strRef>
          </c:tx>
          <c:spPr>
            <a:solidFill>
              <a:schemeClr val="tx1"/>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Sheet1!$A$2:$A$6</c:f>
              <c:multiLvlStrCache>
                <c:ptCount val="5"/>
                <c:lvl>
                  <c:pt idx="0">
                    <c:v>North America</c:v>
                  </c:pt>
                  <c:pt idx="1">
                    <c:v>Europe</c:v>
                  </c:pt>
                  <c:pt idx="2">
                    <c:v>Asia-Pacific</c:v>
                  </c:pt>
                  <c:pt idx="3">
                    <c:v>Latin America</c:v>
                  </c:pt>
                  <c:pt idx="4">
                    <c:v>Middle East &amp; Africa</c:v>
                  </c:pt>
                </c:lvl>
              </c:multiLvlStrCache>
            </c:multiLvlStrRef>
          </c:cat>
          <c:val>
            <c:numRef>
              <c:f>Sheet1!$C$2:$C$6</c:f>
              <c:numCache>
                <c:formatCode>General</c:formatCode>
                <c:ptCount val="5"/>
                <c:pt idx="0">
                  <c:v>38</c:v>
                </c:pt>
                <c:pt idx="1">
                  <c:v>44</c:v>
                </c:pt>
                <c:pt idx="2">
                  <c:v>33</c:v>
                </c:pt>
                <c:pt idx="3">
                  <c:v>41</c:v>
                </c:pt>
                <c:pt idx="4">
                  <c:v>39</c:v>
                </c:pt>
              </c:numCache>
            </c:numRef>
          </c:val>
        </c:ser>
        <c:ser>
          <c:idx val="2"/>
          <c:order val="2"/>
          <c:tx>
            <c:strRef>
              <c:f>Sheet1!$D$1</c:f>
              <c:strCache>
                <c:ptCount val="1"/>
                <c:pt idx="0">
                  <c:v>Small business</c:v>
                </c:pt>
              </c:strCache>
            </c:strRef>
          </c:tx>
          <c:spPr>
            <a:solidFill>
              <a:schemeClr val="accent3"/>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Sheet1!$A$2:$A$6</c:f>
              <c:multiLvlStrCache>
                <c:ptCount val="5"/>
                <c:lvl>
                  <c:pt idx="0">
                    <c:v>North America</c:v>
                  </c:pt>
                  <c:pt idx="1">
                    <c:v>Europe</c:v>
                  </c:pt>
                  <c:pt idx="2">
                    <c:v>Asia-Pacific</c:v>
                  </c:pt>
                  <c:pt idx="3">
                    <c:v>Latin America</c:v>
                  </c:pt>
                  <c:pt idx="4">
                    <c:v>Middle East &amp; Africa</c:v>
                  </c:pt>
                </c:lvl>
              </c:multiLvlStrCache>
            </c:multiLvlStrRef>
          </c:cat>
          <c:val>
            <c:numRef>
              <c:f>Sheet1!$D$2:$D$6</c:f>
              <c:numCache>
                <c:formatCode>General</c:formatCode>
                <c:ptCount val="5"/>
                <c:pt idx="0">
                  <c:v>20</c:v>
                </c:pt>
                <c:pt idx="1">
                  <c:v>18</c:v>
                </c:pt>
                <c:pt idx="2">
                  <c:v>22</c:v>
                </c:pt>
                <c:pt idx="3">
                  <c:v>29</c:v>
                </c:pt>
                <c:pt idx="4">
                  <c:v>25</c:v>
                </c:pt>
              </c:numCache>
            </c:numRef>
          </c:val>
        </c:ser>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c:v>
                </c:pt>
              </c:strCache>
            </c:strRef>
          </c:tx>
          <c:spPr>
            <a:solidFill>
              <a:schemeClr val="tx1"/>
            </a:solidFill>
            <a:effectLst/>
          </c:spPr>
          <c:invertIfNegative val="0"/>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tx1"/>
              </a:solidFill>
              <a:effectLst/>
            </c:spPr>
          </c:dPt>
          <c:dPt>
            <c:idx val="1"/>
            <c:invertIfNegative val="0"/>
            <c:bubble3D val="0"/>
            <c:spPr>
              <a:solidFill>
                <a:schemeClr val="tx1"/>
              </a:solidFill>
              <a:effectLst/>
            </c:spPr>
          </c:dPt>
          <c:dPt>
            <c:idx val="2"/>
            <c:invertIfNegative val="0"/>
            <c:bubble3D val="0"/>
            <c:spPr>
              <a:solidFill>
                <a:schemeClr val="tx1"/>
              </a:solidFill>
              <a:effectLst/>
            </c:spPr>
          </c:dPt>
          <c:dPt>
            <c:idx val="3"/>
            <c:invertIfNegative val="0"/>
            <c:bubble3D val="0"/>
            <c:spPr>
              <a:solidFill>
                <a:schemeClr val="tx1"/>
              </a:solidFill>
              <a:effectLst/>
            </c:spPr>
          </c:dPt>
          <c:dPt>
            <c:idx val="4"/>
            <c:invertIfNegative val="0"/>
            <c:bubble3D val="0"/>
            <c:spPr>
              <a:solidFill>
                <a:schemeClr val="tx1"/>
              </a:solidFill>
              <a:effectLst/>
            </c:spPr>
          </c:dPt>
          <c:dPt>
            <c:idx val="5"/>
            <c:invertIfNegative val="0"/>
            <c:bubble3D val="0"/>
            <c:spPr>
              <a:solidFill>
                <a:schemeClr val="accent4"/>
              </a:solidFill>
              <a:effectLst/>
            </c:spPr>
          </c:dPt>
          <c:dPt>
            <c:idx val="6"/>
            <c:invertIfNegative val="0"/>
            <c:bubble3D val="0"/>
            <c:spPr>
              <a:solidFill>
                <a:schemeClr val="accent4"/>
              </a:solidFill>
              <a:effectLst/>
            </c:spPr>
          </c:dPt>
          <c:dPt>
            <c:idx val="7"/>
            <c:invertIfNegative val="0"/>
            <c:bubble3D val="0"/>
            <c:spPr>
              <a:solidFill>
                <a:schemeClr val="accent4"/>
              </a:solidFill>
              <a:effectLst/>
            </c:spPr>
          </c:dPt>
          <c:dPt>
            <c:idx val="8"/>
            <c:invertIfNegative val="0"/>
            <c:bubble3D val="0"/>
            <c:spPr>
              <a:solidFill>
                <a:schemeClr val="accent4"/>
              </a:solidFill>
              <a:effectLst/>
            </c:spPr>
          </c:dPt>
          <c:cat>
            <c:multiLvlStrRef>
              <c:f>Sheet1!$A$2:$A$10</c:f>
              <c:multiLvlStrCache>
                <c:ptCount val="9"/>
                <c:lvl>
                  <c:pt idx="0">
                    <c:v>2022</c:v>
                  </c:pt>
                  <c:pt idx="1">
                    <c:v>2023</c:v>
                  </c:pt>
                  <c:pt idx="2">
                    <c:v>2024</c:v>
                  </c:pt>
                  <c:pt idx="3">
                    <c:v>2025</c:v>
                  </c:pt>
                  <c:pt idx="4">
                    <c:v>2026</c:v>
                  </c:pt>
                  <c:pt idx="5">
                    <c:v>2027F</c:v>
                  </c:pt>
                  <c:pt idx="6">
                    <c:v>2028F</c:v>
                  </c:pt>
                  <c:pt idx="7">
                    <c:v>2029F</c:v>
                  </c:pt>
                  <c:pt idx="8">
                    <c:v>2030F</c:v>
                  </c:pt>
                </c:lvl>
              </c:multiLvlStrCache>
            </c:multiLvlStrRef>
          </c:cat>
          <c:val>
            <c:numRef>
              <c:f>Sheet1!$B$2:$B$10</c:f>
              <c:numCache>
                <c:formatCode>General</c:formatCode>
                <c:ptCount val="9"/>
                <c:pt idx="0">
                  <c:v>19.9</c:v>
                </c:pt>
                <c:pt idx="1">
                  <c:v>23.4</c:v>
                </c:pt>
                <c:pt idx="2">
                  <c:v>27.1</c:v>
                </c:pt>
                <c:pt idx="3">
                  <c:v>32</c:v>
                </c:pt>
                <c:pt idx="4">
                  <c:v>38</c:v>
                </c:pt>
                <c:pt idx="5">
                  <c:v>45.1</c:v>
                </c:pt>
                <c:pt idx="6">
                  <c:v>53.8</c:v>
                </c:pt>
                <c:pt idx="7">
                  <c:v>64</c:v>
                </c:pt>
                <c:pt idx="8">
                  <c:v>76.2</c:v>
                </c:pt>
              </c:numCache>
            </c:numRef>
          </c:val>
        </c:ser>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10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ARR</c:v>
                </c:pt>
              </c:strCache>
            </c:strRef>
          </c:tx>
          <c:spPr>
            <a:solidFill>
              <a:schemeClr val="tx1"/>
            </a:solidFill>
            <a:effectLst/>
          </c:spPr>
          <c:invertIfNegative val="0"/>
          <c:dLbls>
            <c:numFmt formatCode="&quot;$&quot;0.0&quot;M&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tx1"/>
              </a:solidFill>
              <a:effectLst/>
            </c:spPr>
          </c:dPt>
          <c:dPt>
            <c:idx val="1"/>
            <c:invertIfNegative val="0"/>
            <c:bubble3D val="0"/>
            <c:spPr>
              <a:solidFill>
                <a:schemeClr val="accent1"/>
              </a:solidFill>
              <a:effectLst/>
            </c:spPr>
          </c:dPt>
          <c:dPt>
            <c:idx val="2"/>
            <c:invertIfNegative val="0"/>
            <c:bubble3D val="0"/>
            <c:spPr>
              <a:solidFill>
                <a:schemeClr val="tx1"/>
              </a:solidFill>
              <a:effectLst/>
            </c:spPr>
          </c:dPt>
          <c:dPt>
            <c:idx val="3"/>
            <c:invertIfNegative val="0"/>
            <c:bubble3D val="0"/>
            <c:spPr>
              <a:solidFill>
                <a:schemeClr val="tx1"/>
              </a:solidFill>
              <a:effectLst/>
            </c:spPr>
          </c:dPt>
          <c:dPt>
            <c:idx val="4"/>
            <c:invertIfNegative val="0"/>
            <c:bubble3D val="0"/>
            <c:spPr>
              <a:solidFill>
                <a:schemeClr val="tx1"/>
              </a:solidFill>
              <a:effectLst/>
            </c:spPr>
          </c:dPt>
          <c:dPt>
            <c:idx val="5"/>
            <c:invertIfNegative val="0"/>
            <c:bubble3D val="0"/>
            <c:spPr>
              <a:solidFill>
                <a:schemeClr val="tx1"/>
              </a:solidFill>
              <a:effectLst/>
            </c:spPr>
          </c:dPt>
          <c:dPt>
            <c:idx val="6"/>
            <c:invertIfNegative val="0"/>
            <c:bubble3D val="0"/>
            <c:spPr>
              <a:solidFill>
                <a:schemeClr val="tx1"/>
              </a:solidFill>
              <a:effectLst/>
            </c:spPr>
          </c:dPt>
          <c:dPt>
            <c:idx val="7"/>
            <c:invertIfNegative val="0"/>
            <c:bubble3D val="0"/>
            <c:spPr>
              <a:solidFill>
                <a:schemeClr val="accent4"/>
              </a:solidFill>
              <a:effectLst/>
            </c:spPr>
          </c:dPt>
          <c:cat>
            <c:multiLvlStrRef>
              <c:f>Sheet1!$A$2:$A$9</c:f>
              <c:multiLvlStrCache>
                <c:ptCount val="8"/>
                <c:lvl>
                  <c:pt idx="0">
                    <c:v>Netherlands</c:v>
                  </c:pt>
                  <c:pt idx="1">
                    <c:v>United States</c:v>
                  </c:pt>
                  <c:pt idx="2">
                    <c:v>Germany</c:v>
                  </c:pt>
                  <c:pt idx="3">
                    <c:v>United Kingdom</c:v>
                  </c:pt>
                  <c:pt idx="4">
                    <c:v>Canada</c:v>
                  </c:pt>
                  <c:pt idx="5">
                    <c:v>Singapore</c:v>
                  </c:pt>
                  <c:pt idx="6">
                    <c:v>Sweden</c:v>
                  </c:pt>
                  <c:pt idx="7">
                    <c:v>Other (7)</c:v>
                  </c:pt>
                </c:lvl>
              </c:multiLvlStrCache>
            </c:multiLvlStrRef>
          </c:cat>
          <c:val>
            <c:numRef>
              <c:f>Sheet1!$B$2:$B$9</c:f>
              <c:numCache>
                <c:formatCode>General</c:formatCode>
                <c:ptCount val="8"/>
                <c:pt idx="0">
                  <c:v>11.2</c:v>
                </c:pt>
                <c:pt idx="1">
                  <c:v>10.6</c:v>
                </c:pt>
                <c:pt idx="2">
                  <c:v>8.4</c:v>
                </c:pt>
                <c:pt idx="3">
                  <c:v>5.9</c:v>
                </c:pt>
                <c:pt idx="4">
                  <c:v>4.5</c:v>
                </c:pt>
                <c:pt idx="5">
                  <c:v>3.1</c:v>
                </c:pt>
                <c:pt idx="6">
                  <c:v>2.2</c:v>
                </c:pt>
                <c:pt idx="7">
                  <c:v>2.7</c:v>
                </c:pt>
              </c:numCache>
            </c:numRef>
          </c:val>
        </c:ser>
        <c:dLbls>
          <c:numFmt formatCode="&quot;$&quot;0.0&quot;M&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50" b="0" i="0" u="none" strike="noStrike">
                <a:solidFill>
                  <a:schemeClr val="tx2"/>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marker"/>
        <c:varyColors val="0"/>
        <c:ser>
          <c:idx val="0"/>
          <c:order val="0"/>
          <c:tx>
            <c:strRef>
              <c:f>Sheet1!$B$1</c:f>
              <c:strCache>
                <c:ptCount val="1"/>
                <c:pt idx="0">
                  <c:v>Corvanta</c:v>
                </c:pt>
              </c:strCache>
            </c:strRef>
          </c:tx>
          <c:spPr>
            <a:solidFill>
              <a:schemeClr val="tx1"/>
            </a:solidFill>
            <a:ln w="25400" cap="flat">
              <a:solidFill>
                <a:schemeClr val="tx1"/>
              </a:solidFill>
              <a:prstDash val="solid"/>
              <a:round/>
            </a:ln>
            <a:effectLst/>
          </c:spPr>
          <c:invertIfNegative val="0"/>
          <c:marker>
            <c:symbol val="circle"/>
            <c:size val="6"/>
            <c:spPr>
              <a:solidFill>
                <a:schemeClr val="tx1"/>
              </a:solidFill>
              <a:ln w="9525" cap="flat">
                <a:solidFill>
                  <a:schemeClr val="tx1"/>
                </a:solidFill>
                <a:prstDash val="solid"/>
                <a:round/>
              </a:ln>
              <a:effectLst/>
            </c:spPr>
          </c:marker>
          <c:cat>
            <c:multiLvlStrRef>
              <c:f>Sheet1!$A$2:$A$7</c:f>
              <c:multiLvlStrCache>
                <c:ptCount val="6"/>
                <c:lvl>
                  <c:pt idx="0">
                    <c:v>Forecasting</c:v>
                  </c:pt>
                  <c:pt idx="1">
                    <c:v>Pipeline AI</c:v>
                  </c:pt>
                  <c:pt idx="2">
                    <c:v>Usability</c:v>
                  </c:pt>
                  <c:pt idx="3">
                    <c:v>Integrations</c:v>
                  </c:pt>
                  <c:pt idx="4">
                    <c:v>Security</c:v>
                  </c:pt>
                  <c:pt idx="5">
                    <c:v>Analytics</c:v>
                  </c:pt>
                </c:lvl>
              </c:multiLvlStrCache>
            </c:multiLvlStrRef>
          </c:cat>
          <c:val>
            <c:numRef>
              <c:f>Sheet1!$B$2:$B$7</c:f>
              <c:numCache>
                <c:formatCode>General</c:formatCode>
                <c:ptCount val="6"/>
                <c:pt idx="0">
                  <c:v>9.2</c:v>
                </c:pt>
                <c:pt idx="1">
                  <c:v>8.8</c:v>
                </c:pt>
                <c:pt idx="2">
                  <c:v>8.5</c:v>
                </c:pt>
                <c:pt idx="3">
                  <c:v>7.6</c:v>
                </c:pt>
                <c:pt idx="4">
                  <c:v>8</c:v>
                </c:pt>
                <c:pt idx="5">
                  <c:v>7.1</c:v>
                </c:pt>
              </c:numCache>
            </c:numRef>
          </c:val>
        </c:ser>
        <c:ser>
          <c:idx val="1"/>
          <c:order val="1"/>
          <c:tx>
            <c:strRef>
              <c:f>Sheet1!$C$1</c:f>
              <c:strCache>
                <c:ptCount val="1"/>
                <c:pt idx="0">
                  <c:v>Category average</c:v>
                </c:pt>
              </c:strCache>
            </c:strRef>
          </c:tx>
          <c:spPr>
            <a:solidFill>
              <a:schemeClr val="accent3"/>
            </a:solidFill>
            <a:ln w="25400" cap="flat">
              <a:solidFill>
                <a:schemeClr val="accent3"/>
              </a:solidFill>
              <a:prstDash val="solid"/>
              <a:round/>
            </a:ln>
            <a:effectLst/>
          </c:spPr>
          <c:invertIfNegative val="0"/>
          <c:marker>
            <c:symbol val="circle"/>
            <c:size val="6"/>
            <c:spPr>
              <a:solidFill>
                <a:schemeClr val="accent3"/>
              </a:solidFill>
              <a:ln w="9525" cap="flat">
                <a:solidFill>
                  <a:schemeClr val="accent3"/>
                </a:solidFill>
                <a:prstDash val="solid"/>
                <a:round/>
              </a:ln>
              <a:effectLst/>
            </c:spPr>
          </c:marker>
          <c:cat>
            <c:multiLvlStrRef>
              <c:f>Sheet1!$A$2:$A$7</c:f>
              <c:multiLvlStrCache>
                <c:ptCount val="6"/>
                <c:lvl>
                  <c:pt idx="0">
                    <c:v>Forecasting</c:v>
                  </c:pt>
                  <c:pt idx="1">
                    <c:v>Pipeline AI</c:v>
                  </c:pt>
                  <c:pt idx="2">
                    <c:v>Usability</c:v>
                  </c:pt>
                  <c:pt idx="3">
                    <c:v>Integrations</c:v>
                  </c:pt>
                  <c:pt idx="4">
                    <c:v>Security</c:v>
                  </c:pt>
                  <c:pt idx="5">
                    <c:v>Analytics</c:v>
                  </c:pt>
                </c:lvl>
              </c:multiLvlStrCache>
            </c:multiLvlStrRef>
          </c:cat>
          <c:val>
            <c:numRef>
              <c:f>Sheet1!$C$2:$C$7</c:f>
              <c:numCache>
                <c:formatCode>General</c:formatCode>
                <c:ptCount val="6"/>
                <c:pt idx="0">
                  <c:v>6.4</c:v>
                </c:pt>
                <c:pt idx="1">
                  <c:v>5.2</c:v>
                </c:pt>
                <c:pt idx="2">
                  <c:v>6.8</c:v>
                </c:pt>
                <c:pt idx="3">
                  <c:v>7.2</c:v>
                </c:pt>
                <c:pt idx="4">
                  <c:v>7.5</c:v>
                </c:pt>
                <c:pt idx="5">
                  <c:v>6.9</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1000" b="0" i="0" u="none" strike="noStrike">
                <a:solidFill>
                  <a:schemeClr val="tx1"/>
                </a:solidFill>
                <a:latin typeface="Inter"/>
              </a:defRPr>
            </a:pPr>
            <a:endParaRPr lang="en-US"/>
          </a:p>
        </c:txPr>
        <c:crossAx val="2094734552"/>
        <c:crosses val="autoZero"/>
        <c:auto val="1"/>
        <c:lblAlgn val="ctr"/>
        <c:noMultiLvlLbl val="1"/>
      </c:catAx>
      <c:valAx>
        <c:axId val="2094734552"/>
        <c:scaling>
          <c:orientation val="minMax"/>
          <c:max val="10"/>
          <c:min val="0"/>
        </c:scaling>
        <c:delete val="1"/>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2"/>
      </c:valAx>
      <c:spPr>
        <a:solidFill>
          <a:schemeClr val="bg1"/>
        </a:solidFill>
        <a:ln>
          <a:noFill/>
        </a:ln>
        <a:effectLst/>
      </c:spPr>
    </c:plotArea>
    <c:legend>
      <c:legendPos val="b"/>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Corvanta</c:v>
                </c:pt>
              </c:strCache>
            </c:strRef>
          </c:tx>
          <c:spPr>
            <a:solidFill>
              <a:schemeClr val="tx1"/>
            </a:solidFill>
            <a:effectLst/>
          </c:spPr>
          <c:invertIfNegative val="0"/>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Sheet1!$A$2:$A$6</c:f>
              <c:multiLvlStrCache>
                <c:ptCount val="5"/>
                <c:lvl>
                  <c:pt idx="0">
                    <c:v>Lead → MQL</c:v>
                  </c:pt>
                  <c:pt idx="1">
                    <c:v>MQL → SQL</c:v>
                  </c:pt>
                  <c:pt idx="2">
                    <c:v>SQL → Opportunity</c:v>
                  </c:pt>
                  <c:pt idx="3">
                    <c:v>Opportunity → Proposal</c:v>
                  </c:pt>
                  <c:pt idx="4">
                    <c:v>Proposal → Won</c:v>
                  </c:pt>
                </c:lvl>
              </c:multiLvlStrCache>
            </c:multiLvlStrRef>
          </c:cat>
          <c:val>
            <c:numRef>
              <c:f>Sheet1!$B$2:$B$6</c:f>
              <c:numCache>
                <c:formatCode>General</c:formatCode>
                <c:ptCount val="5"/>
                <c:pt idx="0">
                  <c:v>34</c:v>
                </c:pt>
                <c:pt idx="1">
                  <c:v>36</c:v>
                </c:pt>
                <c:pt idx="2">
                  <c:v>63</c:v>
                </c:pt>
                <c:pt idx="3">
                  <c:v>75</c:v>
                </c:pt>
                <c:pt idx="4">
                  <c:v>71</c:v>
                </c:pt>
              </c:numCache>
            </c:numRef>
          </c:val>
        </c:ser>
        <c:ser>
          <c:idx val="1"/>
          <c:order val="1"/>
          <c:tx>
            <c:strRef>
              <c:f>Sheet1!$C$1</c:f>
              <c:strCache>
                <c:ptCount val="1"/>
                <c:pt idx="0">
                  <c:v>Benchmark</c:v>
                </c:pt>
              </c:strCache>
            </c:strRef>
          </c:tx>
          <c:spPr>
            <a:solidFill>
              <a:schemeClr val="accent4"/>
            </a:solidFill>
            <a:effectLst/>
          </c:spPr>
          <c:invertIfNegative val="0"/>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Sheet1!$A$2:$A$6</c:f>
              <c:multiLvlStrCache>
                <c:ptCount val="5"/>
                <c:lvl>
                  <c:pt idx="0">
                    <c:v>Lead → MQL</c:v>
                  </c:pt>
                  <c:pt idx="1">
                    <c:v>MQL → SQL</c:v>
                  </c:pt>
                  <c:pt idx="2">
                    <c:v>SQL → Opportunity</c:v>
                  </c:pt>
                  <c:pt idx="3">
                    <c:v>Opportunity → Proposal</c:v>
                  </c:pt>
                  <c:pt idx="4">
                    <c:v>Proposal → Won</c:v>
                  </c:pt>
                </c:lvl>
              </c:multiLvlStrCache>
            </c:multiLvlStrRef>
          </c:cat>
          <c:val>
            <c:numRef>
              <c:f>Sheet1!$C$2:$C$6</c:f>
              <c:numCache>
                <c:formatCode>General</c:formatCode>
                <c:ptCount val="5"/>
                <c:pt idx="0">
                  <c:v>28</c:v>
                </c:pt>
                <c:pt idx="1">
                  <c:v>39</c:v>
                </c:pt>
                <c:pt idx="2">
                  <c:v>52</c:v>
                </c:pt>
                <c:pt idx="3">
                  <c:v>61</c:v>
                </c:pt>
                <c:pt idx="4">
                  <c:v>58</c:v>
                </c:pt>
              </c:numCache>
            </c:numRef>
          </c:val>
        </c:ser>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70"/>
        <c:overlap val="-1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85"/>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Bookings</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1.42</c:v>
                </c:pt>
                <c:pt idx="1">
                  <c:v>1.61</c:v>
                </c:pt>
                <c:pt idx="2">
                  <c:v>2.34</c:v>
                </c:pt>
                <c:pt idx="3">
                  <c:v>1.28</c:v>
                </c:pt>
                <c:pt idx="4">
                  <c:v>1.45</c:v>
                </c:pt>
                <c:pt idx="5">
                  <c:v>1.98</c:v>
                </c:pt>
                <c:pt idx="6">
                  <c:v>1.66</c:v>
                </c:pt>
                <c:pt idx="7">
                  <c:v>1.74</c:v>
                </c:pt>
                <c:pt idx="8">
                  <c:v>2.21</c:v>
                </c:pt>
                <c:pt idx="9">
                  <c:v>1.52</c:v>
                </c:pt>
                <c:pt idx="10">
                  <c:v>1.69</c:v>
                </c:pt>
                <c:pt idx="11">
                  <c:v>2.41</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Target</c:v>
                </c:pt>
              </c:strCache>
            </c:strRef>
          </c:tx>
          <c:spPr>
            <a:solidFill>
              <a:schemeClr val="accent6"/>
            </a:solidFill>
            <a:ln w="25400" cap="flat">
              <a:solidFill>
                <a:schemeClr val="accent6"/>
              </a:solidFill>
              <a:prstDash val="solid"/>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circle"/>
            <c:size val="5"/>
            <c:spPr>
              <a:solidFill>
                <a:schemeClr val="accent6"/>
              </a:solidFill>
              <a:ln w="9525" cap="flat">
                <a:solidFill>
                  <a:schemeClr val="accent6"/>
                </a:solidFill>
                <a:prstDash val="solid"/>
                <a:round/>
              </a:ln>
              <a:effectLst/>
            </c:spPr>
          </c:marker>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Sheet1!$C$2:$C$13</c:f>
              <c:numCache>
                <c:formatCode>General</c:formatCode>
                <c:ptCount val="12"/>
                <c:pt idx="0">
                  <c:v>1.35</c:v>
                </c:pt>
                <c:pt idx="1">
                  <c:v>1.45</c:v>
                </c:pt>
                <c:pt idx="2">
                  <c:v>2.1</c:v>
                </c:pt>
                <c:pt idx="3">
                  <c:v>1.4</c:v>
                </c:pt>
                <c:pt idx="4">
                  <c:v>1.5</c:v>
                </c:pt>
                <c:pt idx="5">
                  <c:v>1.8</c:v>
                </c:pt>
                <c:pt idx="6">
                  <c:v>1.6</c:v>
                </c:pt>
                <c:pt idx="7">
                  <c:v>1.65</c:v>
                </c:pt>
                <c:pt idx="8">
                  <c:v>2</c:v>
                </c:pt>
                <c:pt idx="9">
                  <c:v>1.6</c:v>
                </c:pt>
                <c:pt idx="10">
                  <c:v>1.65</c:v>
                </c:pt>
                <c:pt idx="11">
                  <c:v>2.2</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9525" cap="flat">
              <a:solidFill>
                <a:srgbClr val="E6E9EE"/>
              </a:solidFill>
              <a:prstDash val="solid"/>
              <a:round/>
            </a:ln>
          </c:spPr>
        </c:majorGridlines>
        <c:numFmt formatCode="$0.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valAx>
        <c:axId val="2094734553"/>
        <c:scaling>
          <c:orientation val="minMax"/>
          <c:max val="2.8"/>
          <c:min val="0"/>
        </c:scaling>
        <c:delete val="1"/>
        <c:axPos val="r"/>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5"/>
        <c:crosses val="max"/>
        <c:crossBetween val="between"/>
      </c:valAx>
      <c:catAx>
        <c:axId val="2094734555"/>
        <c:scaling>
          <c:orientation val="minMax"/>
        </c:scaling>
        <c:delete val="1"/>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3"/>
        <c:crosses val="autoZero"/>
        <c:auto val="1"/>
        <c:lblAlgn val="ctr"/>
        <c:noMultiLvlLbl val="1"/>
      </c:cat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CAC</c:v>
                </c:pt>
              </c:strCache>
            </c:strRef>
          </c:tx>
          <c:spPr>
            <a:solidFill>
              <a:schemeClr val="accent1"/>
            </a:solidFill>
            <a:effectLst/>
          </c:spPr>
          <c:invertIfNegative val="0"/>
          <c:dLbls>
            <c:numFmt formatCode="&quot;$&quot;0.0&quot;K&quot;"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accent1"/>
              </a:solidFill>
              <a:effectLst/>
            </c:spPr>
          </c:dPt>
          <c:dPt>
            <c:idx val="1"/>
            <c:invertIfNegative val="0"/>
            <c:bubble3D val="0"/>
            <c:spPr>
              <a:solidFill>
                <a:schemeClr val="accent2"/>
              </a:solidFill>
              <a:effectLst/>
            </c:spPr>
          </c:dPt>
          <c:dPt>
            <c:idx val="2"/>
            <c:invertIfNegative val="0"/>
            <c:bubble3D val="0"/>
            <c:spPr>
              <a:solidFill>
                <a:schemeClr val="accent2"/>
              </a:solidFill>
              <a:effectLst/>
            </c:spPr>
          </c:dPt>
          <c:dPt>
            <c:idx val="3"/>
            <c:invertIfNegative val="0"/>
            <c:bubble3D val="0"/>
            <c:spPr>
              <a:solidFill>
                <a:schemeClr val="accent2"/>
              </a:solidFill>
              <a:effectLst/>
            </c:spPr>
          </c:dPt>
          <c:dPt>
            <c:idx val="4"/>
            <c:invertIfNegative val="0"/>
            <c:bubble3D val="0"/>
            <c:spPr>
              <a:solidFill>
                <a:schemeClr val="accent2"/>
              </a:solidFill>
              <a:effectLst/>
            </c:spPr>
          </c:dPt>
          <c:dPt>
            <c:idx val="5"/>
            <c:invertIfNegative val="0"/>
            <c:bubble3D val="0"/>
            <c:spPr>
              <a:solidFill>
                <a:schemeClr val="accent2"/>
              </a:solidFill>
              <a:effectLst/>
            </c:spPr>
          </c:dPt>
          <c:cat>
            <c:multiLvlStrRef>
              <c:f>Sheet1!$A$2:$A$7</c:f>
              <c:multiLvlStrCache>
                <c:ptCount val="6"/>
                <c:lvl>
                  <c:pt idx="0">
                    <c:v>Partners</c:v>
                  </c:pt>
                  <c:pt idx="1">
                    <c:v>Organic / inbound</c:v>
                  </c:pt>
                  <c:pt idx="2">
                    <c:v>Events</c:v>
                  </c:pt>
                  <c:pt idx="3">
                    <c:v>Outbound SDR</c:v>
                  </c:pt>
                  <c:pt idx="4">
                    <c:v>Paid social</c:v>
                  </c:pt>
                  <c:pt idx="5">
                    <c:v>Paid search</c:v>
                  </c:pt>
                </c:lvl>
              </c:multiLvlStrCache>
            </c:multiLvlStrRef>
          </c:cat>
          <c:val>
            <c:numRef>
              <c:f>Sheet1!$B$2:$B$7</c:f>
              <c:numCache>
                <c:formatCode>General</c:formatCode>
                <c:ptCount val="6"/>
                <c:pt idx="0">
                  <c:v>9.4</c:v>
                </c:pt>
                <c:pt idx="1">
                  <c:v>12.1</c:v>
                </c:pt>
                <c:pt idx="2">
                  <c:v>19.8</c:v>
                </c:pt>
                <c:pt idx="3">
                  <c:v>22.6</c:v>
                </c:pt>
                <c:pt idx="4">
                  <c:v>26.3</c:v>
                </c:pt>
                <c:pt idx="5">
                  <c:v>31.7</c:v>
                </c:pt>
              </c:numCache>
            </c:numRef>
          </c:val>
        </c:ser>
        <c:dLbls>
          <c:numFmt formatCode="&quot;$&quot;0.0&quot;K&quot;"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50" b="0" i="0" u="none" strike="noStrike">
                <a:solidFill>
                  <a:schemeClr val="bg1"/>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4"/>
                </a:solidFill>
                <a:latin typeface="Inter"/>
              </a:defRPr>
            </a:pPr>
            <a:endParaRPr lang="en-US"/>
          </a:p>
        </c:txPr>
        <c:crossAx val="2094734554"/>
        <c:crosses val="autoZero"/>
        <c:crossBetween val="between"/>
      </c:valAx>
      <c:spPr>
        <a:solidFill>
          <a:schemeClr val="accent5"/>
        </a:solidFill>
        <a:ln>
          <a:noFill/>
        </a:ln>
        <a:effectLst/>
      </c:spPr>
    </c:plotArea>
    <c:plotVisOnly val="1"/>
    <c:dispBlanksAs val="span"/>
  </c:chart>
  <c:spPr>
    <a:solidFill>
      <a:schemeClr val="accent5"/>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New ARR</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1"/>
              </a:solidFill>
              <a:ln w="19050" cap="flat">
                <a:solidFill>
                  <a:schemeClr val="bg1"/>
                </a:solidFill>
                <a:prstDash val="solid"/>
                <a:round/>
              </a:ln>
              <a:effectLst/>
            </c:spPr>
          </c:dPt>
          <c:dPt>
            <c:idx val="2"/>
            <c:bubble3D val="0"/>
            <c:spPr>
              <a:solidFill>
                <a:schemeClr val="accent2"/>
              </a:solidFill>
              <a:ln w="19050" cap="flat">
                <a:solidFill>
                  <a:schemeClr val="bg1"/>
                </a:solidFill>
                <a:prstDash val="solid"/>
                <a:round/>
              </a:ln>
              <a:effectLst/>
            </c:spPr>
          </c:dPt>
          <c:dPt>
            <c:idx val="3"/>
            <c:bubble3D val="0"/>
            <c:spPr>
              <a:solidFill>
                <a:schemeClr val="accent3"/>
              </a:solidFill>
              <a:ln w="19050" cap="flat">
                <a:solidFill>
                  <a:schemeClr val="bg1"/>
                </a:solidFill>
                <a:prstDash val="solid"/>
                <a:round/>
              </a:ln>
              <a:effectLst/>
            </c:spPr>
          </c:dPt>
          <c:dPt>
            <c:idx val="4"/>
            <c:bubble3D val="0"/>
            <c:spPr>
              <a:solidFill>
                <a:schemeClr val="accent4"/>
              </a:solidFill>
              <a:ln w="19050" cap="flat">
                <a:solidFill>
                  <a:schemeClr val="bg1"/>
                </a:solidFill>
                <a:prstDash val="solid"/>
                <a:round/>
              </a:ln>
              <a:effectLst/>
            </c:spPr>
          </c:dPt>
          <c:dLbls>
            <c:dLbl>
              <c:idx val="0"/>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3"/>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4"/>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Direct field sales</c:v>
                </c:pt>
                <c:pt idx="1">
                  <c:v>Partners &amp; resellers</c:v>
                </c:pt>
                <c:pt idx="2">
                  <c:v>Inside sales</c:v>
                </c:pt>
                <c:pt idx="3">
                  <c:v>Self-serve</c:v>
                </c:pt>
                <c:pt idx="4">
                  <c:v>Marketplaces</c:v>
                </c:pt>
              </c:strCache>
            </c:strRef>
          </c:cat>
          <c:val>
            <c:numRef>
              <c:f>Sheet1!$B$2:$B$6</c:f>
              <c:numCache>
                <c:ptCount val="5"/>
                <c:pt idx="0">
                  <c:v>8.9</c:v>
                </c:pt>
                <c:pt idx="1">
                  <c:v>5.4</c:v>
                </c:pt>
                <c:pt idx="2">
                  <c:v>3.6</c:v>
                </c:pt>
                <c:pt idx="3">
                  <c:v>1.6</c:v>
                </c:pt>
                <c:pt idx="4">
                  <c:v>0.8</c:v>
                </c:pt>
              </c:numCache>
            </c:numRef>
          </c:val>
        </c:ser>
        <c:firstSliceAng val="0"/>
        <c:holeSize val="68"/>
      </c:doughnutChart>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MQLs</c:v>
                </c:pt>
              </c:strCache>
            </c:strRef>
          </c:tx>
          <c:spPr>
            <a:solidFill>
              <a:schemeClr val="tx1">
                <a:alpha val="85000"/>
              </a:schemeClr>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Sheet1!$A$2:$A$14</c:f>
              <c:multiLvlStrCache>
                <c:ptCount val="13"/>
                <c:lvl>
                  <c:pt idx="0">
                    <c:v>W1</c:v>
                  </c:pt>
                  <c:pt idx="1">
                    <c:v>W2</c:v>
                  </c:pt>
                  <c:pt idx="2">
                    <c:v>W3</c:v>
                  </c:pt>
                  <c:pt idx="3">
                    <c:v>W4</c:v>
                  </c:pt>
                  <c:pt idx="4">
                    <c:v>W5</c:v>
                  </c:pt>
                  <c:pt idx="5">
                    <c:v>W6</c:v>
                  </c:pt>
                  <c:pt idx="6">
                    <c:v>W7</c:v>
                  </c:pt>
                  <c:pt idx="7">
                    <c:v>W8</c:v>
                  </c:pt>
                  <c:pt idx="8">
                    <c:v>W9</c:v>
                  </c:pt>
                  <c:pt idx="9">
                    <c:v>W10</c:v>
                  </c:pt>
                  <c:pt idx="10">
                    <c:v>W11</c:v>
                  </c:pt>
                  <c:pt idx="11">
                    <c:v>W12</c:v>
                  </c:pt>
                  <c:pt idx="12">
                    <c:v>W13</c:v>
                  </c:pt>
                </c:lvl>
              </c:multiLvlStrCache>
            </c:multiLvlStrRef>
          </c:cat>
          <c:val>
            <c:numRef>
              <c:f>Sheet1!$B$2:$B$14</c:f>
              <c:numCache>
                <c:formatCode>General</c:formatCode>
                <c:ptCount val="13"/>
                <c:pt idx="0">
                  <c:v>110</c:v>
                </c:pt>
                <c:pt idx="1">
                  <c:v>140</c:v>
                </c:pt>
                <c:pt idx="2">
                  <c:v>150</c:v>
                </c:pt>
                <c:pt idx="3">
                  <c:v>190</c:v>
                </c:pt>
                <c:pt idx="4">
                  <c:v>240</c:v>
                </c:pt>
                <c:pt idx="5">
                  <c:v>260</c:v>
                </c:pt>
                <c:pt idx="6">
                  <c:v>250</c:v>
                </c:pt>
                <c:pt idx="7">
                  <c:v>270</c:v>
                </c:pt>
                <c:pt idx="8">
                  <c:v>230</c:v>
                </c:pt>
                <c:pt idx="9">
                  <c:v>220</c:v>
                </c:pt>
                <c:pt idx="10">
                  <c:v>250</c:v>
                </c:pt>
                <c:pt idx="11">
                  <c:v>260</c:v>
                </c:pt>
                <c:pt idx="12">
                  <c:v>250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800" b="0" i="0" u="none" strike="noStrike">
                <a:solidFill>
                  <a:schemeClr val="accent3"/>
                </a:solidFill>
                <a:latin typeface="Inter"/>
              </a:defRPr>
            </a:pPr>
            <a:endParaRPr lang="en-US"/>
          </a:p>
        </c:txPr>
        <c:crossAx val="2094734554"/>
        <c:crosses val="autoZero"/>
        <c:crossBetween val="between"/>
        <c:majorUnit val="100"/>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Paid search</c:v>
                </c:pt>
              </c:strCache>
            </c:strRef>
          </c:tx>
          <c:spPr>
            <a:solidFill>
              <a:schemeClr val="accent4"/>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Sheet1!$B$2:$B$9</c:f>
              <c:numCache>
                <c:formatCode>General</c:formatCode>
                <c:ptCount val="8"/>
                <c:pt idx="0">
                  <c:v>420</c:v>
                </c:pt>
                <c:pt idx="1">
                  <c:v>410</c:v>
                </c:pt>
                <c:pt idx="2">
                  <c:v>380</c:v>
                </c:pt>
                <c:pt idx="3">
                  <c:v>360</c:v>
                </c:pt>
                <c:pt idx="4">
                  <c:v>330</c:v>
                </c:pt>
                <c:pt idx="5">
                  <c:v>300</c:v>
                </c:pt>
                <c:pt idx="6">
                  <c:v>270</c:v>
                </c:pt>
                <c:pt idx="7">
                  <c:v>240</c:v>
                </c:pt>
              </c:numCache>
            </c:numRef>
          </c:val>
        </c:ser>
        <c:ser>
          <c:idx val="1"/>
          <c:order val="1"/>
          <c:tx>
            <c:strRef>
              <c:f>Sheet1!$C$1</c:f>
              <c:strCache>
                <c:ptCount val="1"/>
                <c:pt idx="0">
                  <c:v>Paid social</c:v>
                </c:pt>
              </c:strCache>
            </c:strRef>
          </c:tx>
          <c:spPr>
            <a:solidFill>
              <a:schemeClr val="accent3"/>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Sheet1!$C$2:$C$9</c:f>
              <c:numCache>
                <c:formatCode>General</c:formatCode>
                <c:ptCount val="8"/>
                <c:pt idx="0">
                  <c:v>260</c:v>
                </c:pt>
                <c:pt idx="1">
                  <c:v>270</c:v>
                </c:pt>
                <c:pt idx="2">
                  <c:v>280</c:v>
                </c:pt>
                <c:pt idx="3">
                  <c:v>270</c:v>
                </c:pt>
                <c:pt idx="4">
                  <c:v>260</c:v>
                </c:pt>
                <c:pt idx="5">
                  <c:v>250</c:v>
                </c:pt>
                <c:pt idx="6">
                  <c:v>240</c:v>
                </c:pt>
                <c:pt idx="7">
                  <c:v>230</c:v>
                </c:pt>
              </c:numCache>
            </c:numRef>
          </c:val>
        </c:ser>
        <c:ser>
          <c:idx val="2"/>
          <c:order val="2"/>
          <c:tx>
            <c:strRef>
              <c:f>Sheet1!$D$1</c:f>
              <c:strCache>
                <c:ptCount val="1"/>
                <c:pt idx="0">
                  <c:v>Events</c:v>
                </c:pt>
              </c:strCache>
            </c:strRef>
          </c:tx>
          <c:spPr>
            <a:solidFill>
              <a:schemeClr val="accent2"/>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Sheet1!$D$2:$D$9</c:f>
              <c:numCache>
                <c:formatCode>General</c:formatCode>
                <c:ptCount val="8"/>
                <c:pt idx="0">
                  <c:v>180</c:v>
                </c:pt>
                <c:pt idx="1">
                  <c:v>200</c:v>
                </c:pt>
                <c:pt idx="2">
                  <c:v>190</c:v>
                </c:pt>
                <c:pt idx="3">
                  <c:v>240</c:v>
                </c:pt>
                <c:pt idx="4">
                  <c:v>260</c:v>
                </c:pt>
                <c:pt idx="5">
                  <c:v>280</c:v>
                </c:pt>
                <c:pt idx="6">
                  <c:v>300</c:v>
                </c:pt>
                <c:pt idx="7">
                  <c:v>330</c:v>
                </c:pt>
              </c:numCache>
            </c:numRef>
          </c:val>
        </c:ser>
        <c:ser>
          <c:idx val="3"/>
          <c:order val="3"/>
          <c:tx>
            <c:strRef>
              <c:f>Sheet1!$E$1</c:f>
              <c:strCache>
                <c:ptCount val="1"/>
                <c:pt idx="0">
                  <c:v>Partners</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Sheet1!$E$2:$E$9</c:f>
              <c:numCache>
                <c:formatCode>General</c:formatCode>
                <c:ptCount val="8"/>
                <c:pt idx="0">
                  <c:v>90</c:v>
                </c:pt>
                <c:pt idx="1">
                  <c:v>110</c:v>
                </c:pt>
                <c:pt idx="2">
                  <c:v>140</c:v>
                </c:pt>
                <c:pt idx="3">
                  <c:v>170</c:v>
                </c:pt>
                <c:pt idx="4">
                  <c:v>220</c:v>
                </c:pt>
                <c:pt idx="5">
                  <c:v>260</c:v>
                </c:pt>
                <c:pt idx="6">
                  <c:v>300</c:v>
                </c:pt>
                <c:pt idx="7">
                  <c:v>350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120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300"/>
      </c:valAx>
      <c:spPr>
        <a:solidFill>
          <a:schemeClr val="bg1"/>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Sentiment</c:v>
                </c:pt>
              </c:strCache>
            </c:strRef>
          </c:tx>
          <c:spPr>
            <a:solidFill>
              <a:schemeClr val="tx1"/>
            </a:solidFill>
            <a:ln w="31750" cap="flat">
              <a:solidFill>
                <a:schemeClr val="tx1"/>
              </a:solidFill>
              <a:prstDash val="solid"/>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circle"/>
            <c:size val="9"/>
            <c:spPr>
              <a:solidFill>
                <a:schemeClr val="tx1"/>
              </a:solidFill>
              <a:ln w="25400" cap="flat">
                <a:solidFill>
                  <a:schemeClr val="accent1"/>
                </a:solidFill>
                <a:prstDash val="solid"/>
                <a:round/>
              </a:ln>
              <a:effectLst/>
            </c:spPr>
          </c:marker>
          <c:cat>
            <c:multiLvlStrRef>
              <c:f>Sheet1!$A$2:$A$6</c:f>
              <c:multiLvlStrCache>
                <c:ptCount val="5"/>
                <c:lvl>
                  <c:pt idx="0">
                    <c:v>Awareness</c:v>
                  </c:pt>
                  <c:pt idx="1">
                    <c:v>Consideration</c:v>
                  </c:pt>
                  <c:pt idx="2">
                    <c:v>Decision</c:v>
                  </c:pt>
                  <c:pt idx="3">
                    <c:v>Onboarding</c:v>
                  </c:pt>
                  <c:pt idx="4">
                    <c:v>Advocacy</c:v>
                  </c:pt>
                </c:lvl>
              </c:multiLvlStrCache>
            </c:multiLvlStrRef>
          </c:cat>
          <c:val>
            <c:numRef>
              <c:f>Sheet1!$B$2:$B$6</c:f>
              <c:numCache>
                <c:formatCode>General</c:formatCode>
                <c:ptCount val="5"/>
                <c:pt idx="0">
                  <c:v>6</c:v>
                </c:pt>
                <c:pt idx="1">
                  <c:v>7.5</c:v>
                </c:pt>
                <c:pt idx="2">
                  <c:v>4.2</c:v>
                </c:pt>
                <c:pt idx="3">
                  <c:v>6.8</c:v>
                </c:pt>
                <c:pt idx="4">
                  <c:v>8.6</c:v>
                </c:pt>
              </c:numCache>
            </c:numRef>
          </c:val>
          <c:smooth val="1"/>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none"/>
        <c:minorTickMark val="none"/>
        <c:tickLblPos val="low"/>
        <c:spPr>
          <a:ln w="9525" cap="flat">
            <a:no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10"/>
          <c:min val="2"/>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chemeClr val="tx1"/>
            </a:solidFill>
            <a:ln w="28575" cap="flat">
              <a:solidFill>
                <a:schemeClr val="tx1"/>
              </a:solidFill>
              <a:prstDash val="solid,dash"/>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none"/>
            <c:size val="6"/>
            <c:spPr>
              <a:solidFill>
                <a:schemeClr val="tx1"/>
              </a:solidFill>
              <a:ln w="9525" cap="flat">
                <a:solidFill>
                  <a:schemeClr val="tx1"/>
                </a:solidFill>
                <a:prstDash val="solid"/>
                <a:round/>
              </a:ln>
              <a:effectLst/>
            </c:spPr>
          </c:marker>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30.1</c:v>
                </c:pt>
                <c:pt idx="1">
                  <c:v>31.8</c:v>
                </c:pt>
                <c:pt idx="2">
                  <c:v>33.9</c:v>
                </c:pt>
                <c:pt idx="3">
                  <c:v>35</c:v>
                </c:pt>
                <c:pt idx="4">
                  <c:v>36.4</c:v>
                </c:pt>
                <c:pt idx="5">
                  <c:v>38.3</c:v>
                </c:pt>
                <c:pt idx="6">
                  <c:v>39.6</c:v>
                </c:pt>
                <c:pt idx="7">
                  <c:v>41.2</c:v>
                </c:pt>
                <c:pt idx="8">
                  <c:v>43.5</c:v>
                </c:pt>
                <c:pt idx="9">
                  <c:v>45</c:v>
                </c:pt>
                <c:pt idx="10">
                  <c:v>46.7</c:v>
                </c:pt>
                <c:pt idx="11">
                  <c:v>48.6</c:v>
                </c:pt>
              </c:numCache>
            </c:numRef>
          </c:val>
          <c:smooth val="0"/>
        </c:ser>
        <c:ser>
          <c:idx val="1"/>
          <c:order val="1"/>
          <c:tx>
            <c:strRef>
              <c:f>Sheet1!$C$1</c:f>
              <c:strCache>
                <c:ptCount val="1"/>
                <c:pt idx="0">
                  <c:v>Plan</c:v>
                </c:pt>
              </c:strCache>
            </c:strRef>
          </c:tx>
          <c:spPr>
            <a:solidFill>
              <a:schemeClr val="accent3"/>
            </a:solidFill>
            <a:ln w="28575" cap="flat">
              <a:solidFill>
                <a:schemeClr val="accent3"/>
              </a:solidFill>
              <a:prstDash val="solid,dash"/>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none"/>
            <c:size val="6"/>
            <c:spPr>
              <a:solidFill>
                <a:schemeClr val="accent3"/>
              </a:solidFill>
              <a:ln w="9525" cap="flat">
                <a:solidFill>
                  <a:schemeClr val="accent3"/>
                </a:solidFill>
                <a:prstDash val="solid"/>
                <a:round/>
              </a:ln>
              <a:effectLst/>
            </c:spPr>
          </c:marker>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Sheet1!$C$2:$C$13</c:f>
              <c:numCache>
                <c:formatCode>General</c:formatCode>
                <c:ptCount val="12"/>
                <c:pt idx="0">
                  <c:v>30</c:v>
                </c:pt>
                <c:pt idx="1">
                  <c:v>31.2</c:v>
                </c:pt>
                <c:pt idx="2">
                  <c:v>32.5</c:v>
                </c:pt>
                <c:pt idx="3">
                  <c:v>33.8</c:v>
                </c:pt>
                <c:pt idx="4">
                  <c:v>35</c:v>
                </c:pt>
                <c:pt idx="5">
                  <c:v>36.3</c:v>
                </c:pt>
                <c:pt idx="6">
                  <c:v>37.6</c:v>
                </c:pt>
                <c:pt idx="7">
                  <c:v>38.9</c:v>
                </c:pt>
                <c:pt idx="8">
                  <c:v>40.2</c:v>
                </c:pt>
                <c:pt idx="9">
                  <c:v>41.6</c:v>
                </c:pt>
                <c:pt idx="10">
                  <c:v>43</c:v>
                </c:pt>
                <c:pt idx="11">
                  <c:v>44.5</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50"/>
          <c:min val="25"/>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5"/>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chemeClr val="accent4"/>
            </a:solidFill>
            <a:effectLst/>
          </c:spPr>
          <c:invertIfNegative val="0"/>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accent4"/>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tx1"/>
              </a:solidFill>
              <a:effectLst/>
            </c:spPr>
          </c:dPt>
          <c:cat>
            <c:multiLvlStrRef>
              <c:f>Sheet1!$A$2:$A$5</c:f>
              <c:multiLvlStrCache>
                <c:ptCount val="4"/>
                <c:lvl>
                  <c:pt idx="0">
                    <c:v>Q4 25</c:v>
                  </c:pt>
                  <c:pt idx="1">
                    <c:v>Q1 26</c:v>
                  </c:pt>
                  <c:pt idx="2">
                    <c:v>Q2 26</c:v>
                  </c:pt>
                  <c:pt idx="3">
                    <c:v>Q3 26</c:v>
                  </c:pt>
                </c:lvl>
              </c:multiLvlStrCache>
            </c:multiLvlStrRef>
          </c:cat>
          <c:val>
            <c:numRef>
              <c:f>Sheet1!$B$2:$B$5</c:f>
              <c:numCache>
                <c:formatCode>General</c:formatCode>
                <c:ptCount val="4"/>
                <c:pt idx="0">
                  <c:v>8.2</c:v>
                </c:pt>
                <c:pt idx="1">
                  <c:v>9.6</c:v>
                </c:pt>
                <c:pt idx="2">
                  <c:v>11.1</c:v>
                </c:pt>
                <c:pt idx="3">
                  <c:v>12.9</c:v>
                </c:pt>
              </c:numCache>
            </c:numRef>
          </c:val>
        </c:ser>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2"/>
                </a:solidFill>
                <a:prstDash val="solid"/>
                <a:round/>
              </a:ln>
              <a:effectLst/>
            </c:spPr>
          </c:dPt>
          <c:dPt>
            <c:idx val="1"/>
            <c:bubble3D val="0"/>
            <c:spPr>
              <a:solidFill>
                <a:schemeClr val="accent1"/>
              </a:solidFill>
              <a:ln w="19050" cap="flat">
                <a:solidFill>
                  <a:schemeClr val="bg2"/>
                </a:solidFill>
                <a:prstDash val="solid"/>
                <a:round/>
              </a:ln>
              <a:effectLst/>
            </c:spPr>
          </c:dPt>
          <c:dPt>
            <c:idx val="2"/>
            <c:bubble3D val="0"/>
            <c:spPr>
              <a:solidFill>
                <a:schemeClr val="accent3"/>
              </a:solidFill>
              <a:ln w="19050" cap="flat">
                <a:solidFill>
                  <a:schemeClr val="bg2"/>
                </a:solidFill>
                <a:prstDash val="solid"/>
                <a:round/>
              </a:ln>
              <a:effectLst/>
            </c:spPr>
          </c:dPt>
          <c:dLbls>
            <c:dLbl>
              <c:idx val="0"/>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Subscription</c:v>
                </c:pt>
                <c:pt idx="1">
                  <c:v>Services</c:v>
                </c:pt>
                <c:pt idx="2">
                  <c:v>Marketplace</c:v>
                </c:pt>
              </c:strCache>
            </c:strRef>
          </c:cat>
          <c:val>
            <c:numRef>
              <c:f>Sheet1!$B$2:$B$4</c:f>
              <c:numCache>
                <c:ptCount val="3"/>
                <c:pt idx="0">
                  <c:v>81</c:v>
                </c:pt>
                <c:pt idx="1">
                  <c:v>12</c:v>
                </c:pt>
                <c:pt idx="2">
                  <c:v>7</c:v>
                </c:pt>
              </c:numCache>
            </c:numRef>
          </c:val>
        </c:ser>
        <c:firstSliceAng val="0"/>
        <c:holeSize val="65"/>
      </c:doughnutChart>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MRR</c:v>
                </c:pt>
              </c:strCache>
            </c:strRef>
          </c:tx>
          <c:spPr>
            <a:solidFill>
              <a:schemeClr val="tx1">
                <a:alpha val="90000"/>
              </a:schemeClr>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2510</c:v>
                </c:pt>
                <c:pt idx="1">
                  <c:v>2650</c:v>
                </c:pt>
                <c:pt idx="2">
                  <c:v>2830</c:v>
                </c:pt>
                <c:pt idx="3">
                  <c:v>2920</c:v>
                </c:pt>
                <c:pt idx="4">
                  <c:v>3030</c:v>
                </c:pt>
                <c:pt idx="5">
                  <c:v>3190</c:v>
                </c:pt>
                <c:pt idx="6">
                  <c:v>3300</c:v>
                </c:pt>
                <c:pt idx="7">
                  <c:v>3430</c:v>
                </c:pt>
                <c:pt idx="8">
                  <c:v>3620</c:v>
                </c:pt>
                <c:pt idx="9">
                  <c:v>3750</c:v>
                </c:pt>
                <c:pt idx="10">
                  <c:v>3890</c:v>
                </c:pt>
                <c:pt idx="11">
                  <c:v>4050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10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5000"/>
          <c:min val="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1000"/>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c:v>
                </c:pt>
              </c:strCache>
            </c:strRef>
          </c:tx>
          <c:spPr>
            <a:solidFill>
              <a:schemeClr val="accent4"/>
            </a:solidFill>
            <a:effectLst/>
          </c:spPr>
          <c:invertIfNegative val="0"/>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6.1</c:v>
                </c:pt>
                <c:pt idx="1">
                  <c:v>6.8</c:v>
                </c:pt>
                <c:pt idx="2">
                  <c:v>7.4</c:v>
                </c:pt>
                <c:pt idx="3">
                  <c:v>8.2</c:v>
                </c:pt>
              </c:numCache>
            </c:numRef>
          </c:val>
        </c:ser>
        <c:ser>
          <c:idx val="1"/>
          <c:order val="1"/>
          <c:tx>
            <c:strRef>
              <c:f>Sheet1!$C$1</c:f>
              <c:strCache>
                <c:ptCount val="1"/>
                <c:pt idx="0">
                  <c:v>2026</c:v>
                </c:pt>
              </c:strCache>
            </c:strRef>
          </c:tx>
          <c:spPr>
            <a:solidFill>
              <a:schemeClr val="tx1"/>
            </a:solidFill>
            <a:effectLst/>
          </c:spPr>
          <c:invertIfNegative val="0"/>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9.6</c:v>
                </c:pt>
                <c:pt idx="1">
                  <c:v>11.1</c:v>
                </c:pt>
                <c:pt idx="2">
                  <c:v>12.9</c:v>
                </c:pt>
                <c:pt idx="3">
                  <c:v>14.2</c:v>
                </c:pt>
              </c:numCache>
            </c:numRef>
          </c:val>
        </c:ser>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110"/>
        <c:overlap val="-8"/>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16"/>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legend>
      <c:legendPos val="r"/>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Revenue area</c:v>
                </c:pt>
              </c:strCache>
            </c:strRef>
          </c:tx>
          <c:spPr>
            <a:solidFill>
              <a:schemeClr val="accent2">
                <a:alpha val="25000"/>
              </a:schemeClr>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Sheet1!$A$2:$A$7</c:f>
              <c:multiLvlStrCache>
                <c:ptCount val="6"/>
                <c:lvl>
                  <c:pt idx="0">
                    <c:v>2021</c:v>
                  </c:pt>
                  <c:pt idx="1">
                    <c:v>2022</c:v>
                  </c:pt>
                  <c:pt idx="2">
                    <c:v>2023</c:v>
                  </c:pt>
                  <c:pt idx="3">
                    <c:v>2024</c:v>
                  </c:pt>
                  <c:pt idx="4">
                    <c:v>2025</c:v>
                  </c:pt>
                  <c:pt idx="5">
                    <c:v>2026F</c:v>
                  </c:pt>
                </c:lvl>
              </c:multiLvlStrCache>
            </c:multiLvlStrRef>
          </c:cat>
          <c:val>
            <c:numRef>
              <c:f>Sheet1!$B$2:$B$7</c:f>
              <c:numCache>
                <c:formatCode>General</c:formatCode>
                <c:ptCount val="6"/>
                <c:pt idx="0">
                  <c:v>8.1</c:v>
                </c:pt>
                <c:pt idx="1">
                  <c:v>11.9</c:v>
                </c:pt>
                <c:pt idx="2">
                  <c:v>16.3</c:v>
                </c:pt>
                <c:pt idx="3">
                  <c:v>18.9</c:v>
                </c:pt>
                <c:pt idx="4">
                  <c:v>27.5</c:v>
                </c:pt>
                <c:pt idx="5">
                  <c:v>43.8</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xId val="2094734556"/>
      </c:areaChart>
      <c:lineChart>
        <c:varyColors val="0"/>
        <c:ser>
          <c:idx val="1"/>
          <c:order val="1"/>
          <c:tx>
            <c:strRef>
              <c:f>Sheet1!$C$1</c:f>
              <c:strCache>
                <c:ptCount val="1"/>
                <c:pt idx="0">
                  <c:v>Revenue</c:v>
                </c:pt>
              </c:strCache>
            </c:strRef>
          </c:tx>
          <c:spPr>
            <a:solidFill>
              <a:schemeClr val="tx1"/>
            </a:solidFill>
            <a:ln w="31750" cap="flat">
              <a:solidFill>
                <a:schemeClr val="tx1"/>
              </a:solidFill>
              <a:prstDash val="solid"/>
              <a:round/>
            </a:ln>
            <a:effectLst/>
          </c:spPr>
          <c:invertIfNegative val="0"/>
          <c:dLbls>
            <c:numFmt formatCode="&quot;$&quot;0.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c:symbol val="circle"/>
            <c:size val="8"/>
            <c:spPr>
              <a:solidFill>
                <a:schemeClr val="tx1"/>
              </a:solidFill>
              <a:ln w="9525" cap="flat">
                <a:solidFill>
                  <a:schemeClr val="tx1"/>
                </a:solidFill>
                <a:prstDash val="solid"/>
                <a:round/>
              </a:ln>
              <a:effectLst/>
            </c:spPr>
          </c:marker>
          <c:cat>
            <c:multiLvlStrRef>
              <c:f>Sheet1!$A$2:$A$7</c:f>
              <c:multiLvlStrCache>
                <c:ptCount val="6"/>
                <c:lvl>
                  <c:pt idx="0">
                    <c:v>2021</c:v>
                  </c:pt>
                  <c:pt idx="1">
                    <c:v>2022</c:v>
                  </c:pt>
                  <c:pt idx="2">
                    <c:v>2023</c:v>
                  </c:pt>
                  <c:pt idx="3">
                    <c:v>2024</c:v>
                  </c:pt>
                  <c:pt idx="4">
                    <c:v>2025</c:v>
                  </c:pt>
                  <c:pt idx="5">
                    <c:v>2026F</c:v>
                  </c:pt>
                </c:lvl>
              </c:multiLvlStrCache>
            </c:multiLvlStrRef>
          </c:cat>
          <c:val>
            <c:numRef>
              <c:f>Sheet1!$C$2:$C$7</c:f>
              <c:numCache>
                <c:formatCode>General</c:formatCode>
                <c:ptCount val="6"/>
                <c:pt idx="0">
                  <c:v>8.1</c:v>
                </c:pt>
                <c:pt idx="1">
                  <c:v>11.9</c:v>
                </c:pt>
                <c:pt idx="2">
                  <c:v>16.3</c:v>
                </c:pt>
                <c:pt idx="3">
                  <c:v>18.9</c:v>
                </c:pt>
                <c:pt idx="4">
                  <c:v>27.5</c:v>
                </c:pt>
                <c:pt idx="5">
                  <c:v>43.8</c:v>
                </c:pt>
              </c:numCache>
            </c:numRef>
          </c:val>
          <c:smooth val="0"/>
        </c:ser>
        <c:dLbls>
          <c:numFmt formatCode="&quot;$&quot;0.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midCat"/>
        <c:majorUnit val="10"/>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FY2025</c:v>
                </c:pt>
              </c:strCache>
            </c:strRef>
          </c:tx>
          <c:spPr>
            <a:solidFill>
              <a:schemeClr val="accent4"/>
            </a:solidFill>
            <a:effectLst/>
          </c:spPr>
          <c:invertIfNegative val="0"/>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Research &amp; development</c:v>
                  </c:pt>
                  <c:pt idx="1">
                    <c:v>Sales</c:v>
                  </c:pt>
                  <c:pt idx="2">
                    <c:v>Marketing</c:v>
                  </c:pt>
                  <c:pt idx="3">
                    <c:v>Customer success</c:v>
                  </c:pt>
                  <c:pt idx="4">
                    <c:v>General &amp; admin</c:v>
                  </c:pt>
                  <c:pt idx="5">
                    <c:v>Facilities &amp; IT</c:v>
                  </c:pt>
                </c:lvl>
              </c:multiLvlStrCache>
            </c:multiLvlStrRef>
          </c:cat>
          <c:val>
            <c:numRef>
              <c:f>Sheet1!$B$2:$B$7</c:f>
              <c:numCache>
                <c:formatCode>General</c:formatCode>
                <c:ptCount val="6"/>
                <c:pt idx="0">
                  <c:v>9.8</c:v>
                </c:pt>
                <c:pt idx="1">
                  <c:v>7.9</c:v>
                </c:pt>
                <c:pt idx="2">
                  <c:v>4.6</c:v>
                </c:pt>
                <c:pt idx="3">
                  <c:v>3.1</c:v>
                </c:pt>
                <c:pt idx="4">
                  <c:v>3.4</c:v>
                </c:pt>
                <c:pt idx="5">
                  <c:v>1.6</c:v>
                </c:pt>
              </c:numCache>
            </c:numRef>
          </c:val>
        </c:ser>
        <c:ser>
          <c:idx val="1"/>
          <c:order val="1"/>
          <c:tx>
            <c:strRef>
              <c:f>Sheet1!$C$1</c:f>
              <c:strCache>
                <c:ptCount val="1"/>
                <c:pt idx="0">
                  <c:v>FY2026</c:v>
                </c:pt>
              </c:strCache>
            </c:strRef>
          </c:tx>
          <c:spPr>
            <a:solidFill>
              <a:schemeClr val="tx1"/>
            </a:solidFill>
            <a:effectLst/>
          </c:spPr>
          <c:invertIfNegative val="0"/>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Research &amp; development</c:v>
                  </c:pt>
                  <c:pt idx="1">
                    <c:v>Sales</c:v>
                  </c:pt>
                  <c:pt idx="2">
                    <c:v>Marketing</c:v>
                  </c:pt>
                  <c:pt idx="3">
                    <c:v>Customer success</c:v>
                  </c:pt>
                  <c:pt idx="4">
                    <c:v>General &amp; admin</c:v>
                  </c:pt>
                  <c:pt idx="5">
                    <c:v>Facilities &amp; IT</c:v>
                  </c:pt>
                </c:lvl>
              </c:multiLvlStrCache>
            </c:multiLvlStrRef>
          </c:cat>
          <c:val>
            <c:numRef>
              <c:f>Sheet1!$C$2:$C$7</c:f>
              <c:numCache>
                <c:formatCode>General</c:formatCode>
                <c:ptCount val="6"/>
                <c:pt idx="0">
                  <c:v>14.2</c:v>
                </c:pt>
                <c:pt idx="1">
                  <c:v>11.3</c:v>
                </c:pt>
                <c:pt idx="2">
                  <c:v>6.2</c:v>
                </c:pt>
                <c:pt idx="3">
                  <c:v>4.4</c:v>
                </c:pt>
                <c:pt idx="4">
                  <c:v>4.1</c:v>
                </c:pt>
                <c:pt idx="5">
                  <c:v>1.9</c:v>
                </c:pt>
              </c:numCache>
            </c:numRef>
          </c:val>
        </c:ser>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55"/>
        <c:overlap val="-5"/>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00" b="0" i="0" u="none" strike="noStrike">
                <a:solidFill>
                  <a:schemeClr val="tx2"/>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1"/>
          <c:w val="0.96"/>
          <c:h val="0.8"/>
        </c:manualLayout>
      </c:layout>
      <c:barChart>
        <c:barDir val="col"/>
        <c:grouping val="stacked"/>
        <c:varyColors val="0"/>
        <c:ser>
          <c:idx val="0"/>
          <c:order val="0"/>
          <c:tx>
            <c:strRef>
              <c:f>Sheet1!$B$1</c:f>
              <c:strCache>
                <c:ptCount val="1"/>
                <c:pt idx="0">
                  <c:v>Base</c:v>
                </c:pt>
              </c:strCache>
            </c:strRef>
          </c:tx>
          <c:spPr>
            <a:solidFill>
              <a:schemeClr val="bg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Revenue</c:v>
                  </c:pt>
                  <c:pt idx="1">
                    <c:v>Cost of revenue</c:v>
                  </c:pt>
                  <c:pt idx="2">
                    <c:v>Gross profit</c:v>
                  </c:pt>
                  <c:pt idx="3">
                    <c:v>Sales &amp; marketing</c:v>
                  </c:pt>
                  <c:pt idx="4">
                    <c:v>R&amp;D</c:v>
                  </c:pt>
                  <c:pt idx="5">
                    <c:v>G&amp;A</c:v>
                  </c:pt>
                  <c:pt idx="6">
                    <c:v>EBITDA</c:v>
                  </c:pt>
                </c:lvl>
              </c:multiLvlStrCache>
            </c:multiLvlStrRef>
          </c:cat>
          <c:val>
            <c:numRef>
              <c:f>Sheet1!$B$2:$B$8</c:f>
              <c:numCache>
                <c:formatCode>General</c:formatCode>
                <c:ptCount val="7"/>
                <c:pt idx="0">
                  <c:v>0</c:v>
                </c:pt>
                <c:pt idx="1">
                  <c:v>34.2</c:v>
                </c:pt>
                <c:pt idx="2">
                  <c:v>0</c:v>
                </c:pt>
                <c:pt idx="3">
                  <c:v>16.7</c:v>
                </c:pt>
                <c:pt idx="4">
                  <c:v>2.5</c:v>
                </c:pt>
                <c:pt idx="5">
                  <c:v>0.4</c:v>
                </c:pt>
                <c:pt idx="6">
                  <c:v>0</c:v>
                </c:pt>
              </c:numCache>
            </c:numRef>
          </c:val>
        </c:ser>
        <c:ser>
          <c:idx val="1"/>
          <c:order val="1"/>
          <c:tx>
            <c:strRef>
              <c:f>Sheet1!$C$1</c:f>
              <c:strCache>
                <c:ptCount val="1"/>
                <c:pt idx="0">
                  <c:v>Value</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Revenue</c:v>
                  </c:pt>
                  <c:pt idx="1">
                    <c:v>Cost of revenue</c:v>
                  </c:pt>
                  <c:pt idx="2">
                    <c:v>Gross profit</c:v>
                  </c:pt>
                  <c:pt idx="3">
                    <c:v>Sales &amp; marketing</c:v>
                  </c:pt>
                  <c:pt idx="4">
                    <c:v>R&amp;D</c:v>
                  </c:pt>
                  <c:pt idx="5">
                    <c:v>G&amp;A</c:v>
                  </c:pt>
                  <c:pt idx="6">
                    <c:v>EBITDA</c:v>
                  </c:pt>
                </c:lvl>
              </c:multiLvlStrCache>
            </c:multiLvlStrRef>
          </c:cat>
          <c:val>
            <c:numRef>
              <c:f>Sheet1!$C$2:$C$8</c:f>
              <c:numCache>
                <c:formatCode>General</c:formatCode>
                <c:ptCount val="7"/>
                <c:pt idx="0">
                  <c:v>43.8</c:v>
                </c:pt>
                <c:pt idx="1">
                  <c:v>9.6</c:v>
                </c:pt>
                <c:pt idx="2">
                  <c:v>34.2</c:v>
                </c:pt>
                <c:pt idx="3">
                  <c:v>17.5</c:v>
                </c:pt>
                <c:pt idx="4">
                  <c:v>14.2</c:v>
                </c:pt>
                <c:pt idx="5">
                  <c:v>2.1</c:v>
                </c:pt>
                <c:pt idx="6">
                  <c:v>0.4</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48"/>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tx1"/>
              </a:solidFill>
              <a:effectLst/>
            </c:spPr>
          </c:dPt>
          <c:dPt>
            <c:idx val="1"/>
            <c:invertIfNegative val="0"/>
            <c:bubble3D val="0"/>
            <c:spPr>
              <a:solidFill>
                <a:schemeClr val="accent2"/>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accent4"/>
              </a:solidFill>
              <a:effectLst/>
            </c:spPr>
          </c:dPt>
          <c:dPt>
            <c:idx val="5"/>
            <c:invertIfNegative val="0"/>
            <c:bubble3D val="0"/>
            <c:spPr>
              <a:solidFill>
                <a:schemeClr val="accent4"/>
              </a:solidFill>
              <a:effectLst/>
            </c:spPr>
          </c:dPt>
          <c:cat>
            <c:multiLvlStrRef>
              <c:f>Sheet1!$A$2:$A$7</c:f>
              <c:multiLvlStrCache>
                <c:ptCount val="6"/>
                <c:lvl>
                  <c:pt idx="0">
                    <c:v>2025A</c:v>
                  </c:pt>
                  <c:pt idx="1">
                    <c:v>2026F</c:v>
                  </c:pt>
                  <c:pt idx="2">
                    <c:v>2027F</c:v>
                  </c:pt>
                  <c:pt idx="3">
                    <c:v>2028F</c:v>
                  </c:pt>
                  <c:pt idx="4">
                    <c:v>2029F</c:v>
                  </c:pt>
                  <c:pt idx="5">
                    <c:v>2030F</c:v>
                  </c:pt>
                </c:lvl>
              </c:multiLvlStrCache>
            </c:multiLvlStrRef>
          </c:cat>
          <c:val>
            <c:numRef>
              <c:f>Sheet1!$B$2:$B$7</c:f>
              <c:numCache>
                <c:formatCode>General</c:formatCode>
                <c:ptCount val="6"/>
                <c:pt idx="0">
                  <c:v>27.5</c:v>
                </c:pt>
                <c:pt idx="1">
                  <c:v>43.8</c:v>
                </c:pt>
                <c:pt idx="2">
                  <c:v>66</c:v>
                </c:pt>
                <c:pt idx="3">
                  <c:v>92.5</c:v>
                </c:pt>
                <c:pt idx="4">
                  <c:v>121</c:v>
                </c:pt>
                <c:pt idx="5">
                  <c:v>150.2</c:v>
                </c:pt>
              </c:numCache>
            </c:numRef>
          </c:val>
        </c:ser>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1"/>
              </a:solidFill>
              <a:ln w="19050" cap="flat">
                <a:solidFill>
                  <a:schemeClr val="bg1"/>
                </a:solidFill>
                <a:prstDash val="solid"/>
                <a:round/>
              </a:ln>
              <a:effectLst/>
            </c:spPr>
          </c:dPt>
          <c:dPt>
            <c:idx val="2"/>
            <c:bubble3D val="0"/>
            <c:spPr>
              <a:solidFill>
                <a:schemeClr val="accent2"/>
              </a:solidFill>
              <a:ln w="19050" cap="flat">
                <a:solidFill>
                  <a:schemeClr val="bg1"/>
                </a:solidFill>
                <a:prstDash val="solid"/>
                <a:round/>
              </a:ln>
              <a:effectLst/>
            </c:spPr>
          </c:dPt>
          <c:dPt>
            <c:idx val="3"/>
            <c:bubble3D val="0"/>
            <c:spPr>
              <a:solidFill>
                <a:schemeClr val="accent3"/>
              </a:solidFill>
              <a:ln w="19050" cap="flat">
                <a:solidFill>
                  <a:schemeClr val="bg1"/>
                </a:solidFill>
                <a:prstDash val="solid"/>
                <a:round/>
              </a:ln>
              <a:effectLst/>
            </c:spPr>
          </c:dPt>
          <c:dPt>
            <c:idx val="4"/>
            <c:bubble3D val="0"/>
            <c:spPr>
              <a:solidFill>
                <a:schemeClr val="accent4"/>
              </a:solidFill>
              <a:ln w="19050" cap="flat">
                <a:solidFill>
                  <a:schemeClr val="bg1"/>
                </a:solidFill>
                <a:prstDash val="solid"/>
                <a:round/>
              </a:ln>
              <a:effectLst/>
            </c:spPr>
          </c:dPt>
          <c:dLbls>
            <c:dLbl>
              <c:idx val="0"/>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3"/>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4"/>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Product &amp; engineering</c:v>
                </c:pt>
                <c:pt idx="1">
                  <c:v>Go-to-market expansion</c:v>
                </c:pt>
                <c:pt idx="2">
                  <c:v>Partner ecosystem</c:v>
                </c:pt>
                <c:pt idx="3">
                  <c:v>Customer success</c:v>
                </c:pt>
                <c:pt idx="4">
                  <c:v>Working capital</c:v>
                </c:pt>
              </c:strCache>
            </c:strRef>
          </c:cat>
          <c:val>
            <c:numRef>
              <c:f>Sheet1!$B$2:$B$6</c:f>
              <c:numCache>
                <c:ptCount val="5"/>
                <c:pt idx="0">
                  <c:v>40</c:v>
                </c:pt>
                <c:pt idx="1">
                  <c:v>30</c:v>
                </c:pt>
                <c:pt idx="2">
                  <c:v>15</c:v>
                </c:pt>
                <c:pt idx="3">
                  <c:v>10</c:v>
                </c:pt>
                <c:pt idx="4">
                  <c:v>5</c:v>
                </c:pt>
              </c:numCache>
            </c:numRef>
          </c:val>
        </c:ser>
        <c:firstSliceAng val="0"/>
        <c:holeSize val="60"/>
      </c:doughnutChart>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Win rate</c:v>
                </c:pt>
              </c:strCache>
            </c:strRef>
          </c:tx>
          <c:spPr>
            <a:solidFill>
              <a:schemeClr val="tx1"/>
            </a:solidFill>
            <a:effectLst/>
          </c:spPr>
          <c:invertIfNegative val="0"/>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dPt>
            <c:idx val="0"/>
            <c:invertIfNegative val="0"/>
            <c:bubble3D val="0"/>
            <c:spPr>
              <a:solidFill>
                <a:schemeClr val="tx1"/>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accent4"/>
              </a:solidFill>
              <a:effectLst/>
            </c:spPr>
          </c:dPt>
          <c:dPt>
            <c:idx val="5"/>
            <c:invertIfNegative val="0"/>
            <c:bubble3D val="0"/>
            <c:spPr>
              <a:solidFill>
                <a:schemeClr val="accent4"/>
              </a:solidFill>
              <a:effectLst/>
            </c:spPr>
          </c:dPt>
          <c:cat>
            <c:multiLvlStrRef>
              <c:f>Sheet1!$A$2:$A$7</c:f>
              <c:multiLvlStrCache>
                <c:ptCount val="6"/>
                <c:lvl>
                  <c:pt idx="0">
                    <c:v>Software</c:v>
                  </c:pt>
                  <c:pt idx="1">
                    <c:v>Logistics</c:v>
                  </c:pt>
                  <c:pt idx="2">
                    <c:v>Fintech</c:v>
                  </c:pt>
                  <c:pt idx="3">
                    <c:v>Manufacturing</c:v>
                  </c:pt>
                  <c:pt idx="4">
                    <c:v>Healthcare</c:v>
                  </c:pt>
                  <c:pt idx="5">
                    <c:v>Retail</c:v>
                  </c:pt>
                </c:lvl>
              </c:multiLvlStrCache>
            </c:multiLvlStrRef>
          </c:cat>
          <c:val>
            <c:numRef>
              <c:f>Sheet1!$B$2:$B$7</c:f>
              <c:numCache>
                <c:formatCode>General</c:formatCode>
                <c:ptCount val="6"/>
                <c:pt idx="0">
                  <c:v>34</c:v>
                </c:pt>
                <c:pt idx="1">
                  <c:v>31</c:v>
                </c:pt>
                <c:pt idx="2">
                  <c:v>29</c:v>
                </c:pt>
                <c:pt idx="3">
                  <c:v>24</c:v>
                </c:pt>
                <c:pt idx="4">
                  <c:v>21</c:v>
                </c:pt>
                <c:pt idx="5">
                  <c:v>17</c:v>
                </c:pt>
              </c:numCache>
            </c:numRef>
          </c:val>
        </c:ser>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00" b="0" i="0" u="none" strike="noStrike">
                <a:solidFill>
                  <a:schemeClr val="tx2"/>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c:v>
                </c:pt>
              </c:strCache>
            </c:strRef>
          </c:tx>
          <c:spPr>
            <a:solidFill>
              <a:schemeClr val="accent4"/>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52</c:v>
                </c:pt>
                <c:pt idx="1">
                  <c:v>61</c:v>
                </c:pt>
                <c:pt idx="2">
                  <c:v>70</c:v>
                </c:pt>
                <c:pt idx="3">
                  <c:v>84</c:v>
                </c:pt>
              </c:numCache>
            </c:numRef>
          </c:val>
        </c:ser>
        <c:ser>
          <c:idx val="1"/>
          <c:order val="1"/>
          <c:tx>
            <c:strRef>
              <c:f>Sheet1!$C$1</c:f>
              <c:strCache>
                <c:ptCount val="1"/>
                <c:pt idx="0">
                  <c:v>2026</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71</c:v>
                </c:pt>
                <c:pt idx="1">
                  <c:v>83</c:v>
                </c:pt>
                <c:pt idx="2">
                  <c:v>96</c:v>
                </c:pt>
                <c:pt idx="3">
                  <c:v>110</c:v>
                </c:pt>
              </c:numCache>
            </c:numRef>
          </c:val>
        </c:ser>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90"/>
        <c:overlap val="-8"/>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Growth</c:v>
                </c:pt>
              </c:strCache>
            </c:strRef>
          </c:tx>
          <c:spPr>
            <a:solidFill>
              <a:schemeClr val="tx1"/>
            </a:solidFill>
            <a:ln w="28575" cap="flat">
              <a:solidFill>
                <a:schemeClr val="tx1"/>
              </a:solidFill>
              <a:prstDash val="solid"/>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none"/>
            <c:size val="6"/>
            <c:spPr>
              <a:solidFill>
                <a:schemeClr val="tx1"/>
              </a:solidFill>
              <a:ln w="9525" cap="flat">
                <a:solidFill>
                  <a:schemeClr val="tx1"/>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c:v>
                </c:pt>
                <c:pt idx="1">
                  <c:v>13.1</c:v>
                </c:pt>
                <c:pt idx="2">
                  <c:v>14.5</c:v>
                </c:pt>
                <c:pt idx="3">
                  <c:v>15.2</c:v>
                </c:pt>
                <c:pt idx="4">
                  <c:v>16.8</c:v>
                </c:pt>
                <c:pt idx="5">
                  <c:v>18.1</c:v>
                </c:pt>
                <c:pt idx="6">
                  <c:v>19</c:v>
                </c:pt>
                <c:pt idx="7">
                  <c:v>20.4</c:v>
                </c:pt>
                <c:pt idx="8">
                  <c:v>21.9</c:v>
                </c:pt>
                <c:pt idx="9">
                  <c:v>23.5</c:v>
                </c:pt>
                <c:pt idx="10">
                  <c:v>24.8</c:v>
                </c:pt>
                <c:pt idx="11">
                  <c:v>26.2</c:v>
                </c:pt>
              </c:numCache>
            </c:numRef>
          </c:val>
          <c:smooth val="0"/>
        </c:ser>
        <c:ser>
          <c:idx val="1"/>
          <c:order val="1"/>
          <c:tx>
            <c:strRef>
              <c:f>Sheet1!$C$1</c:f>
              <c:strCache>
                <c:ptCount val="1"/>
                <c:pt idx="0">
                  <c:v>Enterprise</c:v>
                </c:pt>
              </c:strCache>
            </c:strRef>
          </c:tx>
          <c:spPr>
            <a:solidFill>
              <a:schemeClr val="accent2"/>
            </a:solidFill>
            <a:ln w="28575" cap="flat">
              <a:solidFill>
                <a:schemeClr val="accent2"/>
              </a:solidFill>
              <a:prstDash val="solid"/>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none"/>
            <c:size val="6"/>
            <c:spPr>
              <a:solidFill>
                <a:schemeClr val="accent2"/>
              </a:solidFill>
              <a:ln w="9525" cap="flat">
                <a:solidFill>
                  <a:schemeClr val="accent2"/>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8</c:v>
                </c:pt>
                <c:pt idx="1">
                  <c:v>8.6</c:v>
                </c:pt>
                <c:pt idx="2">
                  <c:v>9.1</c:v>
                </c:pt>
                <c:pt idx="3">
                  <c:v>9.9</c:v>
                </c:pt>
                <c:pt idx="4">
                  <c:v>10.4</c:v>
                </c:pt>
                <c:pt idx="5">
                  <c:v>11.2</c:v>
                </c:pt>
                <c:pt idx="6">
                  <c:v>11.8</c:v>
                </c:pt>
                <c:pt idx="7">
                  <c:v>12.1</c:v>
                </c:pt>
                <c:pt idx="8">
                  <c:v>12.9</c:v>
                </c:pt>
                <c:pt idx="9">
                  <c:v>13.6</c:v>
                </c:pt>
                <c:pt idx="10">
                  <c:v>14.2</c:v>
                </c:pt>
                <c:pt idx="11">
                  <c:v>15</c:v>
                </c:pt>
              </c:numCache>
            </c:numRef>
          </c:val>
          <c:smooth val="0"/>
        </c:ser>
        <c:ser>
          <c:idx val="2"/>
          <c:order val="2"/>
          <c:tx>
            <c:strRef>
              <c:f>Sheet1!$D$1</c:f>
              <c:strCache>
                <c:ptCount val="1"/>
                <c:pt idx="0">
                  <c:v>Starter</c:v>
                </c:pt>
              </c:strCache>
            </c:strRef>
          </c:tx>
          <c:spPr>
            <a:solidFill>
              <a:schemeClr val="accent3"/>
            </a:solidFill>
            <a:ln w="28575" cap="flat">
              <a:solidFill>
                <a:schemeClr val="accent3"/>
              </a:solidFill>
              <a:prstDash val="solid"/>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none"/>
            <c:size val="6"/>
            <c:spPr>
              <a:solidFill>
                <a:schemeClr val="accent3"/>
              </a:solidFill>
              <a:ln w="9525" cap="flat">
                <a:solidFill>
                  <a:schemeClr val="accent3"/>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5</c:v>
                </c:pt>
                <c:pt idx="1">
                  <c:v>5.2</c:v>
                </c:pt>
                <c:pt idx="2">
                  <c:v>5.6</c:v>
                </c:pt>
                <c:pt idx="3">
                  <c:v>5.5</c:v>
                </c:pt>
                <c:pt idx="4">
                  <c:v>5.9</c:v>
                </c:pt>
                <c:pt idx="5">
                  <c:v>6.2</c:v>
                </c:pt>
                <c:pt idx="6">
                  <c:v>6.1</c:v>
                </c:pt>
                <c:pt idx="7">
                  <c:v>6.4</c:v>
                </c:pt>
                <c:pt idx="8">
                  <c:v>6.6</c:v>
                </c:pt>
                <c:pt idx="9">
                  <c:v>6.9</c:v>
                </c:pt>
                <c:pt idx="10">
                  <c:v>7.1</c:v>
                </c:pt>
                <c:pt idx="11">
                  <c:v>7.2</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85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grouping val="stacked"/>
        <c:varyColors val="0"/>
        <c:ser>
          <c:idx val="0"/>
          <c:order val="0"/>
          <c:tx>
            <c:strRef>
              <c:f>Sheet1!$B$1</c:f>
              <c:strCache>
                <c:ptCount val="1"/>
                <c:pt idx="0">
                  <c:v>Forecast</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Q1 25</c:v>
                  </c:pt>
                  <c:pt idx="1">
                    <c:v>Q2 25</c:v>
                  </c:pt>
                  <c:pt idx="2">
                    <c:v>Q3 25</c:v>
                  </c:pt>
                  <c:pt idx="3">
                    <c:v>Q4 25</c:v>
                  </c:pt>
                  <c:pt idx="4">
                    <c:v>Q1 26</c:v>
                  </c:pt>
                  <c:pt idx="5">
                    <c:v>Q2 26</c:v>
                  </c:pt>
                  <c:pt idx="6">
                    <c:v>Q3 26</c:v>
                  </c:pt>
                </c:lvl>
              </c:multiLvlStrCache>
            </c:multiLvlStrRef>
          </c:cat>
          <c:val>
            <c:numRef>
              <c:f>Sheet1!$B$2:$B$8</c:f>
              <c:numCache>
                <c:formatCode>General</c:formatCode>
                <c:ptCount val="7"/>
                <c:pt idx="0">
                  <c:v>3.8</c:v>
                </c:pt>
                <c:pt idx="1">
                  <c:v>4.2</c:v>
                </c:pt>
                <c:pt idx="2">
                  <c:v>4.5</c:v>
                </c:pt>
                <c:pt idx="3">
                  <c:v>4.9</c:v>
                </c:pt>
                <c:pt idx="4">
                  <c:v>5.6</c:v>
                </c:pt>
                <c:pt idx="5">
                  <c:v>6.3</c:v>
                </c:pt>
                <c:pt idx="6">
                  <c:v>7.2</c:v>
                </c:pt>
              </c:numCache>
            </c:numRef>
          </c:val>
        </c:ser>
        <c:ser>
          <c:idx val="1"/>
          <c:order val="1"/>
          <c:tx>
            <c:strRef>
              <c:f>Sheet1!$C$1</c:f>
              <c:strCache>
                <c:ptCount val="1"/>
                <c:pt idx="0">
                  <c:v>Pipeline</c:v>
                </c:pt>
              </c:strCache>
            </c:strRef>
          </c:tx>
          <c:spPr>
            <a:solidFill>
              <a:schemeClr val="accent2"/>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Q1 25</c:v>
                  </c:pt>
                  <c:pt idx="1">
                    <c:v>Q2 25</c:v>
                  </c:pt>
                  <c:pt idx="2">
                    <c:v>Q3 25</c:v>
                  </c:pt>
                  <c:pt idx="3">
                    <c:v>Q4 25</c:v>
                  </c:pt>
                  <c:pt idx="4">
                    <c:v>Q1 26</c:v>
                  </c:pt>
                  <c:pt idx="5">
                    <c:v>Q2 26</c:v>
                  </c:pt>
                  <c:pt idx="6">
                    <c:v>Q3 26</c:v>
                  </c:pt>
                </c:lvl>
              </c:multiLvlStrCache>
            </c:multiLvlStrRef>
          </c:cat>
          <c:val>
            <c:numRef>
              <c:f>Sheet1!$C$2:$C$8</c:f>
              <c:numCache>
                <c:formatCode>General</c:formatCode>
                <c:ptCount val="7"/>
                <c:pt idx="0">
                  <c:v>1.6</c:v>
                </c:pt>
                <c:pt idx="1">
                  <c:v>1.8</c:v>
                </c:pt>
                <c:pt idx="2">
                  <c:v>2</c:v>
                </c:pt>
                <c:pt idx="3">
                  <c:v>2.2</c:v>
                </c:pt>
                <c:pt idx="4">
                  <c:v>2.6</c:v>
                </c:pt>
                <c:pt idx="5">
                  <c:v>3</c:v>
                </c:pt>
                <c:pt idx="6">
                  <c:v>3.5</c:v>
                </c:pt>
              </c:numCache>
            </c:numRef>
          </c:val>
        </c:ser>
        <c:ser>
          <c:idx val="2"/>
          <c:order val="2"/>
          <c:tx>
            <c:strRef>
              <c:f>Sheet1!$D$1</c:f>
              <c:strCache>
                <c:ptCount val="1"/>
                <c:pt idx="0">
                  <c:v>Analytics</c:v>
                </c:pt>
              </c:strCache>
            </c:strRef>
          </c:tx>
          <c:spPr>
            <a:solidFill>
              <a:schemeClr val="accent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Q1 25</c:v>
                  </c:pt>
                  <c:pt idx="1">
                    <c:v>Q2 25</c:v>
                  </c:pt>
                  <c:pt idx="2">
                    <c:v>Q3 25</c:v>
                  </c:pt>
                  <c:pt idx="3">
                    <c:v>Q4 25</c:v>
                  </c:pt>
                  <c:pt idx="4">
                    <c:v>Q1 26</c:v>
                  </c:pt>
                  <c:pt idx="5">
                    <c:v>Q2 26</c:v>
                  </c:pt>
                  <c:pt idx="6">
                    <c:v>Q3 26</c:v>
                  </c:pt>
                </c:lvl>
              </c:multiLvlStrCache>
            </c:multiLvlStrRef>
          </c:cat>
          <c:val>
            <c:numRef>
              <c:f>Sheet1!$D$2:$D$8</c:f>
              <c:numCache>
                <c:formatCode>General</c:formatCode>
                <c:ptCount val="7"/>
                <c:pt idx="0">
                  <c:v>0.7</c:v>
                </c:pt>
                <c:pt idx="1">
                  <c:v>0.8</c:v>
                </c:pt>
                <c:pt idx="2">
                  <c:v>0.9</c:v>
                </c:pt>
                <c:pt idx="3">
                  <c:v>1.1</c:v>
                </c:pt>
                <c:pt idx="4">
                  <c:v>1.4</c:v>
                </c:pt>
                <c:pt idx="5">
                  <c:v>1.8</c:v>
                </c:pt>
                <c:pt idx="6">
                  <c:v>2.2</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85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Contracts</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1"/>
              </a:solidFill>
              <a:ln w="19050" cap="flat">
                <a:solidFill>
                  <a:schemeClr val="bg1"/>
                </a:solidFill>
                <a:prstDash val="solid"/>
                <a:round/>
              </a:ln>
              <a:effectLst/>
            </c:spPr>
          </c:dPt>
          <c:dPt>
            <c:idx val="2"/>
            <c:bubble3D val="0"/>
            <c:spPr>
              <a:solidFill>
                <a:schemeClr val="accent4"/>
              </a:solidFill>
              <a:ln w="19050" cap="flat">
                <a:solidFill>
                  <a:schemeClr val="bg1"/>
                </a:solidFill>
                <a:prstDash val="solid"/>
                <a:round/>
              </a:ln>
              <a:effectLst/>
            </c:spPr>
          </c:dPt>
          <c:dLbls>
            <c:dLbl>
              <c:idx val="0"/>
              <c:numFmt formatCode="0%" sourceLinked="0"/>
              <c:spPr/>
              <c:txPr>
                <a:bodyPr/>
                <a:lstStyle/>
                <a:p>
                  <a:pPr>
                    <a:defRPr sz="950" b="0" i="0" u="none" strike="noStrike">
                      <a:solidFill>
                        <a:schemeClr val="tx1"/>
                      </a:solidFill>
                      <a:latin typeface="Inter Medium"/>
                    </a:defRPr>
                  </a:pPr>
                </a:p>
              </c:txPr>
              <c:dLblPos val="outEnd"/>
              <c:showLegendKey val="0"/>
              <c:showVal val="0"/>
              <c:showCatName val="0"/>
              <c:showSerName val="0"/>
              <c:showPercent val="1"/>
              <c:showBubbleSize val="0"/>
            </c:dLbl>
            <c:dLbl>
              <c:idx val="1"/>
              <c:numFmt formatCode="0%" sourceLinked="0"/>
              <c:spPr/>
              <c:txPr>
                <a:bodyPr/>
                <a:lstStyle/>
                <a:p>
                  <a:pPr>
                    <a:defRPr sz="950" b="0" i="0" u="none" strike="noStrike">
                      <a:solidFill>
                        <a:schemeClr val="tx1"/>
                      </a:solidFill>
                      <a:latin typeface="Inter Medium"/>
                    </a:defRPr>
                  </a:pPr>
                </a:p>
              </c:txPr>
              <c:dLblPos val="outEnd"/>
              <c:showLegendKey val="0"/>
              <c:showVal val="0"/>
              <c:showCatName val="0"/>
              <c:showSerName val="0"/>
              <c:showPercent val="1"/>
              <c:showBubbleSize val="0"/>
            </c:dLbl>
            <c:dLbl>
              <c:idx val="2"/>
              <c:numFmt formatCode="0%" sourceLinked="0"/>
              <c:spPr/>
              <c:txPr>
                <a:bodyPr/>
                <a:lstStyle/>
                <a:p>
                  <a:pPr>
                    <a:defRPr sz="950" b="0" i="0" u="none" strike="noStrike">
                      <a:solidFill>
                        <a:schemeClr val="tx1"/>
                      </a:solidFill>
                      <a:latin typeface="Inter Medium"/>
                    </a:defRPr>
                  </a:pPr>
                </a:p>
              </c:txPr>
              <c:dLblPos val="outEnd"/>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Annual</c:v>
                </c:pt>
                <c:pt idx="1">
                  <c:v>Multi-year</c:v>
                </c:pt>
                <c:pt idx="2">
                  <c:v>Monthly</c:v>
                </c:pt>
              </c:strCache>
            </c:strRef>
          </c:cat>
          <c:val>
            <c:numRef>
              <c:f>Sheet1!$B$2:$B$4</c:f>
              <c:numCache>
                <c:ptCount val="3"/>
                <c:pt idx="0">
                  <c:v>58</c:v>
                </c:pt>
                <c:pt idx="1">
                  <c:v>34</c:v>
                </c:pt>
                <c:pt idx="2">
                  <c:v>8</c:v>
                </c:pt>
              </c:numCache>
            </c:numRef>
          </c:val>
        </c:ser>
        <c:firstSliceAng val="0"/>
      </c:pieChart>
      <c:spPr>
        <a:solidFill>
          <a:schemeClr val="bg1"/>
        </a:solidFill>
        <a:ln>
          <a:noFill/>
        </a:ln>
        <a:effectLst/>
      </c:spPr>
    </c:plotArea>
    <c:legend>
      <c:legendPos val="b"/>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Seats</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2"/>
              </a:solidFill>
              <a:ln w="19050" cap="flat">
                <a:solidFill>
                  <a:schemeClr val="bg1"/>
                </a:solidFill>
                <a:prstDash val="solid"/>
                <a:round/>
              </a:ln>
              <a:effectLst/>
            </c:spPr>
          </c:dPt>
          <c:dPt>
            <c:idx val="2"/>
            <c:bubble3D val="0"/>
            <c:spPr>
              <a:solidFill>
                <a:schemeClr val="accent1"/>
              </a:solidFill>
              <a:ln w="19050" cap="flat">
                <a:solidFill>
                  <a:schemeClr val="bg1"/>
                </a:solidFill>
                <a:prstDash val="solid"/>
                <a:round/>
              </a:ln>
              <a:effectLst/>
            </c:spPr>
          </c:dPt>
          <c:dPt>
            <c:idx val="3"/>
            <c:bubble3D val="0"/>
            <c:spPr>
              <a:solidFill>
                <a:schemeClr val="accent4"/>
              </a:solidFill>
              <a:ln w="19050" cap="flat">
                <a:solidFill>
                  <a:schemeClr val="bg1"/>
                </a:solidFill>
                <a:prstDash val="solid"/>
                <a:round/>
              </a:ln>
              <a:effectLst/>
            </c:spPr>
          </c:dPt>
          <c:dLbls>
            <c:dLbl>
              <c:idx val="0"/>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3"/>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Sellers</c:v>
                </c:pt>
                <c:pt idx="1">
                  <c:v>Managers</c:v>
                </c:pt>
                <c:pt idx="2">
                  <c:v>RevOps</c:v>
                </c:pt>
                <c:pt idx="3">
                  <c:v>Execs</c:v>
                </c:pt>
              </c:strCache>
            </c:strRef>
          </c:cat>
          <c:val>
            <c:numRef>
              <c:f>Sheet1!$B$2:$B$5</c:f>
              <c:numCache>
                <c:ptCount val="4"/>
                <c:pt idx="0">
                  <c:v>64</c:v>
                </c:pt>
                <c:pt idx="1">
                  <c:v>21</c:v>
                </c:pt>
                <c:pt idx="2">
                  <c:v>9</c:v>
                </c:pt>
                <c:pt idx="3">
                  <c:v>6</c:v>
                </c:pt>
              </c:numCache>
            </c:numRef>
          </c:val>
        </c:ser>
        <c:firstSliceAng val="0"/>
        <c:holeSize val="62"/>
      </c:doughnutChart>
      <c:spPr>
        <a:solidFill>
          <a:schemeClr val="bg1"/>
        </a:solidFill>
        <a:ln>
          <a:noFill/>
        </a:ln>
        <a:effectLst/>
      </c:spPr>
    </c:plotArea>
    <c:legend>
      <c:legendPos val="b"/>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Team</c:v>
                </c:pt>
              </c:strCache>
            </c:strRef>
          </c:tx>
          <c:spPr>
            <a:solidFill>
              <a:schemeClr val="tx1">
                <a:alpha val="70000"/>
              </a:schemeClr>
            </a:solidFill>
            <a:ln w="25400" cap="flat">
              <a:solidFill>
                <a:schemeClr val="tx1"/>
              </a:solidFill>
              <a:prstDash val="solid"/>
              <a:round/>
            </a:ln>
            <a:effectLst/>
          </c:spPr>
          <c:invertIfNegative val="0"/>
          <c:marker>
            <c:symbol val="circle"/>
            <c:size val="6"/>
            <c:spPr>
              <a:solidFill>
                <a:schemeClr val="tx1"/>
              </a:solidFill>
              <a:ln w="9525" cap="flat">
                <a:solidFill>
                  <a:schemeClr val="tx1"/>
                </a:solidFill>
                <a:prstDash val="solid"/>
                <a:round/>
              </a:ln>
              <a:effectLst/>
            </c:spPr>
          </c:marker>
          <c:cat>
            <c:multiLvlStrRef>
              <c:f>Sheet1!$A$2:$A$6</c:f>
              <c:multiLvlStrCache>
                <c:ptCount val="5"/>
                <c:lvl>
                  <c:pt idx="0">
                    <c:v>Prospecting</c:v>
                  </c:pt>
                  <c:pt idx="1">
                    <c:v>Discovery</c:v>
                  </c:pt>
                  <c:pt idx="2">
                    <c:v>Demo</c:v>
                  </c:pt>
                  <c:pt idx="3">
                    <c:v>Negotiation</c:v>
                  </c:pt>
                  <c:pt idx="4">
                    <c:v>Closing</c:v>
                  </c:pt>
                </c:lvl>
              </c:multiLvlStrCache>
            </c:multiLvlStrRef>
          </c:cat>
          <c:val>
            <c:numRef>
              <c:f>Sheet1!$B$2:$B$6</c:f>
              <c:numCache>
                <c:formatCode>General</c:formatCode>
                <c:ptCount val="5"/>
                <c:pt idx="0">
                  <c:v>7</c:v>
                </c:pt>
                <c:pt idx="1">
                  <c:v>8.5</c:v>
                </c:pt>
                <c:pt idx="2">
                  <c:v>9</c:v>
                </c:pt>
                <c:pt idx="3">
                  <c:v>6</c:v>
                </c:pt>
                <c:pt idx="4">
                  <c:v>7.5</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tx1"/>
                </a:solidFill>
                <a:latin typeface="Inter"/>
              </a:defRPr>
            </a:pPr>
            <a:endParaRPr lang="en-US"/>
          </a:p>
        </c:txPr>
        <c:crossAx val="2094734552"/>
        <c:crosses val="autoZero"/>
        <c:auto val="1"/>
        <c:lblAlgn val="ctr"/>
        <c:noMultiLvlLbl val="1"/>
      </c:catAx>
      <c:valAx>
        <c:axId val="2094734552"/>
        <c:scaling>
          <c:orientation val="minMax"/>
          <c:max val="10"/>
          <c:min val="0"/>
        </c:scaling>
        <c:delete val="1"/>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Deals won</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210</c:v>
                </c:pt>
                <c:pt idx="1">
                  <c:v>245</c:v>
                </c:pt>
                <c:pt idx="2">
                  <c:v>280</c:v>
                </c:pt>
                <c:pt idx="3">
                  <c:v>320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Win rate %</c:v>
                </c:pt>
              </c:strCache>
            </c:strRef>
          </c:tx>
          <c:spPr>
            <a:solidFill>
              <a:schemeClr val="accent6"/>
            </a:solidFill>
            <a:ln w="28575" cap="flat">
              <a:solidFill>
                <a:schemeClr val="accent6"/>
              </a:solidFill>
              <a:prstDash val="solid"/>
              <a:round/>
            </a:ln>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c:symbol val="circle"/>
            <c:size val="7"/>
            <c:spPr>
              <a:solidFill>
                <a:schemeClr val="accent6"/>
              </a:solidFill>
              <a:ln w="9525" cap="flat">
                <a:solidFill>
                  <a:schemeClr val="accent6"/>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24</c:v>
                </c:pt>
                <c:pt idx="1">
                  <c:v>26</c:v>
                </c:pt>
                <c:pt idx="2">
                  <c:v>27</c:v>
                </c:pt>
                <c:pt idx="3">
                  <c:v>29</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valAx>
        <c:axId val="2094734553"/>
        <c:scaling>
          <c:orientation val="minMax"/>
          <c:max val="40"/>
          <c:min val="0"/>
        </c:scaling>
        <c:delete val="0"/>
        <c:axPos val="r"/>
        <c:numFmt formatCode="0&quot;%&quot;"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5"/>
        <c:crosses val="max"/>
        <c:crossBetween val="between"/>
      </c:valAx>
      <c:catAx>
        <c:axId val="2094734555"/>
        <c:scaling>
          <c:orientation val="minMax"/>
        </c:scaling>
        <c:delete val="1"/>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3"/>
        <c:crosses val="autoZero"/>
        <c:auto val="1"/>
        <c:lblAlgn val="ctr"/>
        <c:noMultiLvlLbl val="1"/>
      </c:cat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Early</c:v>
                </c:pt>
              </c:strCache>
            </c:strRef>
          </c:tx>
          <c:spPr>
            <a:solidFill>
              <a:schemeClr val="accent3"/>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Sheet1!$A$2:$A$4</c:f>
              <c:multiLvlStrCache>
                <c:ptCount val="3"/>
                <c:lvl>
                  <c:pt idx="0">
                    <c:v>EU</c:v>
                  </c:pt>
                  <c:pt idx="1">
                    <c:v>NA</c:v>
                  </c:pt>
                  <c:pt idx="2">
                    <c:v>APAC</c:v>
                  </c:pt>
                </c:lvl>
              </c:multiLvlStrCache>
            </c:multiLvlStrRef>
          </c:cat>
          <c:val>
            <c:numRef>
              <c:f>Sheet1!$B$2:$B$4</c:f>
              <c:numCache>
                <c:formatCode>General</c:formatCode>
                <c:ptCount val="3"/>
                <c:pt idx="0">
                  <c:v>45</c:v>
                </c:pt>
                <c:pt idx="1">
                  <c:v>38</c:v>
                </c:pt>
                <c:pt idx="2">
                  <c:v>52</c:v>
                </c:pt>
              </c:numCache>
            </c:numRef>
          </c:val>
        </c:ser>
        <c:ser>
          <c:idx val="1"/>
          <c:order val="1"/>
          <c:tx>
            <c:strRef>
              <c:f>Sheet1!$C$1</c:f>
              <c:strCache>
                <c:ptCount val="1"/>
                <c:pt idx="0">
                  <c:v>Mid</c:v>
                </c:pt>
              </c:strCache>
            </c:strRef>
          </c:tx>
          <c:spPr>
            <a:solidFill>
              <a:schemeClr val="accent2"/>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Sheet1!$A$2:$A$4</c:f>
              <c:multiLvlStrCache>
                <c:ptCount val="3"/>
                <c:lvl>
                  <c:pt idx="0">
                    <c:v>EU</c:v>
                  </c:pt>
                  <c:pt idx="1">
                    <c:v>NA</c:v>
                  </c:pt>
                  <c:pt idx="2">
                    <c:v>APAC</c:v>
                  </c:pt>
                </c:lvl>
              </c:multiLvlStrCache>
            </c:multiLvlStrRef>
          </c:cat>
          <c:val>
            <c:numRef>
              <c:f>Sheet1!$C$2:$C$4</c:f>
              <c:numCache>
                <c:formatCode>General</c:formatCode>
                <c:ptCount val="3"/>
                <c:pt idx="0">
                  <c:v>35</c:v>
                </c:pt>
                <c:pt idx="1">
                  <c:v>37</c:v>
                </c:pt>
                <c:pt idx="2">
                  <c:v>33</c:v>
                </c:pt>
              </c:numCache>
            </c:numRef>
          </c:val>
        </c:ser>
        <c:ser>
          <c:idx val="2"/>
          <c:order val="2"/>
          <c:tx>
            <c:strRef>
              <c:f>Sheet1!$D$1</c:f>
              <c:strCache>
                <c:ptCount val="1"/>
                <c:pt idx="0">
                  <c:v>Late</c:v>
                </c:pt>
              </c:strCache>
            </c:strRef>
          </c:tx>
          <c:spPr>
            <a:solidFill>
              <a:schemeClr val="tx1"/>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Sheet1!$A$2:$A$4</c:f>
              <c:multiLvlStrCache>
                <c:ptCount val="3"/>
                <c:lvl>
                  <c:pt idx="0">
                    <c:v>EU</c:v>
                  </c:pt>
                  <c:pt idx="1">
                    <c:v>NA</c:v>
                  </c:pt>
                  <c:pt idx="2">
                    <c:v>APAC</c:v>
                  </c:pt>
                </c:lvl>
              </c:multiLvlStrCache>
            </c:multiLvlStrRef>
          </c:cat>
          <c:val>
            <c:numRef>
              <c:f>Sheet1!$D$2:$D$4</c:f>
              <c:numCache>
                <c:formatCode>General</c:formatCode>
                <c:ptCount val="3"/>
                <c:pt idx="0">
                  <c:v>20</c:v>
                </c:pt>
                <c:pt idx="1">
                  <c:v>25</c:v>
                </c:pt>
                <c:pt idx="2">
                  <c:v>15</c:v>
                </c:pt>
              </c:numCache>
            </c:numRef>
          </c:val>
        </c:ser>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ubbleChart>
        <c:varyColors val="0"/>
        <c:ser>
          <c:idx val="0"/>
          <c:order val="0"/>
          <c:tx>
            <c:strRef>
              <c:f>Sheet1!$B$1</c:f>
              <c:strCache>
                <c:ptCount val="1"/>
                <c:pt idx="0">
                  <c:v>Segments</c:v>
                </c:pt>
              </c:strCache>
            </c:strRef>
          </c:tx>
          <c:spPr>
            <a:solidFill>
              <a:schemeClr val="tx1">
                <a:alpha val="80000"/>
              </a:schemeClr>
            </a:solidFill>
            <a:ln w="25400" cap="flat">
              <a:solidFill>
                <a:schemeClr val="tx1"/>
              </a:solidFill>
              <a:prstDash val="solid"/>
              <a:round/>
            </a:ln>
            <a:effectLst/>
          </c:spPr>
          <c:xVal>
            <c:numRef>
              <c:f>Sheet1!$A$2:$A$6</c:f>
              <c:numCache>
                <c:formatCode>General</c:formatCode>
                <c:ptCount val="5"/>
                <c:pt idx="0">
                  <c:v>12</c:v>
                </c:pt>
                <c:pt idx="1">
                  <c:v>28</c:v>
                </c:pt>
                <c:pt idx="2">
                  <c:v>40</c:v>
                </c:pt>
                <c:pt idx="3">
                  <c:v>55</c:v>
                </c:pt>
                <c:pt idx="4">
                  <c:v>70</c:v>
                </c:pt>
              </c:numCache>
            </c:numRef>
          </c:xVal>
          <c:yVal>
            <c:numRef>
              <c:f>Sheet1!$B$2:$B$6</c:f>
              <c:numCache>
                <c:formatCode>General</c:formatCode>
                <c:ptCount val="5"/>
                <c:pt idx="0">
                  <c:v>18</c:v>
                </c:pt>
                <c:pt idx="1">
                  <c:v>34</c:v>
                </c:pt>
                <c:pt idx="2">
                  <c:v>22</c:v>
                </c:pt>
                <c:pt idx="3">
                  <c:v>45</c:v>
                </c:pt>
                <c:pt idx="4">
                  <c:v>30</c:v>
                </c:pt>
              </c:numCache>
            </c:numRef>
          </c:yVal>
          <c:bubbleSize>
            <c:numRef>
              <c:f>Sheet1!$C$2:$C$6</c:f>
              <c:numCache>
                <c:formatCode>General</c:formatCode>
                <c:ptCount val="5"/>
                <c:pt idx="0">
                  <c:v>6</c:v>
                </c:pt>
                <c:pt idx="1">
                  <c:v>10</c:v>
                </c:pt>
                <c:pt idx="2">
                  <c:v>8</c:v>
                </c:pt>
                <c:pt idx="3">
                  <c:v>14</c:v>
                </c:pt>
                <c:pt idx="4">
                  <c:v>5</c:v>
                </c:pt>
              </c:numCache>
            </c:numRef>
          </c:bubbleSize>
          <c:bubble3D val="0"/>
        </c:ser>
        <c:dLbls>
          <c:numFmt formatCode="#,##0" sourceLinked="0"/>
          <c:txPr>
            <a:bodyPr/>
            <a:lstStyle/>
            <a:p>
              <a:pPr>
                <a:defRPr b="0" i="0" strike="noStrike" sz="1000" u="none">
                  <a:solidFill>
                    <a:schemeClr val="tx1"/>
                  </a:solidFill>
                  <a:latin typeface="Inter Medium"/>
                </a:defRPr>
              </a:pPr>
            </a:p>
          </c:txPr>
          <c:showLegendKey val="0"/>
          <c:showVal val="0"/>
          <c:showCatName val="0"/>
          <c:showSerName val="0"/>
          <c:showPercent val="0"/>
          <c:showBubbleSize val="0"/>
          <c:extLst>
            <c:ext xmlns:c15="http://schemas.microsoft.com/office/drawing/2012/chart" uri="{CE6537A1-D6FC-4f65-9D91-7224C49458BB}">
              <c15:showLeaderLines val="0"/>
            </c:ext>
          </c:extLst>
        </c:dLbls>
        <c:axId val="2094734554"/>
        <c:axId val="2094734552"/>
      </c:bubbleChart>
      <c:valAx>
        <c:axId val="2094734554"/>
        <c:scaling>
          <c:orientation val="minMax"/>
        </c:scaling>
        <c:delete val="0"/>
        <c:axPos val="b"/>
        <c:numFmt formatCode="0&quot;%&quot;"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accent3"/>
                </a:solidFill>
                <a:latin typeface="Inter"/>
              </a:defRPr>
            </a:pPr>
            <a:endParaRPr lang="en-US"/>
          </a:p>
        </c:txPr>
        <c:crossAx val="2094734552"/>
        <c:crosses val="autoZero"/>
        <c:auto val="1"/>
        <c:lblAlgn val="ctr"/>
        <c:noMultiLvlLbl val="1"/>
      </c:valAx>
      <c:valAx>
        <c:axId val="2094734552"/>
        <c:scaling>
          <c:orientation val="minMax"/>
          <c:max val="60"/>
          <c:min val="0"/>
        </c:scaling>
        <c:delete val="0"/>
        <c:axPos val="l"/>
        <c:majorGridlines>
          <c:spPr>
            <a:ln w="9525" cap="flat">
              <a:solidFill>
                <a:srgbClr val="E6E9EE"/>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85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GUIDE. The first section explains how to use the template. Delete slides 1–10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Fonts: fonts.google.com/specimen/Manrope and fonts.google.com/specimen/Inter. If the fonts are not installed PowerPoint substitutes a default font and spacing will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INDEX. Slide numbers refer to this file. Use it to find the layout you need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PALETTE. Theme slots: Dark 1 #0A1628, Light 1 #FFFFFF, Dark 2 #2E3645, Light 2 #F3F5F7, Accent 1 #C6F432, Accent 2 #2C4A74, Accent 3 #6B7688, Accent 4 #D5DBE3, Accent 5 #17253D, Accent 6 #5B7A0C.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Theme fonts are set to Manrope (headings) and Inter (body), so new text boxes pick them up automatically. ExtraBold and Medium weights are separate font families in PowerPoint ("Manrope ExtraBold", "Inter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Turn on View › Guides to see the column guides if you add them to the master (Shift+F9 for gridlines). All layouts in this template align to this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COMPONENTS — DATA &amp; LABELS. KPI card variants: white, navy, lime. Pills: lime = positive, navy = attention, white/outline =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COMPONENTS — STRUCTURE. Timeline nodes, process steps, highlight box, quote block, data callout and comparison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ICON LIBRARY. Want more? The full Phosphor set (phosphoricons.com, MIT licence) matches this style — use the Regular weight. Icon badge = circle + icon at 52% of the circle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GUIDANCE. The "Avoid" chart deliberately uses off-palette colours to illustrate the anti-pattern — delete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COVER. Replace the headline, sub-headline and meta row. The tile artwork on the right is built from editable shapes — recolour any tile or delete tiles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COVER. Best for internal reviews. Keep the headline to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BOLD TYPOGRAPHY COVER. Replace "Grow" with one short word (max 5 characters at this size). The lime full stop is a separate text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TITLE SLIDE. The right panel is a quick proof-point strip; swap the three metrics for your own headline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COVER. For board and leadership meetings. The corner artwork is three editable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Move the lime "Now" pill to the current topic when re-using this slide between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Highlight the chapter you are about to present by swapping the navy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(DARK). Duplicate for every chapter and change the number, title and one-line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INTRODUCTION. Frame the questions a chapter will answer before showing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OVERVIEW. Left: positioning statement and three capabilities. Right: fact sheet card — keep values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FACTS. The lime card holds the single most important number. Keep the four supporting facts to one number + one label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Six milestones alternate above and below the axis. To add a milestone, reduce spacing or duplicate the slide for a second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 VISION. Keep each statement under 20 words so it holds at 28 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Left → right flow: who buys, what they buy, how revenue splits. All boxes are editable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FOOTPRINT. The share bar is built from four rectangles — resize their widths to match your split (full width =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CAPABILITIES. The five squares are a maturity meter — recolour squares to navy (filled) or mist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One oversized statistic, one sentence, three proof points. Keep the statement under 15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 POINTS. The navy card marks the most severe pain. Severity bars: recolour segments to show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SOLUTION. Each row maps one problem to its fix. Add or remove rows by duplicating a row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Three-step engine. The lime arrow badges overlap the card gaps on purpose to show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OPPORTUNITY. Native column chart — right-click › Edit Data. Lime bars mark forecast years; recolour individual bars via Format Data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Positioning statement follows the classic "For [target] who [need], [product] is the [category] that [benefit] — unlike [alternative]"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OVERVIEW. The interface mock is drawn with editable shapes and a native line chart — no screenshot needed. Replace with your own screenshot if you prefer (Insert › Pictures, then Send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FEATURES. Open, card-less grid for a lighter rhythm. Use the lime "New" pill to flag recent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ARCHITECTURE. Four horizontal layers plus a cross-cutting column. The navy layer is the differentiator — move the highlight to the layer you want to emphasise.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STRUCTURE. Tree diagram built from connectors and cards. Duplicate a leaf (card + two lines) to add a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ROADMAP. Now/Next/Later avoids committing to dates you cannot keep. Theme pills: navy = Intelligence, outline = Platform, lime =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ECOSYSTEM. Hub-and-spoke diagram. Satellites are grouped circle + icon + label; connectors are dashed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OVERVIEW. Actual and forecast are two series so the forecast can be dashed. Leave blank cells where a series has no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 SAM / SOM. Circles are not to scale — resize them if you want area-accurate proportions (area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SEGMENTATION. Native 100% stacked bar chart. Values are shares that sum to 100 per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GROWTH. Forecast bars are mist-grey; actuals navy. The CAGR callout is a pill + two dashed lines — move them to span the years you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TRENDS. Adoption bars are two rounded rectangles: the navy bar width = track width ×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SEGMENTS. Persona cards use an icon instead of a photo. Keep attributes to four rows for scannability.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GEOGRAPHIC DISTRIBUTION. Sorted horizontal bar chart; the lime bar highlights the market in focus. Edit colours per bar via Format Data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MATRIX. Move bubbles to position competitors; resize to reflect revenue or market share. Quadrant labels are editable text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COMPARISON. Harvey balls are pie shapes: set the pie angle (yellow handle) to 90° steps for 25/50/75%. Full = circle, empty = outline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RADAR POSITIONING. Native radar chart — Edit Data to change dimensions or add a competitor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FUNNEL. Each stage is a centred rounded rectangle; the width steps down evenly. Change widths to make stages proportional to volume if preferred.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PIPELINE. Kanban-style stage columns. Deal cards are grouped shapes — duplicate to add deals. Company names are fictional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 RATES. Clustered column chart comparing two series. Keep the benchmark series in mist grey so your own data stays dominant.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PERFORMANCE. Combination chart: columns (actual) + line (target) on matched axes. Edit Data opens both series in one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ACQUISITION. Dark data slide for rhythm. KPI cards use the "navy2" variant; the bar chart highlights the most efficient channel in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STRATEGY. Three plays with actions and a single target metric each. The white box at the bottom of each card is the success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CHANNELS. Native doughnut chart with the total in the centre (a separate text box). Keep legend rows in the same order and colour as the donut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PERFORMANCE. Bullet charts built from shapes: grey track = 100% quota, bar = attainment, olive marker = expected pace. Bar width = track width × attainment.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STRATEGY. Four-column framework: Audience → Message → Channels → Goals. The lime header marks the outcome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 OVERVIEW. Left: campaign brief card. Right: result KPIs and a native area chart of weekly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MIX. Stacked column chart; the channel you are growing sits on top in navy for emphasis.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JOURNEY. Stage headers align with points on a native line chart (buyer sentiment). Keep the number of stages equal to the chart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FUNNEL. Left-aligned stepped bars complement the centred sales funnel. Bars are stepped, not to scale; resize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STRATEGY. Ansoff matrix. Quadrant order: top = new markets, right = new products. Highlight your priority quadrant in navy.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DASHBOARD. Four headline KPI cards, a trend chart and goal progress bars. Progress bar width = track width ×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DASHBOARD. Dense one-page view: KPI strip, trend, mix and status. Status pills: lime = on track, white = watch, navy =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METRICS. Annotation markers are shapes placed over the chart — move them if you change the data. Keep annotations to three or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METRICS. Clustered columns compare years; the cards underneath explain each quarter. Highlight the quarter you are reporting on in navy.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ANNUAL METRICS. A typographic year-over-year comparison — the current year sits on a raised navy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SCORECARD. Native PowerPoint table — use Table Design to change styles. Status symbols: ● on track, ◐ watch, ○ off track. Olive text marks a favourable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Combination chart: a translucent area series plus a line series with labelled points. Edit Data updates both series (keep them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EXPENSES. Clustered horizontal bars compare two fiscal years by category. Progress bars on the right show share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 PROFIT BRIDGE. Built as a native stacked column chart: the first series ("Base") is white and invisible, the second holds the visible values. Update Base = running total after each step. Value labels are text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FORECAST. Column chart + native table. Table cells are editable directly; the shaded column highlights the current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ALLOCATION. Native doughnut with percentage labels plus an allocation list. Keep list order and colours matched to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Three-tier pricing cards; the recommended tier is raised, navy and flagged "Most popular". Buttons are rounded rectangles with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Equation layout (LTV ÷ CAC = ratio) with supporting efficiency metrics underneath. Operator circles are shapes with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BREAKDOWN. Treemap built from rectangles (area ∝ value). To update, resize tiles so each area matches its share; keep the 0.08" gutter.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PRIORITIES. Large index numbers give rhythm; the first priority is emphasised in navy and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FRAMEWORK. "Strategy house": vision (roof), mission (band), four pillars and cultural foundation. All shapes are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SWOT. Internal factors on top (S, W), external below (O, T). Strength is navy, opportunity lime to signal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3-STEP STRATEGY. Chevron shapes chain the phases. Adjust the chevron point with the yellow handle; keep all three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5-STEP STRATEGY. Ascending staircase: each step is a card 0.62" taller than the previous one, all aligned to the same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 MILESTONES. Gantt built from shapes. Quarter width = timeline width ÷ 4; position bars by quarter fraction. Diamonds mark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Process with a decision diamond and two lanes. Connectors are straight lines with arrowheads — re-route by moving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MODEL. Cycle diagram made of four block-arc shapes. Drag the yellow handles to change arc thickness; keep the same colours as the legend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PROCESS. Vertical timeline: completed phases have filled navy nodes with a check, the current phase is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Challenge → Approach → Results. The results card is navy to carry the proof. Customer names are fictional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 AFTER. Split layout: left = before (off-white), right = after (navy). Keep the same metric in the same row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IMPACT. Paired bars (before in mist, after in navy) are shapes; bar length = value ÷ scale max. Quote card uses a role instead of a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TWO-COLUMN COMPARISON. The recommended option is navy with a lime pill; the VS badge sits on the gutter.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THREE-COLUMN COMPARISON. Dot ratings: recolour dots navy (filled) or mist (empty). The preferred option has a navy outline and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COMPARISON TABLE. Native table; the highlighted column uses navy cells with a lime header. Use ✓ and — for included /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TABLE. Financial table with subtotal rows (bold, off-white) and a highlighted current-period column. Native table — fully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BARS. Right-click any chart › Edit Data. To highlight one bar: click it twice, then Format Data Point ›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LINES &amp; AREAS. Series order in the data sheet controls stacking order (first =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PROPORTIONS. Pie, donut and radar are native charts. Progress rings are two block arcs: set the top arc end angle to 270° + 3.6° ×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COMBINATIONS. The combo chart uses a secondary axis for the rate. Bubble: first column = X, second = Y, third =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Testimonial without a portrait — attribute by role and company. Keep quotes under 25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 CTA. Three decisions with owner and date, plus a call-to-action banner. The button is a rounded rectangle — add a hyperlink via Insert ›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CONTACT. Replace contact details with your own. Tile artwork is editable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ertex — Content 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tx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3"/>
                </a:solidFill>
                <a:latin typeface="Inter" pitchFamily="34" charset="0"/>
                <a:ea typeface="Inter" pitchFamily="34" charset="-122"/>
                <a:cs typeface="Inter" pitchFamily="34" charset="-120"/>
              </a:rPr>
              <a:t>Business &amp; Sales Template  ·  2026</a:t>
            </a:r>
            <a:endParaRPr lang="en-US" sz="850" dirty="0"/>
          </a:p>
        </p:txBody>
      </p:sp>
      <p:sp>
        <p:nvSpPr>
          <p:cNvPr id="4" name="Text 2"/>
          <p:cNvSpPr/>
          <p:nvPr>
            <p:ph idx="102" type="title" hasCustomPrompt="1"/>
          </p:nvPr>
        </p:nvSpPr>
        <p:spPr>
          <a:xfrm>
            <a:off x="548640" y="731520"/>
            <a:ext cx="7228637" cy="868680"/>
          </a:xfrm>
          <a:prstGeom prst="rect">
            <a:avLst/>
          </a:prstGeom>
          <a:noFill/>
          <a:ln/>
        </p:spPr>
        <p:txBody>
          <a:bodyPr wrap="square" rtlCol="0"/>
          <a:lstStyle>
            <a:lvl1pPr algn="l" indent="0" marL="0">
              <a:lnSpc>
                <a:spcPct val="95000"/>
              </a:lnSpc>
              <a:buNone/>
              <a:defRPr lang="en-US" sz="2800" b="1" dirty="0">
                <a:solidFill>
                  <a:schemeClr val="tx1"/>
                </a:solidFill>
                <a:latin typeface="Manrope" pitchFamily="34" charset="0"/>
                <a:ea typeface="Manrope" pitchFamily="34" charset="-122"/>
                <a:cs typeface="Manrope" pitchFamily="34" charset="-120"/>
              </a:defRPr>
            </a:lvl1pPr>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Add a one-line headline that states the key message</a:t>
            </a:r>
            <a:endParaRPr lang="en-US" sz="2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ertex — Content Off-white">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tx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3"/>
                </a:solidFill>
                <a:latin typeface="Inter" pitchFamily="34" charset="0"/>
                <a:ea typeface="Inter" pitchFamily="34" charset="-122"/>
                <a:cs typeface="Inter" pitchFamily="34" charset="-120"/>
              </a:rPr>
              <a:t>Business &amp; Sales Template  ·  2026</a:t>
            </a:r>
            <a:endParaRPr lang="en-US" sz="850" dirty="0"/>
          </a:p>
        </p:txBody>
      </p:sp>
      <p:sp>
        <p:nvSpPr>
          <p:cNvPr id="4" name="Text 2"/>
          <p:cNvSpPr/>
          <p:nvPr>
            <p:ph idx="102" type="title" hasCustomPrompt="1"/>
          </p:nvPr>
        </p:nvSpPr>
        <p:spPr>
          <a:xfrm>
            <a:off x="548640" y="731520"/>
            <a:ext cx="7228637" cy="868680"/>
          </a:xfrm>
          <a:prstGeom prst="rect">
            <a:avLst/>
          </a:prstGeom>
          <a:noFill/>
          <a:ln/>
        </p:spPr>
        <p:txBody>
          <a:bodyPr wrap="square" rtlCol="0"/>
          <a:lstStyle>
            <a:lvl1pPr algn="l" indent="0" marL="0">
              <a:lnSpc>
                <a:spcPct val="95000"/>
              </a:lnSpc>
              <a:buNone/>
              <a:defRPr lang="en-US" sz="2800" b="1" dirty="0">
                <a:solidFill>
                  <a:schemeClr val="tx1"/>
                </a:solidFill>
                <a:latin typeface="Manrope" pitchFamily="34" charset="0"/>
                <a:ea typeface="Manrope" pitchFamily="34" charset="-122"/>
                <a:cs typeface="Manrope" pitchFamily="34" charset="-120"/>
              </a:defRPr>
            </a:lvl1pPr>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Add a one-line headline that states the key message</a:t>
            </a:r>
            <a:endParaRPr lang="en-US" sz="2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ertex — Content 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bg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4"/>
                </a:solidFill>
                <a:latin typeface="Inter" pitchFamily="34" charset="0"/>
                <a:ea typeface="Inter" pitchFamily="34" charset="-122"/>
                <a:cs typeface="Inter" pitchFamily="34" charset="-120"/>
              </a:rPr>
              <a:t>Business &amp; Sales Template  ·  2026</a:t>
            </a:r>
            <a:endParaRPr lang="en-US" sz="850" dirty="0"/>
          </a:p>
        </p:txBody>
      </p:sp>
      <p:sp>
        <p:nvSpPr>
          <p:cNvPr id="4" name="Text 2"/>
          <p:cNvSpPr/>
          <p:nvPr>
            <p:ph idx="102" type="title" hasCustomPrompt="1"/>
          </p:nvPr>
        </p:nvSpPr>
        <p:spPr>
          <a:xfrm>
            <a:off x="548640" y="731520"/>
            <a:ext cx="7228637" cy="868680"/>
          </a:xfrm>
          <a:prstGeom prst="rect">
            <a:avLst/>
          </a:prstGeom>
          <a:noFill/>
          <a:ln/>
        </p:spPr>
        <p:txBody>
          <a:bodyPr wrap="square" rtlCol="0"/>
          <a:lstStyle>
            <a:lvl1pPr algn="l" indent="0" marL="0">
              <a:lnSpc>
                <a:spcPct val="95000"/>
              </a:lnSpc>
              <a:buNone/>
              <a:defRPr lang="en-US" sz="2800" b="1" dirty="0">
                <a:solidFill>
                  <a:schemeClr val="bg1"/>
                </a:solidFill>
                <a:latin typeface="Manrope" pitchFamily="34" charset="0"/>
                <a:ea typeface="Manrope" pitchFamily="34" charset="-122"/>
                <a:cs typeface="Manrope" pitchFamily="34" charset="-120"/>
              </a:defRPr>
            </a:lvl1pPr>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Add a one-line headline that states the key message</a:t>
            </a:r>
            <a:endParaRPr lang="en-US" sz="2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tex — Blank 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tx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3"/>
                </a:solidFill>
                <a:latin typeface="Inter" pitchFamily="34" charset="0"/>
                <a:ea typeface="Inter" pitchFamily="34" charset="-122"/>
                <a:cs typeface="Inter" pitchFamily="34" charset="-120"/>
              </a:rPr>
              <a:t>Business &amp; Sales Template  ·  2026</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ertex — Blank 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ertex — Blank Whit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 Id="rId9" Type="http://schemas.openxmlformats.org/officeDocument/2006/relationships/image" Target="../media/vx-PiTextAa_0A1628.svg"/><Relationship Id="rId10" Type="http://schemas.openxmlformats.org/officeDocument/2006/relationships/image" Target="../media/vx-PiSquaresFour_0A1628.svg"/><Relationship Id="rId11" Type="http://schemas.openxmlformats.org/officeDocument/2006/relationships/image" Target="../media/vx-PiNotePencil_0A1628.svg"/><Relationship Id="rId12" Type="http://schemas.openxmlformats.org/officeDocument/2006/relationships/image" Target="../media/vx-PiPalette_0A1628.svg"/><Relationship Id="rId13" Type="http://schemas.openxmlformats.org/officeDocument/2006/relationships/image" Target="../media/vx-PiChartBar_0A1628.svg"/><Relationship Id="rId14" Type="http://schemas.openxmlformats.org/officeDocument/2006/relationships/image" Target="../media/vx-PiSparkle_0A162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 Id="rId10" Type="http://schemas.openxmlformats.org/officeDocument/2006/relationships/image" Target="../media/vx-PiChartLineUp_0A1628.svg"/><Relationship Id="rId11" Type="http://schemas.openxmlformats.org/officeDocument/2006/relationships/image" Target="../media/vx-PiTarget_C6F432.svg"/><Relationship Id="rId12" Type="http://schemas.openxmlformats.org/officeDocument/2006/relationships/image" Target="../media/vx-PiArrowsClockwise_0A1628.svg"/><Relationship Id="rId13" Type="http://schemas.openxmlformats.org/officeDocument/2006/relationships/image" Target="../media/vx-PiLightning_0A1628.svg"/><Relationship Id="rId14" Type="http://schemas.openxmlformats.org/officeDocument/2006/relationships/image" Target="../media/vx-PiShieldCheck_C6F432.svg"/><Relationship Id="rId15" Type="http://schemas.openxmlformats.org/officeDocument/2006/relationships/image" Target="../media/vx-PiGlobe_0A1628.svg"/><Relationship Id="rId16" Type="http://schemas.openxmlformats.org/officeDocument/2006/relationships/image" Target="../media/vx-PiCube_FFFFFF.svg"/></Relationships>
</file>

<file path=ppt/slides/_rels/slide8.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3.xml"/><Relationship Id="rId5" Type="http://schemas.openxmlformats.org/officeDocument/2006/relationships/notesSlide" Target="../notesSlides/notesSlide8.xml"/><Relationship Id="rId6" Type="http://schemas.openxmlformats.org/officeDocument/2006/relationships/image" Target="../media/vx-PiLightbulb_0A1628.svg"/><Relationship Id="rId7" Type="http://schemas.openxmlformats.org/officeDocument/2006/relationships/image" Target="../media/vx-PiQuotes_C6F432.sv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image" Target="../media/image-9-24.png"/><Relationship Id="rId25" Type="http://schemas.openxmlformats.org/officeDocument/2006/relationships/image" Target="../media/image-9-25.png"/><Relationship Id="rId26" Type="http://schemas.openxmlformats.org/officeDocument/2006/relationships/image" Target="../media/image-9-26.png"/><Relationship Id="rId27" Type="http://schemas.openxmlformats.org/officeDocument/2006/relationships/image" Target="../media/image-9-27.png"/><Relationship Id="rId28" Type="http://schemas.openxmlformats.org/officeDocument/2006/relationships/image" Target="../media/image-9-28.png"/><Relationship Id="rId29" Type="http://schemas.openxmlformats.org/officeDocument/2006/relationships/image" Target="../media/image-9-29.png"/><Relationship Id="rId30" Type="http://schemas.openxmlformats.org/officeDocument/2006/relationships/image" Target="../media/image-9-30.png"/><Relationship Id="rId31" Type="http://schemas.openxmlformats.org/officeDocument/2006/relationships/image" Target="../media/image-9-31.png"/><Relationship Id="rId32" Type="http://schemas.openxmlformats.org/officeDocument/2006/relationships/image" Target="../media/image-9-32.png"/><Relationship Id="rId33" Type="http://schemas.openxmlformats.org/officeDocument/2006/relationships/image" Target="../media/image-9-33.png"/><Relationship Id="rId34" Type="http://schemas.openxmlformats.org/officeDocument/2006/relationships/image" Target="../media/image-9-34.png"/><Relationship Id="rId35" Type="http://schemas.openxmlformats.org/officeDocument/2006/relationships/image" Target="../media/image-9-35.png"/><Relationship Id="rId36" Type="http://schemas.openxmlformats.org/officeDocument/2006/relationships/image" Target="../media/image-9-36.png"/><Relationship Id="rId37" Type="http://schemas.openxmlformats.org/officeDocument/2006/relationships/image" Target="../media/image-9-37.png"/><Relationship Id="rId38" Type="http://schemas.openxmlformats.org/officeDocument/2006/relationships/image" Target="../media/image-9-38.png"/><Relationship Id="rId39" Type="http://schemas.openxmlformats.org/officeDocument/2006/relationships/image" Target="../media/image-9-39.png"/><Relationship Id="rId40" Type="http://schemas.openxmlformats.org/officeDocument/2006/relationships/image" Target="../media/image-9-40.png"/><Relationship Id="rId41" Type="http://schemas.openxmlformats.org/officeDocument/2006/relationships/image" Target="../media/image-9-41.png"/><Relationship Id="rId42" Type="http://schemas.openxmlformats.org/officeDocument/2006/relationships/image" Target="../media/image-9-42.png"/><Relationship Id="rId43" Type="http://schemas.openxmlformats.org/officeDocument/2006/relationships/image" Target="../media/image-9-43.png"/><Relationship Id="rId44" Type="http://schemas.openxmlformats.org/officeDocument/2006/relationships/image" Target="../media/image-9-44.png"/><Relationship Id="rId45" Type="http://schemas.openxmlformats.org/officeDocument/2006/relationships/image" Target="../media/image-9-45.png"/><Relationship Id="rId46" Type="http://schemas.openxmlformats.org/officeDocument/2006/relationships/image" Target="../media/image-9-46.png"/><Relationship Id="rId47" Type="http://schemas.openxmlformats.org/officeDocument/2006/relationships/image" Target="../media/image-9-47.png"/><Relationship Id="rId48" Type="http://schemas.openxmlformats.org/officeDocument/2006/relationships/image" Target="../media/image-9-48.png"/><Relationship Id="rId49" Type="http://schemas.openxmlformats.org/officeDocument/2006/relationships/slideLayout" Target="../slideLayouts/slideLayout2.xml"/><Relationship Id="rId50" Type="http://schemas.openxmlformats.org/officeDocument/2006/relationships/notesSlide" Target="../notesSlides/notesSlide9.xml"/><Relationship Id="rId51" Type="http://schemas.openxmlformats.org/officeDocument/2006/relationships/image" Target="../media/vx-PiChartBar_0A1628.svg"/><Relationship Id="rId52" Type="http://schemas.openxmlformats.org/officeDocument/2006/relationships/image" Target="../media/vx-PiChartLineUp_0A1628.svg"/><Relationship Id="rId53" Type="http://schemas.openxmlformats.org/officeDocument/2006/relationships/image" Target="../media/vx-PiChartPieSlice_0A1628.svg"/><Relationship Id="rId54" Type="http://schemas.openxmlformats.org/officeDocument/2006/relationships/image" Target="../media/vx-PiPresentationChart_0A1628.svg"/><Relationship Id="rId55" Type="http://schemas.openxmlformats.org/officeDocument/2006/relationships/image" Target="../media/vx-PiTarget_0A1628.svg"/><Relationship Id="rId56" Type="http://schemas.openxmlformats.org/officeDocument/2006/relationships/image" Target="../media/vx-PiRocketLaunch_0A1628.svg"/><Relationship Id="rId57" Type="http://schemas.openxmlformats.org/officeDocument/2006/relationships/image" Target="../media/vx-PiUsersThree_0A1628.svg"/><Relationship Id="rId58" Type="http://schemas.openxmlformats.org/officeDocument/2006/relationships/image" Target="../media/vx-PiGlobeHemisphereWest_0A1628.svg"/><Relationship Id="rId59" Type="http://schemas.openxmlformats.org/officeDocument/2006/relationships/image" Target="../media/vx-PiLightning_0A1628.svg"/><Relationship Id="rId60" Type="http://schemas.openxmlformats.org/officeDocument/2006/relationships/image" Target="../media/vx-PiShieldCheck_0A1628.svg"/><Relationship Id="rId61" Type="http://schemas.openxmlformats.org/officeDocument/2006/relationships/image" Target="../media/vx-PiGear_0A1628.svg"/><Relationship Id="rId62" Type="http://schemas.openxmlformats.org/officeDocument/2006/relationships/image" Target="../media/vx-PiStack_0A1628.svg"/><Relationship Id="rId63" Type="http://schemas.openxmlformats.org/officeDocument/2006/relationships/image" Target="../media/vx-PiCube_0A1628.svg"/><Relationship Id="rId64" Type="http://schemas.openxmlformats.org/officeDocument/2006/relationships/image" Target="../media/vx-PiPlugs_0A1628.svg"/><Relationship Id="rId65" Type="http://schemas.openxmlformats.org/officeDocument/2006/relationships/image" Target="../media/vx-PiCloud_0A1628.svg"/><Relationship Id="rId66" Type="http://schemas.openxmlformats.org/officeDocument/2006/relationships/image" Target="../media/vx-PiDatabase_0A1628.svg"/><Relationship Id="rId67" Type="http://schemas.openxmlformats.org/officeDocument/2006/relationships/image" Target="../media/vx-PiCurrencyDollar_0A1628.svg"/><Relationship Id="rId68" Type="http://schemas.openxmlformats.org/officeDocument/2006/relationships/image" Target="../media/vx-PiHandshake_0A1628.svg"/><Relationship Id="rId69" Type="http://schemas.openxmlformats.org/officeDocument/2006/relationships/image" Target="../media/vx-PiMegaphone_0A1628.svg"/><Relationship Id="rId70" Type="http://schemas.openxmlformats.org/officeDocument/2006/relationships/image" Target="../media/vx-PiEnvelopeSimple_0A1628.svg"/><Relationship Id="rId71" Type="http://schemas.openxmlformats.org/officeDocument/2006/relationships/image" Target="../media/vx-PiMagnifyingGlass_0A1628.svg"/><Relationship Id="rId72" Type="http://schemas.openxmlformats.org/officeDocument/2006/relationships/image" Target="../media/vx-PiFlag_0A1628.svg"/><Relationship Id="rId73" Type="http://schemas.openxmlformats.org/officeDocument/2006/relationships/image" Target="../media/vx-PiCompass_0A1628.svg"/><Relationship Id="rId74" Type="http://schemas.openxmlformats.org/officeDocument/2006/relationships/image" Target="../media/vx-PiLightbulb_0A1628.svg"/><Relationship Id="rId75" Type="http://schemas.openxmlformats.org/officeDocument/2006/relationships/image" Target="../media/vx-PiPuzzlePiece_0A1628.svg"/><Relationship Id="rId76" Type="http://schemas.openxmlformats.org/officeDocument/2006/relationships/image" Target="../media/vx-PiTrendUp_0A1628.svg"/><Relationship Id="rId77" Type="http://schemas.openxmlformats.org/officeDocument/2006/relationships/image" Target="../media/vx-PiClock_0A1628.svg"/><Relationship Id="rId78" Type="http://schemas.openxmlformats.org/officeDocument/2006/relationships/image" Target="../media/vx-PiCheckCircle_0A1628.svg"/><Relationship Id="rId79" Type="http://schemas.openxmlformats.org/officeDocument/2006/relationships/image" Target="../media/vx-PiBuildings_0A1628.svg"/><Relationship Id="rId80" Type="http://schemas.openxmlformats.org/officeDocument/2006/relationships/image" Target="../media/vx-PiStorefront_0A1628.svg"/><Relationship Id="rId81" Type="http://schemas.openxmlformats.org/officeDocument/2006/relationships/image" Target="../media/vx-PiShoppingCart_0A1628.svg"/><Relationship Id="rId82" Type="http://schemas.openxmlformats.org/officeDocument/2006/relationships/image" Target="../media/vx-PiCreditCard_0A1628.svg"/><Relationship Id="rId83" Type="http://schemas.openxmlformats.org/officeDocument/2006/relationships/image" Target="../media/vx-PiWallet_0A1628.svg"/><Relationship Id="rId84" Type="http://schemas.openxmlformats.org/officeDocument/2006/relationships/image" Target="../media/vx-PiBriefcase_0A1628.svg"/><Relationship Id="rId85" Type="http://schemas.openxmlformats.org/officeDocument/2006/relationships/image" Target="../media/vx-PiHeadset_0A1628.svg"/><Relationship Id="rId86" Type="http://schemas.openxmlformats.org/officeDocument/2006/relationships/image" Target="../media/vx-PiDeviceMobile_0A1628.svg"/><Relationship Id="rId87" Type="http://schemas.openxmlformats.org/officeDocument/2006/relationships/image" Target="../media/vx-PiCode_0A1628.svg"/><Relationship Id="rId88" Type="http://schemas.openxmlformats.org/officeDocument/2006/relationships/image" Target="../media/vx-PiLockKey_0A1628.svg"/><Relationship Id="rId89" Type="http://schemas.openxmlformats.org/officeDocument/2006/relationships/image" Target="../media/vx-PiSparkle_0A1628.svg"/><Relationship Id="rId90" Type="http://schemas.openxmlformats.org/officeDocument/2006/relationships/image" Target="../media/vx-PiFunnel_0A1628.svg"/><Relationship Id="rId91" Type="http://schemas.openxmlformats.org/officeDocument/2006/relationships/image" Target="../media/vx-PiMapPin_0A1628.svg"/><Relationship Id="rId92" Type="http://schemas.openxmlformats.org/officeDocument/2006/relationships/image" Target="../media/vx-PiCalendarBlank_0A1628.svg"/><Relationship Id="rId93" Type="http://schemas.openxmlformats.org/officeDocument/2006/relationships/image" Target="../media/vx-PiGauge_0A1628.svg"/><Relationship Id="rId94" Type="http://schemas.openxmlformats.org/officeDocument/2006/relationships/image" Target="../media/vx-PiPath_0A1628.svg"/><Relationship Id="rId95" Type="http://schemas.openxmlformats.org/officeDocument/2006/relationships/image" Target="../media/vx-PiCpu_0A1628.svg"/><Relationship Id="rId96" Type="http://schemas.openxmlformats.org/officeDocument/2006/relationships/image" Target="../media/vx-PiTreeStructure_0A1628.svg"/><Relationship Id="rId97" Type="http://schemas.openxmlformats.org/officeDocument/2006/relationships/image" Target="../media/vx-PiCoins_0A1628.svg"/><Relationship Id="rId98" Type="http://schemas.openxmlformats.org/officeDocument/2006/relationships/image" Target="../media/vx-PiScales_0A1628.svg"/></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 Id="rId9" Type="http://schemas.openxmlformats.org/officeDocument/2006/relationships/image" Target="../media/vx-PiArrowUpRight_0A1628.svg"/><Relationship Id="rId10" Type="http://schemas.openxmlformats.org/officeDocument/2006/relationships/image" Target="../media/vx-PiArrowUpRight_C6F432.svg"/><Relationship Id="rId11" Type="http://schemas.openxmlformats.org/officeDocument/2006/relationships/image" Target="../media/vx-PiArrowUpRight_0A1628.svg"/><Relationship Id="rId12" Type="http://schemas.openxmlformats.org/officeDocument/2006/relationships/image" Target="../media/vx-PiArrowUpRight_0A1628.svg"/><Relationship Id="rId13" Type="http://schemas.openxmlformats.org/officeDocument/2006/relationships/image" Target="../media/vx-PiArrowUpRight_0A1628.svg"/><Relationship Id="rId14" Type="http://schemas.openxmlformats.org/officeDocument/2006/relationships/image" Target="../media/vx-PiArrowUpRight_0A162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7.xml"/><Relationship Id="rId5" Type="http://schemas.openxmlformats.org/officeDocument/2006/relationships/notesSlide" Target="../notesSlides/notesSlide19.xml"/><Relationship Id="rId6" Type="http://schemas.openxmlformats.org/officeDocument/2006/relationships/image" Target="../media/vx-PiMagnifyingGlass_0A1628.svg"/><Relationship Id="rId7" Type="http://schemas.openxmlformats.org/officeDocument/2006/relationships/image" Target="../media/vx-PiUsersThree_0A1628.svg"/><Relationship Id="rId8" Type="http://schemas.openxmlformats.org/officeDocument/2006/relationships/image" Target="../media/vx-PiCompass_0A1628.sv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 Id="rId6" Type="http://schemas.openxmlformats.org/officeDocument/2006/relationships/image" Target="../media/vx-PiTarget_0A1628.svg"/><Relationship Id="rId7" Type="http://schemas.openxmlformats.org/officeDocument/2006/relationships/image" Target="../media/vx-PiFunnel_0A1628.svg"/><Relationship Id="rId8" Type="http://schemas.openxmlformats.org/officeDocument/2006/relationships/image" Target="../media/vx-PiChartLineUp_0A1628.sv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 Id="rId8" Type="http://schemas.openxmlformats.org/officeDocument/2006/relationships/image" Target="../media/vx-PiChartLineUp_0A1628.svg"/><Relationship Id="rId9" Type="http://schemas.openxmlformats.org/officeDocument/2006/relationships/image" Target="../media/vx-PiUsersThree_0A1628.svg"/><Relationship Id="rId10" Type="http://schemas.openxmlformats.org/officeDocument/2006/relationships/image" Target="../media/vx-PiArrowsClockwise_0A1628.svg"/><Relationship Id="rId11" Type="http://schemas.openxmlformats.org/officeDocument/2006/relationships/image" Target="../media/vx-PiGlobeHemisphereWest_0A1628.svg"/><Relationship Id="rId12" Type="http://schemas.openxmlformats.org/officeDocument/2006/relationships/image" Target="../media/vx-PiSealCheck_0A1628.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7.xml"/><Relationship Id="rId5" Type="http://schemas.openxmlformats.org/officeDocument/2006/relationships/notesSlide" Target="../notesSlides/notesSlide23.xml"/><Relationship Id="rId6" Type="http://schemas.openxmlformats.org/officeDocument/2006/relationships/image" Target="../media/vx-PiEye_C6F432.svg"/><Relationship Id="rId7" Type="http://schemas.openxmlformats.org/officeDocument/2006/relationships/image" Target="../media/vx-PiHandshake_C6F432.svg"/><Relationship Id="rId8" Type="http://schemas.openxmlformats.org/officeDocument/2006/relationships/image" Target="../media/vx-PiLightning_C6F432.svg"/></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 Id="rId6" Type="http://schemas.openxmlformats.org/officeDocument/2006/relationships/image" Target="../media/vx-PiBuildings_0A1628.svg"/><Relationship Id="rId7" Type="http://schemas.openxmlformats.org/officeDocument/2006/relationships/image" Target="../media/vx-PiStorefront_0A1628.svg"/><Relationship Id="rId8" Type="http://schemas.openxmlformats.org/officeDocument/2006/relationships/image" Target="../media/vx-PiBriefcase_0A1628.svg"/></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2.xml"/><Relationship Id="rId10" Type="http://schemas.openxmlformats.org/officeDocument/2006/relationships/notesSlide" Target="../notesSlides/notesSlide25.xml"/><Relationship Id="rId11" Type="http://schemas.openxmlformats.org/officeDocument/2006/relationships/image" Target="../media/vx-PiMapPin_0A1628.svg"/><Relationship Id="rId12" Type="http://schemas.openxmlformats.org/officeDocument/2006/relationships/image" Target="../media/vx-PiTrendUp_5B7A0C.svg"/><Relationship Id="rId13" Type="http://schemas.openxmlformats.org/officeDocument/2006/relationships/image" Target="../media/vx-PiMapPin_0A1628.svg"/><Relationship Id="rId14" Type="http://schemas.openxmlformats.org/officeDocument/2006/relationships/image" Target="../media/vx-PiTrendUp_5B7A0C.svg"/><Relationship Id="rId15" Type="http://schemas.openxmlformats.org/officeDocument/2006/relationships/image" Target="../media/vx-PiMapPin_0A1628.svg"/><Relationship Id="rId16" Type="http://schemas.openxmlformats.org/officeDocument/2006/relationships/image" Target="../media/vx-PiTrendUp_5B7A0C.svg"/><Relationship Id="rId17" Type="http://schemas.openxmlformats.org/officeDocument/2006/relationships/image" Target="../media/vx-PiMapPin_0A1628.svg"/><Relationship Id="rId18" Type="http://schemas.openxmlformats.org/officeDocument/2006/relationships/image" Target="../media/vx-PiTrendUp_5B7A0C.sv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3.xml"/><Relationship Id="rId8" Type="http://schemas.openxmlformats.org/officeDocument/2006/relationships/notesSlide" Target="../notesSlides/notesSlide26.xml"/><Relationship Id="rId9" Type="http://schemas.openxmlformats.org/officeDocument/2006/relationships/image" Target="../media/vx-PiCpu_C6F432.svg"/><Relationship Id="rId10" Type="http://schemas.openxmlformats.org/officeDocument/2006/relationships/image" Target="../media/vx-PiPlugs_C6F432.svg"/><Relationship Id="rId11" Type="http://schemas.openxmlformats.org/officeDocument/2006/relationships/image" Target="../media/vx-PiShieldCheck_C6F432.svg"/><Relationship Id="rId12" Type="http://schemas.openxmlformats.org/officeDocument/2006/relationships/image" Target="../media/vx-PiHeadset_C6F432.svg"/><Relationship Id="rId13" Type="http://schemas.openxmlformats.org/officeDocument/2006/relationships/image" Target="../media/vx-PiChartPieSlice_C6F432.svg"/><Relationship Id="rId14" Type="http://schemas.openxmlformats.org/officeDocument/2006/relationships/image" Target="../media/vx-PiGlobe_C6F432.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 Id="rId7" Type="http://schemas.openxmlformats.org/officeDocument/2006/relationships/image" Target="../media/vx-PiWarning_0A1628.svg"/><Relationship Id="rId8" Type="http://schemas.openxmlformats.org/officeDocument/2006/relationships/image" Target="../media/vx-PiClock_0A1628.svg"/><Relationship Id="rId9" Type="http://schemas.openxmlformats.org/officeDocument/2006/relationships/image" Target="../media/vx-PiEye_0A1628.svg"/><Relationship Id="rId10" Type="http://schemas.openxmlformats.org/officeDocument/2006/relationships/image" Target="../media/vx-PiPuzzlePiece_0A1628.sv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slideLayout" Target="../slideLayouts/slideLayout2.xml"/><Relationship Id="rId14" Type="http://schemas.openxmlformats.org/officeDocument/2006/relationships/notesSlide" Target="../notesSlides/notesSlide29.xml"/><Relationship Id="rId15" Type="http://schemas.openxmlformats.org/officeDocument/2006/relationships/image" Target="../media/vx-PiX_6B7688.svg"/><Relationship Id="rId16" Type="http://schemas.openxmlformats.org/officeDocument/2006/relationships/image" Target="../media/vx-PiArrowRight_0A1628.svg"/><Relationship Id="rId17" Type="http://schemas.openxmlformats.org/officeDocument/2006/relationships/image" Target="../media/vx-PiCheck_0A1628.svg"/><Relationship Id="rId18" Type="http://schemas.openxmlformats.org/officeDocument/2006/relationships/image" Target="../media/vx-PiX_6B7688.svg"/><Relationship Id="rId19" Type="http://schemas.openxmlformats.org/officeDocument/2006/relationships/image" Target="../media/vx-PiArrowRight_0A1628.svg"/><Relationship Id="rId20" Type="http://schemas.openxmlformats.org/officeDocument/2006/relationships/image" Target="../media/vx-PiCheck_0A1628.svg"/><Relationship Id="rId21" Type="http://schemas.openxmlformats.org/officeDocument/2006/relationships/image" Target="../media/vx-PiX_6B7688.svg"/><Relationship Id="rId22" Type="http://schemas.openxmlformats.org/officeDocument/2006/relationships/image" Target="../media/vx-PiArrowRight_0A1628.svg"/><Relationship Id="rId23" Type="http://schemas.openxmlformats.org/officeDocument/2006/relationships/image" Target="../media/vx-PiCheck_0A1628.svg"/><Relationship Id="rId24" Type="http://schemas.openxmlformats.org/officeDocument/2006/relationships/image" Target="../media/vx-PiX_6B7688.svg"/><Relationship Id="rId25" Type="http://schemas.openxmlformats.org/officeDocument/2006/relationships/image" Target="../media/vx-PiArrowRight_0A1628.svg"/><Relationship Id="rId26" Type="http://schemas.openxmlformats.org/officeDocument/2006/relationships/image" Target="../media/vx-PiCheck_0A1628.sv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3.xml"/><Relationship Id="rId7" Type="http://schemas.openxmlformats.org/officeDocument/2006/relationships/notesSlide" Target="../notesSlides/notesSlide30.xml"/><Relationship Id="rId8" Type="http://schemas.openxmlformats.org/officeDocument/2006/relationships/image" Target="../media/vx-PiDatabase_C6F432.svg"/><Relationship Id="rId9" Type="http://schemas.openxmlformats.org/officeDocument/2006/relationships/image" Target="../media/vx-PiArrowRight_0A1628.svg"/><Relationship Id="rId10" Type="http://schemas.openxmlformats.org/officeDocument/2006/relationships/image" Target="../media/vx-PiCpu_C6F432.svg"/><Relationship Id="rId11" Type="http://schemas.openxmlformats.org/officeDocument/2006/relationships/image" Target="../media/vx-PiArrowRight_0A1628.svg"/><Relationship Id="rId12" Type="http://schemas.openxmlformats.org/officeDocument/2006/relationships/image" Target="../media/vx-PiRocketLaunch_C6F432.svg"/></Relationships>
</file>

<file path=ppt/slides/_rels/slide3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5.xml"/><Relationship Id="rId6" Type="http://schemas.openxmlformats.org/officeDocument/2006/relationships/notesSlide" Target="../notesSlides/notesSlide32.xml"/><Relationship Id="rId7" Type="http://schemas.openxmlformats.org/officeDocument/2006/relationships/image" Target="../media/vx-PiTarget_0A1628.svg"/><Relationship Id="rId8" Type="http://schemas.openxmlformats.org/officeDocument/2006/relationships/image" Target="../media/vx-PiClock_0A1628.svg"/><Relationship Id="rId9" Type="http://schemas.openxmlformats.org/officeDocument/2006/relationships/image" Target="../media/vx-PiChartLineUp_0A1628.svg"/><Relationship Id="rId10" Type="http://schemas.openxmlformats.org/officeDocument/2006/relationships/image" Target="../media/vx-PiCoins_0A1628.svg"/></Relationships>
</file>

<file path=ppt/slides/_rels/slide33.xml.rels><?xml version="1.0" encoding="UTF-8" standalone="yes"?>
<Relationships xmlns="http://schemas.openxmlformats.org/package/2006/relationships"><Relationship Id="rId6" Type="http://schemas.openxmlformats.org/officeDocument/2006/relationships/chart" Target="/ppt/charts/chart5.xml"/><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7" Type="http://schemas.openxmlformats.org/officeDocument/2006/relationships/slideLayout" Target="../slideLayouts/slideLayout3.xml"/><Relationship Id="rId8" Type="http://schemas.openxmlformats.org/officeDocument/2006/relationships/notesSlide" Target="../notesSlides/notesSlide33.xml"/><Relationship Id="rId9" Type="http://schemas.openxmlformats.org/officeDocument/2006/relationships/image" Target="../media/vx-PiSquaresFour_C6F432.svg"/><Relationship Id="rId10" Type="http://schemas.openxmlformats.org/officeDocument/2006/relationships/image" Target="../media/vx-PiFunnel_D5DBE3.svg"/><Relationship Id="rId11" Type="http://schemas.openxmlformats.org/officeDocument/2006/relationships/image" Target="../media/vx-PiChartBar_D5DBE3.svg"/><Relationship Id="rId12" Type="http://schemas.openxmlformats.org/officeDocument/2006/relationships/image" Target="../media/vx-PiUsersThree_D5DBE3.svg"/><Relationship Id="rId13" Type="http://schemas.openxmlformats.org/officeDocument/2006/relationships/image" Target="../media/vx-PiGear_D5DBE3.svg"/></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2.xml"/><Relationship Id="rId8" Type="http://schemas.openxmlformats.org/officeDocument/2006/relationships/notesSlide" Target="../notesSlides/notesSlide34.xml"/><Relationship Id="rId9" Type="http://schemas.openxmlformats.org/officeDocument/2006/relationships/image" Target="../media/vx-PiSparkle_0A1628.svg"/><Relationship Id="rId10" Type="http://schemas.openxmlformats.org/officeDocument/2006/relationships/image" Target="../media/vx-PiEnvelopeSimple_0A1628.svg"/><Relationship Id="rId11" Type="http://schemas.openxmlformats.org/officeDocument/2006/relationships/image" Target="../media/vx-PiPresentationChart_0A1628.svg"/><Relationship Id="rId12" Type="http://schemas.openxmlformats.org/officeDocument/2006/relationships/image" Target="../media/vx-PiChatCircle_0A1628.svg"/><Relationship Id="rId13" Type="http://schemas.openxmlformats.org/officeDocument/2006/relationships/image" Target="../media/vx-PiLockKey_0A1628.svg"/><Relationship Id="rId14" Type="http://schemas.openxmlformats.org/officeDocument/2006/relationships/image" Target="../media/vx-PiPlugs_0A1628.svg"/></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 Id="rId4" Type="http://schemas.openxmlformats.org/officeDocument/2006/relationships/image" Target="../media/vx-PiShieldCheck_0A1628.svg"/></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 Id="rId4" Type="http://schemas.openxmlformats.org/officeDocument/2006/relationships/image" Target="../media/vx-PiHeadset_C6F432.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4.xml"/><Relationship Id="rId10" Type="http://schemas.openxmlformats.org/officeDocument/2006/relationships/notesSlide" Target="../notesSlides/notesSlide38.xml"/><Relationship Id="rId11" Type="http://schemas.openxmlformats.org/officeDocument/2006/relationships/image" Target="../media/vx-PiDatabase_FFFFFF.svg"/><Relationship Id="rId12" Type="http://schemas.openxmlformats.org/officeDocument/2006/relationships/image" Target="../media/vx-PiEnvelopeSimple_FFFFFF.svg"/><Relationship Id="rId13" Type="http://schemas.openxmlformats.org/officeDocument/2006/relationships/image" Target="../media/vx-PiCalendarBlank_FFFFFF.svg"/><Relationship Id="rId14" Type="http://schemas.openxmlformats.org/officeDocument/2006/relationships/image" Target="../media/vx-PiPhone_FFFFFF.svg"/><Relationship Id="rId15" Type="http://schemas.openxmlformats.org/officeDocument/2006/relationships/image" Target="../media/vx-PiChartBar_FFFFFF.svg"/><Relationship Id="rId16" Type="http://schemas.openxmlformats.org/officeDocument/2006/relationships/image" Target="../media/vx-PiCloud_FFFFFF.svg"/><Relationship Id="rId17" Type="http://schemas.openxmlformats.org/officeDocument/2006/relationships/image" Target="../media/vx-PiReceipt_FFFFFF.svg"/><Relationship Id="rId18" Type="http://schemas.openxmlformats.org/officeDocument/2006/relationships/image" Target="../media/vx-PiChatCircle_FFFFFF.svg"/></Relationships>
</file>

<file path=ppt/slides/_rels/slide39.xml.rels><?xml version="1.0" encoding="UTF-8" standalone="yes"?>
<Relationships xmlns="http://schemas.openxmlformats.org/package/2006/relationships"><Relationship Id="rId4" Type="http://schemas.openxmlformats.org/officeDocument/2006/relationships/chart" Target="/ppt/charts/chart6.xml"/><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5" Type="http://schemas.openxmlformats.org/officeDocument/2006/relationships/slideLayout" Target="../slideLayouts/slideLayout2.xml"/><Relationship Id="rId6" Type="http://schemas.openxmlformats.org/officeDocument/2006/relationships/notesSlide" Target="../notesSlides/notesSlide39.xml"/><Relationship Id="rId7" Type="http://schemas.openxmlformats.org/officeDocument/2006/relationships/image" Target="../media/vx-PiGlobe_C6F432.svg"/><Relationship Id="rId8" Type="http://schemas.openxmlformats.org/officeDocument/2006/relationships/image" Target="../media/vx-PiBuildings_0A1628.svg"/><Relationship Id="rId9" Type="http://schemas.openxmlformats.org/officeDocument/2006/relationships/image" Target="../media/vx-PiChartPieSlice_0A1628.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2.xml"/><Relationship Id="rId6" Type="http://schemas.openxmlformats.org/officeDocument/2006/relationships/notesSlide" Target="../notesSlides/notesSlide43.xml"/><Relationship Id="rId7" Type="http://schemas.openxmlformats.org/officeDocument/2006/relationships/image" Target="../media/vx-PiSparkle_0A1628.svg"/><Relationship Id="rId8" Type="http://schemas.openxmlformats.org/officeDocument/2006/relationships/image" Target="../media/vx-PiStack_0A1628.svg"/><Relationship Id="rId9" Type="http://schemas.openxmlformats.org/officeDocument/2006/relationships/image" Target="../media/vx-PiArrowsClockwise_0A1628.svg"/><Relationship Id="rId10" Type="http://schemas.openxmlformats.org/officeDocument/2006/relationships/image" Target="../media/vx-PiUsersThree_0A1628.svg"/></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3.xml"/><Relationship Id="rId5" Type="http://schemas.openxmlformats.org/officeDocument/2006/relationships/notesSlide" Target="../notesSlides/notesSlide44.xml"/><Relationship Id="rId6" Type="http://schemas.openxmlformats.org/officeDocument/2006/relationships/image" Target="../media/vx-PiRocketLaunch_0A1628.svg"/><Relationship Id="rId7" Type="http://schemas.openxmlformats.org/officeDocument/2006/relationships/image" Target="../media/vx-PiBuildings_0A1628.svg"/><Relationship Id="rId8" Type="http://schemas.openxmlformats.org/officeDocument/2006/relationships/image" Target="../media/vx-PiBriefcase_0A1628.svg"/></Relationships>
</file>

<file path=ppt/slides/_rels/slide4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image" Target="../media/image-51-1.png"/><Relationship Id="rId3" Type="http://schemas.openxmlformats.org/officeDocument/2006/relationships/slideLayout" Target="../slideLayouts/slideLayout2.xml"/><Relationship Id="rId4" Type="http://schemas.openxmlformats.org/officeDocument/2006/relationships/notesSlide" Target="../notesSlides/notesSlide51.xml"/><Relationship Id="rId5" Type="http://schemas.openxmlformats.org/officeDocument/2006/relationships/image" Target="../media/vx-PiWarning_0A1628.svg"/></Relationships>
</file>

<file path=ppt/slides/_rels/slide5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4" Type="http://schemas.openxmlformats.org/officeDocument/2006/relationships/chart" Target="/ppt/charts/chart13.xml"/><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5" Type="http://schemas.openxmlformats.org/officeDocument/2006/relationships/slideLayout" Target="../slideLayouts/slideLayout4.xml"/><Relationship Id="rId6" Type="http://schemas.openxmlformats.org/officeDocument/2006/relationships/notesSlide" Target="../notesSlides/notesSlide53.xml"/><Relationship Id="rId7" Type="http://schemas.openxmlformats.org/officeDocument/2006/relationships/image" Target="../media/vx-PiUsersThree_C6F432.svg"/><Relationship Id="rId8" Type="http://schemas.openxmlformats.org/officeDocument/2006/relationships/image" Target="../media/vx-PiCoins_C6F432.svg"/><Relationship Id="rId9" Type="http://schemas.openxmlformats.org/officeDocument/2006/relationships/image" Target="../media/vx-PiHourglass_C6F432.svg"/></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image" Target="../media/image-54-11.png"/><Relationship Id="rId12" Type="http://schemas.openxmlformats.org/officeDocument/2006/relationships/image" Target="../media/image-54-12.png"/><Relationship Id="rId13" Type="http://schemas.openxmlformats.org/officeDocument/2006/relationships/slideLayout" Target="../slideLayouts/slideLayout2.xml"/><Relationship Id="rId14" Type="http://schemas.openxmlformats.org/officeDocument/2006/relationships/notesSlide" Target="../notesSlides/notesSlide54.xml"/><Relationship Id="rId15" Type="http://schemas.openxmlformats.org/officeDocument/2006/relationships/image" Target="../media/vx-PiFlag_C6F432.svg"/><Relationship Id="rId16" Type="http://schemas.openxmlformats.org/officeDocument/2006/relationships/image" Target="../media/vx-PiCheck_0A1628.svg"/><Relationship Id="rId17" Type="http://schemas.openxmlformats.org/officeDocument/2006/relationships/image" Target="../media/vx-PiCheck_0A1628.svg"/><Relationship Id="rId18" Type="http://schemas.openxmlformats.org/officeDocument/2006/relationships/image" Target="../media/vx-PiCheck_0A1628.svg"/><Relationship Id="rId19" Type="http://schemas.openxmlformats.org/officeDocument/2006/relationships/image" Target="../media/vx-PiArrowUpRight_C6F432.svg"/><Relationship Id="rId20" Type="http://schemas.openxmlformats.org/officeDocument/2006/relationships/image" Target="../media/vx-PiCheck_0A1628.svg"/><Relationship Id="rId21" Type="http://schemas.openxmlformats.org/officeDocument/2006/relationships/image" Target="../media/vx-PiCheck_0A1628.svg"/><Relationship Id="rId22" Type="http://schemas.openxmlformats.org/officeDocument/2006/relationships/image" Target="../media/vx-PiCheck_0A1628.svg"/><Relationship Id="rId23" Type="http://schemas.openxmlformats.org/officeDocument/2006/relationships/image" Target="../media/vx-PiShieldCheck_C6F432.svg"/><Relationship Id="rId24" Type="http://schemas.openxmlformats.org/officeDocument/2006/relationships/image" Target="../media/vx-PiCheck_0A1628.svg"/><Relationship Id="rId25" Type="http://schemas.openxmlformats.org/officeDocument/2006/relationships/image" Target="../media/vx-PiCheck_0A1628.svg"/><Relationship Id="rId26" Type="http://schemas.openxmlformats.org/officeDocument/2006/relationships/image" Target="../media/vx-PiCheck_0A1628.svg"/></Relationships>
</file>

<file path=ppt/slides/_rels/slide55.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slideLayout" Target="../slideLayouts/slideLayout2.xml"/><Relationship Id="rId9" Type="http://schemas.openxmlformats.org/officeDocument/2006/relationships/notesSlide" Target="../notesSlides/notesSlide57.xml"/><Relationship Id="rId10" Type="http://schemas.openxmlformats.org/officeDocument/2006/relationships/image" Target="../media/vx-PiUsersThree_C6F432.svg"/><Relationship Id="rId11" Type="http://schemas.openxmlformats.org/officeDocument/2006/relationships/image" Target="../media/vx-PiArrowRight_0A1628.svg"/><Relationship Id="rId12" Type="http://schemas.openxmlformats.org/officeDocument/2006/relationships/image" Target="../media/vx-PiChatCircle_C6F432.svg"/><Relationship Id="rId13" Type="http://schemas.openxmlformats.org/officeDocument/2006/relationships/image" Target="../media/vx-PiArrowRight_0A1628.svg"/><Relationship Id="rId14" Type="http://schemas.openxmlformats.org/officeDocument/2006/relationships/image" Target="../media/vx-PiMegaphone_C6F432.svg"/><Relationship Id="rId15" Type="http://schemas.openxmlformats.org/officeDocument/2006/relationships/image" Target="../media/vx-PiArrowRight_0A1628.svg"/><Relationship Id="rId16" Type="http://schemas.openxmlformats.org/officeDocument/2006/relationships/image" Target="../media/vx-PiTarget_0A1628.svg"/></Relationships>
</file>

<file path=ppt/slides/_rels/slide58.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6" Type="http://schemas.openxmlformats.org/officeDocument/2006/relationships/chart" Target="/ppt/charts/chart17.xml"/><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7" Type="http://schemas.openxmlformats.org/officeDocument/2006/relationships/slideLayout" Target="../slideLayouts/slideLayout2.xml"/><Relationship Id="rId8" Type="http://schemas.openxmlformats.org/officeDocument/2006/relationships/notesSlide" Target="../notesSlides/notesSlide60.xml"/><Relationship Id="rId9" Type="http://schemas.openxmlformats.org/officeDocument/2006/relationships/image" Target="../media/vx-PiMagnifyingGlass_C6F432.svg"/><Relationship Id="rId10" Type="http://schemas.openxmlformats.org/officeDocument/2006/relationships/image" Target="../media/vx-PiScales_C6F432.svg"/><Relationship Id="rId11" Type="http://schemas.openxmlformats.org/officeDocument/2006/relationships/image" Target="../media/vx-PiHandshake_0A1628.svg"/><Relationship Id="rId12" Type="http://schemas.openxmlformats.org/officeDocument/2006/relationships/image" Target="../media/vx-PiRocketLaunch_C6F432.svg"/><Relationship Id="rId13" Type="http://schemas.openxmlformats.org/officeDocument/2006/relationships/image" Target="../media/vx-PiHeart_C6F432.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5" Type="http://schemas.openxmlformats.org/officeDocument/2006/relationships/chart" Target="/ppt/charts/chart18.xml"/><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6" Type="http://schemas.openxmlformats.org/officeDocument/2006/relationships/slideLayout" Target="../slideLayouts/slideLayout3.xml"/><Relationship Id="rId7" Type="http://schemas.openxmlformats.org/officeDocument/2006/relationships/notesSlide" Target="../notesSlides/notesSlide63.xml"/><Relationship Id="rId8" Type="http://schemas.openxmlformats.org/officeDocument/2006/relationships/image" Target="../media/vx-PiChartLineUp_C6F432.svg"/><Relationship Id="rId9" Type="http://schemas.openxmlformats.org/officeDocument/2006/relationships/image" Target="../media/vx-PiArrowsClockwise_0A1628.svg"/><Relationship Id="rId10" Type="http://schemas.openxmlformats.org/officeDocument/2006/relationships/image" Target="../media/vx-PiPercent_0A1628.svg"/><Relationship Id="rId11" Type="http://schemas.openxmlformats.org/officeDocument/2006/relationships/image" Target="../media/vx-PiGauge_0A1628.svg"/></Relationships>
</file>

<file path=ppt/slides/_rels/slide6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2.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image" Target="../media/image-74-8.png"/><Relationship Id="rId9" Type="http://schemas.openxmlformats.org/officeDocument/2006/relationships/image" Target="../media/image-74-9.png"/><Relationship Id="rId10" Type="http://schemas.openxmlformats.org/officeDocument/2006/relationships/image" Target="../media/image-74-10.png"/><Relationship Id="rId11" Type="http://schemas.openxmlformats.org/officeDocument/2006/relationships/image" Target="../media/image-74-11.png"/><Relationship Id="rId12" Type="http://schemas.openxmlformats.org/officeDocument/2006/relationships/image" Target="../media/image-74-12.png"/><Relationship Id="rId13" Type="http://schemas.openxmlformats.org/officeDocument/2006/relationships/image" Target="../media/image-74-13.png"/><Relationship Id="rId14" Type="http://schemas.openxmlformats.org/officeDocument/2006/relationships/image" Target="../media/image-74-14.png"/><Relationship Id="rId15" Type="http://schemas.openxmlformats.org/officeDocument/2006/relationships/slideLayout" Target="../slideLayouts/slideLayout2.xml"/><Relationship Id="rId16" Type="http://schemas.openxmlformats.org/officeDocument/2006/relationships/notesSlide" Target="../notesSlides/notesSlide74.xml"/><Relationship Id="rId17" Type="http://schemas.openxmlformats.org/officeDocument/2006/relationships/image" Target="../media/vx-PiCheck_0A1628.svg"/><Relationship Id="rId18" Type="http://schemas.openxmlformats.org/officeDocument/2006/relationships/image" Target="../media/vx-PiCheck_0A1628.svg"/><Relationship Id="rId19" Type="http://schemas.openxmlformats.org/officeDocument/2006/relationships/image" Target="../media/vx-PiCheck_0A1628.svg"/><Relationship Id="rId20" Type="http://schemas.openxmlformats.org/officeDocument/2006/relationships/image" Target="../media/vx-PiCheck_0A1628.svg"/><Relationship Id="rId21" Type="http://schemas.openxmlformats.org/officeDocument/2006/relationships/image" Target="../media/vx-PiCheck_C6F432.svg"/><Relationship Id="rId22" Type="http://schemas.openxmlformats.org/officeDocument/2006/relationships/image" Target="../media/vx-PiCheck_C6F432.svg"/><Relationship Id="rId23" Type="http://schemas.openxmlformats.org/officeDocument/2006/relationships/image" Target="../media/vx-PiCheck_C6F432.svg"/><Relationship Id="rId24" Type="http://schemas.openxmlformats.org/officeDocument/2006/relationships/image" Target="../media/vx-PiCheck_C6F432.svg"/><Relationship Id="rId25" Type="http://schemas.openxmlformats.org/officeDocument/2006/relationships/image" Target="../media/vx-PiCheck_C6F432.svg"/><Relationship Id="rId26" Type="http://schemas.openxmlformats.org/officeDocument/2006/relationships/image" Target="../media/vx-PiCheck_0A1628.svg"/><Relationship Id="rId27" Type="http://schemas.openxmlformats.org/officeDocument/2006/relationships/image" Target="../media/vx-PiCheck_0A1628.svg"/><Relationship Id="rId28" Type="http://schemas.openxmlformats.org/officeDocument/2006/relationships/image" Target="../media/vx-PiCheck_0A1628.svg"/><Relationship Id="rId29" Type="http://schemas.openxmlformats.org/officeDocument/2006/relationships/image" Target="../media/vx-PiCheck_0A1628.svg"/><Relationship Id="rId30" Type="http://schemas.openxmlformats.org/officeDocument/2006/relationships/image" Target="../media/vx-PiCheck_0A1628.svg"/></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2.xml"/><Relationship Id="rId6" Type="http://schemas.openxmlformats.org/officeDocument/2006/relationships/notesSlide" Target="../notesSlides/notesSlide75.xml"/><Relationship Id="rId7" Type="http://schemas.openxmlformats.org/officeDocument/2006/relationships/image" Target="../media/vx-PiHourglass_0A1628.svg"/><Relationship Id="rId8" Type="http://schemas.openxmlformats.org/officeDocument/2006/relationships/image" Target="../media/vx-PiPercent_0A1628.svg"/><Relationship Id="rId9" Type="http://schemas.openxmlformats.org/officeDocument/2006/relationships/image" Target="../media/vx-PiArrowsClockwise_0A1628.svg"/><Relationship Id="rId10" Type="http://schemas.openxmlformats.org/officeDocument/2006/relationships/image" Target="../media/vx-PiSparkle_0A1628.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slideLayout" Target="../slideLayouts/slideLayout3.xml"/><Relationship Id="rId6" Type="http://schemas.openxmlformats.org/officeDocument/2006/relationships/notesSlide" Target="../notesSlides/notesSlide78.xml"/><Relationship Id="rId7" Type="http://schemas.openxmlformats.org/officeDocument/2006/relationships/image" Target="../media/vx-PiCpu_0A1628.svg"/><Relationship Id="rId8" Type="http://schemas.openxmlformats.org/officeDocument/2006/relationships/image" Target="../media/vx-PiGlobe_0A1628.svg"/><Relationship Id="rId9" Type="http://schemas.openxmlformats.org/officeDocument/2006/relationships/image" Target="../media/vx-PiShareNetwork_0A1628.svg"/><Relationship Id="rId10" Type="http://schemas.openxmlformats.org/officeDocument/2006/relationships/image" Target="../media/vx-PiHeadset_0A1628.sv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image" Target="../media/image-80-6.png"/><Relationship Id="rId7" Type="http://schemas.openxmlformats.org/officeDocument/2006/relationships/slideLayout" Target="../slideLayouts/slideLayout2.xml"/><Relationship Id="rId8" Type="http://schemas.openxmlformats.org/officeDocument/2006/relationships/notesSlide" Target="../notesSlides/notesSlide80.xml"/><Relationship Id="rId9" Type="http://schemas.openxmlformats.org/officeDocument/2006/relationships/image" Target="../media/vx-PiTarget_0A1628.svg"/><Relationship Id="rId10" Type="http://schemas.openxmlformats.org/officeDocument/2006/relationships/image" Target="../media/vx-PiTarget_0A1628.svg"/><Relationship Id="rId11" Type="http://schemas.openxmlformats.org/officeDocument/2006/relationships/image" Target="../media/vx-PiTarget_0A1628.svg"/><Relationship Id="rId12" Type="http://schemas.openxmlformats.org/officeDocument/2006/relationships/image" Target="../media/vx-PiTarget_0A1628.svg"/><Relationship Id="rId13" Type="http://schemas.openxmlformats.org/officeDocument/2006/relationships/image" Target="../media/vx-PiTarget_0A1628.svg"/><Relationship Id="rId14" Type="http://schemas.openxmlformats.org/officeDocument/2006/relationships/image" Target="../media/vx-PiTarget_0A1628.svg"/></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slideLayout" Target="../slideLayouts/slideLayout3.xml"/><Relationship Id="rId6" Type="http://schemas.openxmlformats.org/officeDocument/2006/relationships/notesSlide" Target="../notesSlides/notesSlide81.xml"/><Relationship Id="rId7" Type="http://schemas.openxmlformats.org/officeDocument/2006/relationships/image" Target="../media/vx-PiArrowUpRight_6B7688.svg"/><Relationship Id="rId8" Type="http://schemas.openxmlformats.org/officeDocument/2006/relationships/image" Target="../media/vx-PiArrowUpRight_6B7688.svg"/><Relationship Id="rId9" Type="http://schemas.openxmlformats.org/officeDocument/2006/relationships/image" Target="../media/vx-PiArrowUpRight_6B7688.svg"/><Relationship Id="rId10" Type="http://schemas.openxmlformats.org/officeDocument/2006/relationships/image" Target="../media/vx-PiArrowUpRight_6B7688.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2.xml"/><Relationship Id="rId4" Type="http://schemas.openxmlformats.org/officeDocument/2006/relationships/notesSlide" Target="../notesSlides/notesSlide85.xml"/><Relationship Id="rId5" Type="http://schemas.openxmlformats.org/officeDocument/2006/relationships/image" Target="../media/vx-PiCheck_FFFFFF.svg"/><Relationship Id="rId6" Type="http://schemas.openxmlformats.org/officeDocument/2006/relationships/image" Target="../media/vx-PiCheck_FFFFFF.svg"/></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slideLayout" Target="../slideLayouts/slideLayout2.xml"/><Relationship Id="rId5" Type="http://schemas.openxmlformats.org/officeDocument/2006/relationships/notesSlide" Target="../notesSlides/notesSlide86.xml"/><Relationship Id="rId6" Type="http://schemas.openxmlformats.org/officeDocument/2006/relationships/image" Target="../media/vx-PiWarning_0A1628.svg"/><Relationship Id="rId7" Type="http://schemas.openxmlformats.org/officeDocument/2006/relationships/image" Target="../media/vx-PiPath_0A1628.svg"/><Relationship Id="rId8" Type="http://schemas.openxmlformats.org/officeDocument/2006/relationships/image" Target="../media/vx-PiTrendUp_0A1628.svg"/></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7.xml"/><Relationship Id="rId3" Type="http://schemas.openxmlformats.org/officeDocument/2006/relationships/notesSlide" Target="../notesSlides/notesSlide87.xml"/><Relationship Id="rId4" Type="http://schemas.openxmlformats.org/officeDocument/2006/relationships/image" Target="../media/vx-PiArrowRight_0A1628.svg"/></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3.xml"/><Relationship Id="rId3" Type="http://schemas.openxmlformats.org/officeDocument/2006/relationships/notesSlide" Target="../notesSlides/notesSlide88.xml"/><Relationship Id="rId4" Type="http://schemas.openxmlformats.org/officeDocument/2006/relationships/image" Target="../media/vx-PiQuotes_C6F432.svg"/></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image" Target="../media/image-89-5.png"/><Relationship Id="rId6" Type="http://schemas.openxmlformats.org/officeDocument/2006/relationships/image" Target="../media/image-89-6.png"/><Relationship Id="rId7" Type="http://schemas.openxmlformats.org/officeDocument/2006/relationships/image" Target="../media/image-89-7.png"/><Relationship Id="rId8" Type="http://schemas.openxmlformats.org/officeDocument/2006/relationships/image" Target="../media/image-89-8.png"/><Relationship Id="rId9" Type="http://schemas.openxmlformats.org/officeDocument/2006/relationships/image" Target="../media/image-89-9.png"/><Relationship Id="rId10" Type="http://schemas.openxmlformats.org/officeDocument/2006/relationships/slideLayout" Target="../slideLayouts/slideLayout2.xml"/><Relationship Id="rId11" Type="http://schemas.openxmlformats.org/officeDocument/2006/relationships/notesSlide" Target="../notesSlides/notesSlide89.xml"/><Relationship Id="rId12" Type="http://schemas.openxmlformats.org/officeDocument/2006/relationships/image" Target="../media/vx-PiCheckCircle_0A1628.svg"/><Relationship Id="rId13" Type="http://schemas.openxmlformats.org/officeDocument/2006/relationships/image" Target="../media/vx-PiCheckCircle_0A1628.svg"/><Relationship Id="rId14" Type="http://schemas.openxmlformats.org/officeDocument/2006/relationships/image" Target="../media/vx-PiMinus_6B7688.svg"/><Relationship Id="rId15" Type="http://schemas.openxmlformats.org/officeDocument/2006/relationships/image" Target="../media/vx-PiMinus_6B7688.svg"/><Relationship Id="rId16" Type="http://schemas.openxmlformats.org/officeDocument/2006/relationships/image" Target="../media/vx-PiMinus_6B7688.svg"/><Relationship Id="rId17" Type="http://schemas.openxmlformats.org/officeDocument/2006/relationships/image" Target="../media/vx-PiCheckCircle_C6F432.svg"/><Relationship Id="rId18" Type="http://schemas.openxmlformats.org/officeDocument/2006/relationships/image" Target="../media/vx-PiCheckCircle_C6F432.svg"/><Relationship Id="rId19" Type="http://schemas.openxmlformats.org/officeDocument/2006/relationships/image" Target="../media/vx-PiCheckCircle_C6F432.svg"/><Relationship Id="rId20" Type="http://schemas.openxmlformats.org/officeDocument/2006/relationships/image" Target="../media/vx-PiMinus_D5DBE3.svg"/></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slideLayout" Target="../slideLayouts/slideLayout3.xml"/><Relationship Id="rId5" Type="http://schemas.openxmlformats.org/officeDocument/2006/relationships/notesSlide" Target="../notesSlides/notesSlide90.xml"/><Relationship Id="rId6" Type="http://schemas.openxmlformats.org/officeDocument/2006/relationships/image" Target="../media/vx-PiBuildings_0A1628.svg"/><Relationship Id="rId7" Type="http://schemas.openxmlformats.org/officeDocument/2006/relationships/image" Target="../media/vx-PiHandshake_0A1628.svg"/><Relationship Id="rId8" Type="http://schemas.openxmlformats.org/officeDocument/2006/relationships/image" Target="../media/vx-PiArrowsSplit_0A1628.sv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chart" Target="/ppt/charts/chart29.xml"/><Relationship Id="rId3" Type="http://schemas.openxmlformats.org/officeDocument/2006/relationships/slideLayout" Target="../slideLayouts/slideLayout2.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chart" Target="/ppt/charts/chart31.xml"/><Relationship Id="rId3" Type="http://schemas.openxmlformats.org/officeDocument/2006/relationships/slideLayout" Target="../slideLayouts/slideLayout2.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chart" Target="/ppt/charts/chart33.xml"/><Relationship Id="rId3" Type="http://schemas.openxmlformats.org/officeDocument/2006/relationships/chart" Target="/ppt/charts/chart34.xml"/><Relationship Id="rId4" Type="http://schemas.openxmlformats.org/officeDocument/2006/relationships/slideLayout" Target="../slideLayouts/slideLayout3.xml"/><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chart" Target="/ppt/charts/chart36.xml"/><Relationship Id="rId3" Type="http://schemas.openxmlformats.org/officeDocument/2006/relationships/chart" Target="/ppt/charts/chart37.xml"/><Relationship Id="rId4" Type="http://schemas.openxmlformats.org/officeDocument/2006/relationships/slideLayout" Target="../slideLayouts/slideLayout2.xml"/><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6.xml"/><Relationship Id="rId3" Type="http://schemas.openxmlformats.org/officeDocument/2006/relationships/notesSlide" Target="../notesSlides/notesSlide97.xml"/><Relationship Id="rId4" Type="http://schemas.openxmlformats.org/officeDocument/2006/relationships/image" Target="../media/vx-PiQuotes_C6F432.svg"/></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image" Target="../media/image-98-5.png"/><Relationship Id="rId6" Type="http://schemas.openxmlformats.org/officeDocument/2006/relationships/image" Target="../media/image-98-6.png"/><Relationship Id="rId7" Type="http://schemas.openxmlformats.org/officeDocument/2006/relationships/image" Target="../media/image-98-7.png"/><Relationship Id="rId8" Type="http://schemas.openxmlformats.org/officeDocument/2006/relationships/slideLayout" Target="../slideLayouts/slideLayout2.xml"/><Relationship Id="rId9" Type="http://schemas.openxmlformats.org/officeDocument/2006/relationships/notesSlide" Target="../notesSlides/notesSlide98.xml"/><Relationship Id="rId10" Type="http://schemas.openxmlformats.org/officeDocument/2006/relationships/image" Target="../media/vx-PiUserCircle_C6F432.svg"/><Relationship Id="rId11" Type="http://schemas.openxmlformats.org/officeDocument/2006/relationships/image" Target="../media/vx-PiCalendarBlank_C6F432.svg"/><Relationship Id="rId12" Type="http://schemas.openxmlformats.org/officeDocument/2006/relationships/image" Target="../media/vx-PiUserCircle_0A1628.svg"/><Relationship Id="rId13" Type="http://schemas.openxmlformats.org/officeDocument/2006/relationships/image" Target="../media/vx-PiCalendarBlank_0A1628.svg"/><Relationship Id="rId14" Type="http://schemas.openxmlformats.org/officeDocument/2006/relationships/image" Target="../media/vx-PiUserCircle_0A1628.svg"/><Relationship Id="rId15" Type="http://schemas.openxmlformats.org/officeDocument/2006/relationships/image" Target="../media/vx-PiCalendarBlank_0A1628.svg"/><Relationship Id="rId16" Type="http://schemas.openxmlformats.org/officeDocument/2006/relationships/image" Target="../media/vx-PiArrowRight_C6F432.svg"/></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image" Target="../media/image-99-4.png"/><Relationship Id="rId5" Type="http://schemas.openxmlformats.org/officeDocument/2006/relationships/slideLayout" Target="../slideLayouts/slideLayout6.xml"/><Relationship Id="rId6" Type="http://schemas.openxmlformats.org/officeDocument/2006/relationships/notesSlide" Target="../notesSlides/notesSlide99.xml"/><Relationship Id="rId7" Type="http://schemas.openxmlformats.org/officeDocument/2006/relationships/image" Target="../media/vx-PiEnvelopeSimple_C6F432.svg"/><Relationship Id="rId8" Type="http://schemas.openxmlformats.org/officeDocument/2006/relationships/image" Target="../media/vx-PiPhone_C6F432.svg"/><Relationship Id="rId9" Type="http://schemas.openxmlformats.org/officeDocument/2006/relationships/image" Target="../media/vx-PiGlobe_C6F432.svg"/><Relationship Id="rId10" Type="http://schemas.openxmlformats.org/officeDocument/2006/relationships/image" Target="../media/vx-PiMapPin_C6F43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sp>
      <p:sp>
        <p:nvSpPr>
          <p:cNvPr id="3" name="Text 1"/>
          <p:cNvSpPr txBox="1"/>
          <p:nvPr/>
        </p:nvSpPr>
        <p:spPr>
          <a:xfrm>
            <a:off x="548640" y="530352"/>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4" name="Text 2"/>
          <p:cNvSpPr txBox="1"/>
          <p:nvPr/>
        </p:nvSpPr>
        <p:spPr>
          <a:xfrm>
            <a:off x="8899855" y="530352"/>
            <a:ext cx="274320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Template guide</a:t>
            </a:r>
            <a:endParaRPr lang="en-US" sz="1000" dirty="0"/>
          </a:p>
        </p:txBody>
      </p:sp>
      <p:sp>
        <p:nvSpPr>
          <p:cNvPr id="5" name="Shape 3"/>
          <p:cNvSpPr/>
          <p:nvPr/>
        </p:nvSpPr>
        <p:spPr>
          <a:xfrm>
            <a:off x="548640" y="1805940"/>
            <a:ext cx="91440" cy="91440"/>
          </a:xfrm>
          <a:prstGeom prst="rect">
            <a:avLst/>
          </a:prstGeom>
          <a:solidFill>
            <a:schemeClr val="accent1"/>
          </a:solidFill>
          <a:ln/>
        </p:spPr>
      </p:sp>
      <p:sp>
        <p:nvSpPr>
          <p:cNvPr id="6" name="Text 4"/>
          <p:cNvSpPr txBox="1"/>
          <p:nvPr/>
        </p:nvSpPr>
        <p:spPr>
          <a:xfrm>
            <a:off x="731520" y="173736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PREMIUM BUSINESS &amp; SALES TEMPLATE</a:t>
            </a:r>
            <a:endParaRPr lang="en-US" sz="950" dirty="0"/>
          </a:p>
        </p:txBody>
      </p:sp>
      <p:sp>
        <p:nvSpPr>
          <p:cNvPr id="7" name="Text 5"/>
          <p:cNvSpPr txBox="1"/>
          <p:nvPr/>
        </p:nvSpPr>
        <p:spPr>
          <a:xfrm>
            <a:off x="493776" y="2011680"/>
            <a:ext cx="6400800" cy="1554480"/>
          </a:xfrm>
          <a:prstGeom prst="rect">
            <a:avLst/>
          </a:prstGeom>
          <a:noFill/>
          <a:ln/>
        </p:spPr>
        <p:txBody>
          <a:bodyPr wrap="square" lIns="0" tIns="0" rIns="0" bIns="0" rtlCol="0" anchor="t"/>
          <a:lstStyle/>
          <a:p>
            <a:pPr algn="l" indent="0" marL="0">
              <a:buNone/>
            </a:pPr>
            <a:r>
              <a:rPr lang="en-US" sz="11000" dirty="0">
                <a:solidFill>
                  <a:schemeClr val="tx1"/>
                </a:solidFill>
                <a:latin typeface="Manrope ExtraBold" pitchFamily="34" charset="0"/>
                <a:ea typeface="Manrope ExtraBold" pitchFamily="34" charset="-122"/>
                <a:cs typeface="Manrope ExtraBold" pitchFamily="34" charset="-120"/>
              </a:rPr>
              <a:t>Vertex</a:t>
            </a:r>
            <a:pPr algn="l" indent="0" marL="0">
              <a:buNone/>
            </a:pPr>
            <a:r>
              <a:rPr lang="en-US" sz="11000" dirty="0">
                <a:solidFill>
                  <a:schemeClr val="accent6"/>
                </a:solidFill>
                <a:latin typeface="Manrope ExtraBold" pitchFamily="34" charset="0"/>
                <a:ea typeface="Manrope ExtraBold" pitchFamily="34" charset="-122"/>
                <a:cs typeface="Manrope ExtraBold" pitchFamily="34" charset="-120"/>
              </a:rPr>
              <a:t>.</a:t>
            </a:r>
            <a:endParaRPr lang="en-US" sz="11000" dirty="0"/>
          </a:p>
        </p:txBody>
      </p:sp>
      <p:sp>
        <p:nvSpPr>
          <p:cNvPr id="8" name="Text 6"/>
          <p:cNvSpPr txBox="1"/>
          <p:nvPr/>
        </p:nvSpPr>
        <p:spPr>
          <a:xfrm>
            <a:off x="548640" y="3657600"/>
            <a:ext cx="6217920" cy="914400"/>
          </a:xfrm>
          <a:prstGeom prst="rect">
            <a:avLst/>
          </a:prstGeom>
          <a:noFill/>
          <a:ln/>
        </p:spPr>
        <p:txBody>
          <a:bodyPr wrap="square" lIns="0" tIns="0" rIns="0" bIns="0" rtlCol="0" anchor="t"/>
          <a:lstStyle/>
          <a:p>
            <a:pPr algn="l" indent="0" marL="0">
              <a:lnSpc>
                <a:spcPct val="130000"/>
              </a:lnSpc>
              <a:buNone/>
            </a:pPr>
            <a:r>
              <a:rPr lang="en-US" sz="1500" dirty="0">
                <a:solidFill>
                  <a:schemeClr val="tx2"/>
                </a:solidFill>
                <a:latin typeface="Inter" pitchFamily="34" charset="0"/>
                <a:ea typeface="Inter" pitchFamily="34" charset="-122"/>
                <a:cs typeface="Inter" pitchFamily="34" charset="-120"/>
              </a:rPr>
              <a:t>A complete presentation system for sales, strategy, marketing and executive reporting — built on one grid, one palette and one type system.</a:t>
            </a:r>
            <a:endParaRPr lang="en-US" sz="1500" dirty="0"/>
          </a:p>
        </p:txBody>
      </p:sp>
      <p:sp>
        <p:nvSpPr>
          <p:cNvPr id="9" name="Text 7"/>
          <p:cNvSpPr txBox="1"/>
          <p:nvPr/>
        </p:nvSpPr>
        <p:spPr>
          <a:xfrm>
            <a:off x="5486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85+</a:t>
            </a:r>
            <a:endParaRPr lang="en-US" sz="2600" dirty="0"/>
          </a:p>
        </p:txBody>
      </p:sp>
      <p:sp>
        <p:nvSpPr>
          <p:cNvPr id="10" name="Text 8"/>
          <p:cNvSpPr txBox="1"/>
          <p:nvPr/>
        </p:nvSpPr>
        <p:spPr>
          <a:xfrm>
            <a:off x="5486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layouts</a:t>
            </a:r>
            <a:endParaRPr lang="en-US" sz="1050" dirty="0"/>
          </a:p>
        </p:txBody>
      </p:sp>
      <p:sp>
        <p:nvSpPr>
          <p:cNvPr id="11" name="Text 9"/>
          <p:cNvSpPr txBox="1"/>
          <p:nvPr/>
        </p:nvSpPr>
        <p:spPr>
          <a:xfrm>
            <a:off x="21488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35+</a:t>
            </a:r>
            <a:endParaRPr lang="en-US" sz="2600" dirty="0"/>
          </a:p>
        </p:txBody>
      </p:sp>
      <p:sp>
        <p:nvSpPr>
          <p:cNvPr id="12" name="Text 10"/>
          <p:cNvSpPr txBox="1"/>
          <p:nvPr/>
        </p:nvSpPr>
        <p:spPr>
          <a:xfrm>
            <a:off x="21488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native charts</a:t>
            </a:r>
            <a:endParaRPr lang="en-US" sz="1050" dirty="0"/>
          </a:p>
        </p:txBody>
      </p:sp>
      <p:sp>
        <p:nvSpPr>
          <p:cNvPr id="13" name="Text 11"/>
          <p:cNvSpPr txBox="1"/>
          <p:nvPr/>
        </p:nvSpPr>
        <p:spPr>
          <a:xfrm>
            <a:off x="37490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90</a:t>
            </a:r>
            <a:endParaRPr lang="en-US" sz="2600" dirty="0"/>
          </a:p>
        </p:txBody>
      </p:sp>
      <p:sp>
        <p:nvSpPr>
          <p:cNvPr id="14" name="Text 12"/>
          <p:cNvSpPr txBox="1"/>
          <p:nvPr/>
        </p:nvSpPr>
        <p:spPr>
          <a:xfrm>
            <a:off x="37490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vector icons</a:t>
            </a:r>
            <a:endParaRPr lang="en-US" sz="1050" dirty="0"/>
          </a:p>
        </p:txBody>
      </p:sp>
      <p:sp>
        <p:nvSpPr>
          <p:cNvPr id="15" name="Text 13"/>
          <p:cNvSpPr txBox="1"/>
          <p:nvPr/>
        </p:nvSpPr>
        <p:spPr>
          <a:xfrm>
            <a:off x="53492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100%</a:t>
            </a:r>
            <a:endParaRPr lang="en-US" sz="2600" dirty="0"/>
          </a:p>
        </p:txBody>
      </p:sp>
      <p:sp>
        <p:nvSpPr>
          <p:cNvPr id="16" name="Text 14"/>
          <p:cNvSpPr txBox="1"/>
          <p:nvPr/>
        </p:nvSpPr>
        <p:spPr>
          <a:xfrm>
            <a:off x="53492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editable</a:t>
            </a:r>
            <a:endParaRPr lang="en-US" sz="1050" dirty="0"/>
          </a:p>
        </p:txBody>
      </p:sp>
      <p:sp>
        <p:nvSpPr>
          <p:cNvPr id="17" name="Shape 15"/>
          <p:cNvSpPr/>
          <p:nvPr/>
        </p:nvSpPr>
        <p:spPr>
          <a:xfrm>
            <a:off x="7071055" y="1188720"/>
            <a:ext cx="1143000" cy="1143000"/>
          </a:xfrm>
          <a:prstGeom prst="rect">
            <a:avLst/>
          </a:prstGeom>
          <a:solidFill>
            <a:schemeClr val="tx1"/>
          </a:solidFill>
          <a:ln/>
        </p:spPr>
      </p:sp>
      <p:sp>
        <p:nvSpPr>
          <p:cNvPr id="18" name="Shape 16"/>
          <p:cNvSpPr/>
          <p:nvPr/>
        </p:nvSpPr>
        <p:spPr>
          <a:xfrm>
            <a:off x="7071055" y="1188720"/>
            <a:ext cx="2286000" cy="2286000"/>
          </a:xfrm>
          <a:prstGeom prst="pie">
            <a:avLst>
              <a:gd name="adj1" fmla="val 10800000"/>
              <a:gd name="adj2" fmla="val 16200000"/>
            </a:avLst>
          </a:prstGeom>
          <a:solidFill>
            <a:schemeClr val="accent1"/>
          </a:solidFill>
          <a:ln/>
        </p:spPr>
      </p:sp>
      <p:sp>
        <p:nvSpPr>
          <p:cNvPr id="19" name="Shape 17"/>
          <p:cNvSpPr/>
          <p:nvPr/>
        </p:nvSpPr>
        <p:spPr>
          <a:xfrm>
            <a:off x="8214055" y="1188720"/>
            <a:ext cx="1143000" cy="1143000"/>
          </a:xfrm>
          <a:prstGeom prst="rect">
            <a:avLst/>
          </a:prstGeom>
          <a:solidFill>
            <a:schemeClr val="bg1"/>
          </a:solidFill>
          <a:ln/>
        </p:spPr>
      </p:sp>
      <p:sp>
        <p:nvSpPr>
          <p:cNvPr id="20" name="Shape 18"/>
          <p:cNvSpPr/>
          <p:nvPr/>
        </p:nvSpPr>
        <p:spPr>
          <a:xfrm>
            <a:off x="8214055" y="1188720"/>
            <a:ext cx="1143000" cy="1143000"/>
          </a:xfrm>
          <a:prstGeom prst="ellipse">
            <a:avLst/>
          </a:prstGeom>
          <a:solidFill>
            <a:schemeClr val="tx1"/>
          </a:solidFill>
          <a:ln/>
        </p:spPr>
      </p:sp>
      <p:sp>
        <p:nvSpPr>
          <p:cNvPr id="21" name="Shape 19"/>
          <p:cNvSpPr/>
          <p:nvPr/>
        </p:nvSpPr>
        <p:spPr>
          <a:xfrm>
            <a:off x="9357055" y="1188720"/>
            <a:ext cx="1143000" cy="1143000"/>
          </a:xfrm>
          <a:prstGeom prst="rect">
            <a:avLst/>
          </a:prstGeom>
          <a:solidFill>
            <a:schemeClr val="tx1"/>
          </a:solidFill>
          <a:ln/>
        </p:spPr>
      </p:sp>
      <p:sp>
        <p:nvSpPr>
          <p:cNvPr id="22" name="Shape 20"/>
          <p:cNvSpPr/>
          <p:nvPr/>
        </p:nvSpPr>
        <p:spPr>
          <a:xfrm>
            <a:off x="9791395" y="1623060"/>
            <a:ext cx="274320" cy="274320"/>
          </a:xfrm>
          <a:prstGeom prst="ellipse">
            <a:avLst/>
          </a:prstGeom>
          <a:solidFill>
            <a:schemeClr val="accent1"/>
          </a:solidFill>
          <a:ln/>
        </p:spPr>
      </p:sp>
      <p:sp>
        <p:nvSpPr>
          <p:cNvPr id="23" name="Shape 21"/>
          <p:cNvSpPr/>
          <p:nvPr/>
        </p:nvSpPr>
        <p:spPr>
          <a:xfrm>
            <a:off x="10500055" y="1188720"/>
            <a:ext cx="1143000" cy="1143000"/>
          </a:xfrm>
          <a:prstGeom prst="rect">
            <a:avLst/>
          </a:prstGeom>
          <a:solidFill>
            <a:schemeClr val="accent1"/>
          </a:solidFill>
          <a:ln/>
        </p:spPr>
      </p:sp>
      <p:sp>
        <p:nvSpPr>
          <p:cNvPr id="24" name="Shape 22"/>
          <p:cNvSpPr/>
          <p:nvPr/>
        </p:nvSpPr>
        <p:spPr>
          <a:xfrm>
            <a:off x="7071055" y="2331720"/>
            <a:ext cx="1143000" cy="1143000"/>
          </a:xfrm>
          <a:prstGeom prst="rect">
            <a:avLst/>
          </a:prstGeom>
          <a:solidFill>
            <a:schemeClr val="accent1"/>
          </a:solidFill>
          <a:ln/>
        </p:spPr>
      </p:sp>
      <p:sp>
        <p:nvSpPr>
          <p:cNvPr id="25" name="Shape 23"/>
          <p:cNvSpPr/>
          <p:nvPr/>
        </p:nvSpPr>
        <p:spPr>
          <a:xfrm>
            <a:off x="7642555" y="2331720"/>
            <a:ext cx="1143000" cy="1143000"/>
          </a:xfrm>
          <a:prstGeom prst="pie">
            <a:avLst>
              <a:gd name="adj1" fmla="val 5400000"/>
              <a:gd name="adj2" fmla="val 16200000"/>
            </a:avLst>
          </a:prstGeom>
          <a:solidFill>
            <a:schemeClr val="tx1"/>
          </a:solidFill>
          <a:ln/>
        </p:spPr>
      </p:sp>
      <p:sp>
        <p:nvSpPr>
          <p:cNvPr id="26" name="Shape 24"/>
          <p:cNvSpPr/>
          <p:nvPr/>
        </p:nvSpPr>
        <p:spPr>
          <a:xfrm>
            <a:off x="8214055" y="2331720"/>
            <a:ext cx="1143000" cy="1143000"/>
          </a:xfrm>
          <a:prstGeom prst="rect">
            <a:avLst/>
          </a:prstGeom>
          <a:solidFill>
            <a:schemeClr val="accent5"/>
          </a:solidFill>
          <a:ln/>
        </p:spPr>
      </p:sp>
      <p:sp>
        <p:nvSpPr>
          <p:cNvPr id="27" name="Shape 25"/>
          <p:cNvSpPr/>
          <p:nvPr/>
        </p:nvSpPr>
        <p:spPr>
          <a:xfrm>
            <a:off x="8282635" y="2400300"/>
            <a:ext cx="1005840" cy="1005840"/>
          </a:xfrm>
          <a:prstGeom prst="ellipse">
            <a:avLst/>
          </a:prstGeom>
          <a:ln w="19050">
            <a:solidFill>
              <a:schemeClr val="accent1"/>
            </a:solidFill>
            <a:prstDash val="solid"/>
          </a:ln>
        </p:spPr>
      </p:sp>
      <p:sp>
        <p:nvSpPr>
          <p:cNvPr id="28" name="Shape 26"/>
          <p:cNvSpPr/>
          <p:nvPr/>
        </p:nvSpPr>
        <p:spPr>
          <a:xfrm>
            <a:off x="9357055" y="2331720"/>
            <a:ext cx="1143000" cy="1143000"/>
          </a:xfrm>
          <a:prstGeom prst="rect">
            <a:avLst/>
          </a:prstGeom>
          <a:solidFill>
            <a:schemeClr val="bg1"/>
          </a:solidFill>
          <a:ln/>
        </p:spPr>
      </p:sp>
      <p:sp>
        <p:nvSpPr>
          <p:cNvPr id="29" name="Shape 27"/>
          <p:cNvSpPr/>
          <p:nvPr/>
        </p:nvSpPr>
        <p:spPr>
          <a:xfrm>
            <a:off x="8214055" y="1188720"/>
            <a:ext cx="2286000" cy="2286000"/>
          </a:xfrm>
          <a:prstGeom prst="pie">
            <a:avLst>
              <a:gd name="adj1" fmla="val 0"/>
              <a:gd name="adj2" fmla="val 5400000"/>
            </a:avLst>
          </a:prstGeom>
          <a:solidFill>
            <a:schemeClr val="tx1"/>
          </a:solidFill>
          <a:ln/>
        </p:spPr>
      </p:sp>
      <p:sp>
        <p:nvSpPr>
          <p:cNvPr id="30" name="Shape 28"/>
          <p:cNvSpPr/>
          <p:nvPr/>
        </p:nvSpPr>
        <p:spPr>
          <a:xfrm>
            <a:off x="10500055" y="2331720"/>
            <a:ext cx="1143000" cy="1143000"/>
          </a:xfrm>
          <a:prstGeom prst="rect">
            <a:avLst/>
          </a:prstGeom>
          <a:solidFill>
            <a:schemeClr val="tx1"/>
          </a:solidFill>
          <a:ln/>
        </p:spPr>
      </p:sp>
      <p:sp>
        <p:nvSpPr>
          <p:cNvPr id="31" name="Shape 29"/>
          <p:cNvSpPr/>
          <p:nvPr/>
        </p:nvSpPr>
        <p:spPr>
          <a:xfrm>
            <a:off x="7071055" y="3474720"/>
            <a:ext cx="1143000" cy="1143000"/>
          </a:xfrm>
          <a:prstGeom prst="rect">
            <a:avLst/>
          </a:prstGeom>
          <a:solidFill>
            <a:schemeClr val="tx1"/>
          </a:solidFill>
          <a:ln/>
        </p:spPr>
      </p:sp>
      <p:sp>
        <p:nvSpPr>
          <p:cNvPr id="32" name="Shape 30"/>
          <p:cNvSpPr/>
          <p:nvPr/>
        </p:nvSpPr>
        <p:spPr>
          <a:xfrm>
            <a:off x="7272223" y="3675888"/>
            <a:ext cx="54864" cy="54864"/>
          </a:xfrm>
          <a:prstGeom prst="ellipse">
            <a:avLst/>
          </a:prstGeom>
          <a:solidFill>
            <a:schemeClr val="accent1"/>
          </a:solidFill>
          <a:ln/>
        </p:spPr>
      </p:sp>
      <p:sp>
        <p:nvSpPr>
          <p:cNvPr id="33" name="Shape 31"/>
          <p:cNvSpPr/>
          <p:nvPr/>
        </p:nvSpPr>
        <p:spPr>
          <a:xfrm>
            <a:off x="7272223" y="4018788"/>
            <a:ext cx="54864" cy="54864"/>
          </a:xfrm>
          <a:prstGeom prst="ellipse">
            <a:avLst/>
          </a:prstGeom>
          <a:solidFill>
            <a:schemeClr val="accent1"/>
          </a:solidFill>
          <a:ln/>
        </p:spPr>
      </p:sp>
      <p:sp>
        <p:nvSpPr>
          <p:cNvPr id="34" name="Shape 32"/>
          <p:cNvSpPr/>
          <p:nvPr/>
        </p:nvSpPr>
        <p:spPr>
          <a:xfrm>
            <a:off x="7272223" y="4361688"/>
            <a:ext cx="54864" cy="54864"/>
          </a:xfrm>
          <a:prstGeom prst="ellipse">
            <a:avLst/>
          </a:prstGeom>
          <a:solidFill>
            <a:schemeClr val="accent1"/>
          </a:solidFill>
          <a:ln/>
        </p:spPr>
      </p:sp>
      <p:sp>
        <p:nvSpPr>
          <p:cNvPr id="35" name="Shape 33"/>
          <p:cNvSpPr/>
          <p:nvPr/>
        </p:nvSpPr>
        <p:spPr>
          <a:xfrm>
            <a:off x="7615123" y="3675888"/>
            <a:ext cx="54864" cy="54864"/>
          </a:xfrm>
          <a:prstGeom prst="ellipse">
            <a:avLst/>
          </a:prstGeom>
          <a:solidFill>
            <a:schemeClr val="accent1"/>
          </a:solidFill>
          <a:ln/>
        </p:spPr>
      </p:sp>
      <p:sp>
        <p:nvSpPr>
          <p:cNvPr id="36" name="Shape 34"/>
          <p:cNvSpPr/>
          <p:nvPr/>
        </p:nvSpPr>
        <p:spPr>
          <a:xfrm>
            <a:off x="7615123" y="4018788"/>
            <a:ext cx="54864" cy="54864"/>
          </a:xfrm>
          <a:prstGeom prst="ellipse">
            <a:avLst/>
          </a:prstGeom>
          <a:solidFill>
            <a:schemeClr val="accent1"/>
          </a:solidFill>
          <a:ln/>
        </p:spPr>
      </p:sp>
      <p:sp>
        <p:nvSpPr>
          <p:cNvPr id="37" name="Shape 35"/>
          <p:cNvSpPr/>
          <p:nvPr/>
        </p:nvSpPr>
        <p:spPr>
          <a:xfrm>
            <a:off x="7615123" y="4361688"/>
            <a:ext cx="54864" cy="54864"/>
          </a:xfrm>
          <a:prstGeom prst="ellipse">
            <a:avLst/>
          </a:prstGeom>
          <a:solidFill>
            <a:schemeClr val="accent1"/>
          </a:solidFill>
          <a:ln/>
        </p:spPr>
      </p:sp>
      <p:sp>
        <p:nvSpPr>
          <p:cNvPr id="38" name="Shape 36"/>
          <p:cNvSpPr/>
          <p:nvPr/>
        </p:nvSpPr>
        <p:spPr>
          <a:xfrm>
            <a:off x="7958023" y="3675888"/>
            <a:ext cx="54864" cy="54864"/>
          </a:xfrm>
          <a:prstGeom prst="ellipse">
            <a:avLst/>
          </a:prstGeom>
          <a:solidFill>
            <a:schemeClr val="accent1"/>
          </a:solidFill>
          <a:ln/>
        </p:spPr>
      </p:sp>
      <p:sp>
        <p:nvSpPr>
          <p:cNvPr id="39" name="Shape 37"/>
          <p:cNvSpPr/>
          <p:nvPr/>
        </p:nvSpPr>
        <p:spPr>
          <a:xfrm>
            <a:off x="7958023" y="4018788"/>
            <a:ext cx="54864" cy="54864"/>
          </a:xfrm>
          <a:prstGeom prst="ellipse">
            <a:avLst/>
          </a:prstGeom>
          <a:solidFill>
            <a:schemeClr val="accent1"/>
          </a:solidFill>
          <a:ln/>
        </p:spPr>
      </p:sp>
      <p:sp>
        <p:nvSpPr>
          <p:cNvPr id="40" name="Shape 38"/>
          <p:cNvSpPr/>
          <p:nvPr/>
        </p:nvSpPr>
        <p:spPr>
          <a:xfrm>
            <a:off x="7958023" y="4361688"/>
            <a:ext cx="54864" cy="54864"/>
          </a:xfrm>
          <a:prstGeom prst="ellipse">
            <a:avLst/>
          </a:prstGeom>
          <a:solidFill>
            <a:schemeClr val="accent1"/>
          </a:solidFill>
          <a:ln/>
        </p:spPr>
      </p:sp>
      <p:sp>
        <p:nvSpPr>
          <p:cNvPr id="41" name="Shape 39"/>
          <p:cNvSpPr/>
          <p:nvPr/>
        </p:nvSpPr>
        <p:spPr>
          <a:xfrm>
            <a:off x="8214055" y="3474720"/>
            <a:ext cx="1143000" cy="1143000"/>
          </a:xfrm>
          <a:prstGeom prst="rect">
            <a:avLst/>
          </a:prstGeom>
          <a:solidFill>
            <a:schemeClr val="bg1"/>
          </a:solidFill>
          <a:ln/>
        </p:spPr>
      </p:sp>
      <p:sp>
        <p:nvSpPr>
          <p:cNvPr id="42" name="Shape 40"/>
          <p:cNvSpPr/>
          <p:nvPr/>
        </p:nvSpPr>
        <p:spPr>
          <a:xfrm>
            <a:off x="8214055" y="4046220"/>
            <a:ext cx="1143000" cy="1143000"/>
          </a:xfrm>
          <a:prstGeom prst="pie">
            <a:avLst>
              <a:gd name="adj1" fmla="val 10800000"/>
              <a:gd name="adj2" fmla="val 21600000"/>
            </a:avLst>
          </a:prstGeom>
          <a:solidFill>
            <a:schemeClr val="accent1"/>
          </a:solidFill>
          <a:ln/>
        </p:spPr>
      </p:sp>
      <p:sp>
        <p:nvSpPr>
          <p:cNvPr id="43" name="Shape 41"/>
          <p:cNvSpPr/>
          <p:nvPr/>
        </p:nvSpPr>
        <p:spPr>
          <a:xfrm>
            <a:off x="9357055" y="3474720"/>
            <a:ext cx="1143000" cy="1143000"/>
          </a:xfrm>
          <a:prstGeom prst="rect">
            <a:avLst/>
          </a:prstGeom>
          <a:solidFill>
            <a:schemeClr val="tx1"/>
          </a:solidFill>
          <a:ln/>
        </p:spPr>
      </p:sp>
      <p:sp>
        <p:nvSpPr>
          <p:cNvPr id="44" name="Shape 42"/>
          <p:cNvSpPr/>
          <p:nvPr/>
        </p:nvSpPr>
        <p:spPr>
          <a:xfrm>
            <a:off x="9357055" y="2331720"/>
            <a:ext cx="2286000" cy="2286000"/>
          </a:xfrm>
          <a:prstGeom prst="pie">
            <a:avLst>
              <a:gd name="adj1" fmla="val 5400000"/>
              <a:gd name="adj2" fmla="val 10800000"/>
            </a:avLst>
          </a:prstGeom>
          <a:solidFill>
            <a:schemeClr val="accent1"/>
          </a:solidFill>
          <a:ln/>
        </p:spPr>
      </p:sp>
      <p:sp>
        <p:nvSpPr>
          <p:cNvPr id="45" name="Shape 43"/>
          <p:cNvSpPr/>
          <p:nvPr/>
        </p:nvSpPr>
        <p:spPr>
          <a:xfrm>
            <a:off x="10500055" y="3474720"/>
            <a:ext cx="1143000" cy="1143000"/>
          </a:xfrm>
          <a:prstGeom prst="rect">
            <a:avLst/>
          </a:prstGeom>
          <a:solidFill>
            <a:schemeClr val="bg1"/>
          </a:solidFill>
          <a:ln/>
        </p:spPr>
      </p:sp>
      <p:sp>
        <p:nvSpPr>
          <p:cNvPr id="46" name="Shape 44"/>
          <p:cNvSpPr/>
          <p:nvPr/>
        </p:nvSpPr>
        <p:spPr>
          <a:xfrm>
            <a:off x="10500055" y="3474720"/>
            <a:ext cx="1143000" cy="1143000"/>
          </a:xfrm>
          <a:prstGeom prst="ellipse">
            <a:avLst/>
          </a:prstGeom>
          <a:solidFill>
            <a:schemeClr val="tx1"/>
          </a:solidFill>
          <a:ln/>
        </p:spPr>
      </p:sp>
      <p:sp>
        <p:nvSpPr>
          <p:cNvPr id="47" name="Shape 45"/>
          <p:cNvSpPr/>
          <p:nvPr/>
        </p:nvSpPr>
        <p:spPr>
          <a:xfrm>
            <a:off x="7071055" y="4617720"/>
            <a:ext cx="1143000" cy="1143000"/>
          </a:xfrm>
          <a:prstGeom prst="rect">
            <a:avLst/>
          </a:prstGeom>
          <a:solidFill>
            <a:schemeClr val="bg1"/>
          </a:solidFill>
          <a:ln/>
        </p:spPr>
      </p:sp>
      <p:sp>
        <p:nvSpPr>
          <p:cNvPr id="48" name="Shape 46"/>
          <p:cNvSpPr/>
          <p:nvPr/>
        </p:nvSpPr>
        <p:spPr>
          <a:xfrm>
            <a:off x="8214055" y="4617720"/>
            <a:ext cx="1143000" cy="1143000"/>
          </a:xfrm>
          <a:prstGeom prst="rect">
            <a:avLst/>
          </a:prstGeom>
          <a:solidFill>
            <a:schemeClr val="tx1"/>
          </a:solidFill>
          <a:ln/>
        </p:spPr>
      </p:sp>
      <p:sp>
        <p:nvSpPr>
          <p:cNvPr id="49" name="Shape 47"/>
          <p:cNvSpPr/>
          <p:nvPr/>
        </p:nvSpPr>
        <p:spPr>
          <a:xfrm>
            <a:off x="7071055" y="4617720"/>
            <a:ext cx="2286000" cy="2286000"/>
          </a:xfrm>
          <a:prstGeom prst="pie">
            <a:avLst>
              <a:gd name="adj1" fmla="val 16200000"/>
              <a:gd name="adj2" fmla="val 21600000"/>
            </a:avLst>
          </a:prstGeom>
          <a:solidFill>
            <a:schemeClr val="bg1"/>
          </a:solidFill>
          <a:ln/>
        </p:spPr>
      </p:sp>
      <p:sp>
        <p:nvSpPr>
          <p:cNvPr id="50" name="Shape 48"/>
          <p:cNvSpPr/>
          <p:nvPr/>
        </p:nvSpPr>
        <p:spPr>
          <a:xfrm>
            <a:off x="9357055" y="4617720"/>
            <a:ext cx="1143000" cy="1143000"/>
          </a:xfrm>
          <a:prstGeom prst="rect">
            <a:avLst/>
          </a:prstGeom>
          <a:solidFill>
            <a:schemeClr val="accent1"/>
          </a:solidFill>
          <a:ln/>
        </p:spPr>
      </p:sp>
      <p:sp>
        <p:nvSpPr>
          <p:cNvPr id="51" name="Shape 49"/>
          <p:cNvSpPr/>
          <p:nvPr/>
        </p:nvSpPr>
        <p:spPr>
          <a:xfrm>
            <a:off x="10500055" y="4617720"/>
            <a:ext cx="1143000" cy="1143000"/>
          </a:xfrm>
          <a:prstGeom prst="rect">
            <a:avLst/>
          </a:prstGeom>
          <a:solidFill>
            <a:schemeClr val="accent5"/>
          </a:solidFill>
          <a:ln/>
        </p:spPr>
      </p:sp>
      <p:sp>
        <p:nvSpPr>
          <p:cNvPr id="52" name="Shape 50"/>
          <p:cNvSpPr/>
          <p:nvPr/>
        </p:nvSpPr>
        <p:spPr>
          <a:xfrm>
            <a:off x="10934395" y="5052060"/>
            <a:ext cx="274320" cy="274320"/>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to use this template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Six steps from download to finished deck. Everything is native PowerPoint — no plug-ins required.</a:t>
            </a:r>
            <a:endParaRPr lang="en-US" sz="1150" dirty="0"/>
          </a:p>
        </p:txBody>
      </p:sp>
      <p:sp>
        <p:nvSpPr>
          <p:cNvPr id="6" name="Shape 4"/>
          <p:cNvSpPr/>
          <p:nvPr/>
        </p:nvSpPr>
        <p:spPr>
          <a:xfrm>
            <a:off x="548640" y="1920240"/>
            <a:ext cx="3545738" cy="1920240"/>
          </a:xfrm>
          <a:prstGeom prst="roundRect">
            <a:avLst>
              <a:gd name="adj" fmla="val 4762"/>
            </a:avLst>
          </a:prstGeom>
          <a:solidFill>
            <a:schemeClr val="tx1"/>
          </a:solidFill>
          <a:ln/>
        </p:spPr>
      </p:sp>
      <p:sp>
        <p:nvSpPr>
          <p:cNvPr id="7" name="Shape 5"/>
          <p:cNvSpPr/>
          <p:nvPr/>
        </p:nvSpPr>
        <p:spPr>
          <a:xfrm>
            <a:off x="822960" y="2194560"/>
            <a:ext cx="475488" cy="475488"/>
          </a:xfrm>
          <a:prstGeom prst="ellipse">
            <a:avLst/>
          </a:prstGeom>
          <a:solidFill>
            <a:schemeClr val="accent1"/>
          </a:solidFill>
          <a:ln/>
        </p:spPr>
      </p:sp>
      <p:pic>
        <p:nvPicPr>
          <p:cNvPr id="8" name="Icon PiTextAa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937077" y="2308677"/>
            <a:ext cx="247254" cy="247254"/>
          </a:xfrm>
          <a:prstGeom prst="rect">
            <a:avLst/>
          </a:prstGeom>
        </p:spPr>
      </p:pic>
      <p:sp>
        <p:nvSpPr>
          <p:cNvPr id="9" name="Text 6"/>
          <p:cNvSpPr txBox="1"/>
          <p:nvPr/>
        </p:nvSpPr>
        <p:spPr>
          <a:xfrm>
            <a:off x="2905658" y="2304288"/>
            <a:ext cx="914400" cy="228600"/>
          </a:xfrm>
          <a:prstGeom prst="rect">
            <a:avLst/>
          </a:prstGeom>
          <a:noFill/>
          <a:ln/>
        </p:spPr>
        <p:txBody>
          <a:bodyPr wrap="square" lIns="0" tIns="0" rIns="0" bIns="0" rtlCol="0" anchor="t"/>
          <a:lstStyle/>
          <a:p>
            <a:pPr algn="r" indent="0" marL="0">
              <a:buNone/>
            </a:pPr>
            <a:r>
              <a:rPr lang="en-US" sz="900" spc="150" kern="0" dirty="0">
                <a:solidFill>
                  <a:schemeClr val="accent4"/>
                </a:solidFill>
                <a:latin typeface="Inter Medium" pitchFamily="34" charset="0"/>
                <a:ea typeface="Inter Medium" pitchFamily="34" charset="-122"/>
                <a:cs typeface="Inter Medium" pitchFamily="34" charset="-120"/>
              </a:rPr>
              <a:t>STEP 1</a:t>
            </a:r>
            <a:endParaRPr lang="en-US" sz="900" dirty="0"/>
          </a:p>
        </p:txBody>
      </p:sp>
      <p:sp>
        <p:nvSpPr>
          <p:cNvPr id="10" name="Text 7"/>
          <p:cNvSpPr txBox="1"/>
          <p:nvPr/>
        </p:nvSpPr>
        <p:spPr>
          <a:xfrm>
            <a:off x="822960" y="2834640"/>
            <a:ext cx="2997098"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Install the fonts</a:t>
            </a:r>
            <a:endParaRPr lang="en-US" sz="1400" dirty="0"/>
          </a:p>
        </p:txBody>
      </p:sp>
      <p:sp>
        <p:nvSpPr>
          <p:cNvPr id="11" name="Text 8"/>
          <p:cNvSpPr txBox="1"/>
          <p:nvPr/>
        </p:nvSpPr>
        <p:spPr>
          <a:xfrm>
            <a:off x="822960" y="313639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4"/>
                </a:solidFill>
                <a:latin typeface="Inter" pitchFamily="34" charset="0"/>
                <a:ea typeface="Inter" pitchFamily="34" charset="-122"/>
                <a:cs typeface="Inter" pitchFamily="34" charset="-120"/>
              </a:rPr>
              <a:t>Install Manrope and Inter (free, SIL Open Font License) from Google Fonts before editing.</a:t>
            </a:r>
            <a:endParaRPr lang="en-US" sz="1050" dirty="0"/>
          </a:p>
        </p:txBody>
      </p:sp>
      <p:sp>
        <p:nvSpPr>
          <p:cNvPr id="12" name="Shape 9"/>
          <p:cNvSpPr/>
          <p:nvPr/>
        </p:nvSpPr>
        <p:spPr>
          <a:xfrm>
            <a:off x="4322978" y="1920240"/>
            <a:ext cx="3545738" cy="1920240"/>
          </a:xfrm>
          <a:prstGeom prst="roundRect">
            <a:avLst>
              <a:gd name="adj" fmla="val 4762"/>
            </a:avLst>
          </a:prstGeom>
          <a:solidFill>
            <a:schemeClr val="bg2"/>
          </a:solidFill>
          <a:ln/>
        </p:spPr>
      </p:sp>
      <p:sp>
        <p:nvSpPr>
          <p:cNvPr id="13" name="Shape 10"/>
          <p:cNvSpPr/>
          <p:nvPr/>
        </p:nvSpPr>
        <p:spPr>
          <a:xfrm>
            <a:off x="4597298" y="2194560"/>
            <a:ext cx="475488" cy="475488"/>
          </a:xfrm>
          <a:prstGeom prst="ellipse">
            <a:avLst/>
          </a:prstGeom>
          <a:solidFill>
            <a:schemeClr val="bg1"/>
          </a:solidFill>
          <a:ln/>
        </p:spPr>
      </p:sp>
      <p:pic>
        <p:nvPicPr>
          <p:cNvPr id="14" name="Icon PiSquaresFour 0A1628"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4711416" y="2308677"/>
            <a:ext cx="247254" cy="247254"/>
          </a:xfrm>
          <a:prstGeom prst="rect">
            <a:avLst/>
          </a:prstGeom>
        </p:spPr>
      </p:pic>
      <p:sp>
        <p:nvSpPr>
          <p:cNvPr id="15" name="Text 11"/>
          <p:cNvSpPr txBox="1"/>
          <p:nvPr/>
        </p:nvSpPr>
        <p:spPr>
          <a:xfrm>
            <a:off x="6679997" y="230428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2</a:t>
            </a:r>
            <a:endParaRPr lang="en-US" sz="900" dirty="0"/>
          </a:p>
        </p:txBody>
      </p:sp>
      <p:sp>
        <p:nvSpPr>
          <p:cNvPr id="16" name="Text 12"/>
          <p:cNvSpPr txBox="1"/>
          <p:nvPr/>
        </p:nvSpPr>
        <p:spPr>
          <a:xfrm>
            <a:off x="4597298"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Pick a layout</a:t>
            </a:r>
            <a:endParaRPr lang="en-US" sz="1400" dirty="0"/>
          </a:p>
        </p:txBody>
      </p:sp>
      <p:sp>
        <p:nvSpPr>
          <p:cNvPr id="17" name="Text 13"/>
          <p:cNvSpPr txBox="1"/>
          <p:nvPr/>
        </p:nvSpPr>
        <p:spPr>
          <a:xfrm>
            <a:off x="4597298" y="313639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Duplicate a slide, or use Home › New Slide to start from a Vertex master layout.</a:t>
            </a:r>
            <a:endParaRPr lang="en-US" sz="1050" dirty="0"/>
          </a:p>
        </p:txBody>
      </p:sp>
      <p:sp>
        <p:nvSpPr>
          <p:cNvPr id="18" name="Shape 14"/>
          <p:cNvSpPr/>
          <p:nvPr/>
        </p:nvSpPr>
        <p:spPr>
          <a:xfrm>
            <a:off x="8097317" y="1920240"/>
            <a:ext cx="3545738" cy="1920240"/>
          </a:xfrm>
          <a:prstGeom prst="roundRect">
            <a:avLst>
              <a:gd name="adj" fmla="val 4762"/>
            </a:avLst>
          </a:prstGeom>
          <a:solidFill>
            <a:schemeClr val="bg2"/>
          </a:solidFill>
          <a:ln/>
        </p:spPr>
      </p:sp>
      <p:sp>
        <p:nvSpPr>
          <p:cNvPr id="19" name="Shape 15"/>
          <p:cNvSpPr/>
          <p:nvPr/>
        </p:nvSpPr>
        <p:spPr>
          <a:xfrm>
            <a:off x="8371637" y="2194560"/>
            <a:ext cx="475488" cy="475488"/>
          </a:xfrm>
          <a:prstGeom prst="ellipse">
            <a:avLst/>
          </a:prstGeom>
          <a:solidFill>
            <a:schemeClr val="bg1"/>
          </a:solidFill>
          <a:ln/>
        </p:spPr>
      </p:sp>
      <p:pic>
        <p:nvPicPr>
          <p:cNvPr id="20" name="Icon PiNotePencil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8485754" y="2308677"/>
            <a:ext cx="247254" cy="247254"/>
          </a:xfrm>
          <a:prstGeom prst="rect">
            <a:avLst/>
          </a:prstGeom>
        </p:spPr>
      </p:pic>
      <p:sp>
        <p:nvSpPr>
          <p:cNvPr id="21" name="Text 16"/>
          <p:cNvSpPr txBox="1"/>
          <p:nvPr/>
        </p:nvSpPr>
        <p:spPr>
          <a:xfrm>
            <a:off x="10454335" y="230428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3</a:t>
            </a:r>
            <a:endParaRPr lang="en-US" sz="900" dirty="0"/>
          </a:p>
        </p:txBody>
      </p:sp>
      <p:sp>
        <p:nvSpPr>
          <p:cNvPr id="22" name="Text 17"/>
          <p:cNvSpPr txBox="1"/>
          <p:nvPr/>
        </p:nvSpPr>
        <p:spPr>
          <a:xfrm>
            <a:off x="8371637"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Replace the content</a:t>
            </a:r>
            <a:endParaRPr lang="en-US" sz="1400" dirty="0"/>
          </a:p>
        </p:txBody>
      </p:sp>
      <p:sp>
        <p:nvSpPr>
          <p:cNvPr id="23" name="Text 18"/>
          <p:cNvSpPr txBox="1"/>
          <p:nvPr/>
        </p:nvSpPr>
        <p:spPr>
          <a:xfrm>
            <a:off x="8371637" y="313639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Click any text to type. Headlines should state the message, not the topic.</a:t>
            </a:r>
            <a:endParaRPr lang="en-US" sz="1050" dirty="0"/>
          </a:p>
        </p:txBody>
      </p:sp>
      <p:sp>
        <p:nvSpPr>
          <p:cNvPr id="24" name="Shape 19"/>
          <p:cNvSpPr/>
          <p:nvPr/>
        </p:nvSpPr>
        <p:spPr>
          <a:xfrm>
            <a:off x="548640" y="4069080"/>
            <a:ext cx="3545738" cy="1920240"/>
          </a:xfrm>
          <a:prstGeom prst="roundRect">
            <a:avLst>
              <a:gd name="adj" fmla="val 4762"/>
            </a:avLst>
          </a:prstGeom>
          <a:solidFill>
            <a:schemeClr val="bg2"/>
          </a:solidFill>
          <a:ln/>
        </p:spPr>
      </p:sp>
      <p:sp>
        <p:nvSpPr>
          <p:cNvPr id="25" name="Shape 20"/>
          <p:cNvSpPr/>
          <p:nvPr/>
        </p:nvSpPr>
        <p:spPr>
          <a:xfrm>
            <a:off x="822960" y="4343400"/>
            <a:ext cx="475488" cy="475488"/>
          </a:xfrm>
          <a:prstGeom prst="ellipse">
            <a:avLst/>
          </a:prstGeom>
          <a:solidFill>
            <a:schemeClr val="bg1"/>
          </a:solidFill>
          <a:ln/>
        </p:spPr>
      </p:sp>
      <p:pic>
        <p:nvPicPr>
          <p:cNvPr id="26" name="Icon PiPalette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937077" y="4457517"/>
            <a:ext cx="247254" cy="247254"/>
          </a:xfrm>
          <a:prstGeom prst="rect">
            <a:avLst/>
          </a:prstGeom>
        </p:spPr>
      </p:pic>
      <p:sp>
        <p:nvSpPr>
          <p:cNvPr id="27" name="Text 21"/>
          <p:cNvSpPr txBox="1"/>
          <p:nvPr/>
        </p:nvSpPr>
        <p:spPr>
          <a:xfrm>
            <a:off x="2905658" y="445312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4</a:t>
            </a:r>
            <a:endParaRPr lang="en-US" sz="900" dirty="0"/>
          </a:p>
        </p:txBody>
      </p:sp>
      <p:sp>
        <p:nvSpPr>
          <p:cNvPr id="28" name="Text 22"/>
          <p:cNvSpPr txBox="1"/>
          <p:nvPr/>
        </p:nvSpPr>
        <p:spPr>
          <a:xfrm>
            <a:off x="822960"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Change the colours</a:t>
            </a:r>
            <a:endParaRPr lang="en-US" sz="1400" dirty="0"/>
          </a:p>
        </p:txBody>
      </p:sp>
      <p:sp>
        <p:nvSpPr>
          <p:cNvPr id="29" name="Text 23"/>
          <p:cNvSpPr txBox="1"/>
          <p:nvPr/>
        </p:nvSpPr>
        <p:spPr>
          <a:xfrm>
            <a:off x="822960" y="528523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Design › Variants › Colors. Every shape and chart follows the Vertex theme.</a:t>
            </a:r>
            <a:endParaRPr lang="en-US" sz="1050" dirty="0"/>
          </a:p>
        </p:txBody>
      </p:sp>
      <p:sp>
        <p:nvSpPr>
          <p:cNvPr id="30" name="Shape 24"/>
          <p:cNvSpPr/>
          <p:nvPr/>
        </p:nvSpPr>
        <p:spPr>
          <a:xfrm>
            <a:off x="4322978" y="4069080"/>
            <a:ext cx="3545738" cy="1920240"/>
          </a:xfrm>
          <a:prstGeom prst="roundRect">
            <a:avLst>
              <a:gd name="adj" fmla="val 4762"/>
            </a:avLst>
          </a:prstGeom>
          <a:solidFill>
            <a:schemeClr val="bg2"/>
          </a:solidFill>
          <a:ln/>
        </p:spPr>
      </p:sp>
      <p:sp>
        <p:nvSpPr>
          <p:cNvPr id="31" name="Shape 25"/>
          <p:cNvSpPr/>
          <p:nvPr/>
        </p:nvSpPr>
        <p:spPr>
          <a:xfrm>
            <a:off x="4597298" y="4343400"/>
            <a:ext cx="475488" cy="475488"/>
          </a:xfrm>
          <a:prstGeom prst="ellipse">
            <a:avLst/>
          </a:prstGeom>
          <a:solidFill>
            <a:schemeClr val="bg1"/>
          </a:solidFill>
          <a:ln/>
        </p:spPr>
      </p:sp>
      <p:pic>
        <p:nvPicPr>
          <p:cNvPr id="32" name="Icon PiChartBar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4711416" y="4457517"/>
            <a:ext cx="247254" cy="247254"/>
          </a:xfrm>
          <a:prstGeom prst="rect">
            <a:avLst/>
          </a:prstGeom>
        </p:spPr>
      </p:pic>
      <p:sp>
        <p:nvSpPr>
          <p:cNvPr id="33" name="Text 26"/>
          <p:cNvSpPr txBox="1"/>
          <p:nvPr/>
        </p:nvSpPr>
        <p:spPr>
          <a:xfrm>
            <a:off x="6679997" y="445312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5</a:t>
            </a:r>
            <a:endParaRPr lang="en-US" sz="900" dirty="0"/>
          </a:p>
        </p:txBody>
      </p:sp>
      <p:sp>
        <p:nvSpPr>
          <p:cNvPr id="34" name="Text 27"/>
          <p:cNvSpPr txBox="1"/>
          <p:nvPr/>
        </p:nvSpPr>
        <p:spPr>
          <a:xfrm>
            <a:off x="4597298"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Edit the charts</a:t>
            </a:r>
            <a:endParaRPr lang="en-US" sz="1400" dirty="0"/>
          </a:p>
        </p:txBody>
      </p:sp>
      <p:sp>
        <p:nvSpPr>
          <p:cNvPr id="35" name="Text 28"/>
          <p:cNvSpPr txBox="1"/>
          <p:nvPr/>
        </p:nvSpPr>
        <p:spPr>
          <a:xfrm>
            <a:off x="4597298" y="528523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Right-click a chart › Edit Data. Charts are native and re-colour with the theme.</a:t>
            </a:r>
            <a:endParaRPr lang="en-US" sz="1050" dirty="0"/>
          </a:p>
        </p:txBody>
      </p:sp>
      <p:sp>
        <p:nvSpPr>
          <p:cNvPr id="36" name="Shape 29"/>
          <p:cNvSpPr/>
          <p:nvPr/>
        </p:nvSpPr>
        <p:spPr>
          <a:xfrm>
            <a:off x="8097317" y="4069080"/>
            <a:ext cx="3545738" cy="1920240"/>
          </a:xfrm>
          <a:prstGeom prst="roundRect">
            <a:avLst>
              <a:gd name="adj" fmla="val 4762"/>
            </a:avLst>
          </a:prstGeom>
          <a:solidFill>
            <a:schemeClr val="bg2"/>
          </a:solidFill>
          <a:ln/>
        </p:spPr>
      </p:sp>
      <p:sp>
        <p:nvSpPr>
          <p:cNvPr id="37" name="Shape 30"/>
          <p:cNvSpPr/>
          <p:nvPr/>
        </p:nvSpPr>
        <p:spPr>
          <a:xfrm>
            <a:off x="8371637" y="4343400"/>
            <a:ext cx="475488" cy="475488"/>
          </a:xfrm>
          <a:prstGeom prst="ellipse">
            <a:avLst/>
          </a:prstGeom>
          <a:solidFill>
            <a:schemeClr val="bg1"/>
          </a:solidFill>
          <a:ln/>
        </p:spPr>
      </p:sp>
      <p:pic>
        <p:nvPicPr>
          <p:cNvPr id="38" name="Icon PiSparkle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485754" y="4457517"/>
            <a:ext cx="247254" cy="247254"/>
          </a:xfrm>
          <a:prstGeom prst="rect">
            <a:avLst/>
          </a:prstGeom>
        </p:spPr>
      </p:pic>
      <p:sp>
        <p:nvSpPr>
          <p:cNvPr id="39" name="Text 31"/>
          <p:cNvSpPr txBox="1"/>
          <p:nvPr/>
        </p:nvSpPr>
        <p:spPr>
          <a:xfrm>
            <a:off x="10454335" y="445312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6</a:t>
            </a:r>
            <a:endParaRPr lang="en-US" sz="900" dirty="0"/>
          </a:p>
        </p:txBody>
      </p:sp>
      <p:sp>
        <p:nvSpPr>
          <p:cNvPr id="40" name="Text 32"/>
          <p:cNvSpPr txBox="1"/>
          <p:nvPr/>
        </p:nvSpPr>
        <p:spPr>
          <a:xfrm>
            <a:off x="8371637"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Swap the icons</a:t>
            </a:r>
            <a:endParaRPr lang="en-US" sz="1400" dirty="0"/>
          </a:p>
        </p:txBody>
      </p:sp>
      <p:sp>
        <p:nvSpPr>
          <p:cNvPr id="41" name="Text 33"/>
          <p:cNvSpPr txBox="1"/>
          <p:nvPr/>
        </p:nvSpPr>
        <p:spPr>
          <a:xfrm>
            <a:off x="8371637" y="528523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Icons are SVG. Use Graphics Format › Fill to recolour, or Convert to Shape.</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Template index: every layout, by section</a:t>
            </a:r>
            <a:endParaRPr lang="en-US" sz="2800" dirty="0"/>
          </a:p>
        </p:txBody>
      </p:sp>
      <p:sp>
        <p:nvSpPr>
          <p:cNvPr id="6" name="Shape 3"/>
          <p:cNvSpPr/>
          <p:nvPr/>
        </p:nvSpPr>
        <p:spPr>
          <a:xfrm>
            <a:off x="548640" y="1874520"/>
            <a:ext cx="3545738" cy="576072"/>
          </a:xfrm>
          <a:prstGeom prst="roundRect">
            <a:avLst>
              <a:gd name="adj" fmla="val 15873"/>
            </a:avLst>
          </a:prstGeom>
          <a:solidFill>
            <a:schemeClr val="tx1"/>
          </a:solidFill>
          <a:ln/>
        </p:spPr>
      </p:sp>
      <p:sp>
        <p:nvSpPr>
          <p:cNvPr id="7" name="Text 4"/>
          <p:cNvSpPr txBox="1"/>
          <p:nvPr/>
        </p:nvSpPr>
        <p:spPr>
          <a:xfrm>
            <a:off x="731520" y="1874520"/>
            <a:ext cx="548640" cy="576072"/>
          </a:xfrm>
          <a:prstGeom prst="rect">
            <a:avLst/>
          </a:prstGeom>
          <a:noFill/>
          <a:ln/>
        </p:spPr>
        <p:txBody>
          <a:bodyPr wrap="square" lIns="0" tIns="0" rIns="0" bIns="0" rtlCol="0" anchor="ctr"/>
          <a:lstStyle/>
          <a:p>
            <a:pPr algn="l" indent="0" marL="0">
              <a:buNone/>
            </a:pPr>
            <a:r>
              <a:rPr lang="en-US" sz="1500" dirty="0">
                <a:solidFill>
                  <a:schemeClr val="accent1"/>
                </a:solidFill>
                <a:latin typeface="Manrope ExtraBold" pitchFamily="34" charset="0"/>
                <a:ea typeface="Manrope ExtraBold" pitchFamily="34" charset="-122"/>
                <a:cs typeface="Manrope ExtraBold" pitchFamily="34" charset="-120"/>
              </a:rPr>
              <a:t>00</a:t>
            </a:r>
            <a:endParaRPr lang="en-US" sz="1500" dirty="0"/>
          </a:p>
        </p:txBody>
      </p:sp>
      <p:sp>
        <p:nvSpPr>
          <p:cNvPr id="8" name="Text 5"/>
          <p:cNvSpPr txBox="1"/>
          <p:nvPr/>
        </p:nvSpPr>
        <p:spPr>
          <a:xfrm>
            <a:off x="1280160" y="1965960"/>
            <a:ext cx="1991258" cy="237744"/>
          </a:xfrm>
          <a:prstGeom prst="rect">
            <a:avLst/>
          </a:prstGeom>
          <a:noFill/>
          <a:ln/>
        </p:spPr>
        <p:txBody>
          <a:bodyPr wrap="square" lIns="0" tIns="0" rIns="0" bIns="0" rtlCol="0" anchor="t"/>
          <a:lstStyle/>
          <a:p>
            <a:pPr algn="l" indent="0" marL="0">
              <a:buNone/>
            </a:pPr>
            <a:r>
              <a:rPr lang="en-US" sz="1150" b="1" dirty="0">
                <a:solidFill>
                  <a:schemeClr val="bg1"/>
                </a:solidFill>
                <a:latin typeface="Manrope" pitchFamily="34" charset="0"/>
                <a:ea typeface="Manrope" pitchFamily="34" charset="-122"/>
                <a:cs typeface="Manrope" pitchFamily="34" charset="-120"/>
              </a:rPr>
              <a:t>Template guide</a:t>
            </a:r>
            <a:endParaRPr lang="en-US" sz="1150" dirty="0"/>
          </a:p>
        </p:txBody>
      </p:sp>
      <p:sp>
        <p:nvSpPr>
          <p:cNvPr id="9" name="Text 6"/>
          <p:cNvSpPr txBox="1"/>
          <p:nvPr/>
        </p:nvSpPr>
        <p:spPr>
          <a:xfrm>
            <a:off x="1280160" y="2203704"/>
            <a:ext cx="1991258" cy="182880"/>
          </a:xfrm>
          <a:prstGeom prst="rect">
            <a:avLst/>
          </a:prstGeom>
          <a:noFill/>
          <a:ln/>
        </p:spPr>
        <p:txBody>
          <a:bodyPr wrap="square" lIns="0" tIns="0" rIns="0" bIns="0" rtlCol="0" anchor="t"/>
          <a:lstStyle/>
          <a:p>
            <a:pPr algn="l" indent="0" marL="0">
              <a:buNone/>
            </a:pPr>
            <a:r>
              <a:rPr lang="en-US" sz="850" dirty="0">
                <a:solidFill>
                  <a:schemeClr val="accent4"/>
                </a:solidFill>
                <a:latin typeface="Inter" pitchFamily="34" charset="0"/>
                <a:ea typeface="Inter" pitchFamily="34" charset="-122"/>
                <a:cs typeface="Inter" pitchFamily="34" charset="-120"/>
              </a:rPr>
              <a:t>Usage, palette, type, components</a:t>
            </a:r>
            <a:endParaRPr lang="en-US" sz="850" dirty="0"/>
          </a:p>
        </p:txBody>
      </p:sp>
      <p:sp>
        <p:nvSpPr>
          <p:cNvPr id="10" name="Text 7"/>
          <p:cNvSpPr txBox="1"/>
          <p:nvPr/>
        </p:nvSpPr>
        <p:spPr>
          <a:xfrm>
            <a:off x="3225698" y="1874520"/>
            <a:ext cx="685800" cy="576072"/>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1–10</a:t>
            </a:r>
            <a:endParaRPr lang="en-US" sz="1050" dirty="0"/>
          </a:p>
        </p:txBody>
      </p:sp>
      <p:sp>
        <p:nvSpPr>
          <p:cNvPr id="11" name="Shape 8"/>
          <p:cNvSpPr/>
          <p:nvPr/>
        </p:nvSpPr>
        <p:spPr>
          <a:xfrm>
            <a:off x="4322978" y="1874520"/>
            <a:ext cx="3545738" cy="576072"/>
          </a:xfrm>
          <a:prstGeom prst="roundRect">
            <a:avLst>
              <a:gd name="adj" fmla="val 15873"/>
            </a:avLst>
          </a:prstGeom>
          <a:solidFill>
            <a:schemeClr val="bg1"/>
          </a:solidFill>
          <a:ln/>
        </p:spPr>
      </p:sp>
      <p:sp>
        <p:nvSpPr>
          <p:cNvPr id="12" name="Text 9"/>
          <p:cNvSpPr txBox="1"/>
          <p:nvPr/>
        </p:nvSpPr>
        <p:spPr>
          <a:xfrm>
            <a:off x="4505858" y="1874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a:t>
            </a:r>
            <a:endParaRPr lang="en-US" sz="1500" dirty="0"/>
          </a:p>
        </p:txBody>
      </p:sp>
      <p:sp>
        <p:nvSpPr>
          <p:cNvPr id="13" name="Text 10"/>
          <p:cNvSpPr txBox="1"/>
          <p:nvPr/>
        </p:nvSpPr>
        <p:spPr>
          <a:xfrm>
            <a:off x="5054498" y="1965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Covers &amp; navigation</a:t>
            </a:r>
            <a:endParaRPr lang="en-US" sz="1150" dirty="0"/>
          </a:p>
        </p:txBody>
      </p:sp>
      <p:sp>
        <p:nvSpPr>
          <p:cNvPr id="14" name="Text 11"/>
          <p:cNvSpPr txBox="1"/>
          <p:nvPr/>
        </p:nvSpPr>
        <p:spPr>
          <a:xfrm>
            <a:off x="5054498" y="2203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Covers, agenda, dividers</a:t>
            </a:r>
            <a:endParaRPr lang="en-US" sz="850" dirty="0"/>
          </a:p>
        </p:txBody>
      </p:sp>
      <p:sp>
        <p:nvSpPr>
          <p:cNvPr id="15" name="Text 12"/>
          <p:cNvSpPr txBox="1"/>
          <p:nvPr/>
        </p:nvSpPr>
        <p:spPr>
          <a:xfrm>
            <a:off x="7000037" y="1874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11–19</a:t>
            </a:r>
            <a:endParaRPr lang="en-US" sz="1050" dirty="0"/>
          </a:p>
        </p:txBody>
      </p:sp>
      <p:sp>
        <p:nvSpPr>
          <p:cNvPr id="16" name="Shape 13"/>
          <p:cNvSpPr/>
          <p:nvPr/>
        </p:nvSpPr>
        <p:spPr>
          <a:xfrm>
            <a:off x="8097317" y="1874520"/>
            <a:ext cx="3545738" cy="576072"/>
          </a:xfrm>
          <a:prstGeom prst="roundRect">
            <a:avLst>
              <a:gd name="adj" fmla="val 15873"/>
            </a:avLst>
          </a:prstGeom>
          <a:solidFill>
            <a:schemeClr val="bg1"/>
          </a:solidFill>
          <a:ln/>
        </p:spPr>
      </p:sp>
      <p:sp>
        <p:nvSpPr>
          <p:cNvPr id="17" name="Text 14"/>
          <p:cNvSpPr txBox="1"/>
          <p:nvPr/>
        </p:nvSpPr>
        <p:spPr>
          <a:xfrm>
            <a:off x="8280197" y="1874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01</a:t>
            </a:r>
            <a:endParaRPr lang="en-US" sz="1500" dirty="0"/>
          </a:p>
        </p:txBody>
      </p:sp>
      <p:sp>
        <p:nvSpPr>
          <p:cNvPr id="18" name="Text 15"/>
          <p:cNvSpPr txBox="1"/>
          <p:nvPr/>
        </p:nvSpPr>
        <p:spPr>
          <a:xfrm>
            <a:off x="8828837" y="1965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Company</a:t>
            </a:r>
            <a:endParaRPr lang="en-US" sz="1150" dirty="0"/>
          </a:p>
        </p:txBody>
      </p:sp>
      <p:sp>
        <p:nvSpPr>
          <p:cNvPr id="19" name="Text 16"/>
          <p:cNvSpPr txBox="1"/>
          <p:nvPr/>
        </p:nvSpPr>
        <p:spPr>
          <a:xfrm>
            <a:off x="8828837" y="2203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Overview, timeline, model</a:t>
            </a:r>
            <a:endParaRPr lang="en-US" sz="850" dirty="0"/>
          </a:p>
        </p:txBody>
      </p:sp>
      <p:sp>
        <p:nvSpPr>
          <p:cNvPr id="20" name="Text 17"/>
          <p:cNvSpPr txBox="1"/>
          <p:nvPr/>
        </p:nvSpPr>
        <p:spPr>
          <a:xfrm>
            <a:off x="10774375" y="1874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20–26</a:t>
            </a:r>
            <a:endParaRPr lang="en-US" sz="1050" dirty="0"/>
          </a:p>
        </p:txBody>
      </p:sp>
      <p:sp>
        <p:nvSpPr>
          <p:cNvPr id="21" name="Shape 18"/>
          <p:cNvSpPr/>
          <p:nvPr/>
        </p:nvSpPr>
        <p:spPr>
          <a:xfrm>
            <a:off x="548640" y="2560320"/>
            <a:ext cx="3545738" cy="576072"/>
          </a:xfrm>
          <a:prstGeom prst="roundRect">
            <a:avLst>
              <a:gd name="adj" fmla="val 15873"/>
            </a:avLst>
          </a:prstGeom>
          <a:solidFill>
            <a:schemeClr val="bg1"/>
          </a:solidFill>
          <a:ln/>
        </p:spPr>
      </p:sp>
      <p:sp>
        <p:nvSpPr>
          <p:cNvPr id="22" name="Text 19"/>
          <p:cNvSpPr txBox="1"/>
          <p:nvPr/>
        </p:nvSpPr>
        <p:spPr>
          <a:xfrm>
            <a:off x="731520" y="25603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02</a:t>
            </a:r>
            <a:endParaRPr lang="en-US" sz="1500" dirty="0"/>
          </a:p>
        </p:txBody>
      </p:sp>
      <p:sp>
        <p:nvSpPr>
          <p:cNvPr id="23" name="Text 20"/>
          <p:cNvSpPr txBox="1"/>
          <p:nvPr/>
        </p:nvSpPr>
        <p:spPr>
          <a:xfrm>
            <a:off x="1280160" y="26517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Problem &amp; solution</a:t>
            </a:r>
            <a:endParaRPr lang="en-US" sz="1150" dirty="0"/>
          </a:p>
        </p:txBody>
      </p:sp>
      <p:sp>
        <p:nvSpPr>
          <p:cNvPr id="24" name="Text 21"/>
          <p:cNvSpPr txBox="1"/>
          <p:nvPr/>
        </p:nvSpPr>
        <p:spPr>
          <a:xfrm>
            <a:off x="1280160" y="28895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Pain points, solution, value</a:t>
            </a:r>
            <a:endParaRPr lang="en-US" sz="850" dirty="0"/>
          </a:p>
        </p:txBody>
      </p:sp>
      <p:sp>
        <p:nvSpPr>
          <p:cNvPr id="25" name="Text 22"/>
          <p:cNvSpPr txBox="1"/>
          <p:nvPr/>
        </p:nvSpPr>
        <p:spPr>
          <a:xfrm>
            <a:off x="3225698" y="25603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27–32</a:t>
            </a:r>
            <a:endParaRPr lang="en-US" sz="1050" dirty="0"/>
          </a:p>
        </p:txBody>
      </p:sp>
      <p:sp>
        <p:nvSpPr>
          <p:cNvPr id="26" name="Shape 23"/>
          <p:cNvSpPr/>
          <p:nvPr/>
        </p:nvSpPr>
        <p:spPr>
          <a:xfrm>
            <a:off x="4322978" y="2560320"/>
            <a:ext cx="3545738" cy="576072"/>
          </a:xfrm>
          <a:prstGeom prst="roundRect">
            <a:avLst>
              <a:gd name="adj" fmla="val 15873"/>
            </a:avLst>
          </a:prstGeom>
          <a:solidFill>
            <a:schemeClr val="bg1"/>
          </a:solidFill>
          <a:ln/>
        </p:spPr>
      </p:sp>
      <p:sp>
        <p:nvSpPr>
          <p:cNvPr id="27" name="Text 24"/>
          <p:cNvSpPr txBox="1"/>
          <p:nvPr/>
        </p:nvSpPr>
        <p:spPr>
          <a:xfrm>
            <a:off x="4505858" y="25603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03</a:t>
            </a:r>
            <a:endParaRPr lang="en-US" sz="1500" dirty="0"/>
          </a:p>
        </p:txBody>
      </p:sp>
      <p:sp>
        <p:nvSpPr>
          <p:cNvPr id="28" name="Text 25"/>
          <p:cNvSpPr txBox="1"/>
          <p:nvPr/>
        </p:nvSpPr>
        <p:spPr>
          <a:xfrm>
            <a:off x="5054498" y="26517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Product</a:t>
            </a:r>
            <a:endParaRPr lang="en-US" sz="1150" dirty="0"/>
          </a:p>
        </p:txBody>
      </p:sp>
      <p:sp>
        <p:nvSpPr>
          <p:cNvPr id="29" name="Text 26"/>
          <p:cNvSpPr txBox="1"/>
          <p:nvPr/>
        </p:nvSpPr>
        <p:spPr>
          <a:xfrm>
            <a:off x="5054498" y="28895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Features, architecture, roadmap</a:t>
            </a:r>
            <a:endParaRPr lang="en-US" sz="850" dirty="0"/>
          </a:p>
        </p:txBody>
      </p:sp>
      <p:sp>
        <p:nvSpPr>
          <p:cNvPr id="30" name="Text 27"/>
          <p:cNvSpPr txBox="1"/>
          <p:nvPr/>
        </p:nvSpPr>
        <p:spPr>
          <a:xfrm>
            <a:off x="7000037" y="25603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33–38</a:t>
            </a:r>
            <a:endParaRPr lang="en-US" sz="1050" dirty="0"/>
          </a:p>
        </p:txBody>
      </p:sp>
      <p:sp>
        <p:nvSpPr>
          <p:cNvPr id="31" name="Shape 28"/>
          <p:cNvSpPr/>
          <p:nvPr/>
        </p:nvSpPr>
        <p:spPr>
          <a:xfrm>
            <a:off x="8097317" y="2560320"/>
            <a:ext cx="3545738" cy="576072"/>
          </a:xfrm>
          <a:prstGeom prst="roundRect">
            <a:avLst>
              <a:gd name="adj" fmla="val 15873"/>
            </a:avLst>
          </a:prstGeom>
          <a:solidFill>
            <a:schemeClr val="bg1"/>
          </a:solidFill>
          <a:ln/>
        </p:spPr>
      </p:sp>
      <p:sp>
        <p:nvSpPr>
          <p:cNvPr id="32" name="Text 29"/>
          <p:cNvSpPr txBox="1"/>
          <p:nvPr/>
        </p:nvSpPr>
        <p:spPr>
          <a:xfrm>
            <a:off x="8280197" y="25603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04</a:t>
            </a:r>
            <a:endParaRPr lang="en-US" sz="1500" dirty="0"/>
          </a:p>
        </p:txBody>
      </p:sp>
      <p:sp>
        <p:nvSpPr>
          <p:cNvPr id="33" name="Text 30"/>
          <p:cNvSpPr txBox="1"/>
          <p:nvPr/>
        </p:nvSpPr>
        <p:spPr>
          <a:xfrm>
            <a:off x="8828837" y="26517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Market</a:t>
            </a:r>
            <a:endParaRPr lang="en-US" sz="1150" dirty="0"/>
          </a:p>
        </p:txBody>
      </p:sp>
      <p:sp>
        <p:nvSpPr>
          <p:cNvPr id="34" name="Text 31"/>
          <p:cNvSpPr txBox="1"/>
          <p:nvPr/>
        </p:nvSpPr>
        <p:spPr>
          <a:xfrm>
            <a:off x="8828837" y="28895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TAM/SAM/SOM, segments, trends</a:t>
            </a:r>
            <a:endParaRPr lang="en-US" sz="850" dirty="0"/>
          </a:p>
        </p:txBody>
      </p:sp>
      <p:sp>
        <p:nvSpPr>
          <p:cNvPr id="35" name="Text 32"/>
          <p:cNvSpPr txBox="1"/>
          <p:nvPr/>
        </p:nvSpPr>
        <p:spPr>
          <a:xfrm>
            <a:off x="10774375" y="25603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39–45</a:t>
            </a:r>
            <a:endParaRPr lang="en-US" sz="1050" dirty="0"/>
          </a:p>
        </p:txBody>
      </p:sp>
      <p:sp>
        <p:nvSpPr>
          <p:cNvPr id="36" name="Shape 33"/>
          <p:cNvSpPr/>
          <p:nvPr/>
        </p:nvSpPr>
        <p:spPr>
          <a:xfrm>
            <a:off x="548640" y="3246120"/>
            <a:ext cx="3545738" cy="576072"/>
          </a:xfrm>
          <a:prstGeom prst="roundRect">
            <a:avLst>
              <a:gd name="adj" fmla="val 15873"/>
            </a:avLst>
          </a:prstGeom>
          <a:solidFill>
            <a:schemeClr val="bg1"/>
          </a:solidFill>
          <a:ln/>
        </p:spPr>
      </p:sp>
      <p:sp>
        <p:nvSpPr>
          <p:cNvPr id="37" name="Text 34"/>
          <p:cNvSpPr txBox="1"/>
          <p:nvPr/>
        </p:nvSpPr>
        <p:spPr>
          <a:xfrm>
            <a:off x="731520" y="32461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05</a:t>
            </a:r>
            <a:endParaRPr lang="en-US" sz="1500" dirty="0"/>
          </a:p>
        </p:txBody>
      </p:sp>
      <p:sp>
        <p:nvSpPr>
          <p:cNvPr id="38" name="Text 35"/>
          <p:cNvSpPr txBox="1"/>
          <p:nvPr/>
        </p:nvSpPr>
        <p:spPr>
          <a:xfrm>
            <a:off x="1280160" y="33375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Competition</a:t>
            </a:r>
            <a:endParaRPr lang="en-US" sz="1150" dirty="0"/>
          </a:p>
        </p:txBody>
      </p:sp>
      <p:sp>
        <p:nvSpPr>
          <p:cNvPr id="39" name="Text 36"/>
          <p:cNvSpPr txBox="1"/>
          <p:nvPr/>
        </p:nvSpPr>
        <p:spPr>
          <a:xfrm>
            <a:off x="1280160" y="35753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Matrix, head-to-head, radar</a:t>
            </a:r>
            <a:endParaRPr lang="en-US" sz="850" dirty="0"/>
          </a:p>
        </p:txBody>
      </p:sp>
      <p:sp>
        <p:nvSpPr>
          <p:cNvPr id="40" name="Text 37"/>
          <p:cNvSpPr txBox="1"/>
          <p:nvPr/>
        </p:nvSpPr>
        <p:spPr>
          <a:xfrm>
            <a:off x="3225698" y="32461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46–48</a:t>
            </a:r>
            <a:endParaRPr lang="en-US" sz="1050" dirty="0"/>
          </a:p>
        </p:txBody>
      </p:sp>
      <p:sp>
        <p:nvSpPr>
          <p:cNvPr id="41" name="Shape 38"/>
          <p:cNvSpPr/>
          <p:nvPr/>
        </p:nvSpPr>
        <p:spPr>
          <a:xfrm>
            <a:off x="4322978" y="3246120"/>
            <a:ext cx="3545738" cy="576072"/>
          </a:xfrm>
          <a:prstGeom prst="roundRect">
            <a:avLst>
              <a:gd name="adj" fmla="val 15873"/>
            </a:avLst>
          </a:prstGeom>
          <a:solidFill>
            <a:schemeClr val="bg1"/>
          </a:solidFill>
          <a:ln/>
        </p:spPr>
      </p:sp>
      <p:sp>
        <p:nvSpPr>
          <p:cNvPr id="42" name="Text 39"/>
          <p:cNvSpPr txBox="1"/>
          <p:nvPr/>
        </p:nvSpPr>
        <p:spPr>
          <a:xfrm>
            <a:off x="4505858" y="32461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06</a:t>
            </a:r>
            <a:endParaRPr lang="en-US" sz="1500" dirty="0"/>
          </a:p>
        </p:txBody>
      </p:sp>
      <p:sp>
        <p:nvSpPr>
          <p:cNvPr id="43" name="Text 40"/>
          <p:cNvSpPr txBox="1"/>
          <p:nvPr/>
        </p:nvSpPr>
        <p:spPr>
          <a:xfrm>
            <a:off x="5054498" y="33375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Sales</a:t>
            </a:r>
            <a:endParaRPr lang="en-US" sz="1150" dirty="0"/>
          </a:p>
        </p:txBody>
      </p:sp>
      <p:sp>
        <p:nvSpPr>
          <p:cNvPr id="44" name="Text 41"/>
          <p:cNvSpPr txBox="1"/>
          <p:nvPr/>
        </p:nvSpPr>
        <p:spPr>
          <a:xfrm>
            <a:off x="5054498" y="35753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Funnel, pipeline, channels</a:t>
            </a:r>
            <a:endParaRPr lang="en-US" sz="850" dirty="0"/>
          </a:p>
        </p:txBody>
      </p:sp>
      <p:sp>
        <p:nvSpPr>
          <p:cNvPr id="45" name="Text 42"/>
          <p:cNvSpPr txBox="1"/>
          <p:nvPr/>
        </p:nvSpPr>
        <p:spPr>
          <a:xfrm>
            <a:off x="7000037" y="32461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49–56</a:t>
            </a:r>
            <a:endParaRPr lang="en-US" sz="1050" dirty="0"/>
          </a:p>
        </p:txBody>
      </p:sp>
      <p:sp>
        <p:nvSpPr>
          <p:cNvPr id="46" name="Shape 43"/>
          <p:cNvSpPr/>
          <p:nvPr/>
        </p:nvSpPr>
        <p:spPr>
          <a:xfrm>
            <a:off x="8097317" y="3246120"/>
            <a:ext cx="3545738" cy="576072"/>
          </a:xfrm>
          <a:prstGeom prst="roundRect">
            <a:avLst>
              <a:gd name="adj" fmla="val 15873"/>
            </a:avLst>
          </a:prstGeom>
          <a:solidFill>
            <a:schemeClr val="bg1"/>
          </a:solidFill>
          <a:ln/>
        </p:spPr>
      </p:sp>
      <p:sp>
        <p:nvSpPr>
          <p:cNvPr id="47" name="Text 44"/>
          <p:cNvSpPr txBox="1"/>
          <p:nvPr/>
        </p:nvSpPr>
        <p:spPr>
          <a:xfrm>
            <a:off x="8280197" y="32461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07</a:t>
            </a:r>
            <a:endParaRPr lang="en-US" sz="1500" dirty="0"/>
          </a:p>
        </p:txBody>
      </p:sp>
      <p:sp>
        <p:nvSpPr>
          <p:cNvPr id="48" name="Text 45"/>
          <p:cNvSpPr txBox="1"/>
          <p:nvPr/>
        </p:nvSpPr>
        <p:spPr>
          <a:xfrm>
            <a:off x="8828837" y="33375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Marketing</a:t>
            </a:r>
            <a:endParaRPr lang="en-US" sz="1150" dirty="0"/>
          </a:p>
        </p:txBody>
      </p:sp>
      <p:sp>
        <p:nvSpPr>
          <p:cNvPr id="49" name="Text 46"/>
          <p:cNvSpPr txBox="1"/>
          <p:nvPr/>
        </p:nvSpPr>
        <p:spPr>
          <a:xfrm>
            <a:off x="8828837" y="35753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Campaign, mix, journey</a:t>
            </a:r>
            <a:endParaRPr lang="en-US" sz="850" dirty="0"/>
          </a:p>
        </p:txBody>
      </p:sp>
      <p:sp>
        <p:nvSpPr>
          <p:cNvPr id="50" name="Text 47"/>
          <p:cNvSpPr txBox="1"/>
          <p:nvPr/>
        </p:nvSpPr>
        <p:spPr>
          <a:xfrm>
            <a:off x="10774375" y="32461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57–62</a:t>
            </a:r>
            <a:endParaRPr lang="en-US" sz="1050" dirty="0"/>
          </a:p>
        </p:txBody>
      </p:sp>
      <p:sp>
        <p:nvSpPr>
          <p:cNvPr id="51" name="Shape 48"/>
          <p:cNvSpPr/>
          <p:nvPr/>
        </p:nvSpPr>
        <p:spPr>
          <a:xfrm>
            <a:off x="548640" y="3931920"/>
            <a:ext cx="3545738" cy="576072"/>
          </a:xfrm>
          <a:prstGeom prst="roundRect">
            <a:avLst>
              <a:gd name="adj" fmla="val 15873"/>
            </a:avLst>
          </a:prstGeom>
          <a:solidFill>
            <a:schemeClr val="bg1"/>
          </a:solidFill>
          <a:ln/>
        </p:spPr>
      </p:sp>
      <p:sp>
        <p:nvSpPr>
          <p:cNvPr id="52" name="Text 49"/>
          <p:cNvSpPr txBox="1"/>
          <p:nvPr/>
        </p:nvSpPr>
        <p:spPr>
          <a:xfrm>
            <a:off x="731520" y="39319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08</a:t>
            </a:r>
            <a:endParaRPr lang="en-US" sz="1500" dirty="0"/>
          </a:p>
        </p:txBody>
      </p:sp>
      <p:sp>
        <p:nvSpPr>
          <p:cNvPr id="53" name="Text 50"/>
          <p:cNvSpPr txBox="1"/>
          <p:nvPr/>
        </p:nvSpPr>
        <p:spPr>
          <a:xfrm>
            <a:off x="1280160" y="40233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Performance &amp; KPIs</a:t>
            </a:r>
            <a:endParaRPr lang="en-US" sz="1150" dirty="0"/>
          </a:p>
        </p:txBody>
      </p:sp>
      <p:sp>
        <p:nvSpPr>
          <p:cNvPr id="54" name="Text 51"/>
          <p:cNvSpPr txBox="1"/>
          <p:nvPr/>
        </p:nvSpPr>
        <p:spPr>
          <a:xfrm>
            <a:off x="1280160" y="42611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Dashboards, trends, scorecard</a:t>
            </a:r>
            <a:endParaRPr lang="en-US" sz="850" dirty="0"/>
          </a:p>
        </p:txBody>
      </p:sp>
      <p:sp>
        <p:nvSpPr>
          <p:cNvPr id="55" name="Text 52"/>
          <p:cNvSpPr txBox="1"/>
          <p:nvPr/>
        </p:nvSpPr>
        <p:spPr>
          <a:xfrm>
            <a:off x="3225698" y="39319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63–68</a:t>
            </a:r>
            <a:endParaRPr lang="en-US" sz="1050" dirty="0"/>
          </a:p>
        </p:txBody>
      </p:sp>
      <p:sp>
        <p:nvSpPr>
          <p:cNvPr id="56" name="Shape 53"/>
          <p:cNvSpPr/>
          <p:nvPr/>
        </p:nvSpPr>
        <p:spPr>
          <a:xfrm>
            <a:off x="4322978" y="3931920"/>
            <a:ext cx="3545738" cy="576072"/>
          </a:xfrm>
          <a:prstGeom prst="roundRect">
            <a:avLst>
              <a:gd name="adj" fmla="val 15873"/>
            </a:avLst>
          </a:prstGeom>
          <a:solidFill>
            <a:schemeClr val="bg1"/>
          </a:solidFill>
          <a:ln/>
        </p:spPr>
      </p:sp>
      <p:sp>
        <p:nvSpPr>
          <p:cNvPr id="57" name="Text 54"/>
          <p:cNvSpPr txBox="1"/>
          <p:nvPr/>
        </p:nvSpPr>
        <p:spPr>
          <a:xfrm>
            <a:off x="4505858" y="39319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09</a:t>
            </a:r>
            <a:endParaRPr lang="en-US" sz="1500" dirty="0"/>
          </a:p>
        </p:txBody>
      </p:sp>
      <p:sp>
        <p:nvSpPr>
          <p:cNvPr id="58" name="Text 55"/>
          <p:cNvSpPr txBox="1"/>
          <p:nvPr/>
        </p:nvSpPr>
        <p:spPr>
          <a:xfrm>
            <a:off x="5054498" y="40233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Finance</a:t>
            </a:r>
            <a:endParaRPr lang="en-US" sz="1150" dirty="0"/>
          </a:p>
        </p:txBody>
      </p:sp>
      <p:sp>
        <p:nvSpPr>
          <p:cNvPr id="59" name="Text 56"/>
          <p:cNvSpPr txBox="1"/>
          <p:nvPr/>
        </p:nvSpPr>
        <p:spPr>
          <a:xfrm>
            <a:off x="5054498" y="42611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Revenue, bridge, forecast, pricing</a:t>
            </a:r>
            <a:endParaRPr lang="en-US" sz="850" dirty="0"/>
          </a:p>
        </p:txBody>
      </p:sp>
      <p:sp>
        <p:nvSpPr>
          <p:cNvPr id="60" name="Text 57"/>
          <p:cNvSpPr txBox="1"/>
          <p:nvPr/>
        </p:nvSpPr>
        <p:spPr>
          <a:xfrm>
            <a:off x="7000037" y="39319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69–76</a:t>
            </a:r>
            <a:endParaRPr lang="en-US" sz="1050" dirty="0"/>
          </a:p>
        </p:txBody>
      </p:sp>
      <p:sp>
        <p:nvSpPr>
          <p:cNvPr id="61" name="Shape 58"/>
          <p:cNvSpPr/>
          <p:nvPr/>
        </p:nvSpPr>
        <p:spPr>
          <a:xfrm>
            <a:off x="8097317" y="3931920"/>
            <a:ext cx="3545738" cy="576072"/>
          </a:xfrm>
          <a:prstGeom prst="roundRect">
            <a:avLst>
              <a:gd name="adj" fmla="val 15873"/>
            </a:avLst>
          </a:prstGeom>
          <a:solidFill>
            <a:schemeClr val="bg1"/>
          </a:solidFill>
          <a:ln/>
        </p:spPr>
      </p:sp>
      <p:sp>
        <p:nvSpPr>
          <p:cNvPr id="62" name="Text 59"/>
          <p:cNvSpPr txBox="1"/>
          <p:nvPr/>
        </p:nvSpPr>
        <p:spPr>
          <a:xfrm>
            <a:off x="8280197" y="39319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10</a:t>
            </a:r>
            <a:endParaRPr lang="en-US" sz="1500" dirty="0"/>
          </a:p>
        </p:txBody>
      </p:sp>
      <p:sp>
        <p:nvSpPr>
          <p:cNvPr id="63" name="Text 60"/>
          <p:cNvSpPr txBox="1"/>
          <p:nvPr/>
        </p:nvSpPr>
        <p:spPr>
          <a:xfrm>
            <a:off x="8828837" y="40233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Strategy</a:t>
            </a:r>
            <a:endParaRPr lang="en-US" sz="1150" dirty="0"/>
          </a:p>
        </p:txBody>
      </p:sp>
      <p:sp>
        <p:nvSpPr>
          <p:cNvPr id="64" name="Text 61"/>
          <p:cNvSpPr txBox="1"/>
          <p:nvPr/>
        </p:nvSpPr>
        <p:spPr>
          <a:xfrm>
            <a:off x="8828837" y="42611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Priorities, SWOT, roadmap</a:t>
            </a:r>
            <a:endParaRPr lang="en-US" sz="850" dirty="0"/>
          </a:p>
        </p:txBody>
      </p:sp>
      <p:sp>
        <p:nvSpPr>
          <p:cNvPr id="65" name="Text 62"/>
          <p:cNvSpPr txBox="1"/>
          <p:nvPr/>
        </p:nvSpPr>
        <p:spPr>
          <a:xfrm>
            <a:off x="10774375" y="39319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77–82</a:t>
            </a:r>
            <a:endParaRPr lang="en-US" sz="1050" dirty="0"/>
          </a:p>
        </p:txBody>
      </p:sp>
      <p:sp>
        <p:nvSpPr>
          <p:cNvPr id="66" name="Shape 63"/>
          <p:cNvSpPr/>
          <p:nvPr/>
        </p:nvSpPr>
        <p:spPr>
          <a:xfrm>
            <a:off x="548640" y="4617720"/>
            <a:ext cx="3545738" cy="576072"/>
          </a:xfrm>
          <a:prstGeom prst="roundRect">
            <a:avLst>
              <a:gd name="adj" fmla="val 15873"/>
            </a:avLst>
          </a:prstGeom>
          <a:solidFill>
            <a:schemeClr val="bg1"/>
          </a:solidFill>
          <a:ln/>
        </p:spPr>
      </p:sp>
      <p:sp>
        <p:nvSpPr>
          <p:cNvPr id="67" name="Text 64"/>
          <p:cNvSpPr txBox="1"/>
          <p:nvPr/>
        </p:nvSpPr>
        <p:spPr>
          <a:xfrm>
            <a:off x="731520" y="46177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11</a:t>
            </a:r>
            <a:endParaRPr lang="en-US" sz="1500" dirty="0"/>
          </a:p>
        </p:txBody>
      </p:sp>
      <p:sp>
        <p:nvSpPr>
          <p:cNvPr id="68" name="Text 65"/>
          <p:cNvSpPr txBox="1"/>
          <p:nvPr/>
        </p:nvSpPr>
        <p:spPr>
          <a:xfrm>
            <a:off x="1280160" y="47091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Operations</a:t>
            </a:r>
            <a:endParaRPr lang="en-US" sz="1150" dirty="0"/>
          </a:p>
        </p:txBody>
      </p:sp>
      <p:sp>
        <p:nvSpPr>
          <p:cNvPr id="69" name="Text 66"/>
          <p:cNvSpPr txBox="1"/>
          <p:nvPr/>
        </p:nvSpPr>
        <p:spPr>
          <a:xfrm>
            <a:off x="1280160" y="49469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Workflow, cycle, rollout</a:t>
            </a:r>
            <a:endParaRPr lang="en-US" sz="850" dirty="0"/>
          </a:p>
        </p:txBody>
      </p:sp>
      <p:sp>
        <p:nvSpPr>
          <p:cNvPr id="70" name="Text 67"/>
          <p:cNvSpPr txBox="1"/>
          <p:nvPr/>
        </p:nvSpPr>
        <p:spPr>
          <a:xfrm>
            <a:off x="3225698" y="46177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83–85</a:t>
            </a:r>
            <a:endParaRPr lang="en-US" sz="1050" dirty="0"/>
          </a:p>
        </p:txBody>
      </p:sp>
      <p:sp>
        <p:nvSpPr>
          <p:cNvPr id="71" name="Shape 68"/>
          <p:cNvSpPr/>
          <p:nvPr/>
        </p:nvSpPr>
        <p:spPr>
          <a:xfrm>
            <a:off x="4322978" y="4617720"/>
            <a:ext cx="3545738" cy="576072"/>
          </a:xfrm>
          <a:prstGeom prst="roundRect">
            <a:avLst>
              <a:gd name="adj" fmla="val 15873"/>
            </a:avLst>
          </a:prstGeom>
          <a:solidFill>
            <a:schemeClr val="bg1"/>
          </a:solidFill>
          <a:ln/>
        </p:spPr>
      </p:sp>
      <p:sp>
        <p:nvSpPr>
          <p:cNvPr id="72" name="Text 69"/>
          <p:cNvSpPr txBox="1"/>
          <p:nvPr/>
        </p:nvSpPr>
        <p:spPr>
          <a:xfrm>
            <a:off x="4505858" y="46177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12</a:t>
            </a:r>
            <a:endParaRPr lang="en-US" sz="1500" dirty="0"/>
          </a:p>
        </p:txBody>
      </p:sp>
      <p:sp>
        <p:nvSpPr>
          <p:cNvPr id="73" name="Text 70"/>
          <p:cNvSpPr txBox="1"/>
          <p:nvPr/>
        </p:nvSpPr>
        <p:spPr>
          <a:xfrm>
            <a:off x="5054498" y="47091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Case study</a:t>
            </a:r>
            <a:endParaRPr lang="en-US" sz="1150" dirty="0"/>
          </a:p>
        </p:txBody>
      </p:sp>
      <p:sp>
        <p:nvSpPr>
          <p:cNvPr id="74" name="Text 71"/>
          <p:cNvSpPr txBox="1"/>
          <p:nvPr/>
        </p:nvSpPr>
        <p:spPr>
          <a:xfrm>
            <a:off x="5054498" y="49469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Challenge, before/after, impact</a:t>
            </a:r>
            <a:endParaRPr lang="en-US" sz="850" dirty="0"/>
          </a:p>
        </p:txBody>
      </p:sp>
      <p:sp>
        <p:nvSpPr>
          <p:cNvPr id="75" name="Text 72"/>
          <p:cNvSpPr txBox="1"/>
          <p:nvPr/>
        </p:nvSpPr>
        <p:spPr>
          <a:xfrm>
            <a:off x="7000037" y="46177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86–88</a:t>
            </a:r>
            <a:endParaRPr lang="en-US" sz="1050" dirty="0"/>
          </a:p>
        </p:txBody>
      </p:sp>
      <p:sp>
        <p:nvSpPr>
          <p:cNvPr id="76" name="Shape 73"/>
          <p:cNvSpPr/>
          <p:nvPr/>
        </p:nvSpPr>
        <p:spPr>
          <a:xfrm>
            <a:off x="8097317" y="4617720"/>
            <a:ext cx="3545738" cy="576072"/>
          </a:xfrm>
          <a:prstGeom prst="roundRect">
            <a:avLst>
              <a:gd name="adj" fmla="val 15873"/>
            </a:avLst>
          </a:prstGeom>
          <a:solidFill>
            <a:schemeClr val="bg1"/>
          </a:solidFill>
          <a:ln/>
        </p:spPr>
      </p:sp>
      <p:sp>
        <p:nvSpPr>
          <p:cNvPr id="77" name="Text 74"/>
          <p:cNvSpPr txBox="1"/>
          <p:nvPr/>
        </p:nvSpPr>
        <p:spPr>
          <a:xfrm>
            <a:off x="8280197" y="46177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13</a:t>
            </a:r>
            <a:endParaRPr lang="en-US" sz="1500" dirty="0"/>
          </a:p>
        </p:txBody>
      </p:sp>
      <p:sp>
        <p:nvSpPr>
          <p:cNvPr id="78" name="Text 75"/>
          <p:cNvSpPr txBox="1"/>
          <p:nvPr/>
        </p:nvSpPr>
        <p:spPr>
          <a:xfrm>
            <a:off x="8828837" y="47091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Comparison &amp; tables</a:t>
            </a:r>
            <a:endParaRPr lang="en-US" sz="1150" dirty="0"/>
          </a:p>
        </p:txBody>
      </p:sp>
      <p:sp>
        <p:nvSpPr>
          <p:cNvPr id="79" name="Text 76"/>
          <p:cNvSpPr txBox="1"/>
          <p:nvPr/>
        </p:nvSpPr>
        <p:spPr>
          <a:xfrm>
            <a:off x="8828837" y="49469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Options, plan and data tables</a:t>
            </a:r>
            <a:endParaRPr lang="en-US" sz="850" dirty="0"/>
          </a:p>
        </p:txBody>
      </p:sp>
      <p:sp>
        <p:nvSpPr>
          <p:cNvPr id="80" name="Text 77"/>
          <p:cNvSpPr txBox="1"/>
          <p:nvPr/>
        </p:nvSpPr>
        <p:spPr>
          <a:xfrm>
            <a:off x="10774375" y="46177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89–92</a:t>
            </a:r>
            <a:endParaRPr lang="en-US" sz="1050" dirty="0"/>
          </a:p>
        </p:txBody>
      </p:sp>
      <p:sp>
        <p:nvSpPr>
          <p:cNvPr id="81" name="Shape 78"/>
          <p:cNvSpPr/>
          <p:nvPr/>
        </p:nvSpPr>
        <p:spPr>
          <a:xfrm>
            <a:off x="548640" y="5303520"/>
            <a:ext cx="3545738" cy="576072"/>
          </a:xfrm>
          <a:prstGeom prst="roundRect">
            <a:avLst>
              <a:gd name="adj" fmla="val 15873"/>
            </a:avLst>
          </a:prstGeom>
          <a:solidFill>
            <a:schemeClr val="bg1"/>
          </a:solidFill>
          <a:ln/>
        </p:spPr>
      </p:sp>
      <p:sp>
        <p:nvSpPr>
          <p:cNvPr id="82" name="Text 79"/>
          <p:cNvSpPr txBox="1"/>
          <p:nvPr/>
        </p:nvSpPr>
        <p:spPr>
          <a:xfrm>
            <a:off x="731520" y="5303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a:t>
            </a:r>
            <a:endParaRPr lang="en-US" sz="1500" dirty="0"/>
          </a:p>
        </p:txBody>
      </p:sp>
      <p:sp>
        <p:nvSpPr>
          <p:cNvPr id="83" name="Text 80"/>
          <p:cNvSpPr txBox="1"/>
          <p:nvPr/>
        </p:nvSpPr>
        <p:spPr>
          <a:xfrm>
            <a:off x="1280160" y="5394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Chart library</a:t>
            </a:r>
            <a:endParaRPr lang="en-US" sz="1150" dirty="0"/>
          </a:p>
        </p:txBody>
      </p:sp>
      <p:sp>
        <p:nvSpPr>
          <p:cNvPr id="84" name="Text 81"/>
          <p:cNvSpPr txBox="1"/>
          <p:nvPr/>
        </p:nvSpPr>
        <p:spPr>
          <a:xfrm>
            <a:off x="1280160" y="5632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Bars, lines, pies, combos</a:t>
            </a:r>
            <a:endParaRPr lang="en-US" sz="850" dirty="0"/>
          </a:p>
        </p:txBody>
      </p:sp>
      <p:sp>
        <p:nvSpPr>
          <p:cNvPr id="85" name="Text 82"/>
          <p:cNvSpPr txBox="1"/>
          <p:nvPr/>
        </p:nvSpPr>
        <p:spPr>
          <a:xfrm>
            <a:off x="3225698" y="5303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93–96</a:t>
            </a:r>
            <a:endParaRPr lang="en-US" sz="1050" dirty="0"/>
          </a:p>
        </p:txBody>
      </p:sp>
      <p:sp>
        <p:nvSpPr>
          <p:cNvPr id="86" name="Shape 83"/>
          <p:cNvSpPr/>
          <p:nvPr/>
        </p:nvSpPr>
        <p:spPr>
          <a:xfrm>
            <a:off x="4322978" y="5303520"/>
            <a:ext cx="3545738" cy="576072"/>
          </a:xfrm>
          <a:prstGeom prst="roundRect">
            <a:avLst>
              <a:gd name="adj" fmla="val 15873"/>
            </a:avLst>
          </a:prstGeom>
          <a:solidFill>
            <a:schemeClr val="bg1"/>
          </a:solidFill>
          <a:ln/>
        </p:spPr>
      </p:sp>
      <p:sp>
        <p:nvSpPr>
          <p:cNvPr id="87" name="Text 84"/>
          <p:cNvSpPr txBox="1"/>
          <p:nvPr/>
        </p:nvSpPr>
        <p:spPr>
          <a:xfrm>
            <a:off x="4505858" y="5303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14</a:t>
            </a:r>
            <a:endParaRPr lang="en-US" sz="1500" dirty="0"/>
          </a:p>
        </p:txBody>
      </p:sp>
      <p:sp>
        <p:nvSpPr>
          <p:cNvPr id="88" name="Text 85"/>
          <p:cNvSpPr txBox="1"/>
          <p:nvPr/>
        </p:nvSpPr>
        <p:spPr>
          <a:xfrm>
            <a:off x="5054498" y="5394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Closing</a:t>
            </a:r>
            <a:endParaRPr lang="en-US" sz="1150" dirty="0"/>
          </a:p>
        </p:txBody>
      </p:sp>
      <p:sp>
        <p:nvSpPr>
          <p:cNvPr id="89" name="Text 86"/>
          <p:cNvSpPr txBox="1"/>
          <p:nvPr/>
        </p:nvSpPr>
        <p:spPr>
          <a:xfrm>
            <a:off x="5054498" y="5632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Quote, next steps, thank you</a:t>
            </a:r>
            <a:endParaRPr lang="en-US" sz="850" dirty="0"/>
          </a:p>
        </p:txBody>
      </p:sp>
      <p:sp>
        <p:nvSpPr>
          <p:cNvPr id="90" name="Text 87"/>
          <p:cNvSpPr txBox="1"/>
          <p:nvPr/>
        </p:nvSpPr>
        <p:spPr>
          <a:xfrm>
            <a:off x="7000037" y="5303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97–99</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Colour palette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Ten theme colours. Navy leads, lime highlights, neutrals do the rest. Change them all in Design › Variants › Colors.</a:t>
            </a:r>
            <a:endParaRPr lang="en-US" sz="1150" dirty="0"/>
          </a:p>
        </p:txBody>
      </p:sp>
      <p:sp>
        <p:nvSpPr>
          <p:cNvPr id="6" name="Shape 4"/>
          <p:cNvSpPr/>
          <p:nvPr/>
        </p:nvSpPr>
        <p:spPr>
          <a:xfrm>
            <a:off x="548640" y="1874520"/>
            <a:ext cx="2602154" cy="2057400"/>
          </a:xfrm>
          <a:prstGeom prst="roundRect">
            <a:avLst>
              <a:gd name="adj" fmla="val 4444"/>
            </a:avLst>
          </a:prstGeom>
          <a:solidFill>
            <a:schemeClr val="tx1"/>
          </a:solidFill>
          <a:ln/>
        </p:spPr>
      </p:sp>
      <p:sp>
        <p:nvSpPr>
          <p:cNvPr id="7" name="Text 5"/>
          <p:cNvSpPr txBox="1"/>
          <p:nvPr/>
        </p:nvSpPr>
        <p:spPr>
          <a:xfrm>
            <a:off x="777240" y="2075688"/>
            <a:ext cx="2144954"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Deep Navy</a:t>
            </a:r>
            <a:endParaRPr lang="en-US" sz="1400" dirty="0"/>
          </a:p>
        </p:txBody>
      </p:sp>
      <p:sp>
        <p:nvSpPr>
          <p:cNvPr id="8" name="Text 6"/>
          <p:cNvSpPr txBox="1"/>
          <p:nvPr/>
        </p:nvSpPr>
        <p:spPr>
          <a:xfrm>
            <a:off x="777240" y="3108960"/>
            <a:ext cx="2144954" cy="274320"/>
          </a:xfrm>
          <a:prstGeom prst="rect">
            <a:avLst/>
          </a:prstGeom>
          <a:noFill/>
          <a:ln/>
        </p:spPr>
        <p:txBody>
          <a:bodyPr wrap="square" lIns="0" tIns="0" rIns="0" bIns="0" rtlCol="0" anchor="t"/>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#0A1628</a:t>
            </a:r>
            <a:endParaRPr lang="en-US" sz="1200" dirty="0"/>
          </a:p>
        </p:txBody>
      </p:sp>
      <p:sp>
        <p:nvSpPr>
          <p:cNvPr id="9" name="Text 7"/>
          <p:cNvSpPr txBox="1"/>
          <p:nvPr/>
        </p:nvSpPr>
        <p:spPr>
          <a:xfrm>
            <a:off x="777240" y="3401568"/>
            <a:ext cx="2144954" cy="228600"/>
          </a:xfrm>
          <a:prstGeom prst="rect">
            <a:avLst/>
          </a:prstGeom>
          <a:noFill/>
          <a:ln/>
        </p:spPr>
        <p:txBody>
          <a:bodyPr wrap="square" lIns="0" tIns="0" rIns="0" bIns="0" rtlCol="0" anchor="t"/>
          <a:lstStyle/>
          <a:p>
            <a:pPr algn="l" indent="0" marL="0">
              <a:buNone/>
            </a:pPr>
            <a:r>
              <a:rPr lang="en-US" sz="950" dirty="0">
                <a:solidFill>
                  <a:schemeClr val="bg1"/>
                </a:solidFill>
                <a:latin typeface="Inter" pitchFamily="34" charset="0"/>
                <a:ea typeface="Inter" pitchFamily="34" charset="-122"/>
                <a:cs typeface="Inter" pitchFamily="34" charset="-120"/>
              </a:rPr>
              <a:t>RGB 10 · 22 · 40</a:t>
            </a:r>
            <a:endParaRPr lang="en-US" sz="950" dirty="0"/>
          </a:p>
        </p:txBody>
      </p:sp>
      <p:sp>
        <p:nvSpPr>
          <p:cNvPr id="10" name="Text 8"/>
          <p:cNvSpPr txBox="1"/>
          <p:nvPr/>
        </p:nvSpPr>
        <p:spPr>
          <a:xfrm>
            <a:off x="548640"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Text / Background Dark 1</a:t>
            </a:r>
            <a:endParaRPr lang="en-US" sz="900" dirty="0"/>
          </a:p>
        </p:txBody>
      </p:sp>
      <p:sp>
        <p:nvSpPr>
          <p:cNvPr id="11" name="Text 9"/>
          <p:cNvSpPr txBox="1"/>
          <p:nvPr/>
        </p:nvSpPr>
        <p:spPr>
          <a:xfrm>
            <a:off x="548640"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Primary ink, dark surfaces</a:t>
            </a:r>
            <a:endParaRPr lang="en-US" sz="900" dirty="0"/>
          </a:p>
        </p:txBody>
      </p:sp>
      <p:sp>
        <p:nvSpPr>
          <p:cNvPr id="12" name="Shape 10"/>
          <p:cNvSpPr/>
          <p:nvPr/>
        </p:nvSpPr>
        <p:spPr>
          <a:xfrm>
            <a:off x="3379394" y="1874520"/>
            <a:ext cx="2602154" cy="2057400"/>
          </a:xfrm>
          <a:prstGeom prst="roundRect">
            <a:avLst>
              <a:gd name="adj" fmla="val 4444"/>
            </a:avLst>
          </a:prstGeom>
          <a:solidFill>
            <a:schemeClr val="accent1"/>
          </a:solidFill>
          <a:ln/>
        </p:spPr>
      </p:sp>
      <p:sp>
        <p:nvSpPr>
          <p:cNvPr id="13" name="Text 11"/>
          <p:cNvSpPr txBox="1"/>
          <p:nvPr/>
        </p:nvSpPr>
        <p:spPr>
          <a:xfrm>
            <a:off x="3607994" y="2075688"/>
            <a:ext cx="2144954"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Electric Lime</a:t>
            </a:r>
            <a:endParaRPr lang="en-US" sz="1400" dirty="0"/>
          </a:p>
        </p:txBody>
      </p:sp>
      <p:sp>
        <p:nvSpPr>
          <p:cNvPr id="14" name="Text 12"/>
          <p:cNvSpPr txBox="1"/>
          <p:nvPr/>
        </p:nvSpPr>
        <p:spPr>
          <a:xfrm>
            <a:off x="3607994" y="3108960"/>
            <a:ext cx="2144954"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#C6F432</a:t>
            </a:r>
            <a:endParaRPr lang="en-US" sz="1200" dirty="0"/>
          </a:p>
        </p:txBody>
      </p:sp>
      <p:sp>
        <p:nvSpPr>
          <p:cNvPr id="15" name="Text 13"/>
          <p:cNvSpPr txBox="1"/>
          <p:nvPr/>
        </p:nvSpPr>
        <p:spPr>
          <a:xfrm>
            <a:off x="3607994" y="3401568"/>
            <a:ext cx="2144954" cy="228600"/>
          </a:xfrm>
          <a:prstGeom prst="rect">
            <a:avLst/>
          </a:prstGeom>
          <a:noFill/>
          <a:ln/>
        </p:spPr>
        <p:txBody>
          <a:bodyPr wrap="square" lIns="0" tIns="0" rIns="0" bIns="0" rtlCol="0" anchor="t"/>
          <a:lstStyle/>
          <a:p>
            <a:pPr algn="l" indent="0" marL="0">
              <a:buNone/>
            </a:pPr>
            <a:r>
              <a:rPr lang="en-US" sz="950" dirty="0">
                <a:solidFill>
                  <a:schemeClr val="tx1"/>
                </a:solidFill>
                <a:latin typeface="Inter" pitchFamily="34" charset="0"/>
                <a:ea typeface="Inter" pitchFamily="34" charset="-122"/>
                <a:cs typeface="Inter" pitchFamily="34" charset="-120"/>
              </a:rPr>
              <a:t>RGB 198 · 244 · 50</a:t>
            </a:r>
            <a:endParaRPr lang="en-US" sz="950" dirty="0"/>
          </a:p>
        </p:txBody>
      </p:sp>
      <p:sp>
        <p:nvSpPr>
          <p:cNvPr id="16" name="Text 14"/>
          <p:cNvSpPr txBox="1"/>
          <p:nvPr/>
        </p:nvSpPr>
        <p:spPr>
          <a:xfrm>
            <a:off x="3379394"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Accent 1</a:t>
            </a:r>
            <a:endParaRPr lang="en-US" sz="900" dirty="0"/>
          </a:p>
        </p:txBody>
      </p:sp>
      <p:sp>
        <p:nvSpPr>
          <p:cNvPr id="17" name="Text 15"/>
          <p:cNvSpPr txBox="1"/>
          <p:nvPr/>
        </p:nvSpPr>
        <p:spPr>
          <a:xfrm>
            <a:off x="3379394"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Highlights, CTAs, key data</a:t>
            </a:r>
            <a:endParaRPr lang="en-US" sz="900" dirty="0"/>
          </a:p>
        </p:txBody>
      </p:sp>
      <p:sp>
        <p:nvSpPr>
          <p:cNvPr id="18" name="Shape 16"/>
          <p:cNvSpPr/>
          <p:nvPr/>
        </p:nvSpPr>
        <p:spPr>
          <a:xfrm>
            <a:off x="6210148" y="1874520"/>
            <a:ext cx="2602154" cy="2057400"/>
          </a:xfrm>
          <a:prstGeom prst="roundRect">
            <a:avLst>
              <a:gd name="adj" fmla="val 4444"/>
            </a:avLst>
          </a:prstGeom>
          <a:solidFill>
            <a:schemeClr val="bg2"/>
          </a:solidFill>
          <a:ln/>
        </p:spPr>
      </p:sp>
      <p:sp>
        <p:nvSpPr>
          <p:cNvPr id="19" name="Text 17"/>
          <p:cNvSpPr txBox="1"/>
          <p:nvPr/>
        </p:nvSpPr>
        <p:spPr>
          <a:xfrm>
            <a:off x="6438748" y="2075688"/>
            <a:ext cx="2144954"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Off-white</a:t>
            </a:r>
            <a:endParaRPr lang="en-US" sz="1400" dirty="0"/>
          </a:p>
        </p:txBody>
      </p:sp>
      <p:sp>
        <p:nvSpPr>
          <p:cNvPr id="20" name="Text 18"/>
          <p:cNvSpPr txBox="1"/>
          <p:nvPr/>
        </p:nvSpPr>
        <p:spPr>
          <a:xfrm>
            <a:off x="6438748" y="3108960"/>
            <a:ext cx="2144954"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#F3F5F7</a:t>
            </a:r>
            <a:endParaRPr lang="en-US" sz="1200" dirty="0"/>
          </a:p>
        </p:txBody>
      </p:sp>
      <p:sp>
        <p:nvSpPr>
          <p:cNvPr id="21" name="Text 19"/>
          <p:cNvSpPr txBox="1"/>
          <p:nvPr/>
        </p:nvSpPr>
        <p:spPr>
          <a:xfrm>
            <a:off x="6438748" y="3401568"/>
            <a:ext cx="2144954" cy="228600"/>
          </a:xfrm>
          <a:prstGeom prst="rect">
            <a:avLst/>
          </a:prstGeom>
          <a:noFill/>
          <a:ln/>
        </p:spPr>
        <p:txBody>
          <a:bodyPr wrap="square" lIns="0" tIns="0" rIns="0" bIns="0" rtlCol="0" anchor="t"/>
          <a:lstStyle/>
          <a:p>
            <a:pPr algn="l" indent="0" marL="0">
              <a:buNone/>
            </a:pPr>
            <a:r>
              <a:rPr lang="en-US" sz="950" dirty="0">
                <a:solidFill>
                  <a:schemeClr val="tx1"/>
                </a:solidFill>
                <a:latin typeface="Inter" pitchFamily="34" charset="0"/>
                <a:ea typeface="Inter" pitchFamily="34" charset="-122"/>
                <a:cs typeface="Inter" pitchFamily="34" charset="-120"/>
              </a:rPr>
              <a:t>RGB 243 · 245 · 247</a:t>
            </a:r>
            <a:endParaRPr lang="en-US" sz="950" dirty="0"/>
          </a:p>
        </p:txBody>
      </p:sp>
      <p:sp>
        <p:nvSpPr>
          <p:cNvPr id="22" name="Text 20"/>
          <p:cNvSpPr txBox="1"/>
          <p:nvPr/>
        </p:nvSpPr>
        <p:spPr>
          <a:xfrm>
            <a:off x="6210148"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Text / Background Light 2</a:t>
            </a:r>
            <a:endParaRPr lang="en-US" sz="900" dirty="0"/>
          </a:p>
        </p:txBody>
      </p:sp>
      <p:sp>
        <p:nvSpPr>
          <p:cNvPr id="23" name="Text 21"/>
          <p:cNvSpPr txBox="1"/>
          <p:nvPr/>
        </p:nvSpPr>
        <p:spPr>
          <a:xfrm>
            <a:off x="6210148"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Section and card surfaces</a:t>
            </a:r>
            <a:endParaRPr lang="en-US" sz="900" dirty="0"/>
          </a:p>
        </p:txBody>
      </p:sp>
      <p:sp>
        <p:nvSpPr>
          <p:cNvPr id="24" name="Shape 22"/>
          <p:cNvSpPr/>
          <p:nvPr/>
        </p:nvSpPr>
        <p:spPr>
          <a:xfrm>
            <a:off x="9040901" y="1874520"/>
            <a:ext cx="2602154" cy="2057400"/>
          </a:xfrm>
          <a:prstGeom prst="roundRect">
            <a:avLst>
              <a:gd name="adj" fmla="val 4444"/>
            </a:avLst>
          </a:prstGeom>
          <a:solidFill>
            <a:schemeClr val="bg1"/>
          </a:solidFill>
          <a:ln w="9525">
            <a:solidFill>
              <a:schemeClr val="accent4"/>
            </a:solidFill>
            <a:prstDash val="solid"/>
          </a:ln>
        </p:spPr>
      </p:sp>
      <p:sp>
        <p:nvSpPr>
          <p:cNvPr id="25" name="Text 23"/>
          <p:cNvSpPr txBox="1"/>
          <p:nvPr/>
        </p:nvSpPr>
        <p:spPr>
          <a:xfrm>
            <a:off x="9269501" y="2075688"/>
            <a:ext cx="2144954"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White</a:t>
            </a:r>
            <a:endParaRPr lang="en-US" sz="1400" dirty="0"/>
          </a:p>
        </p:txBody>
      </p:sp>
      <p:sp>
        <p:nvSpPr>
          <p:cNvPr id="26" name="Text 24"/>
          <p:cNvSpPr txBox="1"/>
          <p:nvPr/>
        </p:nvSpPr>
        <p:spPr>
          <a:xfrm>
            <a:off x="9269501" y="3108960"/>
            <a:ext cx="2144954"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#FFFFFF</a:t>
            </a:r>
            <a:endParaRPr lang="en-US" sz="1200" dirty="0"/>
          </a:p>
        </p:txBody>
      </p:sp>
      <p:sp>
        <p:nvSpPr>
          <p:cNvPr id="27" name="Text 25"/>
          <p:cNvSpPr txBox="1"/>
          <p:nvPr/>
        </p:nvSpPr>
        <p:spPr>
          <a:xfrm>
            <a:off x="9269501" y="3401568"/>
            <a:ext cx="2144954" cy="228600"/>
          </a:xfrm>
          <a:prstGeom prst="rect">
            <a:avLst/>
          </a:prstGeom>
          <a:noFill/>
          <a:ln/>
        </p:spPr>
        <p:txBody>
          <a:bodyPr wrap="square" lIns="0" tIns="0" rIns="0" bIns="0" rtlCol="0" anchor="t"/>
          <a:lstStyle/>
          <a:p>
            <a:pPr algn="l" indent="0" marL="0">
              <a:buNone/>
            </a:pPr>
            <a:r>
              <a:rPr lang="en-US" sz="950" dirty="0">
                <a:solidFill>
                  <a:schemeClr val="tx1"/>
                </a:solidFill>
                <a:latin typeface="Inter" pitchFamily="34" charset="0"/>
                <a:ea typeface="Inter" pitchFamily="34" charset="-122"/>
                <a:cs typeface="Inter" pitchFamily="34" charset="-120"/>
              </a:rPr>
              <a:t>RGB 255 · 255 · 255</a:t>
            </a:r>
            <a:endParaRPr lang="en-US" sz="950" dirty="0"/>
          </a:p>
        </p:txBody>
      </p:sp>
      <p:sp>
        <p:nvSpPr>
          <p:cNvPr id="28" name="Text 26"/>
          <p:cNvSpPr txBox="1"/>
          <p:nvPr/>
        </p:nvSpPr>
        <p:spPr>
          <a:xfrm>
            <a:off x="9040901"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Text / Background Light 1</a:t>
            </a:r>
            <a:endParaRPr lang="en-US" sz="900" dirty="0"/>
          </a:p>
        </p:txBody>
      </p:sp>
      <p:sp>
        <p:nvSpPr>
          <p:cNvPr id="29" name="Text 27"/>
          <p:cNvSpPr txBox="1"/>
          <p:nvPr/>
        </p:nvSpPr>
        <p:spPr>
          <a:xfrm>
            <a:off x="9040901"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Default background</a:t>
            </a:r>
            <a:endParaRPr lang="en-US" sz="900" dirty="0"/>
          </a:p>
        </p:txBody>
      </p:sp>
      <p:sp>
        <p:nvSpPr>
          <p:cNvPr id="30" name="Shape 28"/>
          <p:cNvSpPr/>
          <p:nvPr/>
        </p:nvSpPr>
        <p:spPr>
          <a:xfrm>
            <a:off x="548640" y="4663440"/>
            <a:ext cx="502920" cy="502920"/>
          </a:xfrm>
          <a:prstGeom prst="roundRect">
            <a:avLst>
              <a:gd name="adj" fmla="val 18182"/>
            </a:avLst>
          </a:prstGeom>
          <a:solidFill>
            <a:schemeClr val="tx2"/>
          </a:solidFill>
          <a:ln/>
        </p:spPr>
      </p:sp>
      <p:sp>
        <p:nvSpPr>
          <p:cNvPr id="31" name="Text 29"/>
          <p:cNvSpPr txBox="1"/>
          <p:nvPr/>
        </p:nvSpPr>
        <p:spPr>
          <a:xfrm>
            <a:off x="1188720"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Charcoal</a:t>
            </a:r>
            <a:endParaRPr lang="en-US" sz="1100" dirty="0"/>
          </a:p>
        </p:txBody>
      </p:sp>
      <p:sp>
        <p:nvSpPr>
          <p:cNvPr id="32" name="Text 30"/>
          <p:cNvSpPr txBox="1"/>
          <p:nvPr/>
        </p:nvSpPr>
        <p:spPr>
          <a:xfrm>
            <a:off x="1188720"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#2E3645</a:t>
            </a:r>
            <a:endParaRPr lang="en-US" sz="900" dirty="0"/>
          </a:p>
        </p:txBody>
      </p:sp>
      <p:sp>
        <p:nvSpPr>
          <p:cNvPr id="33" name="Text 31"/>
          <p:cNvSpPr txBox="1"/>
          <p:nvPr/>
        </p:nvSpPr>
        <p:spPr>
          <a:xfrm>
            <a:off x="1188720"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Dark 2 · body text</a:t>
            </a:r>
            <a:endParaRPr lang="en-US" sz="850" dirty="0"/>
          </a:p>
        </p:txBody>
      </p:sp>
      <p:sp>
        <p:nvSpPr>
          <p:cNvPr id="34" name="Shape 32"/>
          <p:cNvSpPr/>
          <p:nvPr/>
        </p:nvSpPr>
        <p:spPr>
          <a:xfrm>
            <a:off x="2428189" y="4663440"/>
            <a:ext cx="502920" cy="502920"/>
          </a:xfrm>
          <a:prstGeom prst="roundRect">
            <a:avLst>
              <a:gd name="adj" fmla="val 18182"/>
            </a:avLst>
          </a:prstGeom>
          <a:solidFill>
            <a:schemeClr val="accent2"/>
          </a:solidFill>
          <a:ln/>
        </p:spPr>
      </p:sp>
      <p:sp>
        <p:nvSpPr>
          <p:cNvPr id="35" name="Text 33"/>
          <p:cNvSpPr txBox="1"/>
          <p:nvPr/>
        </p:nvSpPr>
        <p:spPr>
          <a:xfrm>
            <a:off x="3068269"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Steel</a:t>
            </a:r>
            <a:endParaRPr lang="en-US" sz="1100" dirty="0"/>
          </a:p>
        </p:txBody>
      </p:sp>
      <p:sp>
        <p:nvSpPr>
          <p:cNvPr id="36" name="Text 34"/>
          <p:cNvSpPr txBox="1"/>
          <p:nvPr/>
        </p:nvSpPr>
        <p:spPr>
          <a:xfrm>
            <a:off x="3068269"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#2C4A74</a:t>
            </a:r>
            <a:endParaRPr lang="en-US" sz="900" dirty="0"/>
          </a:p>
        </p:txBody>
      </p:sp>
      <p:sp>
        <p:nvSpPr>
          <p:cNvPr id="37" name="Text 35"/>
          <p:cNvSpPr txBox="1"/>
          <p:nvPr/>
        </p:nvSpPr>
        <p:spPr>
          <a:xfrm>
            <a:off x="3068269"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2 · data</a:t>
            </a:r>
            <a:endParaRPr lang="en-US" sz="850" dirty="0"/>
          </a:p>
        </p:txBody>
      </p:sp>
      <p:sp>
        <p:nvSpPr>
          <p:cNvPr id="38" name="Shape 36"/>
          <p:cNvSpPr/>
          <p:nvPr/>
        </p:nvSpPr>
        <p:spPr>
          <a:xfrm>
            <a:off x="4307738" y="4663440"/>
            <a:ext cx="502920" cy="502920"/>
          </a:xfrm>
          <a:prstGeom prst="roundRect">
            <a:avLst>
              <a:gd name="adj" fmla="val 18182"/>
            </a:avLst>
          </a:prstGeom>
          <a:solidFill>
            <a:schemeClr val="accent3"/>
          </a:solidFill>
          <a:ln/>
        </p:spPr>
      </p:sp>
      <p:sp>
        <p:nvSpPr>
          <p:cNvPr id="39" name="Text 37"/>
          <p:cNvSpPr txBox="1"/>
          <p:nvPr/>
        </p:nvSpPr>
        <p:spPr>
          <a:xfrm>
            <a:off x="4947818"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Slate</a:t>
            </a:r>
            <a:endParaRPr lang="en-US" sz="1100" dirty="0"/>
          </a:p>
        </p:txBody>
      </p:sp>
      <p:sp>
        <p:nvSpPr>
          <p:cNvPr id="40" name="Text 38"/>
          <p:cNvSpPr txBox="1"/>
          <p:nvPr/>
        </p:nvSpPr>
        <p:spPr>
          <a:xfrm>
            <a:off x="4947818"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#6B7688</a:t>
            </a:r>
            <a:endParaRPr lang="en-US" sz="900" dirty="0"/>
          </a:p>
        </p:txBody>
      </p:sp>
      <p:sp>
        <p:nvSpPr>
          <p:cNvPr id="41" name="Text 39"/>
          <p:cNvSpPr txBox="1"/>
          <p:nvPr/>
        </p:nvSpPr>
        <p:spPr>
          <a:xfrm>
            <a:off x="4947818"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3 · muted</a:t>
            </a:r>
            <a:endParaRPr lang="en-US" sz="850" dirty="0"/>
          </a:p>
        </p:txBody>
      </p:sp>
      <p:sp>
        <p:nvSpPr>
          <p:cNvPr id="42" name="Shape 40"/>
          <p:cNvSpPr/>
          <p:nvPr/>
        </p:nvSpPr>
        <p:spPr>
          <a:xfrm>
            <a:off x="6187288" y="4663440"/>
            <a:ext cx="502920" cy="502920"/>
          </a:xfrm>
          <a:prstGeom prst="roundRect">
            <a:avLst>
              <a:gd name="adj" fmla="val 18182"/>
            </a:avLst>
          </a:prstGeom>
          <a:solidFill>
            <a:schemeClr val="accent4"/>
          </a:solidFill>
          <a:ln w="9525">
            <a:solidFill>
              <a:schemeClr val="accent4"/>
            </a:solidFill>
            <a:prstDash val="solid"/>
          </a:ln>
        </p:spPr>
      </p:sp>
      <p:sp>
        <p:nvSpPr>
          <p:cNvPr id="43" name="Text 41"/>
          <p:cNvSpPr txBox="1"/>
          <p:nvPr/>
        </p:nvSpPr>
        <p:spPr>
          <a:xfrm>
            <a:off x="6827368"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Mist</a:t>
            </a:r>
            <a:endParaRPr lang="en-US" sz="1100" dirty="0"/>
          </a:p>
        </p:txBody>
      </p:sp>
      <p:sp>
        <p:nvSpPr>
          <p:cNvPr id="44" name="Text 42"/>
          <p:cNvSpPr txBox="1"/>
          <p:nvPr/>
        </p:nvSpPr>
        <p:spPr>
          <a:xfrm>
            <a:off x="6827368"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#D5DBE3</a:t>
            </a:r>
            <a:endParaRPr lang="en-US" sz="900" dirty="0"/>
          </a:p>
        </p:txBody>
      </p:sp>
      <p:sp>
        <p:nvSpPr>
          <p:cNvPr id="45" name="Text 43"/>
          <p:cNvSpPr txBox="1"/>
          <p:nvPr/>
        </p:nvSpPr>
        <p:spPr>
          <a:xfrm>
            <a:off x="6827368"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4 · lines</a:t>
            </a:r>
            <a:endParaRPr lang="en-US" sz="850" dirty="0"/>
          </a:p>
        </p:txBody>
      </p:sp>
      <p:sp>
        <p:nvSpPr>
          <p:cNvPr id="46" name="Shape 44"/>
          <p:cNvSpPr/>
          <p:nvPr/>
        </p:nvSpPr>
        <p:spPr>
          <a:xfrm>
            <a:off x="8066837" y="4663440"/>
            <a:ext cx="502920" cy="502920"/>
          </a:xfrm>
          <a:prstGeom prst="roundRect">
            <a:avLst>
              <a:gd name="adj" fmla="val 18182"/>
            </a:avLst>
          </a:prstGeom>
          <a:solidFill>
            <a:schemeClr val="accent5"/>
          </a:solidFill>
          <a:ln/>
        </p:spPr>
      </p:sp>
      <p:sp>
        <p:nvSpPr>
          <p:cNvPr id="47" name="Text 45"/>
          <p:cNvSpPr txBox="1"/>
          <p:nvPr/>
        </p:nvSpPr>
        <p:spPr>
          <a:xfrm>
            <a:off x="8706917"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Navy 2</a:t>
            </a:r>
            <a:endParaRPr lang="en-US" sz="1100" dirty="0"/>
          </a:p>
        </p:txBody>
      </p:sp>
      <p:sp>
        <p:nvSpPr>
          <p:cNvPr id="48" name="Text 46"/>
          <p:cNvSpPr txBox="1"/>
          <p:nvPr/>
        </p:nvSpPr>
        <p:spPr>
          <a:xfrm>
            <a:off x="8706917"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#17253D</a:t>
            </a:r>
            <a:endParaRPr lang="en-US" sz="900" dirty="0"/>
          </a:p>
        </p:txBody>
      </p:sp>
      <p:sp>
        <p:nvSpPr>
          <p:cNvPr id="49" name="Text 47"/>
          <p:cNvSpPr txBox="1"/>
          <p:nvPr/>
        </p:nvSpPr>
        <p:spPr>
          <a:xfrm>
            <a:off x="8706917"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5 · dark cards</a:t>
            </a:r>
            <a:endParaRPr lang="en-US" sz="850" dirty="0"/>
          </a:p>
        </p:txBody>
      </p:sp>
      <p:sp>
        <p:nvSpPr>
          <p:cNvPr id="50" name="Shape 48"/>
          <p:cNvSpPr/>
          <p:nvPr/>
        </p:nvSpPr>
        <p:spPr>
          <a:xfrm>
            <a:off x="9946386" y="4663440"/>
            <a:ext cx="502920" cy="502920"/>
          </a:xfrm>
          <a:prstGeom prst="roundRect">
            <a:avLst>
              <a:gd name="adj" fmla="val 18182"/>
            </a:avLst>
          </a:prstGeom>
          <a:solidFill>
            <a:schemeClr val="accent6"/>
          </a:solidFill>
          <a:ln/>
        </p:spPr>
      </p:sp>
      <p:sp>
        <p:nvSpPr>
          <p:cNvPr id="51" name="Text 49"/>
          <p:cNvSpPr txBox="1"/>
          <p:nvPr/>
        </p:nvSpPr>
        <p:spPr>
          <a:xfrm>
            <a:off x="10586466"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Olive</a:t>
            </a:r>
            <a:endParaRPr lang="en-US" sz="1100" dirty="0"/>
          </a:p>
        </p:txBody>
      </p:sp>
      <p:sp>
        <p:nvSpPr>
          <p:cNvPr id="52" name="Text 50"/>
          <p:cNvSpPr txBox="1"/>
          <p:nvPr/>
        </p:nvSpPr>
        <p:spPr>
          <a:xfrm>
            <a:off x="10586466"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#5B7A0C</a:t>
            </a:r>
            <a:endParaRPr lang="en-US" sz="900" dirty="0"/>
          </a:p>
        </p:txBody>
      </p:sp>
      <p:sp>
        <p:nvSpPr>
          <p:cNvPr id="53" name="Text 51"/>
          <p:cNvSpPr txBox="1"/>
          <p:nvPr/>
        </p:nvSpPr>
        <p:spPr>
          <a:xfrm>
            <a:off x="10586466"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6 · deltas</a:t>
            </a:r>
            <a:endParaRPr lang="en-US" sz="850" dirty="0"/>
          </a:p>
        </p:txBody>
      </p:sp>
      <p:sp>
        <p:nvSpPr>
          <p:cNvPr id="54" name="Text 52"/>
          <p:cNvSpPr txBox="1"/>
          <p:nvPr/>
        </p:nvSpPr>
        <p:spPr>
          <a:xfrm>
            <a:off x="548640" y="5440680"/>
            <a:ext cx="13716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Balance</a:t>
            </a:r>
            <a:endParaRPr lang="en-US" sz="950" dirty="0"/>
          </a:p>
        </p:txBody>
      </p:sp>
      <p:sp>
        <p:nvSpPr>
          <p:cNvPr id="55" name="Shape 53"/>
          <p:cNvSpPr/>
          <p:nvPr/>
        </p:nvSpPr>
        <p:spPr>
          <a:xfrm>
            <a:off x="1554480" y="5440680"/>
            <a:ext cx="3291840" cy="228600"/>
          </a:xfrm>
          <a:prstGeom prst="rect">
            <a:avLst/>
          </a:prstGeom>
          <a:solidFill>
            <a:schemeClr val="bg1"/>
          </a:solidFill>
          <a:ln w="9525">
            <a:solidFill>
              <a:schemeClr val="accent4"/>
            </a:solidFill>
            <a:prstDash val="solid"/>
          </a:ln>
        </p:spPr>
      </p:sp>
      <p:sp>
        <p:nvSpPr>
          <p:cNvPr id="56" name="Shape 54"/>
          <p:cNvSpPr/>
          <p:nvPr/>
        </p:nvSpPr>
        <p:spPr>
          <a:xfrm>
            <a:off x="4846320" y="5440680"/>
            <a:ext cx="1371600" cy="228600"/>
          </a:xfrm>
          <a:prstGeom prst="rect">
            <a:avLst/>
          </a:prstGeom>
          <a:solidFill>
            <a:schemeClr val="tx1"/>
          </a:solidFill>
          <a:ln/>
        </p:spPr>
      </p:sp>
      <p:sp>
        <p:nvSpPr>
          <p:cNvPr id="57" name="Shape 55"/>
          <p:cNvSpPr/>
          <p:nvPr/>
        </p:nvSpPr>
        <p:spPr>
          <a:xfrm>
            <a:off x="6217920" y="5440680"/>
            <a:ext cx="548640" cy="228600"/>
          </a:xfrm>
          <a:prstGeom prst="rect">
            <a:avLst/>
          </a:prstGeom>
          <a:solidFill>
            <a:schemeClr val="bg2"/>
          </a:solidFill>
          <a:ln/>
        </p:spPr>
      </p:sp>
      <p:sp>
        <p:nvSpPr>
          <p:cNvPr id="58" name="Shape 56"/>
          <p:cNvSpPr/>
          <p:nvPr/>
        </p:nvSpPr>
        <p:spPr>
          <a:xfrm>
            <a:off x="6766560" y="5440680"/>
            <a:ext cx="274320" cy="228600"/>
          </a:xfrm>
          <a:prstGeom prst="rect">
            <a:avLst/>
          </a:prstGeom>
          <a:solidFill>
            <a:schemeClr val="accent1"/>
          </a:solidFill>
          <a:ln/>
        </p:spPr>
      </p:sp>
      <p:sp>
        <p:nvSpPr>
          <p:cNvPr id="59" name="Text 57"/>
          <p:cNvSpPr txBox="1"/>
          <p:nvPr/>
        </p:nvSpPr>
        <p:spPr>
          <a:xfrm>
            <a:off x="7269480" y="5440680"/>
            <a:ext cx="41148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60% white · 25% navy · 10% neutrals · 5% lime</a:t>
            </a:r>
            <a:endParaRPr lang="en-US" sz="950" dirty="0"/>
          </a:p>
        </p:txBody>
      </p:sp>
      <p:sp>
        <p:nvSpPr>
          <p:cNvPr id="60" name="Text 58"/>
          <p:cNvSpPr txBox="1"/>
          <p:nvPr/>
        </p:nvSpPr>
        <p:spPr>
          <a:xfrm>
            <a:off x="548640" y="5806440"/>
            <a:ext cx="10058400" cy="228600"/>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Lime rule: never set lime text on white — use lime as a fill behind navy text, or as text on navy.</a:t>
            </a:r>
            <a:endParaRPr lang="en-US" sz="9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Typography system</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Manrope for display and headings, Inter for reading. Two families, nine roles.</a:t>
            </a:r>
            <a:endParaRPr lang="en-US" sz="1150" dirty="0"/>
          </a:p>
        </p:txBody>
      </p:sp>
      <p:sp>
        <p:nvSpPr>
          <p:cNvPr id="6" name="Text 4"/>
          <p:cNvSpPr txBox="1"/>
          <p:nvPr/>
        </p:nvSpPr>
        <p:spPr>
          <a:xfrm>
            <a:off x="54864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ROLE</a:t>
            </a:r>
            <a:endParaRPr lang="en-US" sz="900" dirty="0"/>
          </a:p>
        </p:txBody>
      </p:sp>
      <p:sp>
        <p:nvSpPr>
          <p:cNvPr id="7" name="Text 5"/>
          <p:cNvSpPr txBox="1"/>
          <p:nvPr/>
        </p:nvSpPr>
        <p:spPr>
          <a:xfrm>
            <a:off x="292608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TYPEFACE</a:t>
            </a:r>
            <a:endParaRPr lang="en-US" sz="900" dirty="0"/>
          </a:p>
        </p:txBody>
      </p:sp>
      <p:sp>
        <p:nvSpPr>
          <p:cNvPr id="8" name="Text 6"/>
          <p:cNvSpPr txBox="1"/>
          <p:nvPr/>
        </p:nvSpPr>
        <p:spPr>
          <a:xfrm>
            <a:off x="512064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SIZE</a:t>
            </a:r>
            <a:endParaRPr lang="en-US" sz="900" dirty="0"/>
          </a:p>
        </p:txBody>
      </p:sp>
      <p:sp>
        <p:nvSpPr>
          <p:cNvPr id="9" name="Text 7"/>
          <p:cNvSpPr txBox="1"/>
          <p:nvPr/>
        </p:nvSpPr>
        <p:spPr>
          <a:xfrm>
            <a:off x="685800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SAMPLE</a:t>
            </a:r>
            <a:endParaRPr lang="en-US" sz="900" dirty="0"/>
          </a:p>
        </p:txBody>
      </p:sp>
      <p:sp>
        <p:nvSpPr>
          <p:cNvPr id="10" name="Shape 8"/>
          <p:cNvSpPr/>
          <p:nvPr/>
        </p:nvSpPr>
        <p:spPr>
          <a:xfrm>
            <a:off x="548640" y="2148840"/>
            <a:ext cx="11094415" cy="0"/>
          </a:xfrm>
          <a:prstGeom prst="line">
            <a:avLst/>
          </a:prstGeom>
          <a:noFill/>
          <a:ln w="15875">
            <a:solidFill>
              <a:schemeClr val="tx1"/>
            </a:solidFill>
            <a:prstDash val="solid"/>
          </a:ln>
        </p:spPr>
      </p:sp>
      <p:sp>
        <p:nvSpPr>
          <p:cNvPr id="11" name="Text 9"/>
          <p:cNvSpPr txBox="1"/>
          <p:nvPr/>
        </p:nvSpPr>
        <p:spPr>
          <a:xfrm>
            <a:off x="548640" y="21488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Display / Hero</a:t>
            </a:r>
            <a:endParaRPr lang="en-US" sz="1100" dirty="0"/>
          </a:p>
        </p:txBody>
      </p:sp>
      <p:sp>
        <p:nvSpPr>
          <p:cNvPr id="12" name="Text 10"/>
          <p:cNvSpPr txBox="1"/>
          <p:nvPr/>
        </p:nvSpPr>
        <p:spPr>
          <a:xfrm>
            <a:off x="2926080" y="21488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ExtraBold</a:t>
            </a:r>
            <a:endParaRPr lang="en-US" sz="1050" dirty="0"/>
          </a:p>
        </p:txBody>
      </p:sp>
      <p:sp>
        <p:nvSpPr>
          <p:cNvPr id="13" name="Text 11"/>
          <p:cNvSpPr txBox="1"/>
          <p:nvPr/>
        </p:nvSpPr>
        <p:spPr>
          <a:xfrm>
            <a:off x="5120640" y="21488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60–110 pt</a:t>
            </a:r>
            <a:endParaRPr lang="en-US" sz="1050" dirty="0"/>
          </a:p>
        </p:txBody>
      </p:sp>
      <p:sp>
        <p:nvSpPr>
          <p:cNvPr id="14" name="Text 12"/>
          <p:cNvSpPr txBox="1"/>
          <p:nvPr/>
        </p:nvSpPr>
        <p:spPr>
          <a:xfrm>
            <a:off x="6858000" y="2148840"/>
            <a:ext cx="4785055" cy="457200"/>
          </a:xfrm>
          <a:prstGeom prst="rect">
            <a:avLst/>
          </a:prstGeom>
          <a:noFill/>
          <a:ln/>
        </p:spPr>
        <p:txBody>
          <a:bodyPr wrap="square" lIns="0" tIns="0" rIns="0" bIns="0" rtlCol="0" anchor="ctr"/>
          <a:lstStyle/>
          <a:p>
            <a:pPr algn="l" indent="0" marL="0">
              <a:buNone/>
            </a:pPr>
            <a:r>
              <a:rPr lang="en-US" sz="3400" dirty="0">
                <a:solidFill>
                  <a:schemeClr val="tx1"/>
                </a:solidFill>
                <a:latin typeface="Manrope ExtraBold" pitchFamily="34" charset="0"/>
                <a:ea typeface="Manrope ExtraBold" pitchFamily="34" charset="-122"/>
                <a:cs typeface="Manrope ExtraBold" pitchFamily="34" charset="-120"/>
              </a:rPr>
              <a:t>Grow.</a:t>
            </a:r>
            <a:endParaRPr lang="en-US" sz="3400" dirty="0"/>
          </a:p>
        </p:txBody>
      </p:sp>
      <p:sp>
        <p:nvSpPr>
          <p:cNvPr id="15" name="Shape 13"/>
          <p:cNvSpPr/>
          <p:nvPr/>
        </p:nvSpPr>
        <p:spPr>
          <a:xfrm>
            <a:off x="548640" y="2606040"/>
            <a:ext cx="11094415" cy="0"/>
          </a:xfrm>
          <a:prstGeom prst="line">
            <a:avLst/>
          </a:prstGeom>
          <a:noFill/>
          <a:ln w="9525">
            <a:solidFill>
              <a:schemeClr val="accent4"/>
            </a:solidFill>
            <a:prstDash val="solid"/>
          </a:ln>
        </p:spPr>
      </p:sp>
      <p:sp>
        <p:nvSpPr>
          <p:cNvPr id="16" name="Text 14"/>
          <p:cNvSpPr txBox="1"/>
          <p:nvPr/>
        </p:nvSpPr>
        <p:spPr>
          <a:xfrm>
            <a:off x="548640" y="26060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H1 · Slide title</a:t>
            </a:r>
            <a:endParaRPr lang="en-US" sz="1100" dirty="0"/>
          </a:p>
        </p:txBody>
      </p:sp>
      <p:sp>
        <p:nvSpPr>
          <p:cNvPr id="17" name="Text 15"/>
          <p:cNvSpPr txBox="1"/>
          <p:nvPr/>
        </p:nvSpPr>
        <p:spPr>
          <a:xfrm>
            <a:off x="2926080" y="26060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Bold</a:t>
            </a:r>
            <a:endParaRPr lang="en-US" sz="1050" dirty="0"/>
          </a:p>
        </p:txBody>
      </p:sp>
      <p:sp>
        <p:nvSpPr>
          <p:cNvPr id="18" name="Text 16"/>
          <p:cNvSpPr txBox="1"/>
          <p:nvPr/>
        </p:nvSpPr>
        <p:spPr>
          <a:xfrm>
            <a:off x="5120640" y="26060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28 pt</a:t>
            </a:r>
            <a:endParaRPr lang="en-US" sz="1050" dirty="0"/>
          </a:p>
        </p:txBody>
      </p:sp>
      <p:sp>
        <p:nvSpPr>
          <p:cNvPr id="19" name="Text 17"/>
          <p:cNvSpPr txBox="1"/>
          <p:nvPr/>
        </p:nvSpPr>
        <p:spPr>
          <a:xfrm>
            <a:off x="6858000" y="2606040"/>
            <a:ext cx="4785055" cy="457200"/>
          </a:xfrm>
          <a:prstGeom prst="rect">
            <a:avLst/>
          </a:prstGeom>
          <a:noFill/>
          <a:ln/>
        </p:spPr>
        <p:txBody>
          <a:bodyPr wrap="square" lIns="0" tIns="0" rIns="0" bIns="0" rtlCol="0" anchor="ctr"/>
          <a:lstStyle/>
          <a:p>
            <a:pPr algn="l" indent="0" marL="0">
              <a:buNone/>
            </a:pPr>
            <a:r>
              <a:rPr lang="en-US" sz="2200" b="1" dirty="0">
                <a:solidFill>
                  <a:schemeClr val="tx1"/>
                </a:solidFill>
                <a:latin typeface="Manrope" pitchFamily="34" charset="0"/>
                <a:ea typeface="Manrope" pitchFamily="34" charset="-122"/>
                <a:cs typeface="Manrope" pitchFamily="34" charset="-120"/>
              </a:rPr>
              <a:t>Headline states the message</a:t>
            </a:r>
            <a:endParaRPr lang="en-US" sz="2200" dirty="0"/>
          </a:p>
        </p:txBody>
      </p:sp>
      <p:sp>
        <p:nvSpPr>
          <p:cNvPr id="20" name="Shape 18"/>
          <p:cNvSpPr/>
          <p:nvPr/>
        </p:nvSpPr>
        <p:spPr>
          <a:xfrm>
            <a:off x="548640" y="3063240"/>
            <a:ext cx="11094415" cy="0"/>
          </a:xfrm>
          <a:prstGeom prst="line">
            <a:avLst/>
          </a:prstGeom>
          <a:noFill/>
          <a:ln w="9525">
            <a:solidFill>
              <a:schemeClr val="accent4"/>
            </a:solidFill>
            <a:prstDash val="solid"/>
          </a:ln>
        </p:spPr>
      </p:sp>
      <p:sp>
        <p:nvSpPr>
          <p:cNvPr id="21" name="Text 19"/>
          <p:cNvSpPr txBox="1"/>
          <p:nvPr/>
        </p:nvSpPr>
        <p:spPr>
          <a:xfrm>
            <a:off x="548640" y="30632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H2 · Section</a:t>
            </a:r>
            <a:endParaRPr lang="en-US" sz="1100" dirty="0"/>
          </a:p>
        </p:txBody>
      </p:sp>
      <p:sp>
        <p:nvSpPr>
          <p:cNvPr id="22" name="Text 20"/>
          <p:cNvSpPr txBox="1"/>
          <p:nvPr/>
        </p:nvSpPr>
        <p:spPr>
          <a:xfrm>
            <a:off x="2926080" y="30632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Bold</a:t>
            </a:r>
            <a:endParaRPr lang="en-US" sz="1050" dirty="0"/>
          </a:p>
        </p:txBody>
      </p:sp>
      <p:sp>
        <p:nvSpPr>
          <p:cNvPr id="23" name="Text 21"/>
          <p:cNvSpPr txBox="1"/>
          <p:nvPr/>
        </p:nvSpPr>
        <p:spPr>
          <a:xfrm>
            <a:off x="5120640" y="30632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18–24 pt</a:t>
            </a:r>
            <a:endParaRPr lang="en-US" sz="1050" dirty="0"/>
          </a:p>
        </p:txBody>
      </p:sp>
      <p:sp>
        <p:nvSpPr>
          <p:cNvPr id="24" name="Text 22"/>
          <p:cNvSpPr txBox="1"/>
          <p:nvPr/>
        </p:nvSpPr>
        <p:spPr>
          <a:xfrm>
            <a:off x="6858000" y="3063240"/>
            <a:ext cx="4785055" cy="457200"/>
          </a:xfrm>
          <a:prstGeom prst="rect">
            <a:avLst/>
          </a:prstGeom>
          <a:noFill/>
          <a:ln/>
        </p:spPr>
        <p:txBody>
          <a:bodyPr wrap="square" lIns="0" tIns="0" rIns="0" bIns="0" rtlCol="0" anchor="ctr"/>
          <a:lstStyle/>
          <a:p>
            <a:pPr algn="l" indent="0" marL="0">
              <a:buNone/>
            </a:pPr>
            <a:r>
              <a:rPr lang="en-US" sz="1800" b="1" dirty="0">
                <a:solidFill>
                  <a:schemeClr val="tx1"/>
                </a:solidFill>
                <a:latin typeface="Manrope" pitchFamily="34" charset="0"/>
                <a:ea typeface="Manrope" pitchFamily="34" charset="-122"/>
                <a:cs typeface="Manrope" pitchFamily="34" charset="-120"/>
              </a:rPr>
              <a:t>Market opportunity</a:t>
            </a:r>
            <a:endParaRPr lang="en-US" sz="1800" dirty="0"/>
          </a:p>
        </p:txBody>
      </p:sp>
      <p:sp>
        <p:nvSpPr>
          <p:cNvPr id="25" name="Shape 23"/>
          <p:cNvSpPr/>
          <p:nvPr/>
        </p:nvSpPr>
        <p:spPr>
          <a:xfrm>
            <a:off x="548640" y="3520440"/>
            <a:ext cx="11094415" cy="0"/>
          </a:xfrm>
          <a:prstGeom prst="line">
            <a:avLst/>
          </a:prstGeom>
          <a:noFill/>
          <a:ln w="9525">
            <a:solidFill>
              <a:schemeClr val="accent4"/>
            </a:solidFill>
            <a:prstDash val="solid"/>
          </a:ln>
        </p:spPr>
      </p:sp>
      <p:sp>
        <p:nvSpPr>
          <p:cNvPr id="26" name="Text 24"/>
          <p:cNvSpPr txBox="1"/>
          <p:nvPr/>
        </p:nvSpPr>
        <p:spPr>
          <a:xfrm>
            <a:off x="548640" y="35204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H3 · Card title</a:t>
            </a:r>
            <a:endParaRPr lang="en-US" sz="1100" dirty="0"/>
          </a:p>
        </p:txBody>
      </p:sp>
      <p:sp>
        <p:nvSpPr>
          <p:cNvPr id="27" name="Text 25"/>
          <p:cNvSpPr txBox="1"/>
          <p:nvPr/>
        </p:nvSpPr>
        <p:spPr>
          <a:xfrm>
            <a:off x="2926080" y="35204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Bold</a:t>
            </a:r>
            <a:endParaRPr lang="en-US" sz="1050" dirty="0"/>
          </a:p>
        </p:txBody>
      </p:sp>
      <p:sp>
        <p:nvSpPr>
          <p:cNvPr id="28" name="Text 26"/>
          <p:cNvSpPr txBox="1"/>
          <p:nvPr/>
        </p:nvSpPr>
        <p:spPr>
          <a:xfrm>
            <a:off x="5120640" y="35204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13–16 pt</a:t>
            </a:r>
            <a:endParaRPr lang="en-US" sz="1050" dirty="0"/>
          </a:p>
        </p:txBody>
      </p:sp>
      <p:sp>
        <p:nvSpPr>
          <p:cNvPr id="29" name="Text 27"/>
          <p:cNvSpPr txBox="1"/>
          <p:nvPr/>
        </p:nvSpPr>
        <p:spPr>
          <a:xfrm>
            <a:off x="6858000" y="3520440"/>
            <a:ext cx="4785055" cy="457200"/>
          </a:xfrm>
          <a:prstGeom prst="rect">
            <a:avLst/>
          </a:prstGeom>
          <a:noFill/>
          <a:ln/>
        </p:spPr>
        <p:txBody>
          <a:bodyPr wrap="square" lIns="0" tIns="0" rIns="0" bIns="0" rtlCol="0" anchor="ctr"/>
          <a:lstStyle/>
          <a:p>
            <a:pPr algn="l" indent="0" marL="0">
              <a:buNone/>
            </a:pPr>
            <a:r>
              <a:rPr lang="en-US" sz="1400" b="1" dirty="0">
                <a:solidFill>
                  <a:schemeClr val="tx1"/>
                </a:solidFill>
                <a:latin typeface="Manrope" pitchFamily="34" charset="0"/>
                <a:ea typeface="Manrope" pitchFamily="34" charset="-122"/>
                <a:cs typeface="Manrope" pitchFamily="34" charset="-120"/>
              </a:rPr>
              <a:t>Forecast accuracy</a:t>
            </a:r>
            <a:endParaRPr lang="en-US" sz="1400" dirty="0"/>
          </a:p>
        </p:txBody>
      </p:sp>
      <p:sp>
        <p:nvSpPr>
          <p:cNvPr id="30" name="Shape 28"/>
          <p:cNvSpPr/>
          <p:nvPr/>
        </p:nvSpPr>
        <p:spPr>
          <a:xfrm>
            <a:off x="548640" y="3977640"/>
            <a:ext cx="11094415" cy="0"/>
          </a:xfrm>
          <a:prstGeom prst="line">
            <a:avLst/>
          </a:prstGeom>
          <a:noFill/>
          <a:ln w="9525">
            <a:solidFill>
              <a:schemeClr val="accent4"/>
            </a:solidFill>
            <a:prstDash val="solid"/>
          </a:ln>
        </p:spPr>
      </p:sp>
      <p:sp>
        <p:nvSpPr>
          <p:cNvPr id="31" name="Text 29"/>
          <p:cNvSpPr txBox="1"/>
          <p:nvPr/>
        </p:nvSpPr>
        <p:spPr>
          <a:xfrm>
            <a:off x="548640" y="39776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KPI</a:t>
            </a:r>
            <a:endParaRPr lang="en-US" sz="1100" dirty="0"/>
          </a:p>
        </p:txBody>
      </p:sp>
      <p:sp>
        <p:nvSpPr>
          <p:cNvPr id="32" name="Text 30"/>
          <p:cNvSpPr txBox="1"/>
          <p:nvPr/>
        </p:nvSpPr>
        <p:spPr>
          <a:xfrm>
            <a:off x="2926080" y="39776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ExtraBold</a:t>
            </a:r>
            <a:endParaRPr lang="en-US" sz="1050" dirty="0"/>
          </a:p>
        </p:txBody>
      </p:sp>
      <p:sp>
        <p:nvSpPr>
          <p:cNvPr id="33" name="Text 31"/>
          <p:cNvSpPr txBox="1"/>
          <p:nvPr/>
        </p:nvSpPr>
        <p:spPr>
          <a:xfrm>
            <a:off x="5120640" y="39776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24–48 pt</a:t>
            </a:r>
            <a:endParaRPr lang="en-US" sz="1050" dirty="0"/>
          </a:p>
        </p:txBody>
      </p:sp>
      <p:sp>
        <p:nvSpPr>
          <p:cNvPr id="34" name="Text 32"/>
          <p:cNvSpPr txBox="1"/>
          <p:nvPr/>
        </p:nvSpPr>
        <p:spPr>
          <a:xfrm>
            <a:off x="6858000" y="3977640"/>
            <a:ext cx="4785055" cy="457200"/>
          </a:xfrm>
          <a:prstGeom prst="rect">
            <a:avLst/>
          </a:prstGeom>
          <a:noFill/>
          <a:ln/>
        </p:spPr>
        <p:txBody>
          <a:bodyPr wrap="square" lIns="0" tIns="0" rIns="0" bIns="0" rtlCol="0" anchor="ctr"/>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$48.6M</a:t>
            </a:r>
            <a:endParaRPr lang="en-US" sz="2600" dirty="0"/>
          </a:p>
        </p:txBody>
      </p:sp>
      <p:sp>
        <p:nvSpPr>
          <p:cNvPr id="35" name="Shape 33"/>
          <p:cNvSpPr/>
          <p:nvPr/>
        </p:nvSpPr>
        <p:spPr>
          <a:xfrm>
            <a:off x="548640" y="4434840"/>
            <a:ext cx="11094415" cy="0"/>
          </a:xfrm>
          <a:prstGeom prst="line">
            <a:avLst/>
          </a:prstGeom>
          <a:noFill/>
          <a:ln w="9525">
            <a:solidFill>
              <a:schemeClr val="accent4"/>
            </a:solidFill>
            <a:prstDash val="solid"/>
          </a:ln>
        </p:spPr>
      </p:sp>
      <p:sp>
        <p:nvSpPr>
          <p:cNvPr id="36" name="Text 34"/>
          <p:cNvSpPr txBox="1"/>
          <p:nvPr/>
        </p:nvSpPr>
        <p:spPr>
          <a:xfrm>
            <a:off x="548640" y="44348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Body</a:t>
            </a:r>
            <a:endParaRPr lang="en-US" sz="1100" dirty="0"/>
          </a:p>
        </p:txBody>
      </p:sp>
      <p:sp>
        <p:nvSpPr>
          <p:cNvPr id="37" name="Text 35"/>
          <p:cNvSpPr txBox="1"/>
          <p:nvPr/>
        </p:nvSpPr>
        <p:spPr>
          <a:xfrm>
            <a:off x="2926080" y="44348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Regular</a:t>
            </a:r>
            <a:endParaRPr lang="en-US" sz="1050" dirty="0"/>
          </a:p>
        </p:txBody>
      </p:sp>
      <p:sp>
        <p:nvSpPr>
          <p:cNvPr id="38" name="Text 36"/>
          <p:cNvSpPr txBox="1"/>
          <p:nvPr/>
        </p:nvSpPr>
        <p:spPr>
          <a:xfrm>
            <a:off x="5120640" y="44348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11–14 pt</a:t>
            </a:r>
            <a:endParaRPr lang="en-US" sz="1050" dirty="0"/>
          </a:p>
        </p:txBody>
      </p:sp>
      <p:sp>
        <p:nvSpPr>
          <p:cNvPr id="39" name="Text 37"/>
          <p:cNvSpPr txBox="1"/>
          <p:nvPr/>
        </p:nvSpPr>
        <p:spPr>
          <a:xfrm>
            <a:off x="6858000" y="4434840"/>
            <a:ext cx="4785055" cy="457200"/>
          </a:xfrm>
          <a:prstGeom prst="rect">
            <a:avLst/>
          </a:prstGeom>
          <a:noFill/>
          <a:ln/>
        </p:spPr>
        <p:txBody>
          <a:bodyPr wrap="square" lIns="0" tIns="0" rIns="0" bIns="0" rtlCol="0" anchor="ctr"/>
          <a:lstStyle/>
          <a:p>
            <a:pPr algn="l" indent="0" marL="0">
              <a:buNone/>
            </a:pPr>
            <a:r>
              <a:rPr lang="en-US" sz="1200" dirty="0">
                <a:solidFill>
                  <a:schemeClr val="tx1"/>
                </a:solidFill>
                <a:latin typeface="Inter" pitchFamily="34" charset="0"/>
                <a:ea typeface="Inter" pitchFamily="34" charset="-122"/>
                <a:cs typeface="Inter" pitchFamily="34" charset="-120"/>
              </a:rPr>
              <a:t>Clear, concise supporting copy for every slide.</a:t>
            </a:r>
            <a:endParaRPr lang="en-US" sz="1200" dirty="0"/>
          </a:p>
        </p:txBody>
      </p:sp>
      <p:sp>
        <p:nvSpPr>
          <p:cNvPr id="40" name="Shape 38"/>
          <p:cNvSpPr/>
          <p:nvPr/>
        </p:nvSpPr>
        <p:spPr>
          <a:xfrm>
            <a:off x="548640" y="4892040"/>
            <a:ext cx="11094415" cy="0"/>
          </a:xfrm>
          <a:prstGeom prst="line">
            <a:avLst/>
          </a:prstGeom>
          <a:noFill/>
          <a:ln w="9525">
            <a:solidFill>
              <a:schemeClr val="accent4"/>
            </a:solidFill>
            <a:prstDash val="solid"/>
          </a:ln>
        </p:spPr>
      </p:sp>
      <p:sp>
        <p:nvSpPr>
          <p:cNvPr id="41" name="Text 39"/>
          <p:cNvSpPr txBox="1"/>
          <p:nvPr/>
        </p:nvSpPr>
        <p:spPr>
          <a:xfrm>
            <a:off x="548640" y="48920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Label / Tag</a:t>
            </a:r>
            <a:endParaRPr lang="en-US" sz="1100" dirty="0"/>
          </a:p>
        </p:txBody>
      </p:sp>
      <p:sp>
        <p:nvSpPr>
          <p:cNvPr id="42" name="Text 40"/>
          <p:cNvSpPr txBox="1"/>
          <p:nvPr/>
        </p:nvSpPr>
        <p:spPr>
          <a:xfrm>
            <a:off x="2926080" y="48920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Medium</a:t>
            </a:r>
            <a:endParaRPr lang="en-US" sz="1050" dirty="0"/>
          </a:p>
        </p:txBody>
      </p:sp>
      <p:sp>
        <p:nvSpPr>
          <p:cNvPr id="43" name="Text 41"/>
          <p:cNvSpPr txBox="1"/>
          <p:nvPr/>
        </p:nvSpPr>
        <p:spPr>
          <a:xfrm>
            <a:off x="5120640" y="48920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9–11 pt, caps +1.5</a:t>
            </a:r>
            <a:endParaRPr lang="en-US" sz="1050" dirty="0"/>
          </a:p>
        </p:txBody>
      </p:sp>
      <p:sp>
        <p:nvSpPr>
          <p:cNvPr id="44" name="Text 42"/>
          <p:cNvSpPr txBox="1"/>
          <p:nvPr/>
        </p:nvSpPr>
        <p:spPr>
          <a:xfrm>
            <a:off x="6858000" y="4892040"/>
            <a:ext cx="4785055" cy="457200"/>
          </a:xfrm>
          <a:prstGeom prst="rect">
            <a:avLst/>
          </a:prstGeom>
          <a:noFill/>
          <a:ln/>
        </p:spPr>
        <p:txBody>
          <a:bodyPr wrap="square" lIns="0" tIns="0" rIns="0" bIns="0" rtlCol="0" anchor="ctr"/>
          <a:lstStyle/>
          <a:p>
            <a:pPr algn="l" indent="0" marL="0">
              <a:buNone/>
            </a:pPr>
            <a:r>
              <a:rPr lang="en-US" sz="1000" spc="150" kern="0" dirty="0">
                <a:solidFill>
                  <a:schemeClr val="tx1"/>
                </a:solidFill>
                <a:latin typeface="Inter Medium" pitchFamily="34" charset="0"/>
                <a:ea typeface="Inter Medium" pitchFamily="34" charset="-122"/>
                <a:cs typeface="Inter Medium" pitchFamily="34" charset="-120"/>
              </a:rPr>
              <a:t>SECTION LABEL</a:t>
            </a:r>
            <a:endParaRPr lang="en-US" sz="1000" dirty="0"/>
          </a:p>
        </p:txBody>
      </p:sp>
      <p:sp>
        <p:nvSpPr>
          <p:cNvPr id="45" name="Shape 43"/>
          <p:cNvSpPr/>
          <p:nvPr/>
        </p:nvSpPr>
        <p:spPr>
          <a:xfrm>
            <a:off x="548640" y="5349240"/>
            <a:ext cx="11094415" cy="0"/>
          </a:xfrm>
          <a:prstGeom prst="line">
            <a:avLst/>
          </a:prstGeom>
          <a:noFill/>
          <a:ln w="9525">
            <a:solidFill>
              <a:schemeClr val="accent4"/>
            </a:solidFill>
            <a:prstDash val="solid"/>
          </a:ln>
        </p:spPr>
      </p:sp>
      <p:sp>
        <p:nvSpPr>
          <p:cNvPr id="46" name="Text 44"/>
          <p:cNvSpPr txBox="1"/>
          <p:nvPr/>
        </p:nvSpPr>
        <p:spPr>
          <a:xfrm>
            <a:off x="548640" y="53492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Chart labels</a:t>
            </a:r>
            <a:endParaRPr lang="en-US" sz="1100" dirty="0"/>
          </a:p>
        </p:txBody>
      </p:sp>
      <p:sp>
        <p:nvSpPr>
          <p:cNvPr id="47" name="Text 45"/>
          <p:cNvSpPr txBox="1"/>
          <p:nvPr/>
        </p:nvSpPr>
        <p:spPr>
          <a:xfrm>
            <a:off x="2926080" y="53492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 Inter Medium</a:t>
            </a:r>
            <a:endParaRPr lang="en-US" sz="1050" dirty="0"/>
          </a:p>
        </p:txBody>
      </p:sp>
      <p:sp>
        <p:nvSpPr>
          <p:cNvPr id="48" name="Text 46"/>
          <p:cNvSpPr txBox="1"/>
          <p:nvPr/>
        </p:nvSpPr>
        <p:spPr>
          <a:xfrm>
            <a:off x="5120640" y="53492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9–10.5 pt</a:t>
            </a:r>
            <a:endParaRPr lang="en-US" sz="1050" dirty="0"/>
          </a:p>
        </p:txBody>
      </p:sp>
      <p:sp>
        <p:nvSpPr>
          <p:cNvPr id="49" name="Text 47"/>
          <p:cNvSpPr txBox="1"/>
          <p:nvPr/>
        </p:nvSpPr>
        <p:spPr>
          <a:xfrm>
            <a:off x="6858000" y="5349240"/>
            <a:ext cx="4785055" cy="457200"/>
          </a:xfrm>
          <a:prstGeom prst="rect">
            <a:avLst/>
          </a:prstGeom>
          <a:noFill/>
          <a:ln/>
        </p:spPr>
        <p:txBody>
          <a:bodyPr wrap="square" lIns="0" tIns="0" rIns="0" bIns="0" rtlCol="0" anchor="ctr"/>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Q1   Q2   Q3   $12.9M</a:t>
            </a:r>
            <a:endParaRPr lang="en-US" sz="1000" dirty="0"/>
          </a:p>
        </p:txBody>
      </p:sp>
      <p:sp>
        <p:nvSpPr>
          <p:cNvPr id="50" name="Shape 48"/>
          <p:cNvSpPr/>
          <p:nvPr/>
        </p:nvSpPr>
        <p:spPr>
          <a:xfrm>
            <a:off x="548640" y="5806440"/>
            <a:ext cx="11094415" cy="0"/>
          </a:xfrm>
          <a:prstGeom prst="line">
            <a:avLst/>
          </a:prstGeom>
          <a:noFill/>
          <a:ln w="9525">
            <a:solidFill>
              <a:schemeClr val="accent4"/>
            </a:solidFill>
            <a:prstDash val="solid"/>
          </a:ln>
        </p:spPr>
      </p:sp>
      <p:sp>
        <p:nvSpPr>
          <p:cNvPr id="51" name="Text 49"/>
          <p:cNvSpPr txBox="1"/>
          <p:nvPr/>
        </p:nvSpPr>
        <p:spPr>
          <a:xfrm>
            <a:off x="548640" y="58064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Caption / Footnote</a:t>
            </a:r>
            <a:endParaRPr lang="en-US" sz="1100" dirty="0"/>
          </a:p>
        </p:txBody>
      </p:sp>
      <p:sp>
        <p:nvSpPr>
          <p:cNvPr id="52" name="Text 50"/>
          <p:cNvSpPr txBox="1"/>
          <p:nvPr/>
        </p:nvSpPr>
        <p:spPr>
          <a:xfrm>
            <a:off x="2926080" y="58064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Regular</a:t>
            </a:r>
            <a:endParaRPr lang="en-US" sz="1050" dirty="0"/>
          </a:p>
        </p:txBody>
      </p:sp>
      <p:sp>
        <p:nvSpPr>
          <p:cNvPr id="53" name="Text 51"/>
          <p:cNvSpPr txBox="1"/>
          <p:nvPr/>
        </p:nvSpPr>
        <p:spPr>
          <a:xfrm>
            <a:off x="5120640" y="58064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8–9 pt</a:t>
            </a:r>
            <a:endParaRPr lang="en-US" sz="1050" dirty="0"/>
          </a:p>
        </p:txBody>
      </p:sp>
      <p:sp>
        <p:nvSpPr>
          <p:cNvPr id="54" name="Text 52"/>
          <p:cNvSpPr txBox="1"/>
          <p:nvPr/>
        </p:nvSpPr>
        <p:spPr>
          <a:xfrm>
            <a:off x="6858000" y="5806440"/>
            <a:ext cx="4785055" cy="457200"/>
          </a:xfrm>
          <a:prstGeom prst="rect">
            <a:avLst/>
          </a:prstGeom>
          <a:noFill/>
          <a:ln/>
        </p:spPr>
        <p:txBody>
          <a:bodyPr wrap="square" lIns="0" tIns="0" rIns="0" bIns="0" rtlCol="0" anchor="ctr"/>
          <a:lstStyle/>
          <a:p>
            <a:pPr algn="l" indent="0" marL="0">
              <a:buNone/>
            </a:pPr>
            <a:r>
              <a:rPr lang="en-US" sz="900" dirty="0">
                <a:solidFill>
                  <a:schemeClr val="tx1"/>
                </a:solidFill>
                <a:latin typeface="Inter" pitchFamily="34" charset="0"/>
                <a:ea typeface="Inter" pitchFamily="34" charset="-122"/>
                <a:cs typeface="Inter" pitchFamily="34" charset="-120"/>
              </a:rPr>
              <a:t>Source: Company analysis, 2026.</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Grid, spacing and shape rules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12-column grid on a 13.33 × 7.5 in canvas. Snap objects to columns; keep gutters empty.</a:t>
            </a:r>
            <a:endParaRPr lang="en-US" sz="1150" dirty="0"/>
          </a:p>
        </p:txBody>
      </p:sp>
      <p:sp>
        <p:nvSpPr>
          <p:cNvPr id="6" name="Shape 4"/>
          <p:cNvSpPr/>
          <p:nvPr/>
        </p:nvSpPr>
        <p:spPr>
          <a:xfrm>
            <a:off x="548640" y="1874520"/>
            <a:ext cx="714985" cy="3017520"/>
          </a:xfrm>
          <a:prstGeom prst="rect">
            <a:avLst/>
          </a:prstGeom>
          <a:solidFill>
            <a:schemeClr val="accent1">
              <a:alpha val="65000"/>
            </a:schemeClr>
          </a:solidFill>
          <a:ln/>
        </p:spPr>
      </p:sp>
      <p:sp>
        <p:nvSpPr>
          <p:cNvPr id="7" name="Shape 5"/>
          <p:cNvSpPr/>
          <p:nvPr/>
        </p:nvSpPr>
        <p:spPr>
          <a:xfrm>
            <a:off x="1492225" y="1874520"/>
            <a:ext cx="714985" cy="3017520"/>
          </a:xfrm>
          <a:prstGeom prst="rect">
            <a:avLst/>
          </a:prstGeom>
          <a:solidFill>
            <a:schemeClr val="accent1">
              <a:alpha val="45000"/>
            </a:schemeClr>
          </a:solidFill>
          <a:ln/>
        </p:spPr>
      </p:sp>
      <p:sp>
        <p:nvSpPr>
          <p:cNvPr id="8" name="Shape 6"/>
          <p:cNvSpPr/>
          <p:nvPr/>
        </p:nvSpPr>
        <p:spPr>
          <a:xfrm>
            <a:off x="2435809" y="1874520"/>
            <a:ext cx="714985" cy="3017520"/>
          </a:xfrm>
          <a:prstGeom prst="rect">
            <a:avLst/>
          </a:prstGeom>
          <a:solidFill>
            <a:schemeClr val="accent1">
              <a:alpha val="65000"/>
            </a:schemeClr>
          </a:solidFill>
          <a:ln/>
        </p:spPr>
      </p:sp>
      <p:sp>
        <p:nvSpPr>
          <p:cNvPr id="9" name="Shape 7"/>
          <p:cNvSpPr/>
          <p:nvPr/>
        </p:nvSpPr>
        <p:spPr>
          <a:xfrm>
            <a:off x="3379394" y="1874520"/>
            <a:ext cx="714985" cy="3017520"/>
          </a:xfrm>
          <a:prstGeom prst="rect">
            <a:avLst/>
          </a:prstGeom>
          <a:solidFill>
            <a:schemeClr val="accent1">
              <a:alpha val="45000"/>
            </a:schemeClr>
          </a:solidFill>
          <a:ln/>
        </p:spPr>
      </p:sp>
      <p:sp>
        <p:nvSpPr>
          <p:cNvPr id="10" name="Shape 8"/>
          <p:cNvSpPr/>
          <p:nvPr/>
        </p:nvSpPr>
        <p:spPr>
          <a:xfrm>
            <a:off x="4322978" y="1874520"/>
            <a:ext cx="714985" cy="3017520"/>
          </a:xfrm>
          <a:prstGeom prst="rect">
            <a:avLst/>
          </a:prstGeom>
          <a:solidFill>
            <a:schemeClr val="accent1">
              <a:alpha val="65000"/>
            </a:schemeClr>
          </a:solidFill>
          <a:ln/>
        </p:spPr>
      </p:sp>
      <p:sp>
        <p:nvSpPr>
          <p:cNvPr id="11" name="Shape 9"/>
          <p:cNvSpPr/>
          <p:nvPr/>
        </p:nvSpPr>
        <p:spPr>
          <a:xfrm>
            <a:off x="5266563" y="1874520"/>
            <a:ext cx="714985" cy="3017520"/>
          </a:xfrm>
          <a:prstGeom prst="rect">
            <a:avLst/>
          </a:prstGeom>
          <a:solidFill>
            <a:schemeClr val="accent1">
              <a:alpha val="45000"/>
            </a:schemeClr>
          </a:solidFill>
          <a:ln/>
        </p:spPr>
      </p:sp>
      <p:sp>
        <p:nvSpPr>
          <p:cNvPr id="12" name="Shape 10"/>
          <p:cNvSpPr/>
          <p:nvPr/>
        </p:nvSpPr>
        <p:spPr>
          <a:xfrm>
            <a:off x="6210148" y="1874520"/>
            <a:ext cx="714985" cy="3017520"/>
          </a:xfrm>
          <a:prstGeom prst="rect">
            <a:avLst/>
          </a:prstGeom>
          <a:solidFill>
            <a:schemeClr val="accent1">
              <a:alpha val="65000"/>
            </a:schemeClr>
          </a:solidFill>
          <a:ln/>
        </p:spPr>
      </p:sp>
      <p:sp>
        <p:nvSpPr>
          <p:cNvPr id="13" name="Shape 11"/>
          <p:cNvSpPr/>
          <p:nvPr/>
        </p:nvSpPr>
        <p:spPr>
          <a:xfrm>
            <a:off x="7153732" y="1874520"/>
            <a:ext cx="714985" cy="3017520"/>
          </a:xfrm>
          <a:prstGeom prst="rect">
            <a:avLst/>
          </a:prstGeom>
          <a:solidFill>
            <a:schemeClr val="accent1">
              <a:alpha val="45000"/>
            </a:schemeClr>
          </a:solidFill>
          <a:ln/>
        </p:spPr>
      </p:sp>
      <p:sp>
        <p:nvSpPr>
          <p:cNvPr id="14" name="Shape 12"/>
          <p:cNvSpPr/>
          <p:nvPr/>
        </p:nvSpPr>
        <p:spPr>
          <a:xfrm>
            <a:off x="8097317" y="1874520"/>
            <a:ext cx="714985" cy="3017520"/>
          </a:xfrm>
          <a:prstGeom prst="rect">
            <a:avLst/>
          </a:prstGeom>
          <a:solidFill>
            <a:schemeClr val="accent1">
              <a:alpha val="65000"/>
            </a:schemeClr>
          </a:solidFill>
          <a:ln/>
        </p:spPr>
      </p:sp>
      <p:sp>
        <p:nvSpPr>
          <p:cNvPr id="15" name="Shape 13"/>
          <p:cNvSpPr/>
          <p:nvPr/>
        </p:nvSpPr>
        <p:spPr>
          <a:xfrm>
            <a:off x="9040901" y="1874520"/>
            <a:ext cx="714985" cy="3017520"/>
          </a:xfrm>
          <a:prstGeom prst="rect">
            <a:avLst/>
          </a:prstGeom>
          <a:solidFill>
            <a:schemeClr val="accent1">
              <a:alpha val="45000"/>
            </a:schemeClr>
          </a:solidFill>
          <a:ln/>
        </p:spPr>
      </p:sp>
      <p:sp>
        <p:nvSpPr>
          <p:cNvPr id="16" name="Shape 14"/>
          <p:cNvSpPr/>
          <p:nvPr/>
        </p:nvSpPr>
        <p:spPr>
          <a:xfrm>
            <a:off x="9984486" y="1874520"/>
            <a:ext cx="714985" cy="3017520"/>
          </a:xfrm>
          <a:prstGeom prst="rect">
            <a:avLst/>
          </a:prstGeom>
          <a:solidFill>
            <a:schemeClr val="accent1">
              <a:alpha val="65000"/>
            </a:schemeClr>
          </a:solidFill>
          <a:ln/>
        </p:spPr>
      </p:sp>
      <p:sp>
        <p:nvSpPr>
          <p:cNvPr id="17" name="Shape 15"/>
          <p:cNvSpPr/>
          <p:nvPr/>
        </p:nvSpPr>
        <p:spPr>
          <a:xfrm>
            <a:off x="10928071" y="1874520"/>
            <a:ext cx="714985" cy="3017520"/>
          </a:xfrm>
          <a:prstGeom prst="rect">
            <a:avLst/>
          </a:prstGeom>
          <a:solidFill>
            <a:schemeClr val="accent1">
              <a:alpha val="45000"/>
            </a:schemeClr>
          </a:solidFill>
          <a:ln/>
        </p:spPr>
      </p:sp>
      <p:sp>
        <p:nvSpPr>
          <p:cNvPr id="18" name="Text 16"/>
          <p:cNvSpPr txBox="1"/>
          <p:nvPr/>
        </p:nvSpPr>
        <p:spPr>
          <a:xfrm>
            <a:off x="640080" y="1965960"/>
            <a:ext cx="2743200" cy="228600"/>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12 columns · 0.78 in</a:t>
            </a:r>
            <a:endParaRPr lang="en-US" sz="900" dirty="0"/>
          </a:p>
        </p:txBody>
      </p:sp>
      <p:sp>
        <p:nvSpPr>
          <p:cNvPr id="19" name="Shape 17"/>
          <p:cNvSpPr/>
          <p:nvPr/>
        </p:nvSpPr>
        <p:spPr>
          <a:xfrm>
            <a:off x="18288" y="5120640"/>
            <a:ext cx="512064" cy="0"/>
          </a:xfrm>
          <a:prstGeom prst="line">
            <a:avLst/>
          </a:prstGeom>
          <a:noFill/>
          <a:ln w="12700">
            <a:solidFill>
              <a:schemeClr val="tx1"/>
            </a:solidFill>
            <a:prstDash val="solid"/>
            <a:headEnd type="triangle"/>
            <a:tailEnd type="triangle"/>
          </a:ln>
        </p:spPr>
      </p:sp>
      <p:sp>
        <p:nvSpPr>
          <p:cNvPr id="20" name="Text 18"/>
          <p:cNvSpPr txBox="1"/>
          <p:nvPr/>
        </p:nvSpPr>
        <p:spPr>
          <a:xfrm>
            <a:off x="18288" y="5212080"/>
            <a:ext cx="1280160" cy="201168"/>
          </a:xfrm>
          <a:prstGeom prst="rect">
            <a:avLst/>
          </a:prstGeom>
          <a:noFill/>
          <a:ln/>
        </p:spPr>
        <p:txBody>
          <a:bodyPr wrap="square" lIns="0" tIns="0" rIns="0" bIns="0" rtlCol="0" anchor="t"/>
          <a:lstStyle/>
          <a:p>
            <a:pPr algn="l" indent="0" marL="0">
              <a:buNone/>
            </a:pPr>
            <a:r>
              <a:rPr lang="en-US" sz="850" dirty="0">
                <a:solidFill>
                  <a:schemeClr val="tx2"/>
                </a:solidFill>
                <a:latin typeface="Inter" pitchFamily="34" charset="0"/>
                <a:ea typeface="Inter" pitchFamily="34" charset="-122"/>
                <a:cs typeface="Inter" pitchFamily="34" charset="-120"/>
              </a:rPr>
              <a:t>0.6 in margin</a:t>
            </a:r>
            <a:endParaRPr lang="en-US" sz="850" dirty="0"/>
          </a:p>
        </p:txBody>
      </p:sp>
      <p:sp>
        <p:nvSpPr>
          <p:cNvPr id="21" name="Shape 19"/>
          <p:cNvSpPr/>
          <p:nvPr/>
        </p:nvSpPr>
        <p:spPr>
          <a:xfrm>
            <a:off x="1263625" y="5120640"/>
            <a:ext cx="228600" cy="0"/>
          </a:xfrm>
          <a:prstGeom prst="line">
            <a:avLst/>
          </a:prstGeom>
          <a:noFill/>
          <a:ln w="12700">
            <a:solidFill>
              <a:schemeClr val="tx1"/>
            </a:solidFill>
            <a:prstDash val="solid"/>
          </a:ln>
        </p:spPr>
      </p:sp>
      <p:sp>
        <p:nvSpPr>
          <p:cNvPr id="22" name="Text 20"/>
          <p:cNvSpPr txBox="1"/>
          <p:nvPr/>
        </p:nvSpPr>
        <p:spPr>
          <a:xfrm>
            <a:off x="1172185" y="5212080"/>
            <a:ext cx="1280160" cy="201168"/>
          </a:xfrm>
          <a:prstGeom prst="rect">
            <a:avLst/>
          </a:prstGeom>
          <a:noFill/>
          <a:ln/>
        </p:spPr>
        <p:txBody>
          <a:bodyPr wrap="square" lIns="0" tIns="0" rIns="0" bIns="0" rtlCol="0" anchor="t"/>
          <a:lstStyle/>
          <a:p>
            <a:pPr algn="l" indent="0" marL="0">
              <a:buNone/>
            </a:pPr>
            <a:r>
              <a:rPr lang="en-US" sz="850" dirty="0">
                <a:solidFill>
                  <a:schemeClr val="tx2"/>
                </a:solidFill>
                <a:latin typeface="Inter" pitchFamily="34" charset="0"/>
                <a:ea typeface="Inter" pitchFamily="34" charset="-122"/>
                <a:cs typeface="Inter" pitchFamily="34" charset="-120"/>
              </a:rPr>
              <a:t>0.25 in gutter</a:t>
            </a:r>
            <a:endParaRPr lang="en-US" sz="850" dirty="0"/>
          </a:p>
        </p:txBody>
      </p:sp>
      <p:sp>
        <p:nvSpPr>
          <p:cNvPr id="23" name="Text 21"/>
          <p:cNvSpPr txBox="1"/>
          <p:nvPr/>
        </p:nvSpPr>
        <p:spPr>
          <a:xfrm>
            <a:off x="548640"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Margins  </a:t>
            </a:r>
            <a:pPr algn="l" indent="0" marL="0">
              <a:buNone/>
            </a:pPr>
            <a:r>
              <a:rPr lang="en-US" sz="1000" dirty="0">
                <a:solidFill>
                  <a:schemeClr val="accent3"/>
                </a:solidFill>
                <a:latin typeface="Inter" pitchFamily="34" charset="0"/>
                <a:ea typeface="Inter" pitchFamily="34" charset="-122"/>
                <a:cs typeface="Inter" pitchFamily="34" charset="-120"/>
              </a:rPr>
              <a:t>0.6 in left / right</a:t>
            </a:r>
            <a:endParaRPr lang="en-US" sz="1000" dirty="0"/>
          </a:p>
        </p:txBody>
      </p:sp>
      <p:sp>
        <p:nvSpPr>
          <p:cNvPr id="24" name="Text 22"/>
          <p:cNvSpPr txBox="1"/>
          <p:nvPr/>
        </p:nvSpPr>
        <p:spPr>
          <a:xfrm>
            <a:off x="3379394"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Title zone  </a:t>
            </a:r>
            <a:pPr algn="l" indent="0" marL="0">
              <a:buNone/>
            </a:pPr>
            <a:r>
              <a:rPr lang="en-US" sz="1000" dirty="0">
                <a:solidFill>
                  <a:schemeClr val="accent3"/>
                </a:solidFill>
                <a:latin typeface="Inter" pitchFamily="34" charset="0"/>
                <a:ea typeface="Inter" pitchFamily="34" charset="-122"/>
                <a:cs typeface="Inter" pitchFamily="34" charset="-120"/>
              </a:rPr>
              <a:t>0.48 – 1.75 in</a:t>
            </a:r>
            <a:endParaRPr lang="en-US" sz="1000" dirty="0"/>
          </a:p>
        </p:txBody>
      </p:sp>
      <p:sp>
        <p:nvSpPr>
          <p:cNvPr id="25" name="Text 23"/>
          <p:cNvSpPr txBox="1"/>
          <p:nvPr/>
        </p:nvSpPr>
        <p:spPr>
          <a:xfrm>
            <a:off x="6210148"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Content area  </a:t>
            </a:r>
            <a:pPr algn="l" indent="0" marL="0">
              <a:buNone/>
            </a:pPr>
            <a:r>
              <a:rPr lang="en-US" sz="1000" dirty="0">
                <a:solidFill>
                  <a:schemeClr val="accent3"/>
                </a:solidFill>
                <a:latin typeface="Inter" pitchFamily="34" charset="0"/>
                <a:ea typeface="Inter" pitchFamily="34" charset="-122"/>
                <a:cs typeface="Inter" pitchFamily="34" charset="-120"/>
              </a:rPr>
              <a:t>1.95 – 6.6 in</a:t>
            </a:r>
            <a:endParaRPr lang="en-US" sz="1000" dirty="0"/>
          </a:p>
        </p:txBody>
      </p:sp>
      <p:sp>
        <p:nvSpPr>
          <p:cNvPr id="26" name="Text 24"/>
          <p:cNvSpPr txBox="1"/>
          <p:nvPr/>
        </p:nvSpPr>
        <p:spPr>
          <a:xfrm>
            <a:off x="9040901"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Footer  </a:t>
            </a:r>
            <a:pPr algn="l" indent="0" marL="0">
              <a:buNone/>
            </a:pPr>
            <a:r>
              <a:rPr lang="en-US" sz="1000" dirty="0">
                <a:solidFill>
                  <a:schemeClr val="accent3"/>
                </a:solidFill>
                <a:latin typeface="Inter" pitchFamily="34" charset="0"/>
                <a:ea typeface="Inter" pitchFamily="34" charset="-122"/>
                <a:cs typeface="Inter" pitchFamily="34" charset="-120"/>
              </a:rPr>
              <a:t>6.98 in baseline</a:t>
            </a:r>
            <a:endParaRPr lang="en-US" sz="1000" dirty="0"/>
          </a:p>
        </p:txBody>
      </p:sp>
      <p:sp>
        <p:nvSpPr>
          <p:cNvPr id="27" name="Text 25"/>
          <p:cNvSpPr txBox="1"/>
          <p:nvPr/>
        </p:nvSpPr>
        <p:spPr>
          <a:xfrm>
            <a:off x="548640"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Corner radius  </a:t>
            </a:r>
            <a:pPr algn="l" indent="0" marL="0">
              <a:buNone/>
            </a:pPr>
            <a:r>
              <a:rPr lang="en-US" sz="1000" dirty="0">
                <a:solidFill>
                  <a:schemeClr val="accent3"/>
                </a:solidFill>
                <a:latin typeface="Inter" pitchFamily="34" charset="0"/>
                <a:ea typeface="Inter" pitchFamily="34" charset="-122"/>
                <a:cs typeface="Inter" pitchFamily="34" charset="-120"/>
              </a:rPr>
              <a:t>0.1 in on all cards</a:t>
            </a:r>
            <a:endParaRPr lang="en-US" sz="1000" dirty="0"/>
          </a:p>
        </p:txBody>
      </p:sp>
      <p:sp>
        <p:nvSpPr>
          <p:cNvPr id="28" name="Text 26"/>
          <p:cNvSpPr txBox="1"/>
          <p:nvPr/>
        </p:nvSpPr>
        <p:spPr>
          <a:xfrm>
            <a:off x="3379394"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Hairlines  </a:t>
            </a:r>
            <a:pPr algn="l" indent="0" marL="0">
              <a:buNone/>
            </a:pPr>
            <a:r>
              <a:rPr lang="en-US" sz="1000" dirty="0">
                <a:solidFill>
                  <a:schemeClr val="accent3"/>
                </a:solidFill>
                <a:latin typeface="Inter" pitchFamily="34" charset="0"/>
                <a:ea typeface="Inter" pitchFamily="34" charset="-122"/>
                <a:cs typeface="Inter" pitchFamily="34" charset="-120"/>
              </a:rPr>
              <a:t>0.75 pt · Mist</a:t>
            </a:r>
            <a:endParaRPr lang="en-US" sz="1000" dirty="0"/>
          </a:p>
        </p:txBody>
      </p:sp>
      <p:sp>
        <p:nvSpPr>
          <p:cNvPr id="29" name="Text 27"/>
          <p:cNvSpPr txBox="1"/>
          <p:nvPr/>
        </p:nvSpPr>
        <p:spPr>
          <a:xfrm>
            <a:off x="6210148"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Emphasis rules  </a:t>
            </a:r>
            <a:pPr algn="l" indent="0" marL="0">
              <a:buNone/>
            </a:pPr>
            <a:r>
              <a:rPr lang="en-US" sz="1000" dirty="0">
                <a:solidFill>
                  <a:schemeClr val="accent3"/>
                </a:solidFill>
                <a:latin typeface="Inter" pitchFamily="34" charset="0"/>
                <a:ea typeface="Inter" pitchFamily="34" charset="-122"/>
                <a:cs typeface="Inter" pitchFamily="34" charset="-120"/>
              </a:rPr>
              <a:t>1.25–1.5 pt · Navy</a:t>
            </a:r>
            <a:endParaRPr lang="en-US" sz="1000" dirty="0"/>
          </a:p>
        </p:txBody>
      </p:sp>
      <p:sp>
        <p:nvSpPr>
          <p:cNvPr id="30" name="Text 28"/>
          <p:cNvSpPr txBox="1"/>
          <p:nvPr/>
        </p:nvSpPr>
        <p:spPr>
          <a:xfrm>
            <a:off x="9040901"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Card padding  </a:t>
            </a:r>
            <a:pPr algn="l" indent="0" marL="0">
              <a:buNone/>
            </a:pPr>
            <a:r>
              <a:rPr lang="en-US" sz="1000" dirty="0">
                <a:solidFill>
                  <a:schemeClr val="accent3"/>
                </a:solidFill>
                <a:latin typeface="Inter" pitchFamily="34" charset="0"/>
                <a:ea typeface="Inter" pitchFamily="34" charset="-122"/>
                <a:cs typeface="Inter" pitchFamily="34" charset="-120"/>
              </a:rPr>
              <a:t>0.25–0.35 in</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Component library: data and labels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Copy any component into your slide. Each is a group of native shapes and text.</a:t>
            </a:r>
            <a:endParaRPr lang="en-US" sz="1150" dirty="0"/>
          </a:p>
        </p:txBody>
      </p:sp>
      <p:sp>
        <p:nvSpPr>
          <p:cNvPr id="6" name="Text 4"/>
          <p:cNvSpPr txBox="1"/>
          <p:nvPr/>
        </p:nvSpPr>
        <p:spPr>
          <a:xfrm>
            <a:off x="548640"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KPI CARDS</a:t>
            </a:r>
            <a:endParaRPr lang="en-US" sz="850" dirty="0"/>
          </a:p>
        </p:txBody>
      </p:sp>
      <p:sp>
        <p:nvSpPr>
          <p:cNvPr id="7" name="Shape 5"/>
          <p:cNvSpPr/>
          <p:nvPr/>
        </p:nvSpPr>
        <p:spPr>
          <a:xfrm>
            <a:off x="548640" y="2103120"/>
            <a:ext cx="2286000" cy="1463040"/>
          </a:xfrm>
          <a:prstGeom prst="roundRect">
            <a:avLst>
              <a:gd name="adj" fmla="val 6250"/>
            </a:avLst>
          </a:prstGeom>
          <a:solidFill>
            <a:schemeClr val="bg1"/>
          </a:solidFill>
          <a:ln w="9525">
            <a:solidFill>
              <a:schemeClr val="accent4"/>
            </a:solidFill>
            <a:prstDash val="solid"/>
          </a:ln>
        </p:spPr>
      </p:sp>
      <p:sp>
        <p:nvSpPr>
          <p:cNvPr id="8" name="Text 6"/>
          <p:cNvSpPr txBox="1"/>
          <p:nvPr/>
        </p:nvSpPr>
        <p:spPr>
          <a:xfrm>
            <a:off x="777240" y="2331720"/>
            <a:ext cx="1828800"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Revenue</a:t>
            </a:r>
            <a:endParaRPr lang="en-US" sz="1000" dirty="0"/>
          </a:p>
        </p:txBody>
      </p:sp>
      <p:pic>
        <p:nvPicPr>
          <p:cNvPr id="9" name="Icon PiChartLineUp 0A1628" descr="preencoded.png">    </p:cNvPr>
          <p:cNvPicPr>
            <a:picLocks noChangeAspect="1"/>
          </p:cNvPicPr>
          <p:nvPr/>
        </p:nvPicPr>
        <p:blipFill>
          <a:blip r:embed="rId1">
            <a:extLst>
              <a:ext uri="{96DAC541-7B7A-43D3-8B79-37D633B846F1}">
                <asvg:svgBlip xmlns:asvg="http://schemas.microsoft.com/office/drawing/2016/SVG/main" r:embed="rId10"/>
              </a:ext>
            </a:extLst>
          </a:blip>
          <a:stretch>
            <a:fillRect/>
          </a:stretch>
        </p:blipFill>
        <p:spPr>
          <a:xfrm>
            <a:off x="2331720" y="2304288"/>
            <a:ext cx="274320" cy="274320"/>
          </a:xfrm>
          <a:prstGeom prst="rect">
            <a:avLst/>
          </a:prstGeom>
        </p:spPr>
      </p:pic>
      <p:sp>
        <p:nvSpPr>
          <p:cNvPr id="10" name="Text 7"/>
          <p:cNvSpPr txBox="1"/>
          <p:nvPr/>
        </p:nvSpPr>
        <p:spPr>
          <a:xfrm>
            <a:off x="777240" y="2650490"/>
            <a:ext cx="1828800" cy="41275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$12.9M</a:t>
            </a:r>
            <a:endParaRPr lang="en-US" sz="2600" dirty="0"/>
          </a:p>
        </p:txBody>
      </p:sp>
      <p:sp>
        <p:nvSpPr>
          <p:cNvPr id="11" name="Text 8"/>
          <p:cNvSpPr txBox="1"/>
          <p:nvPr/>
        </p:nvSpPr>
        <p:spPr>
          <a:xfrm>
            <a:off x="777240" y="3136392"/>
            <a:ext cx="1828800"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58%</a:t>
            </a:r>
            <a:pPr algn="l" indent="0" marL="0">
              <a:buNone/>
            </a:pP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12" name="Shape 9"/>
          <p:cNvSpPr/>
          <p:nvPr/>
        </p:nvSpPr>
        <p:spPr>
          <a:xfrm>
            <a:off x="3017520" y="2103120"/>
            <a:ext cx="2286000" cy="1463040"/>
          </a:xfrm>
          <a:prstGeom prst="roundRect">
            <a:avLst>
              <a:gd name="adj" fmla="val 6250"/>
            </a:avLst>
          </a:prstGeom>
          <a:solidFill>
            <a:schemeClr val="tx1"/>
          </a:solidFill>
          <a:ln/>
        </p:spPr>
      </p:sp>
      <p:sp>
        <p:nvSpPr>
          <p:cNvPr id="13" name="Text 10"/>
          <p:cNvSpPr txBox="1"/>
          <p:nvPr/>
        </p:nvSpPr>
        <p:spPr>
          <a:xfrm>
            <a:off x="3246120" y="2331720"/>
            <a:ext cx="1828800"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Win rate</a:t>
            </a:r>
            <a:endParaRPr lang="en-US" sz="1000" dirty="0"/>
          </a:p>
        </p:txBody>
      </p:sp>
      <p:pic>
        <p:nvPicPr>
          <p:cNvPr id="14" name="Icon PiTarget C6F432" descr="preencoded.png">    </p:cNvPr>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4800600" y="2304288"/>
            <a:ext cx="274320" cy="274320"/>
          </a:xfrm>
          <a:prstGeom prst="rect">
            <a:avLst/>
          </a:prstGeom>
        </p:spPr>
      </p:pic>
      <p:sp>
        <p:nvSpPr>
          <p:cNvPr id="15" name="Text 11"/>
          <p:cNvSpPr txBox="1"/>
          <p:nvPr/>
        </p:nvSpPr>
        <p:spPr>
          <a:xfrm>
            <a:off x="3246120" y="2650490"/>
            <a:ext cx="1828800"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28%</a:t>
            </a:r>
            <a:endParaRPr lang="en-US" sz="2600" dirty="0"/>
          </a:p>
        </p:txBody>
      </p:sp>
      <p:sp>
        <p:nvSpPr>
          <p:cNvPr id="16" name="Text 12"/>
          <p:cNvSpPr txBox="1"/>
          <p:nvPr/>
        </p:nvSpPr>
        <p:spPr>
          <a:xfrm>
            <a:off x="3246120" y="3136392"/>
            <a:ext cx="1828800"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3 pts</a:t>
            </a:r>
            <a:pPr algn="l" indent="0" marL="0">
              <a:buNone/>
            </a:pPr>
            <a:r>
              <a:rPr lang="en-US" sz="950" dirty="0">
                <a:solidFill>
                  <a:schemeClr val="accent4"/>
                </a:solidFill>
                <a:latin typeface="Inter" pitchFamily="34" charset="0"/>
                <a:ea typeface="Inter" pitchFamily="34" charset="-122"/>
                <a:cs typeface="Inter" pitchFamily="34" charset="-120"/>
              </a:rPr>
              <a:t>  QoQ</a:t>
            </a:r>
            <a:endParaRPr lang="en-US" sz="950" dirty="0"/>
          </a:p>
        </p:txBody>
      </p:sp>
      <p:sp>
        <p:nvSpPr>
          <p:cNvPr id="17" name="Shape 13"/>
          <p:cNvSpPr/>
          <p:nvPr/>
        </p:nvSpPr>
        <p:spPr>
          <a:xfrm>
            <a:off x="5486400" y="2103120"/>
            <a:ext cx="2286000" cy="1463040"/>
          </a:xfrm>
          <a:prstGeom prst="roundRect">
            <a:avLst>
              <a:gd name="adj" fmla="val 6250"/>
            </a:avLst>
          </a:prstGeom>
          <a:solidFill>
            <a:schemeClr val="accent1"/>
          </a:solidFill>
          <a:ln/>
        </p:spPr>
      </p:sp>
      <p:sp>
        <p:nvSpPr>
          <p:cNvPr id="18" name="Text 14"/>
          <p:cNvSpPr txBox="1"/>
          <p:nvPr/>
        </p:nvSpPr>
        <p:spPr>
          <a:xfrm>
            <a:off x="5715000" y="2331720"/>
            <a:ext cx="1828800"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NRR</a:t>
            </a:r>
            <a:endParaRPr lang="en-US" sz="1000" dirty="0"/>
          </a:p>
        </p:txBody>
      </p:sp>
      <p:pic>
        <p:nvPicPr>
          <p:cNvPr id="19" name="Icon PiArrowsClockwise 0A1628" descr="preencoded.png">    </p:cNvPr>
          <p:cNvPicPr>
            <a:picLocks noChangeAspect="1"/>
          </p:cNvPicPr>
          <p:nvPr/>
        </p:nvPicPr>
        <p:blipFill>
          <a:blip r:embed="rId3">
            <a:extLst>
              <a:ext uri="{96DAC541-7B7A-43D3-8B79-37D633B846F1}">
                <asvg:svgBlip xmlns:asvg="http://schemas.microsoft.com/office/drawing/2016/SVG/main" r:embed="rId12"/>
              </a:ext>
            </a:extLst>
          </a:blip>
          <a:stretch>
            <a:fillRect/>
          </a:stretch>
        </p:blipFill>
        <p:spPr>
          <a:xfrm>
            <a:off x="7269480" y="2304288"/>
            <a:ext cx="274320" cy="274320"/>
          </a:xfrm>
          <a:prstGeom prst="rect">
            <a:avLst/>
          </a:prstGeom>
        </p:spPr>
      </p:pic>
      <p:sp>
        <p:nvSpPr>
          <p:cNvPr id="20" name="Text 15"/>
          <p:cNvSpPr txBox="1"/>
          <p:nvPr/>
        </p:nvSpPr>
        <p:spPr>
          <a:xfrm>
            <a:off x="5715000" y="2650490"/>
            <a:ext cx="1828800" cy="41275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128%</a:t>
            </a:r>
            <a:endParaRPr lang="en-US" sz="2600" dirty="0"/>
          </a:p>
        </p:txBody>
      </p:sp>
      <p:sp>
        <p:nvSpPr>
          <p:cNvPr id="21" name="Text 16"/>
          <p:cNvSpPr txBox="1"/>
          <p:nvPr/>
        </p:nvSpPr>
        <p:spPr>
          <a:xfrm>
            <a:off x="5715000" y="3136392"/>
            <a:ext cx="1828800" cy="201168"/>
          </a:xfrm>
          <a:prstGeom prst="rect">
            <a:avLst/>
          </a:prstGeom>
          <a:noFill/>
          <a:ln/>
        </p:spPr>
        <p:txBody>
          <a:bodyPr wrap="square" lIns="0" tIns="0" rIns="0" bIns="0" rtlCol="0" anchor="t"/>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 6 pts</a:t>
            </a:r>
            <a:pPr algn="l" indent="0" marL="0">
              <a:buNone/>
            </a:pP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22" name="Text 17"/>
          <p:cNvSpPr txBox="1"/>
          <p:nvPr/>
        </p:nvSpPr>
        <p:spPr>
          <a:xfrm>
            <a:off x="8280197"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NUMBER BLOCK</a:t>
            </a:r>
            <a:endParaRPr lang="en-US" sz="850" dirty="0"/>
          </a:p>
        </p:txBody>
      </p:sp>
      <p:sp>
        <p:nvSpPr>
          <p:cNvPr id="23" name="Text 18"/>
          <p:cNvSpPr txBox="1"/>
          <p:nvPr/>
        </p:nvSpPr>
        <p:spPr>
          <a:xfrm>
            <a:off x="8280197" y="2103120"/>
            <a:ext cx="2743200" cy="822960"/>
          </a:xfrm>
          <a:prstGeom prst="rect">
            <a:avLst/>
          </a:prstGeom>
          <a:noFill/>
          <a:ln/>
        </p:spPr>
        <p:txBody>
          <a:bodyPr wrap="square" lIns="0" tIns="0" rIns="0" bIns="0" rtlCol="0" anchor="t"/>
          <a:lstStyle/>
          <a:p>
            <a:pPr algn="l" indent="0" marL="0">
              <a:buNone/>
            </a:pPr>
            <a:r>
              <a:rPr lang="en-US" sz="4800" dirty="0">
                <a:solidFill>
                  <a:schemeClr val="tx1"/>
                </a:solidFill>
                <a:latin typeface="Manrope ExtraBold" pitchFamily="34" charset="0"/>
                <a:ea typeface="Manrope ExtraBold" pitchFamily="34" charset="-122"/>
                <a:cs typeface="Manrope ExtraBold" pitchFamily="34" charset="-120"/>
              </a:rPr>
              <a:t>4.8×</a:t>
            </a:r>
            <a:endParaRPr lang="en-US" sz="4800" dirty="0"/>
          </a:p>
        </p:txBody>
      </p:sp>
      <p:sp>
        <p:nvSpPr>
          <p:cNvPr id="24" name="Text 19"/>
          <p:cNvSpPr txBox="1"/>
          <p:nvPr/>
        </p:nvSpPr>
        <p:spPr>
          <a:xfrm>
            <a:off x="8280197" y="2926080"/>
            <a:ext cx="2743200"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LTV to CAC ratio</a:t>
            </a:r>
            <a:endParaRPr lang="en-US" sz="1100" dirty="0"/>
          </a:p>
        </p:txBody>
      </p:sp>
      <p:sp>
        <p:nvSpPr>
          <p:cNvPr id="25" name="Text 20"/>
          <p:cNvSpPr txBox="1"/>
          <p:nvPr/>
        </p:nvSpPr>
        <p:spPr>
          <a:xfrm>
            <a:off x="8280197" y="3200400"/>
            <a:ext cx="32004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Top-quartile benchmark: 3.0×</a:t>
            </a:r>
            <a:endParaRPr lang="en-US" sz="950" dirty="0"/>
          </a:p>
        </p:txBody>
      </p:sp>
      <p:sp>
        <p:nvSpPr>
          <p:cNvPr id="26" name="Text 21"/>
          <p:cNvSpPr txBox="1"/>
          <p:nvPr/>
        </p:nvSpPr>
        <p:spPr>
          <a:xfrm>
            <a:off x="548640" y="38862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PILLS &amp; STATUS</a:t>
            </a:r>
            <a:endParaRPr lang="en-US" sz="850" dirty="0"/>
          </a:p>
        </p:txBody>
      </p:sp>
      <p:sp>
        <p:nvSpPr>
          <p:cNvPr id="27" name="Shape 22"/>
          <p:cNvSpPr/>
          <p:nvPr/>
        </p:nvSpPr>
        <p:spPr>
          <a:xfrm>
            <a:off x="548640" y="4160520"/>
            <a:ext cx="868680" cy="274320"/>
          </a:xfrm>
          <a:prstGeom prst="roundRect">
            <a:avLst>
              <a:gd name="adj" fmla="val 50000"/>
            </a:avLst>
          </a:prstGeom>
          <a:solidFill>
            <a:schemeClr val="accent1"/>
          </a:solidFill>
          <a:ln/>
        </p:spPr>
      </p:sp>
      <p:sp>
        <p:nvSpPr>
          <p:cNvPr id="28" name="Text 23"/>
          <p:cNvSpPr txBox="1"/>
          <p:nvPr/>
        </p:nvSpPr>
        <p:spPr>
          <a:xfrm>
            <a:off x="548640" y="4160520"/>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On track</a:t>
            </a:r>
            <a:endParaRPr lang="en-US" sz="900" dirty="0"/>
          </a:p>
        </p:txBody>
      </p:sp>
      <p:sp>
        <p:nvSpPr>
          <p:cNvPr id="29" name="Shape 24"/>
          <p:cNvSpPr/>
          <p:nvPr/>
        </p:nvSpPr>
        <p:spPr>
          <a:xfrm>
            <a:off x="1554480" y="4160520"/>
            <a:ext cx="868680" cy="274320"/>
          </a:xfrm>
          <a:prstGeom prst="roundRect">
            <a:avLst>
              <a:gd name="adj" fmla="val 50000"/>
            </a:avLst>
          </a:prstGeom>
          <a:solidFill>
            <a:schemeClr val="tx1"/>
          </a:solidFill>
          <a:ln/>
        </p:spPr>
      </p:sp>
      <p:sp>
        <p:nvSpPr>
          <p:cNvPr id="30" name="Text 25"/>
          <p:cNvSpPr txBox="1"/>
          <p:nvPr/>
        </p:nvSpPr>
        <p:spPr>
          <a:xfrm>
            <a:off x="1554480" y="4160520"/>
            <a:ext cx="86868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At risk</a:t>
            </a:r>
            <a:endParaRPr lang="en-US" sz="900" dirty="0"/>
          </a:p>
        </p:txBody>
      </p:sp>
      <p:sp>
        <p:nvSpPr>
          <p:cNvPr id="31" name="Shape 26"/>
          <p:cNvSpPr/>
          <p:nvPr/>
        </p:nvSpPr>
        <p:spPr>
          <a:xfrm>
            <a:off x="2560320" y="4160520"/>
            <a:ext cx="868680" cy="274320"/>
          </a:xfrm>
          <a:prstGeom prst="roundRect">
            <a:avLst>
              <a:gd name="adj" fmla="val 50000"/>
            </a:avLst>
          </a:prstGeom>
          <a:solidFill>
            <a:schemeClr val="bg1"/>
          </a:solidFill>
          <a:ln/>
        </p:spPr>
      </p:sp>
      <p:sp>
        <p:nvSpPr>
          <p:cNvPr id="32" name="Text 27"/>
          <p:cNvSpPr txBox="1"/>
          <p:nvPr/>
        </p:nvSpPr>
        <p:spPr>
          <a:xfrm>
            <a:off x="2560320" y="4160520"/>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Watch</a:t>
            </a:r>
            <a:endParaRPr lang="en-US" sz="900" dirty="0"/>
          </a:p>
        </p:txBody>
      </p:sp>
      <p:sp>
        <p:nvSpPr>
          <p:cNvPr id="33" name="Shape 28"/>
          <p:cNvSpPr/>
          <p:nvPr/>
        </p:nvSpPr>
        <p:spPr>
          <a:xfrm>
            <a:off x="3566160" y="4160520"/>
            <a:ext cx="868680" cy="274320"/>
          </a:xfrm>
          <a:prstGeom prst="roundRect">
            <a:avLst>
              <a:gd name="adj" fmla="val 50000"/>
            </a:avLst>
          </a:prstGeom>
          <a:ln w="9525">
            <a:solidFill>
              <a:schemeClr val="accent4"/>
            </a:solidFill>
            <a:prstDash val="solid"/>
          </a:ln>
        </p:spPr>
      </p:sp>
      <p:sp>
        <p:nvSpPr>
          <p:cNvPr id="34" name="Text 29"/>
          <p:cNvSpPr txBox="1"/>
          <p:nvPr/>
        </p:nvSpPr>
        <p:spPr>
          <a:xfrm>
            <a:off x="3566160" y="4160520"/>
            <a:ext cx="86868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Draft</a:t>
            </a:r>
            <a:endParaRPr lang="en-US" sz="900" dirty="0"/>
          </a:p>
        </p:txBody>
      </p:sp>
      <p:sp>
        <p:nvSpPr>
          <p:cNvPr id="35" name="Text 30"/>
          <p:cNvSpPr txBox="1"/>
          <p:nvPr/>
        </p:nvSpPr>
        <p:spPr>
          <a:xfrm>
            <a:off x="548640" y="466344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BUTTONS</a:t>
            </a:r>
            <a:endParaRPr lang="en-US" sz="850" dirty="0"/>
          </a:p>
        </p:txBody>
      </p:sp>
      <p:sp>
        <p:nvSpPr>
          <p:cNvPr id="36" name="Shape 31"/>
          <p:cNvSpPr/>
          <p:nvPr/>
        </p:nvSpPr>
        <p:spPr>
          <a:xfrm>
            <a:off x="548640" y="4937760"/>
            <a:ext cx="1920240" cy="457200"/>
          </a:xfrm>
          <a:prstGeom prst="roundRect">
            <a:avLst>
              <a:gd name="adj" fmla="val 50000"/>
            </a:avLst>
          </a:prstGeom>
          <a:solidFill>
            <a:schemeClr val="tx1"/>
          </a:solidFill>
          <a:ln/>
        </p:spPr>
      </p:sp>
      <p:sp>
        <p:nvSpPr>
          <p:cNvPr id="37" name="Text 32"/>
          <p:cNvSpPr txBox="1"/>
          <p:nvPr/>
        </p:nvSpPr>
        <p:spPr>
          <a:xfrm>
            <a:off x="548640" y="4937760"/>
            <a:ext cx="1920240" cy="45720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Primary action</a:t>
            </a:r>
            <a:endParaRPr lang="en-US" sz="1100" dirty="0"/>
          </a:p>
        </p:txBody>
      </p:sp>
      <p:sp>
        <p:nvSpPr>
          <p:cNvPr id="38" name="Shape 33"/>
          <p:cNvSpPr/>
          <p:nvPr/>
        </p:nvSpPr>
        <p:spPr>
          <a:xfrm>
            <a:off x="2651760" y="4937760"/>
            <a:ext cx="1920240" cy="457200"/>
          </a:xfrm>
          <a:prstGeom prst="roundRect">
            <a:avLst>
              <a:gd name="adj" fmla="val 50000"/>
            </a:avLst>
          </a:prstGeom>
          <a:solidFill>
            <a:schemeClr val="accent1"/>
          </a:solidFill>
          <a:ln/>
        </p:spPr>
      </p:sp>
      <p:sp>
        <p:nvSpPr>
          <p:cNvPr id="39" name="Text 34"/>
          <p:cNvSpPr txBox="1"/>
          <p:nvPr/>
        </p:nvSpPr>
        <p:spPr>
          <a:xfrm>
            <a:off x="2651760" y="4937760"/>
            <a:ext cx="1920240" cy="457200"/>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Highlight action</a:t>
            </a:r>
            <a:endParaRPr lang="en-US" sz="1100" dirty="0"/>
          </a:p>
        </p:txBody>
      </p:sp>
      <p:sp>
        <p:nvSpPr>
          <p:cNvPr id="40" name="Shape 35"/>
          <p:cNvSpPr/>
          <p:nvPr/>
        </p:nvSpPr>
        <p:spPr>
          <a:xfrm>
            <a:off x="4754880" y="4937760"/>
            <a:ext cx="1920240" cy="457200"/>
          </a:xfrm>
          <a:prstGeom prst="roundRect">
            <a:avLst>
              <a:gd name="adj" fmla="val 50000"/>
            </a:avLst>
          </a:prstGeom>
          <a:solidFill>
            <a:schemeClr val="bg1"/>
          </a:solidFill>
          <a:ln w="9525">
            <a:solidFill>
              <a:schemeClr val="tx1"/>
            </a:solidFill>
            <a:prstDash val="solid"/>
          </a:ln>
        </p:spPr>
      </p:sp>
      <p:sp>
        <p:nvSpPr>
          <p:cNvPr id="41" name="Text 36"/>
          <p:cNvSpPr txBox="1"/>
          <p:nvPr/>
        </p:nvSpPr>
        <p:spPr>
          <a:xfrm>
            <a:off x="4754880" y="4937760"/>
            <a:ext cx="1920240" cy="457200"/>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Secondary</a:t>
            </a:r>
            <a:endParaRPr lang="en-US" sz="1100" dirty="0"/>
          </a:p>
        </p:txBody>
      </p:sp>
      <p:sp>
        <p:nvSpPr>
          <p:cNvPr id="42" name="Text 37"/>
          <p:cNvSpPr txBox="1"/>
          <p:nvPr/>
        </p:nvSpPr>
        <p:spPr>
          <a:xfrm>
            <a:off x="8280197" y="38862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TAGS &amp; ICON BADGES</a:t>
            </a:r>
            <a:endParaRPr lang="en-US" sz="850" dirty="0"/>
          </a:p>
        </p:txBody>
      </p:sp>
      <p:sp>
        <p:nvSpPr>
          <p:cNvPr id="43" name="Shape 38"/>
          <p:cNvSpPr/>
          <p:nvPr/>
        </p:nvSpPr>
        <p:spPr>
          <a:xfrm>
            <a:off x="8280197" y="4229100"/>
            <a:ext cx="91440" cy="91440"/>
          </a:xfrm>
          <a:prstGeom prst="rect">
            <a:avLst/>
          </a:prstGeom>
          <a:solidFill>
            <a:schemeClr val="accent1"/>
          </a:solidFill>
          <a:ln/>
        </p:spPr>
      </p:sp>
      <p:sp>
        <p:nvSpPr>
          <p:cNvPr id="44" name="Text 39"/>
          <p:cNvSpPr txBox="1"/>
          <p:nvPr/>
        </p:nvSpPr>
        <p:spPr>
          <a:xfrm>
            <a:off x="8463077" y="416052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SECTION LABEL</a:t>
            </a:r>
            <a:endParaRPr lang="en-US" sz="950" dirty="0"/>
          </a:p>
        </p:txBody>
      </p:sp>
      <p:sp>
        <p:nvSpPr>
          <p:cNvPr id="45" name="Shape 40"/>
          <p:cNvSpPr/>
          <p:nvPr/>
        </p:nvSpPr>
        <p:spPr>
          <a:xfrm>
            <a:off x="8280197" y="4572000"/>
            <a:ext cx="502920" cy="502920"/>
          </a:xfrm>
          <a:prstGeom prst="ellipse">
            <a:avLst/>
          </a:prstGeom>
          <a:solidFill>
            <a:schemeClr val="accent1"/>
          </a:solidFill>
          <a:ln/>
        </p:spPr>
      </p:sp>
      <p:pic>
        <p:nvPicPr>
          <p:cNvPr id="46" name="Icon PiLightning 0A1628" descr="preencoded.png">    </p:cNvPr>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8400898" y="4692701"/>
            <a:ext cx="261518" cy="261518"/>
          </a:xfrm>
          <a:prstGeom prst="rect">
            <a:avLst/>
          </a:prstGeom>
        </p:spPr>
      </p:pic>
      <p:sp>
        <p:nvSpPr>
          <p:cNvPr id="47" name="Shape 41"/>
          <p:cNvSpPr/>
          <p:nvPr/>
        </p:nvSpPr>
        <p:spPr>
          <a:xfrm>
            <a:off x="8965997" y="4572000"/>
            <a:ext cx="502920" cy="502920"/>
          </a:xfrm>
          <a:prstGeom prst="ellipse">
            <a:avLst/>
          </a:prstGeom>
          <a:solidFill>
            <a:schemeClr val="tx1"/>
          </a:solidFill>
          <a:ln/>
        </p:spPr>
      </p:sp>
      <p:pic>
        <p:nvPicPr>
          <p:cNvPr id="48" name="Icon PiShieldCheck C6F432" descr="preencoded.png">    </p:cNvPr>
          <p:cNvPicPr>
            <a:picLocks noChangeAspect="1"/>
          </p:cNvPicPr>
          <p:nvPr/>
        </p:nvPicPr>
        <p:blipFill>
          <a:blip r:embed="rId5">
            <a:extLst>
              <a:ext uri="{96DAC541-7B7A-43D3-8B79-37D633B846F1}">
                <asvg:svgBlip xmlns:asvg="http://schemas.microsoft.com/office/drawing/2016/SVG/main" r:embed="rId14"/>
              </a:ext>
            </a:extLst>
          </a:blip>
          <a:stretch>
            <a:fillRect/>
          </a:stretch>
        </p:blipFill>
        <p:spPr>
          <a:xfrm>
            <a:off x="9086698" y="4692701"/>
            <a:ext cx="261518" cy="261518"/>
          </a:xfrm>
          <a:prstGeom prst="rect">
            <a:avLst/>
          </a:prstGeom>
        </p:spPr>
      </p:pic>
      <p:sp>
        <p:nvSpPr>
          <p:cNvPr id="49" name="Shape 42"/>
          <p:cNvSpPr/>
          <p:nvPr/>
        </p:nvSpPr>
        <p:spPr>
          <a:xfrm>
            <a:off x="9651797" y="4572000"/>
            <a:ext cx="502920" cy="502920"/>
          </a:xfrm>
          <a:prstGeom prst="ellipse">
            <a:avLst/>
          </a:prstGeom>
          <a:solidFill>
            <a:schemeClr val="bg1"/>
          </a:solidFill>
          <a:ln/>
        </p:spPr>
      </p:sp>
      <p:pic>
        <p:nvPicPr>
          <p:cNvPr id="50" name="Icon PiGlobe 0A1628" descr="preencoded.png">    </p:cNvPr>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9772498" y="4692701"/>
            <a:ext cx="261518" cy="261518"/>
          </a:xfrm>
          <a:prstGeom prst="rect">
            <a:avLst/>
          </a:prstGeom>
        </p:spPr>
      </p:pic>
      <p:sp>
        <p:nvSpPr>
          <p:cNvPr id="51" name="Shape 43"/>
          <p:cNvSpPr/>
          <p:nvPr/>
        </p:nvSpPr>
        <p:spPr>
          <a:xfrm>
            <a:off x="10337597" y="4572000"/>
            <a:ext cx="502920" cy="502920"/>
          </a:xfrm>
          <a:prstGeom prst="roundRect">
            <a:avLst>
              <a:gd name="adj" fmla="val 18182"/>
            </a:avLst>
          </a:prstGeom>
          <a:solidFill>
            <a:schemeClr val="tx1"/>
          </a:solidFill>
          <a:ln/>
        </p:spPr>
      </p:sp>
      <p:pic>
        <p:nvPicPr>
          <p:cNvPr id="52" name="Icon PiCube FFFFFF" descr="preencoded.png">    </p:cNvPr>
          <p:cNvPicPr>
            <a:picLocks noChangeAspect="1"/>
          </p:cNvPicPr>
          <p:nvPr/>
        </p:nvPicPr>
        <p:blipFill>
          <a:blip r:embed="rId7">
            <a:extLst>
              <a:ext uri="{96DAC541-7B7A-43D3-8B79-37D633B846F1}">
                <asvg:svgBlip xmlns:asvg="http://schemas.microsoft.com/office/drawing/2016/SVG/main" r:embed="rId16"/>
              </a:ext>
            </a:extLst>
          </a:blip>
          <a:stretch>
            <a:fillRect/>
          </a:stretch>
        </p:blipFill>
        <p:spPr>
          <a:xfrm>
            <a:off x="10458298" y="4692701"/>
            <a:ext cx="261518" cy="261518"/>
          </a:xfrm>
          <a:prstGeom prst="rect">
            <a:avLst/>
          </a:prstGeom>
        </p:spPr>
      </p:pic>
      <p:sp>
        <p:nvSpPr>
          <p:cNvPr id="53" name="Text 44"/>
          <p:cNvSpPr txBox="1"/>
          <p:nvPr/>
        </p:nvSpPr>
        <p:spPr>
          <a:xfrm>
            <a:off x="548640" y="557784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PROGRESS BAR</a:t>
            </a:r>
            <a:endParaRPr lang="en-US" sz="850" dirty="0"/>
          </a:p>
        </p:txBody>
      </p:sp>
      <p:sp>
        <p:nvSpPr>
          <p:cNvPr id="54" name="Shape 45"/>
          <p:cNvSpPr/>
          <p:nvPr/>
        </p:nvSpPr>
        <p:spPr>
          <a:xfrm>
            <a:off x="548640" y="5852160"/>
            <a:ext cx="4023360" cy="91440"/>
          </a:xfrm>
          <a:prstGeom prst="roundRect">
            <a:avLst>
              <a:gd name="adj" fmla="val 50000"/>
            </a:avLst>
          </a:prstGeom>
          <a:solidFill>
            <a:schemeClr val="bg1"/>
          </a:solidFill>
          <a:ln/>
        </p:spPr>
      </p:sp>
      <p:sp>
        <p:nvSpPr>
          <p:cNvPr id="55" name="Shape 46"/>
          <p:cNvSpPr/>
          <p:nvPr/>
        </p:nvSpPr>
        <p:spPr>
          <a:xfrm>
            <a:off x="548640" y="5852160"/>
            <a:ext cx="2896819" cy="91440"/>
          </a:xfrm>
          <a:prstGeom prst="roundRect">
            <a:avLst>
              <a:gd name="adj" fmla="val 50000"/>
            </a:avLst>
          </a:prstGeom>
          <a:solidFill>
            <a:schemeClr val="tx1"/>
          </a:solidFill>
          <a:ln/>
        </p:spPr>
      </p:sp>
      <p:sp>
        <p:nvSpPr>
          <p:cNvPr id="56" name="Text 47"/>
          <p:cNvSpPr txBox="1"/>
          <p:nvPr/>
        </p:nvSpPr>
        <p:spPr>
          <a:xfrm>
            <a:off x="4709160" y="5779008"/>
            <a:ext cx="548640"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72%</a:t>
            </a:r>
            <a:endParaRPr lang="en-US" sz="1000" dirty="0"/>
          </a:p>
        </p:txBody>
      </p:sp>
      <p:sp>
        <p:nvSpPr>
          <p:cNvPr id="57" name="Text 48"/>
          <p:cNvSpPr txBox="1"/>
          <p:nvPr/>
        </p:nvSpPr>
        <p:spPr>
          <a:xfrm>
            <a:off x="8280197" y="557784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RATING DOTS</a:t>
            </a:r>
            <a:endParaRPr lang="en-US" sz="850" dirty="0"/>
          </a:p>
        </p:txBody>
      </p:sp>
      <p:sp>
        <p:nvSpPr>
          <p:cNvPr id="58" name="Shape 49"/>
          <p:cNvSpPr/>
          <p:nvPr/>
        </p:nvSpPr>
        <p:spPr>
          <a:xfrm>
            <a:off x="8280197" y="5833872"/>
            <a:ext cx="146304" cy="146304"/>
          </a:xfrm>
          <a:prstGeom prst="ellipse">
            <a:avLst/>
          </a:prstGeom>
          <a:solidFill>
            <a:schemeClr val="tx1"/>
          </a:solidFill>
          <a:ln/>
        </p:spPr>
      </p:sp>
      <p:sp>
        <p:nvSpPr>
          <p:cNvPr id="59" name="Shape 50"/>
          <p:cNvSpPr/>
          <p:nvPr/>
        </p:nvSpPr>
        <p:spPr>
          <a:xfrm>
            <a:off x="8554517" y="5833872"/>
            <a:ext cx="146304" cy="146304"/>
          </a:xfrm>
          <a:prstGeom prst="ellipse">
            <a:avLst/>
          </a:prstGeom>
          <a:solidFill>
            <a:schemeClr val="tx1"/>
          </a:solidFill>
          <a:ln/>
        </p:spPr>
      </p:sp>
      <p:sp>
        <p:nvSpPr>
          <p:cNvPr id="60" name="Shape 51"/>
          <p:cNvSpPr/>
          <p:nvPr/>
        </p:nvSpPr>
        <p:spPr>
          <a:xfrm>
            <a:off x="8828837" y="5833872"/>
            <a:ext cx="146304" cy="146304"/>
          </a:xfrm>
          <a:prstGeom prst="ellipse">
            <a:avLst/>
          </a:prstGeom>
          <a:solidFill>
            <a:schemeClr val="tx1"/>
          </a:solidFill>
          <a:ln/>
        </p:spPr>
      </p:sp>
      <p:sp>
        <p:nvSpPr>
          <p:cNvPr id="61" name="Shape 52"/>
          <p:cNvSpPr/>
          <p:nvPr/>
        </p:nvSpPr>
        <p:spPr>
          <a:xfrm>
            <a:off x="9103157" y="5833872"/>
            <a:ext cx="146304" cy="146304"/>
          </a:xfrm>
          <a:prstGeom prst="ellipse">
            <a:avLst/>
          </a:prstGeom>
          <a:solidFill>
            <a:schemeClr val="accent4"/>
          </a:solidFill>
          <a:ln/>
        </p:spPr>
      </p:sp>
      <p:sp>
        <p:nvSpPr>
          <p:cNvPr id="62" name="Shape 53"/>
          <p:cNvSpPr/>
          <p:nvPr/>
        </p:nvSpPr>
        <p:spPr>
          <a:xfrm>
            <a:off x="9377477" y="5833872"/>
            <a:ext cx="146304" cy="146304"/>
          </a:xfrm>
          <a:prstGeom prst="ellipse">
            <a:avLst/>
          </a:prstGeom>
          <a:solidFill>
            <a:schemeClr val="accent4"/>
          </a:solidFill>
          <a:ln/>
        </p:spPr>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Component library: structure and story</a:t>
            </a:r>
            <a:endParaRPr lang="en-US" sz="2800" dirty="0"/>
          </a:p>
        </p:txBody>
      </p:sp>
      <p:sp>
        <p:nvSpPr>
          <p:cNvPr id="5" name="Text 3"/>
          <p:cNvSpPr txBox="1"/>
          <p:nvPr/>
        </p:nvSpPr>
        <p:spPr>
          <a:xfrm>
            <a:off x="548640"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TIMELINE NODES</a:t>
            </a:r>
            <a:endParaRPr lang="en-US" sz="850" dirty="0"/>
          </a:p>
        </p:txBody>
      </p:sp>
      <p:sp>
        <p:nvSpPr>
          <p:cNvPr id="6" name="Shape 4"/>
          <p:cNvSpPr/>
          <p:nvPr/>
        </p:nvSpPr>
        <p:spPr>
          <a:xfrm>
            <a:off x="548640" y="2377440"/>
            <a:ext cx="3454298" cy="0"/>
          </a:xfrm>
          <a:prstGeom prst="line">
            <a:avLst/>
          </a:prstGeom>
          <a:noFill/>
          <a:ln w="19050">
            <a:solidFill>
              <a:schemeClr val="accent4"/>
            </a:solidFill>
            <a:prstDash val="solid"/>
          </a:ln>
        </p:spPr>
      </p:sp>
      <p:sp>
        <p:nvSpPr>
          <p:cNvPr id="7" name="Shape 5"/>
          <p:cNvSpPr/>
          <p:nvPr/>
        </p:nvSpPr>
        <p:spPr>
          <a:xfrm>
            <a:off x="548640" y="2286000"/>
            <a:ext cx="182880" cy="182880"/>
          </a:xfrm>
          <a:prstGeom prst="ellipse">
            <a:avLst/>
          </a:prstGeom>
          <a:solidFill>
            <a:schemeClr val="tx1"/>
          </a:solidFill>
          <a:ln/>
        </p:spPr>
      </p:sp>
      <p:sp>
        <p:nvSpPr>
          <p:cNvPr id="8" name="Shape 6"/>
          <p:cNvSpPr/>
          <p:nvPr/>
        </p:nvSpPr>
        <p:spPr>
          <a:xfrm>
            <a:off x="1608633" y="2286000"/>
            <a:ext cx="182880" cy="182880"/>
          </a:xfrm>
          <a:prstGeom prst="ellipse">
            <a:avLst/>
          </a:prstGeom>
          <a:solidFill>
            <a:schemeClr val="tx1"/>
          </a:solidFill>
          <a:ln/>
        </p:spPr>
      </p:sp>
      <p:sp>
        <p:nvSpPr>
          <p:cNvPr id="9" name="Shape 7"/>
          <p:cNvSpPr/>
          <p:nvPr/>
        </p:nvSpPr>
        <p:spPr>
          <a:xfrm>
            <a:off x="2668626" y="2286000"/>
            <a:ext cx="182880" cy="182880"/>
          </a:xfrm>
          <a:prstGeom prst="ellipse">
            <a:avLst/>
          </a:prstGeom>
          <a:solidFill>
            <a:schemeClr val="tx1"/>
          </a:solidFill>
          <a:ln/>
        </p:spPr>
      </p:sp>
      <p:sp>
        <p:nvSpPr>
          <p:cNvPr id="10" name="Shape 8"/>
          <p:cNvSpPr/>
          <p:nvPr/>
        </p:nvSpPr>
        <p:spPr>
          <a:xfrm>
            <a:off x="3728618" y="2231136"/>
            <a:ext cx="292608" cy="292608"/>
          </a:xfrm>
          <a:prstGeom prst="ellipse">
            <a:avLst/>
          </a:prstGeom>
          <a:solidFill>
            <a:schemeClr val="accent1"/>
          </a:solidFill>
          <a:ln w="19050">
            <a:solidFill>
              <a:schemeClr val="tx1"/>
            </a:solidFill>
            <a:prstDash val="solid"/>
          </a:ln>
        </p:spPr>
      </p:sp>
      <p:sp>
        <p:nvSpPr>
          <p:cNvPr id="11" name="Text 9"/>
          <p:cNvSpPr txBox="1"/>
          <p:nvPr/>
        </p:nvSpPr>
        <p:spPr>
          <a:xfrm>
            <a:off x="457200"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2023</a:t>
            </a:r>
            <a:endParaRPr lang="en-US" sz="1100" dirty="0"/>
          </a:p>
        </p:txBody>
      </p:sp>
      <p:sp>
        <p:nvSpPr>
          <p:cNvPr id="12" name="Text 10"/>
          <p:cNvSpPr txBox="1"/>
          <p:nvPr/>
        </p:nvSpPr>
        <p:spPr>
          <a:xfrm>
            <a:off x="1517193"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2024</a:t>
            </a:r>
            <a:endParaRPr lang="en-US" sz="1100" dirty="0"/>
          </a:p>
        </p:txBody>
      </p:sp>
      <p:sp>
        <p:nvSpPr>
          <p:cNvPr id="13" name="Text 11"/>
          <p:cNvSpPr txBox="1"/>
          <p:nvPr/>
        </p:nvSpPr>
        <p:spPr>
          <a:xfrm>
            <a:off x="2577186"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2025</a:t>
            </a:r>
            <a:endParaRPr lang="en-US" sz="1100" dirty="0"/>
          </a:p>
        </p:txBody>
      </p:sp>
      <p:sp>
        <p:nvSpPr>
          <p:cNvPr id="14" name="Text 12"/>
          <p:cNvSpPr txBox="1"/>
          <p:nvPr/>
        </p:nvSpPr>
        <p:spPr>
          <a:xfrm>
            <a:off x="3637178"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Now</a:t>
            </a:r>
            <a:endParaRPr lang="en-US" sz="1100" dirty="0"/>
          </a:p>
        </p:txBody>
      </p:sp>
      <p:sp>
        <p:nvSpPr>
          <p:cNvPr id="15" name="Text 13"/>
          <p:cNvSpPr txBox="1"/>
          <p:nvPr/>
        </p:nvSpPr>
        <p:spPr>
          <a:xfrm>
            <a:off x="4414418"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PROCESS STEPS</a:t>
            </a:r>
            <a:endParaRPr lang="en-US" sz="850" dirty="0"/>
          </a:p>
        </p:txBody>
      </p:sp>
      <p:sp>
        <p:nvSpPr>
          <p:cNvPr id="16" name="Shape 14"/>
          <p:cNvSpPr/>
          <p:nvPr/>
        </p:nvSpPr>
        <p:spPr>
          <a:xfrm>
            <a:off x="4414418" y="2148840"/>
            <a:ext cx="877113" cy="640080"/>
          </a:xfrm>
          <a:prstGeom prst="roundRect">
            <a:avLst>
              <a:gd name="adj" fmla="val 14286"/>
            </a:avLst>
          </a:prstGeom>
          <a:solidFill>
            <a:schemeClr val="bg1"/>
          </a:solidFill>
          <a:ln/>
        </p:spPr>
      </p:sp>
      <p:sp>
        <p:nvSpPr>
          <p:cNvPr id="17" name="Text 15"/>
          <p:cNvSpPr txBox="1"/>
          <p:nvPr/>
        </p:nvSpPr>
        <p:spPr>
          <a:xfrm>
            <a:off x="4414418" y="2148840"/>
            <a:ext cx="877113" cy="640080"/>
          </a:xfrm>
          <a:prstGeom prst="rect">
            <a:avLst/>
          </a:prstGeom>
          <a:noFill/>
          <a:ln/>
        </p:spPr>
        <p:txBody>
          <a:bodyPr wrap="square" lIns="0" tIns="0" rIns="0" bIns="0" rtlCol="0" anchor="ctr"/>
          <a:lstStyle/>
          <a:p>
            <a:pPr algn="ctr" indent="0" marL="0">
              <a:buNone/>
            </a:pPr>
            <a:r>
              <a:rPr lang="en-US" sz="1150" b="1" dirty="0">
                <a:solidFill>
                  <a:schemeClr val="tx1"/>
                </a:solidFill>
                <a:latin typeface="Manrope" pitchFamily="34" charset="0"/>
                <a:ea typeface="Manrope" pitchFamily="34" charset="-122"/>
                <a:cs typeface="Manrope" pitchFamily="34" charset="-120"/>
              </a:rPr>
              <a:t>Plan</a:t>
            </a:r>
            <a:endParaRPr lang="en-US" sz="1150" dirty="0"/>
          </a:p>
        </p:txBody>
      </p:sp>
      <p:sp>
        <p:nvSpPr>
          <p:cNvPr id="18" name="Shape 16"/>
          <p:cNvSpPr/>
          <p:nvPr/>
        </p:nvSpPr>
        <p:spPr>
          <a:xfrm>
            <a:off x="5318963" y="2468880"/>
            <a:ext cx="219456" cy="0"/>
          </a:xfrm>
          <a:prstGeom prst="line">
            <a:avLst/>
          </a:prstGeom>
          <a:noFill/>
          <a:ln w="15875">
            <a:solidFill>
              <a:schemeClr val="tx1"/>
            </a:solidFill>
            <a:prstDash val="solid"/>
            <a:tailEnd type="triangle"/>
          </a:ln>
        </p:spPr>
      </p:sp>
      <p:sp>
        <p:nvSpPr>
          <p:cNvPr id="19" name="Shape 17"/>
          <p:cNvSpPr/>
          <p:nvPr/>
        </p:nvSpPr>
        <p:spPr>
          <a:xfrm>
            <a:off x="5565851" y="2148840"/>
            <a:ext cx="877113" cy="640080"/>
          </a:xfrm>
          <a:prstGeom prst="roundRect">
            <a:avLst>
              <a:gd name="adj" fmla="val 14286"/>
            </a:avLst>
          </a:prstGeom>
          <a:solidFill>
            <a:schemeClr val="bg1"/>
          </a:solidFill>
          <a:ln/>
        </p:spPr>
      </p:sp>
      <p:sp>
        <p:nvSpPr>
          <p:cNvPr id="20" name="Text 18"/>
          <p:cNvSpPr txBox="1"/>
          <p:nvPr/>
        </p:nvSpPr>
        <p:spPr>
          <a:xfrm>
            <a:off x="5565851" y="2148840"/>
            <a:ext cx="877113" cy="640080"/>
          </a:xfrm>
          <a:prstGeom prst="rect">
            <a:avLst/>
          </a:prstGeom>
          <a:noFill/>
          <a:ln/>
        </p:spPr>
        <p:txBody>
          <a:bodyPr wrap="square" lIns="0" tIns="0" rIns="0" bIns="0" rtlCol="0" anchor="ctr"/>
          <a:lstStyle/>
          <a:p>
            <a:pPr algn="ctr" indent="0" marL="0">
              <a:buNone/>
            </a:pPr>
            <a:r>
              <a:rPr lang="en-US" sz="1150" b="1" dirty="0">
                <a:solidFill>
                  <a:schemeClr val="tx1"/>
                </a:solidFill>
                <a:latin typeface="Manrope" pitchFamily="34" charset="0"/>
                <a:ea typeface="Manrope" pitchFamily="34" charset="-122"/>
                <a:cs typeface="Manrope" pitchFamily="34" charset="-120"/>
              </a:rPr>
              <a:t>Build</a:t>
            </a:r>
            <a:endParaRPr lang="en-US" sz="1150" dirty="0"/>
          </a:p>
        </p:txBody>
      </p:sp>
      <p:sp>
        <p:nvSpPr>
          <p:cNvPr id="21" name="Shape 19"/>
          <p:cNvSpPr/>
          <p:nvPr/>
        </p:nvSpPr>
        <p:spPr>
          <a:xfrm>
            <a:off x="6470396" y="2468880"/>
            <a:ext cx="219456" cy="0"/>
          </a:xfrm>
          <a:prstGeom prst="line">
            <a:avLst/>
          </a:prstGeom>
          <a:noFill/>
          <a:ln w="15875">
            <a:solidFill>
              <a:schemeClr val="tx1"/>
            </a:solidFill>
            <a:prstDash val="solid"/>
            <a:tailEnd type="triangle"/>
          </a:ln>
        </p:spPr>
      </p:sp>
      <p:sp>
        <p:nvSpPr>
          <p:cNvPr id="22" name="Shape 20"/>
          <p:cNvSpPr/>
          <p:nvPr/>
        </p:nvSpPr>
        <p:spPr>
          <a:xfrm>
            <a:off x="6717284" y="2148840"/>
            <a:ext cx="877113" cy="640080"/>
          </a:xfrm>
          <a:prstGeom prst="roundRect">
            <a:avLst>
              <a:gd name="adj" fmla="val 14286"/>
            </a:avLst>
          </a:prstGeom>
          <a:solidFill>
            <a:schemeClr val="tx1"/>
          </a:solidFill>
          <a:ln/>
        </p:spPr>
      </p:sp>
      <p:sp>
        <p:nvSpPr>
          <p:cNvPr id="23" name="Text 21"/>
          <p:cNvSpPr txBox="1"/>
          <p:nvPr/>
        </p:nvSpPr>
        <p:spPr>
          <a:xfrm>
            <a:off x="6717284" y="2148840"/>
            <a:ext cx="877113" cy="640080"/>
          </a:xfrm>
          <a:prstGeom prst="rect">
            <a:avLst/>
          </a:prstGeom>
          <a:noFill/>
          <a:ln/>
        </p:spPr>
        <p:txBody>
          <a:bodyPr wrap="square" lIns="0" tIns="0" rIns="0" bIns="0" rtlCol="0" anchor="ctr"/>
          <a:lstStyle/>
          <a:p>
            <a:pPr algn="ctr" indent="0" marL="0">
              <a:buNone/>
            </a:pPr>
            <a:r>
              <a:rPr lang="en-US" sz="1150" b="1" dirty="0">
                <a:solidFill>
                  <a:schemeClr val="bg1"/>
                </a:solidFill>
                <a:latin typeface="Manrope" pitchFamily="34" charset="0"/>
                <a:ea typeface="Manrope" pitchFamily="34" charset="-122"/>
                <a:cs typeface="Manrope" pitchFamily="34" charset="-120"/>
              </a:rPr>
              <a:t>Launch</a:t>
            </a:r>
            <a:endParaRPr lang="en-US" sz="1150" dirty="0"/>
          </a:p>
        </p:txBody>
      </p:sp>
      <p:sp>
        <p:nvSpPr>
          <p:cNvPr id="24" name="Text 22"/>
          <p:cNvSpPr txBox="1"/>
          <p:nvPr/>
        </p:nvSpPr>
        <p:spPr>
          <a:xfrm>
            <a:off x="8280197"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HIGHLIGHT BOX</a:t>
            </a:r>
            <a:endParaRPr lang="en-US" sz="850" dirty="0"/>
          </a:p>
        </p:txBody>
      </p:sp>
      <p:sp>
        <p:nvSpPr>
          <p:cNvPr id="25" name="Shape 23"/>
          <p:cNvSpPr/>
          <p:nvPr/>
        </p:nvSpPr>
        <p:spPr>
          <a:xfrm>
            <a:off x="8280197" y="2148840"/>
            <a:ext cx="3362858" cy="868680"/>
          </a:xfrm>
          <a:prstGeom prst="roundRect">
            <a:avLst>
              <a:gd name="adj" fmla="val 10526"/>
            </a:avLst>
          </a:prstGeom>
          <a:solidFill>
            <a:schemeClr val="accent1"/>
          </a:solidFill>
          <a:ln/>
        </p:spPr>
      </p:sp>
      <p:pic>
        <p:nvPicPr>
          <p:cNvPr id="26" name="Icon PiLightbulb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8508797" y="2377440"/>
            <a:ext cx="365760" cy="365760"/>
          </a:xfrm>
          <a:prstGeom prst="rect">
            <a:avLst/>
          </a:prstGeom>
        </p:spPr>
      </p:pic>
      <p:sp>
        <p:nvSpPr>
          <p:cNvPr id="27" name="Text 24"/>
          <p:cNvSpPr txBox="1"/>
          <p:nvPr/>
        </p:nvSpPr>
        <p:spPr>
          <a:xfrm>
            <a:off x="9057437" y="2148840"/>
            <a:ext cx="2402738" cy="8686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Key insight: partners now source 38% of new logos.</a:t>
            </a:r>
            <a:endParaRPr lang="en-US" sz="1100" dirty="0"/>
          </a:p>
        </p:txBody>
      </p:sp>
      <p:sp>
        <p:nvSpPr>
          <p:cNvPr id="28" name="Text 25"/>
          <p:cNvSpPr txBox="1"/>
          <p:nvPr/>
        </p:nvSpPr>
        <p:spPr>
          <a:xfrm>
            <a:off x="548640" y="333756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QUOTE BLOCK</a:t>
            </a:r>
            <a:endParaRPr lang="en-US" sz="850" dirty="0"/>
          </a:p>
        </p:txBody>
      </p:sp>
      <p:sp>
        <p:nvSpPr>
          <p:cNvPr id="29" name="Shape 26"/>
          <p:cNvSpPr/>
          <p:nvPr/>
        </p:nvSpPr>
        <p:spPr>
          <a:xfrm>
            <a:off x="548640" y="3611880"/>
            <a:ext cx="3454298" cy="2377440"/>
          </a:xfrm>
          <a:prstGeom prst="roundRect">
            <a:avLst>
              <a:gd name="adj" fmla="val 3846"/>
            </a:avLst>
          </a:prstGeom>
          <a:solidFill>
            <a:schemeClr val="tx1"/>
          </a:solidFill>
          <a:ln/>
        </p:spPr>
      </p:sp>
      <p:pic>
        <p:nvPicPr>
          <p:cNvPr id="30" name="Icon PiQuotes C6F432"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822960" y="3840480"/>
            <a:ext cx="411480" cy="411480"/>
          </a:xfrm>
          <a:prstGeom prst="rect">
            <a:avLst/>
          </a:prstGeom>
        </p:spPr>
      </p:pic>
      <p:sp>
        <p:nvSpPr>
          <p:cNvPr id="31" name="Text 27"/>
          <p:cNvSpPr txBox="1"/>
          <p:nvPr/>
        </p:nvSpPr>
        <p:spPr>
          <a:xfrm>
            <a:off x="822960" y="4389120"/>
            <a:ext cx="2905658" cy="914400"/>
          </a:xfrm>
          <a:prstGeom prst="rect">
            <a:avLst/>
          </a:prstGeom>
          <a:noFill/>
          <a:ln/>
        </p:spPr>
        <p:txBody>
          <a:bodyPr wrap="square" lIns="0" tIns="0" rIns="0" bIns="0" rtlCol="0" anchor="t"/>
          <a:lstStyle/>
          <a:p>
            <a:pPr algn="l" indent="0" marL="0">
              <a:lnSpc>
                <a:spcPct val="115000"/>
              </a:lnSpc>
              <a:buNone/>
            </a:pPr>
            <a:r>
              <a:rPr lang="en-US" sz="1600" b="1" dirty="0">
                <a:solidFill>
                  <a:schemeClr val="bg1"/>
                </a:solidFill>
                <a:latin typeface="Manrope" pitchFamily="34" charset="0"/>
                <a:ea typeface="Manrope" pitchFamily="34" charset="-122"/>
                <a:cs typeface="Manrope" pitchFamily="34" charset="-120"/>
              </a:rPr>
              <a:t>The clearest view of our pipeline we have ever had.</a:t>
            </a:r>
            <a:endParaRPr lang="en-US" sz="1600" dirty="0"/>
          </a:p>
        </p:txBody>
      </p:sp>
      <p:sp>
        <p:nvSpPr>
          <p:cNvPr id="32" name="Text 28"/>
          <p:cNvSpPr txBox="1"/>
          <p:nvPr/>
        </p:nvSpPr>
        <p:spPr>
          <a:xfrm>
            <a:off x="822960" y="5486400"/>
            <a:ext cx="290565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VP Sales, Atlas Foods</a:t>
            </a:r>
            <a:endParaRPr lang="en-US" sz="1000" dirty="0"/>
          </a:p>
        </p:txBody>
      </p:sp>
      <p:sp>
        <p:nvSpPr>
          <p:cNvPr id="33" name="Text 29"/>
          <p:cNvSpPr txBox="1"/>
          <p:nvPr/>
        </p:nvSpPr>
        <p:spPr>
          <a:xfrm>
            <a:off x="4414418" y="333756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DATA CALLOUT</a:t>
            </a:r>
            <a:endParaRPr lang="en-US" sz="850" dirty="0"/>
          </a:p>
        </p:txBody>
      </p:sp>
      <p:sp>
        <p:nvSpPr>
          <p:cNvPr id="34" name="Shape 30"/>
          <p:cNvSpPr/>
          <p:nvPr/>
        </p:nvSpPr>
        <p:spPr>
          <a:xfrm>
            <a:off x="4414418" y="3611880"/>
            <a:ext cx="3454298" cy="2377440"/>
          </a:xfrm>
          <a:prstGeom prst="roundRect">
            <a:avLst>
              <a:gd name="adj" fmla="val 3846"/>
            </a:avLst>
          </a:prstGeom>
          <a:solidFill>
            <a:schemeClr val="bg1"/>
          </a:solidFill>
          <a:ln/>
        </p:spPr>
      </p:sp>
      <p:graphicFrame>
        <p:nvGraphicFramePr>
          <p:cNvPr id="35" name="Chart 0" descr=""/>
          <p:cNvGraphicFramePr/>
          <p:nvPr/>
        </p:nvGraphicFramePr>
        <p:xfrm>
          <a:off x="4597298" y="4114800"/>
          <a:ext cx="3088538" cy="1737360"/>
        </p:xfrm>
        <a:graphic xmlns:a="http://schemas.openxmlformats.org/drawingml/2006/main">
          <a:graphicData uri="http://schemas.openxmlformats.org/drawingml/2006/chart">
            <c:chart xmlns:c="http://schemas.openxmlformats.org/drawingml/2006/chart" r:id="rId3"/>
          </a:graphicData>
        </a:graphic>
      </p:graphicFrame>
      <p:sp>
        <p:nvSpPr>
          <p:cNvPr id="36" name="Shape 31"/>
          <p:cNvSpPr/>
          <p:nvPr/>
        </p:nvSpPr>
        <p:spPr>
          <a:xfrm>
            <a:off x="6451397" y="3794760"/>
            <a:ext cx="1188720" cy="274320"/>
          </a:xfrm>
          <a:prstGeom prst="roundRect">
            <a:avLst>
              <a:gd name="adj" fmla="val 50000"/>
            </a:avLst>
          </a:prstGeom>
          <a:solidFill>
            <a:schemeClr val="accent1"/>
          </a:solidFill>
          <a:ln/>
        </p:spPr>
      </p:sp>
      <p:sp>
        <p:nvSpPr>
          <p:cNvPr id="37" name="Text 32"/>
          <p:cNvSpPr txBox="1"/>
          <p:nvPr/>
        </p:nvSpPr>
        <p:spPr>
          <a:xfrm>
            <a:off x="6451397" y="3794760"/>
            <a:ext cx="11887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 40% vs D</a:t>
            </a:r>
            <a:endParaRPr lang="en-US" sz="900" dirty="0"/>
          </a:p>
        </p:txBody>
      </p:sp>
      <p:sp>
        <p:nvSpPr>
          <p:cNvPr id="38" name="Text 33"/>
          <p:cNvSpPr txBox="1"/>
          <p:nvPr/>
        </p:nvSpPr>
        <p:spPr>
          <a:xfrm>
            <a:off x="8280197" y="333756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COMPARISON BLOCK</a:t>
            </a:r>
            <a:endParaRPr lang="en-US" sz="850" dirty="0"/>
          </a:p>
        </p:txBody>
      </p:sp>
      <p:sp>
        <p:nvSpPr>
          <p:cNvPr id="39" name="Shape 34"/>
          <p:cNvSpPr/>
          <p:nvPr/>
        </p:nvSpPr>
        <p:spPr>
          <a:xfrm>
            <a:off x="8280197" y="3611880"/>
            <a:ext cx="1612849" cy="2377440"/>
          </a:xfrm>
          <a:prstGeom prst="roundRect">
            <a:avLst>
              <a:gd name="adj" fmla="val 5669"/>
            </a:avLst>
          </a:prstGeom>
          <a:solidFill>
            <a:schemeClr val="bg1"/>
          </a:solidFill>
          <a:ln/>
        </p:spPr>
      </p:sp>
      <p:sp>
        <p:nvSpPr>
          <p:cNvPr id="40" name="Shape 35"/>
          <p:cNvSpPr/>
          <p:nvPr/>
        </p:nvSpPr>
        <p:spPr>
          <a:xfrm>
            <a:off x="10030206" y="3611880"/>
            <a:ext cx="1612849" cy="2377440"/>
          </a:xfrm>
          <a:prstGeom prst="roundRect">
            <a:avLst>
              <a:gd name="adj" fmla="val 5669"/>
            </a:avLst>
          </a:prstGeom>
          <a:solidFill>
            <a:schemeClr val="tx1"/>
          </a:solidFill>
          <a:ln/>
        </p:spPr>
      </p:sp>
      <p:sp>
        <p:nvSpPr>
          <p:cNvPr id="41" name="Text 36"/>
          <p:cNvSpPr txBox="1"/>
          <p:nvPr/>
        </p:nvSpPr>
        <p:spPr>
          <a:xfrm>
            <a:off x="8463077" y="3794760"/>
            <a:ext cx="1247089"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Medium" pitchFamily="34" charset="0"/>
                <a:ea typeface="Inter Medium" pitchFamily="34" charset="-122"/>
                <a:cs typeface="Inter Medium" pitchFamily="34" charset="-120"/>
              </a:rPr>
              <a:t>Before</a:t>
            </a:r>
            <a:endParaRPr lang="en-US" sz="1000" dirty="0"/>
          </a:p>
        </p:txBody>
      </p:sp>
      <p:sp>
        <p:nvSpPr>
          <p:cNvPr id="42" name="Text 37"/>
          <p:cNvSpPr txBox="1"/>
          <p:nvPr/>
        </p:nvSpPr>
        <p:spPr>
          <a:xfrm>
            <a:off x="8463077" y="4114800"/>
            <a:ext cx="1247089" cy="548640"/>
          </a:xfrm>
          <a:prstGeom prst="rect">
            <a:avLst/>
          </a:prstGeom>
          <a:noFill/>
          <a:ln/>
        </p:spPr>
        <p:txBody>
          <a:bodyPr wrap="square" lIns="0" tIns="0" rIns="0" bIns="0" rtlCol="0" anchor="t"/>
          <a:lstStyle/>
          <a:p>
            <a:pPr algn="l" indent="0" marL="0">
              <a:buNone/>
            </a:pPr>
            <a:r>
              <a:rPr lang="en-US" sz="2800" dirty="0">
                <a:solidFill>
                  <a:schemeClr val="accent3"/>
                </a:solidFill>
                <a:latin typeface="Manrope ExtraBold" pitchFamily="34" charset="0"/>
                <a:ea typeface="Manrope ExtraBold" pitchFamily="34" charset="-122"/>
                <a:cs typeface="Manrope ExtraBold" pitchFamily="34" charset="-120"/>
              </a:rPr>
              <a:t>22%</a:t>
            </a:r>
            <a:endParaRPr lang="en-US" sz="2800" dirty="0"/>
          </a:p>
        </p:txBody>
      </p:sp>
      <p:sp>
        <p:nvSpPr>
          <p:cNvPr id="43" name="Text 38"/>
          <p:cNvSpPr txBox="1"/>
          <p:nvPr/>
        </p:nvSpPr>
        <p:spPr>
          <a:xfrm>
            <a:off x="8463077" y="4709160"/>
            <a:ext cx="1247089"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forecast error</a:t>
            </a:r>
            <a:endParaRPr lang="en-US" sz="950" dirty="0"/>
          </a:p>
        </p:txBody>
      </p:sp>
      <p:sp>
        <p:nvSpPr>
          <p:cNvPr id="44" name="Text 39"/>
          <p:cNvSpPr txBox="1"/>
          <p:nvPr/>
        </p:nvSpPr>
        <p:spPr>
          <a:xfrm>
            <a:off x="10213086" y="3794760"/>
            <a:ext cx="1247089"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After</a:t>
            </a:r>
            <a:endParaRPr lang="en-US" sz="1000" dirty="0"/>
          </a:p>
        </p:txBody>
      </p:sp>
      <p:sp>
        <p:nvSpPr>
          <p:cNvPr id="45" name="Text 40"/>
          <p:cNvSpPr txBox="1"/>
          <p:nvPr/>
        </p:nvSpPr>
        <p:spPr>
          <a:xfrm>
            <a:off x="10213086" y="4114800"/>
            <a:ext cx="1247089" cy="548640"/>
          </a:xfrm>
          <a:prstGeom prst="rect">
            <a:avLst/>
          </a:prstGeom>
          <a:noFill/>
          <a:ln/>
        </p:spPr>
        <p:txBody>
          <a:bodyPr wrap="square" lIns="0" tIns="0" rIns="0" bIns="0" rtlCol="0" anchor="t"/>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4%</a:t>
            </a:r>
            <a:endParaRPr lang="en-US" sz="2800" dirty="0"/>
          </a:p>
        </p:txBody>
      </p:sp>
      <p:sp>
        <p:nvSpPr>
          <p:cNvPr id="46" name="Text 41"/>
          <p:cNvSpPr txBox="1"/>
          <p:nvPr/>
        </p:nvSpPr>
        <p:spPr>
          <a:xfrm>
            <a:off x="10213086" y="4709160"/>
            <a:ext cx="1247089" cy="22860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forecast error</a:t>
            </a:r>
            <a:endParaRPr lang="en-US" sz="9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Icon library</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One family: Phosphor (MIT licence), regular weight. SVG vectors — recolour with Graphics Fill or Convert to Shape.</a:t>
            </a:r>
            <a:endParaRPr lang="en-US" sz="1150" dirty="0"/>
          </a:p>
        </p:txBody>
      </p:sp>
      <p:pic>
        <p:nvPicPr>
          <p:cNvPr id="6" name="Icon PiChartBar 0A1628" descr="preencoded.png">    </p:cNvPr>
          <p:cNvPicPr>
            <a:picLocks noChangeAspect="1"/>
          </p:cNvPicPr>
          <p:nvPr/>
        </p:nvPicPr>
        <p:blipFill>
          <a:blip r:embed="rId1">
            <a:extLst>
              <a:ext uri="{96DAC541-7B7A-43D3-8B79-37D633B846F1}">
                <asvg:svgBlip xmlns:asvg="http://schemas.microsoft.com/office/drawing/2016/SVG/main" r:embed="rId51"/>
              </a:ext>
            </a:extLst>
          </a:blip>
          <a:stretch>
            <a:fillRect/>
          </a:stretch>
        </p:blipFill>
        <p:spPr>
          <a:xfrm>
            <a:off x="837171" y="1975104"/>
            <a:ext cx="347472" cy="347472"/>
          </a:xfrm>
          <a:prstGeom prst="rect">
            <a:avLst/>
          </a:prstGeom>
        </p:spPr>
      </p:pic>
      <p:sp>
        <p:nvSpPr>
          <p:cNvPr id="7" name="Text 4"/>
          <p:cNvSpPr txBox="1"/>
          <p:nvPr/>
        </p:nvSpPr>
        <p:spPr>
          <a:xfrm>
            <a:off x="548640"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Chart Bar</a:t>
            </a:r>
            <a:endParaRPr lang="en-US" sz="750" dirty="0"/>
          </a:p>
        </p:txBody>
      </p:sp>
      <p:pic>
        <p:nvPicPr>
          <p:cNvPr id="8" name="Icon PiChartLineUp 0A1628" descr="preencoded.png">    </p:cNvPr>
          <p:cNvPicPr>
            <a:picLocks noChangeAspect="1"/>
          </p:cNvPicPr>
          <p:nvPr/>
        </p:nvPicPr>
        <p:blipFill>
          <a:blip r:embed="rId2">
            <a:extLst>
              <a:ext uri="{96DAC541-7B7A-43D3-8B79-37D633B846F1}">
                <asvg:svgBlip xmlns:asvg="http://schemas.microsoft.com/office/drawing/2016/SVG/main" r:embed="rId52"/>
              </a:ext>
            </a:extLst>
          </a:blip>
          <a:stretch>
            <a:fillRect/>
          </a:stretch>
        </p:blipFill>
        <p:spPr>
          <a:xfrm>
            <a:off x="1761706" y="1975104"/>
            <a:ext cx="347472" cy="347472"/>
          </a:xfrm>
          <a:prstGeom prst="rect">
            <a:avLst/>
          </a:prstGeom>
        </p:spPr>
      </p:pic>
      <p:sp>
        <p:nvSpPr>
          <p:cNvPr id="9" name="Text 5"/>
          <p:cNvSpPr txBox="1"/>
          <p:nvPr/>
        </p:nvSpPr>
        <p:spPr>
          <a:xfrm>
            <a:off x="1473175"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Chart Line Up</a:t>
            </a:r>
            <a:endParaRPr lang="en-US" sz="750" dirty="0"/>
          </a:p>
        </p:txBody>
      </p:sp>
      <p:pic>
        <p:nvPicPr>
          <p:cNvPr id="10" name="Icon PiChartPieSlice 0A1628" descr="preencoded.png">    </p:cNvPr>
          <p:cNvPicPr>
            <a:picLocks noChangeAspect="1"/>
          </p:cNvPicPr>
          <p:nvPr/>
        </p:nvPicPr>
        <p:blipFill>
          <a:blip r:embed="rId3">
            <a:extLst>
              <a:ext uri="{96DAC541-7B7A-43D3-8B79-37D633B846F1}">
                <asvg:svgBlip xmlns:asvg="http://schemas.microsoft.com/office/drawing/2016/SVG/main" r:embed="rId53"/>
              </a:ext>
            </a:extLst>
          </a:blip>
          <a:stretch>
            <a:fillRect/>
          </a:stretch>
        </p:blipFill>
        <p:spPr>
          <a:xfrm>
            <a:off x="2686241" y="1975104"/>
            <a:ext cx="347472" cy="347472"/>
          </a:xfrm>
          <a:prstGeom prst="rect">
            <a:avLst/>
          </a:prstGeom>
        </p:spPr>
      </p:pic>
      <p:sp>
        <p:nvSpPr>
          <p:cNvPr id="11" name="Text 6"/>
          <p:cNvSpPr txBox="1"/>
          <p:nvPr/>
        </p:nvSpPr>
        <p:spPr>
          <a:xfrm>
            <a:off x="2397709"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Chart Pie Slice</a:t>
            </a:r>
            <a:endParaRPr lang="en-US" sz="750" dirty="0"/>
          </a:p>
        </p:txBody>
      </p:sp>
      <p:pic>
        <p:nvPicPr>
          <p:cNvPr id="12" name="Icon PiPresentationChart 0A1628" descr="preencoded.png">    </p:cNvPr>
          <p:cNvPicPr>
            <a:picLocks noChangeAspect="1"/>
          </p:cNvPicPr>
          <p:nvPr/>
        </p:nvPicPr>
        <p:blipFill>
          <a:blip r:embed="rId4">
            <a:extLst>
              <a:ext uri="{96DAC541-7B7A-43D3-8B79-37D633B846F1}">
                <asvg:svgBlip xmlns:asvg="http://schemas.microsoft.com/office/drawing/2016/SVG/main" r:embed="rId54"/>
              </a:ext>
            </a:extLst>
          </a:blip>
          <a:stretch>
            <a:fillRect/>
          </a:stretch>
        </p:blipFill>
        <p:spPr>
          <a:xfrm>
            <a:off x="3610775" y="1975104"/>
            <a:ext cx="347472" cy="347472"/>
          </a:xfrm>
          <a:prstGeom prst="rect">
            <a:avLst/>
          </a:prstGeom>
        </p:spPr>
      </p:pic>
      <p:sp>
        <p:nvSpPr>
          <p:cNvPr id="13" name="Text 7"/>
          <p:cNvSpPr txBox="1"/>
          <p:nvPr/>
        </p:nvSpPr>
        <p:spPr>
          <a:xfrm>
            <a:off x="3322244"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Presentation Chart</a:t>
            </a:r>
            <a:endParaRPr lang="en-US" sz="750" dirty="0"/>
          </a:p>
        </p:txBody>
      </p:sp>
      <p:pic>
        <p:nvPicPr>
          <p:cNvPr id="14" name="Icon PiTarget 0A1628" descr="preencoded.png">    </p:cNvPr>
          <p:cNvPicPr>
            <a:picLocks noChangeAspect="1"/>
          </p:cNvPicPr>
          <p:nvPr/>
        </p:nvPicPr>
        <p:blipFill>
          <a:blip r:embed="rId5">
            <a:extLst>
              <a:ext uri="{96DAC541-7B7A-43D3-8B79-37D633B846F1}">
                <asvg:svgBlip xmlns:asvg="http://schemas.microsoft.com/office/drawing/2016/SVG/main" r:embed="rId55"/>
              </a:ext>
            </a:extLst>
          </a:blip>
          <a:stretch>
            <a:fillRect/>
          </a:stretch>
        </p:blipFill>
        <p:spPr>
          <a:xfrm>
            <a:off x="4535310" y="1975104"/>
            <a:ext cx="347472" cy="347472"/>
          </a:xfrm>
          <a:prstGeom prst="rect">
            <a:avLst/>
          </a:prstGeom>
        </p:spPr>
      </p:pic>
      <p:sp>
        <p:nvSpPr>
          <p:cNvPr id="15" name="Text 8"/>
          <p:cNvSpPr txBox="1"/>
          <p:nvPr/>
        </p:nvSpPr>
        <p:spPr>
          <a:xfrm>
            <a:off x="4246778"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Target</a:t>
            </a:r>
            <a:endParaRPr lang="en-US" sz="750" dirty="0"/>
          </a:p>
        </p:txBody>
      </p:sp>
      <p:sp>
        <p:nvSpPr>
          <p:cNvPr id="16" name="Shape 9"/>
          <p:cNvSpPr/>
          <p:nvPr/>
        </p:nvSpPr>
        <p:spPr>
          <a:xfrm>
            <a:off x="5359260" y="1874520"/>
            <a:ext cx="548640" cy="548640"/>
          </a:xfrm>
          <a:prstGeom prst="ellipse">
            <a:avLst/>
          </a:prstGeom>
          <a:solidFill>
            <a:schemeClr val="accent1"/>
          </a:solidFill>
          <a:ln/>
        </p:spPr>
      </p:sp>
      <p:pic>
        <p:nvPicPr>
          <p:cNvPr id="17" name="Icon PiRocketLaunch 0A1628" descr="preencoded.png">    </p:cNvPr>
          <p:cNvPicPr>
            <a:picLocks noChangeAspect="1"/>
          </p:cNvPicPr>
          <p:nvPr/>
        </p:nvPicPr>
        <p:blipFill>
          <a:blip r:embed="rId6">
            <a:extLst>
              <a:ext uri="{96DAC541-7B7A-43D3-8B79-37D633B846F1}">
                <asvg:svgBlip xmlns:asvg="http://schemas.microsoft.com/office/drawing/2016/SVG/main" r:embed="rId56"/>
              </a:ext>
            </a:extLst>
          </a:blip>
          <a:stretch>
            <a:fillRect/>
          </a:stretch>
        </p:blipFill>
        <p:spPr>
          <a:xfrm>
            <a:off x="5490934" y="2006194"/>
            <a:ext cx="285293" cy="285293"/>
          </a:xfrm>
          <a:prstGeom prst="rect">
            <a:avLst/>
          </a:prstGeom>
        </p:spPr>
      </p:pic>
      <p:sp>
        <p:nvSpPr>
          <p:cNvPr id="18" name="Text 10"/>
          <p:cNvSpPr txBox="1"/>
          <p:nvPr/>
        </p:nvSpPr>
        <p:spPr>
          <a:xfrm>
            <a:off x="5171313"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Rocket Launch</a:t>
            </a:r>
            <a:endParaRPr lang="en-US" sz="750" dirty="0"/>
          </a:p>
        </p:txBody>
      </p:sp>
      <p:pic>
        <p:nvPicPr>
          <p:cNvPr id="19" name="Icon PiUsersThree 0A1628" descr="preencoded.png">    </p:cNvPr>
          <p:cNvPicPr>
            <a:picLocks noChangeAspect="1"/>
          </p:cNvPicPr>
          <p:nvPr/>
        </p:nvPicPr>
        <p:blipFill>
          <a:blip r:embed="rId7">
            <a:extLst>
              <a:ext uri="{96DAC541-7B7A-43D3-8B79-37D633B846F1}">
                <asvg:svgBlip xmlns:asvg="http://schemas.microsoft.com/office/drawing/2016/SVG/main" r:embed="rId57"/>
              </a:ext>
            </a:extLst>
          </a:blip>
          <a:stretch>
            <a:fillRect/>
          </a:stretch>
        </p:blipFill>
        <p:spPr>
          <a:xfrm>
            <a:off x="6384379" y="1975104"/>
            <a:ext cx="347472" cy="347472"/>
          </a:xfrm>
          <a:prstGeom prst="rect">
            <a:avLst/>
          </a:prstGeom>
        </p:spPr>
      </p:pic>
      <p:sp>
        <p:nvSpPr>
          <p:cNvPr id="20" name="Text 11"/>
          <p:cNvSpPr txBox="1"/>
          <p:nvPr/>
        </p:nvSpPr>
        <p:spPr>
          <a:xfrm>
            <a:off x="6095848"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Users Three</a:t>
            </a:r>
            <a:endParaRPr lang="en-US" sz="750" dirty="0"/>
          </a:p>
        </p:txBody>
      </p:sp>
      <p:pic>
        <p:nvPicPr>
          <p:cNvPr id="21" name="Icon PiGlobeHemisphereWest 0A1628" descr="preencoded.png">    </p:cNvPr>
          <p:cNvPicPr>
            <a:picLocks noChangeAspect="1"/>
          </p:cNvPicPr>
          <p:nvPr/>
        </p:nvPicPr>
        <p:blipFill>
          <a:blip r:embed="rId8">
            <a:extLst>
              <a:ext uri="{96DAC541-7B7A-43D3-8B79-37D633B846F1}">
                <asvg:svgBlip xmlns:asvg="http://schemas.microsoft.com/office/drawing/2016/SVG/main" r:embed="rId58"/>
              </a:ext>
            </a:extLst>
          </a:blip>
          <a:stretch>
            <a:fillRect/>
          </a:stretch>
        </p:blipFill>
        <p:spPr>
          <a:xfrm>
            <a:off x="7308913" y="1975104"/>
            <a:ext cx="347472" cy="347472"/>
          </a:xfrm>
          <a:prstGeom prst="rect">
            <a:avLst/>
          </a:prstGeom>
        </p:spPr>
      </p:pic>
      <p:sp>
        <p:nvSpPr>
          <p:cNvPr id="22" name="Text 12"/>
          <p:cNvSpPr txBox="1"/>
          <p:nvPr/>
        </p:nvSpPr>
        <p:spPr>
          <a:xfrm>
            <a:off x="7020382"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Globe Hemisphere West</a:t>
            </a:r>
            <a:endParaRPr lang="en-US" sz="750" dirty="0"/>
          </a:p>
        </p:txBody>
      </p:sp>
      <p:pic>
        <p:nvPicPr>
          <p:cNvPr id="23" name="Icon PiLightning 0A1628" descr="preencoded.png">    </p:cNvPr>
          <p:cNvPicPr>
            <a:picLocks noChangeAspect="1"/>
          </p:cNvPicPr>
          <p:nvPr/>
        </p:nvPicPr>
        <p:blipFill>
          <a:blip r:embed="rId9">
            <a:extLst>
              <a:ext uri="{96DAC541-7B7A-43D3-8B79-37D633B846F1}">
                <asvg:svgBlip xmlns:asvg="http://schemas.microsoft.com/office/drawing/2016/SVG/main" r:embed="rId59"/>
              </a:ext>
            </a:extLst>
          </a:blip>
          <a:stretch>
            <a:fillRect/>
          </a:stretch>
        </p:blipFill>
        <p:spPr>
          <a:xfrm>
            <a:off x="8233448" y="1975104"/>
            <a:ext cx="347472" cy="347472"/>
          </a:xfrm>
          <a:prstGeom prst="rect">
            <a:avLst/>
          </a:prstGeom>
        </p:spPr>
      </p:pic>
      <p:sp>
        <p:nvSpPr>
          <p:cNvPr id="24" name="Text 13"/>
          <p:cNvSpPr txBox="1"/>
          <p:nvPr/>
        </p:nvSpPr>
        <p:spPr>
          <a:xfrm>
            <a:off x="7944917"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Lightning</a:t>
            </a:r>
            <a:endParaRPr lang="en-US" sz="750" dirty="0"/>
          </a:p>
        </p:txBody>
      </p:sp>
      <p:pic>
        <p:nvPicPr>
          <p:cNvPr id="25" name="Icon PiShieldCheck 0A1628" descr="preencoded.png">    </p:cNvPr>
          <p:cNvPicPr>
            <a:picLocks noChangeAspect="1"/>
          </p:cNvPicPr>
          <p:nvPr/>
        </p:nvPicPr>
        <p:blipFill>
          <a:blip r:embed="rId10">
            <a:extLst>
              <a:ext uri="{96DAC541-7B7A-43D3-8B79-37D633B846F1}">
                <asvg:svgBlip xmlns:asvg="http://schemas.microsoft.com/office/drawing/2016/SVG/main" r:embed="rId60"/>
              </a:ext>
            </a:extLst>
          </a:blip>
          <a:stretch>
            <a:fillRect/>
          </a:stretch>
        </p:blipFill>
        <p:spPr>
          <a:xfrm>
            <a:off x="9157983" y="1975104"/>
            <a:ext cx="347472" cy="347472"/>
          </a:xfrm>
          <a:prstGeom prst="rect">
            <a:avLst/>
          </a:prstGeom>
        </p:spPr>
      </p:pic>
      <p:sp>
        <p:nvSpPr>
          <p:cNvPr id="26" name="Text 14"/>
          <p:cNvSpPr txBox="1"/>
          <p:nvPr/>
        </p:nvSpPr>
        <p:spPr>
          <a:xfrm>
            <a:off x="8869451"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Shield Check</a:t>
            </a:r>
            <a:endParaRPr lang="en-US" sz="750" dirty="0"/>
          </a:p>
        </p:txBody>
      </p:sp>
      <p:pic>
        <p:nvPicPr>
          <p:cNvPr id="27" name="Icon PiGear 0A1628" descr="preencoded.png">    </p:cNvPr>
          <p:cNvPicPr>
            <a:picLocks noChangeAspect="1"/>
          </p:cNvPicPr>
          <p:nvPr/>
        </p:nvPicPr>
        <p:blipFill>
          <a:blip r:embed="rId11">
            <a:extLst>
              <a:ext uri="{96DAC541-7B7A-43D3-8B79-37D633B846F1}">
                <asvg:svgBlip xmlns:asvg="http://schemas.microsoft.com/office/drawing/2016/SVG/main" r:embed="rId61"/>
              </a:ext>
            </a:extLst>
          </a:blip>
          <a:stretch>
            <a:fillRect/>
          </a:stretch>
        </p:blipFill>
        <p:spPr>
          <a:xfrm>
            <a:off x="10082517" y="1975104"/>
            <a:ext cx="347472" cy="347472"/>
          </a:xfrm>
          <a:prstGeom prst="rect">
            <a:avLst/>
          </a:prstGeom>
        </p:spPr>
      </p:pic>
      <p:sp>
        <p:nvSpPr>
          <p:cNvPr id="28" name="Text 15"/>
          <p:cNvSpPr txBox="1"/>
          <p:nvPr/>
        </p:nvSpPr>
        <p:spPr>
          <a:xfrm>
            <a:off x="9793986"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Gear</a:t>
            </a:r>
            <a:endParaRPr lang="en-US" sz="750" dirty="0"/>
          </a:p>
        </p:txBody>
      </p:sp>
      <p:pic>
        <p:nvPicPr>
          <p:cNvPr id="29" name="Icon PiStack 0A1628" descr="preencoded.png">    </p:cNvPr>
          <p:cNvPicPr>
            <a:picLocks noChangeAspect="1"/>
          </p:cNvPicPr>
          <p:nvPr/>
        </p:nvPicPr>
        <p:blipFill>
          <a:blip r:embed="rId12">
            <a:extLst>
              <a:ext uri="{96DAC541-7B7A-43D3-8B79-37D633B846F1}">
                <asvg:svgBlip xmlns:asvg="http://schemas.microsoft.com/office/drawing/2016/SVG/main" r:embed="rId62"/>
              </a:ext>
            </a:extLst>
          </a:blip>
          <a:stretch>
            <a:fillRect/>
          </a:stretch>
        </p:blipFill>
        <p:spPr>
          <a:xfrm>
            <a:off x="11007052" y="1975104"/>
            <a:ext cx="347472" cy="347472"/>
          </a:xfrm>
          <a:prstGeom prst="rect">
            <a:avLst/>
          </a:prstGeom>
        </p:spPr>
      </p:pic>
      <p:sp>
        <p:nvSpPr>
          <p:cNvPr id="30" name="Text 16"/>
          <p:cNvSpPr txBox="1"/>
          <p:nvPr/>
        </p:nvSpPr>
        <p:spPr>
          <a:xfrm>
            <a:off x="10718521"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Stack</a:t>
            </a:r>
            <a:endParaRPr lang="en-US" sz="750" dirty="0"/>
          </a:p>
        </p:txBody>
      </p:sp>
      <p:pic>
        <p:nvPicPr>
          <p:cNvPr id="31" name="Icon PiCube 0A1628" descr="preencoded.png">    </p:cNvPr>
          <p:cNvPicPr>
            <a:picLocks noChangeAspect="1"/>
          </p:cNvPicPr>
          <p:nvPr/>
        </p:nvPicPr>
        <p:blipFill>
          <a:blip r:embed="rId13">
            <a:extLst>
              <a:ext uri="{96DAC541-7B7A-43D3-8B79-37D633B846F1}">
                <asvg:svgBlip xmlns:asvg="http://schemas.microsoft.com/office/drawing/2016/SVG/main" r:embed="rId63"/>
              </a:ext>
            </a:extLst>
          </a:blip>
          <a:stretch>
            <a:fillRect/>
          </a:stretch>
        </p:blipFill>
        <p:spPr>
          <a:xfrm>
            <a:off x="837171" y="2962656"/>
            <a:ext cx="347472" cy="347472"/>
          </a:xfrm>
          <a:prstGeom prst="rect">
            <a:avLst/>
          </a:prstGeom>
        </p:spPr>
      </p:pic>
      <p:sp>
        <p:nvSpPr>
          <p:cNvPr id="32" name="Text 17"/>
          <p:cNvSpPr txBox="1"/>
          <p:nvPr/>
        </p:nvSpPr>
        <p:spPr>
          <a:xfrm>
            <a:off x="548640"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Cube</a:t>
            </a:r>
            <a:endParaRPr lang="en-US" sz="750" dirty="0"/>
          </a:p>
        </p:txBody>
      </p:sp>
      <p:pic>
        <p:nvPicPr>
          <p:cNvPr id="33" name="Icon PiPlugs 0A1628" descr="preencoded.png">    </p:cNvPr>
          <p:cNvPicPr>
            <a:picLocks noChangeAspect="1"/>
          </p:cNvPicPr>
          <p:nvPr/>
        </p:nvPicPr>
        <p:blipFill>
          <a:blip r:embed="rId14">
            <a:extLst>
              <a:ext uri="{96DAC541-7B7A-43D3-8B79-37D633B846F1}">
                <asvg:svgBlip xmlns:asvg="http://schemas.microsoft.com/office/drawing/2016/SVG/main" r:embed="rId64"/>
              </a:ext>
            </a:extLst>
          </a:blip>
          <a:stretch>
            <a:fillRect/>
          </a:stretch>
        </p:blipFill>
        <p:spPr>
          <a:xfrm>
            <a:off x="1761706" y="2962656"/>
            <a:ext cx="347472" cy="347472"/>
          </a:xfrm>
          <a:prstGeom prst="rect">
            <a:avLst/>
          </a:prstGeom>
        </p:spPr>
      </p:pic>
      <p:sp>
        <p:nvSpPr>
          <p:cNvPr id="34" name="Text 18"/>
          <p:cNvSpPr txBox="1"/>
          <p:nvPr/>
        </p:nvSpPr>
        <p:spPr>
          <a:xfrm>
            <a:off x="1473175"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Plugs</a:t>
            </a:r>
            <a:endParaRPr lang="en-US" sz="750" dirty="0"/>
          </a:p>
        </p:txBody>
      </p:sp>
      <p:pic>
        <p:nvPicPr>
          <p:cNvPr id="35" name="Icon PiCloud 0A1628" descr="preencoded.png">    </p:cNvPr>
          <p:cNvPicPr>
            <a:picLocks noChangeAspect="1"/>
          </p:cNvPicPr>
          <p:nvPr/>
        </p:nvPicPr>
        <p:blipFill>
          <a:blip r:embed="rId15">
            <a:extLst>
              <a:ext uri="{96DAC541-7B7A-43D3-8B79-37D633B846F1}">
                <asvg:svgBlip xmlns:asvg="http://schemas.microsoft.com/office/drawing/2016/SVG/main" r:embed="rId65"/>
              </a:ext>
            </a:extLst>
          </a:blip>
          <a:stretch>
            <a:fillRect/>
          </a:stretch>
        </p:blipFill>
        <p:spPr>
          <a:xfrm>
            <a:off x="2686241" y="2962656"/>
            <a:ext cx="347472" cy="347472"/>
          </a:xfrm>
          <a:prstGeom prst="rect">
            <a:avLst/>
          </a:prstGeom>
        </p:spPr>
      </p:pic>
      <p:sp>
        <p:nvSpPr>
          <p:cNvPr id="36" name="Text 19"/>
          <p:cNvSpPr txBox="1"/>
          <p:nvPr/>
        </p:nvSpPr>
        <p:spPr>
          <a:xfrm>
            <a:off x="2397709"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Cloud</a:t>
            </a:r>
            <a:endParaRPr lang="en-US" sz="750" dirty="0"/>
          </a:p>
        </p:txBody>
      </p:sp>
      <p:pic>
        <p:nvPicPr>
          <p:cNvPr id="37" name="Icon PiDatabase 0A1628" descr="preencoded.png">    </p:cNvPr>
          <p:cNvPicPr>
            <a:picLocks noChangeAspect="1"/>
          </p:cNvPicPr>
          <p:nvPr/>
        </p:nvPicPr>
        <p:blipFill>
          <a:blip r:embed="rId16">
            <a:extLst>
              <a:ext uri="{96DAC541-7B7A-43D3-8B79-37D633B846F1}">
                <asvg:svgBlip xmlns:asvg="http://schemas.microsoft.com/office/drawing/2016/SVG/main" r:embed="rId66"/>
              </a:ext>
            </a:extLst>
          </a:blip>
          <a:stretch>
            <a:fillRect/>
          </a:stretch>
        </p:blipFill>
        <p:spPr>
          <a:xfrm>
            <a:off x="3610775" y="2962656"/>
            <a:ext cx="347472" cy="347472"/>
          </a:xfrm>
          <a:prstGeom prst="rect">
            <a:avLst/>
          </a:prstGeom>
        </p:spPr>
      </p:pic>
      <p:sp>
        <p:nvSpPr>
          <p:cNvPr id="38" name="Text 20"/>
          <p:cNvSpPr txBox="1"/>
          <p:nvPr/>
        </p:nvSpPr>
        <p:spPr>
          <a:xfrm>
            <a:off x="3322244"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Database</a:t>
            </a:r>
            <a:endParaRPr lang="en-US" sz="750" dirty="0"/>
          </a:p>
        </p:txBody>
      </p:sp>
      <p:pic>
        <p:nvPicPr>
          <p:cNvPr id="39" name="Icon PiCurrencyDollar 0A1628" descr="preencoded.png">    </p:cNvPr>
          <p:cNvPicPr>
            <a:picLocks noChangeAspect="1"/>
          </p:cNvPicPr>
          <p:nvPr/>
        </p:nvPicPr>
        <p:blipFill>
          <a:blip r:embed="rId17">
            <a:extLst>
              <a:ext uri="{96DAC541-7B7A-43D3-8B79-37D633B846F1}">
                <asvg:svgBlip xmlns:asvg="http://schemas.microsoft.com/office/drawing/2016/SVG/main" r:embed="rId67"/>
              </a:ext>
            </a:extLst>
          </a:blip>
          <a:stretch>
            <a:fillRect/>
          </a:stretch>
        </p:blipFill>
        <p:spPr>
          <a:xfrm>
            <a:off x="4535310" y="2962656"/>
            <a:ext cx="347472" cy="347472"/>
          </a:xfrm>
          <a:prstGeom prst="rect">
            <a:avLst/>
          </a:prstGeom>
        </p:spPr>
      </p:pic>
      <p:sp>
        <p:nvSpPr>
          <p:cNvPr id="40" name="Text 21"/>
          <p:cNvSpPr txBox="1"/>
          <p:nvPr/>
        </p:nvSpPr>
        <p:spPr>
          <a:xfrm>
            <a:off x="4246778"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Currency Dollar</a:t>
            </a:r>
            <a:endParaRPr lang="en-US" sz="750" dirty="0"/>
          </a:p>
        </p:txBody>
      </p:sp>
      <p:pic>
        <p:nvPicPr>
          <p:cNvPr id="41" name="Icon PiHandshake 0A1628" descr="preencoded.png">    </p:cNvPr>
          <p:cNvPicPr>
            <a:picLocks noChangeAspect="1"/>
          </p:cNvPicPr>
          <p:nvPr/>
        </p:nvPicPr>
        <p:blipFill>
          <a:blip r:embed="rId18">
            <a:extLst>
              <a:ext uri="{96DAC541-7B7A-43D3-8B79-37D633B846F1}">
                <asvg:svgBlip xmlns:asvg="http://schemas.microsoft.com/office/drawing/2016/SVG/main" r:embed="rId68"/>
              </a:ext>
            </a:extLst>
          </a:blip>
          <a:stretch>
            <a:fillRect/>
          </a:stretch>
        </p:blipFill>
        <p:spPr>
          <a:xfrm>
            <a:off x="5459844" y="2962656"/>
            <a:ext cx="347472" cy="347472"/>
          </a:xfrm>
          <a:prstGeom prst="rect">
            <a:avLst/>
          </a:prstGeom>
        </p:spPr>
      </p:pic>
      <p:sp>
        <p:nvSpPr>
          <p:cNvPr id="42" name="Text 22"/>
          <p:cNvSpPr txBox="1"/>
          <p:nvPr/>
        </p:nvSpPr>
        <p:spPr>
          <a:xfrm>
            <a:off x="5171313"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Handshake</a:t>
            </a:r>
            <a:endParaRPr lang="en-US" sz="750" dirty="0"/>
          </a:p>
        </p:txBody>
      </p:sp>
      <p:pic>
        <p:nvPicPr>
          <p:cNvPr id="43" name="Icon PiMegaphone 0A1628" descr="preencoded.png">    </p:cNvPr>
          <p:cNvPicPr>
            <a:picLocks noChangeAspect="1"/>
          </p:cNvPicPr>
          <p:nvPr/>
        </p:nvPicPr>
        <p:blipFill>
          <a:blip r:embed="rId19">
            <a:extLst>
              <a:ext uri="{96DAC541-7B7A-43D3-8B79-37D633B846F1}">
                <asvg:svgBlip xmlns:asvg="http://schemas.microsoft.com/office/drawing/2016/SVG/main" r:embed="rId69"/>
              </a:ext>
            </a:extLst>
          </a:blip>
          <a:stretch>
            <a:fillRect/>
          </a:stretch>
        </p:blipFill>
        <p:spPr>
          <a:xfrm>
            <a:off x="6384379" y="2962656"/>
            <a:ext cx="347472" cy="347472"/>
          </a:xfrm>
          <a:prstGeom prst="rect">
            <a:avLst/>
          </a:prstGeom>
        </p:spPr>
      </p:pic>
      <p:sp>
        <p:nvSpPr>
          <p:cNvPr id="44" name="Text 23"/>
          <p:cNvSpPr txBox="1"/>
          <p:nvPr/>
        </p:nvSpPr>
        <p:spPr>
          <a:xfrm>
            <a:off x="6095848"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Megaphone</a:t>
            </a:r>
            <a:endParaRPr lang="en-US" sz="750" dirty="0"/>
          </a:p>
        </p:txBody>
      </p:sp>
      <p:pic>
        <p:nvPicPr>
          <p:cNvPr id="45" name="Icon PiEnvelopeSimple 0A1628" descr="preencoded.png">    </p:cNvPr>
          <p:cNvPicPr>
            <a:picLocks noChangeAspect="1"/>
          </p:cNvPicPr>
          <p:nvPr/>
        </p:nvPicPr>
        <p:blipFill>
          <a:blip r:embed="rId20">
            <a:extLst>
              <a:ext uri="{96DAC541-7B7A-43D3-8B79-37D633B846F1}">
                <asvg:svgBlip xmlns:asvg="http://schemas.microsoft.com/office/drawing/2016/SVG/main" r:embed="rId70"/>
              </a:ext>
            </a:extLst>
          </a:blip>
          <a:stretch>
            <a:fillRect/>
          </a:stretch>
        </p:blipFill>
        <p:spPr>
          <a:xfrm>
            <a:off x="7308913" y="2962656"/>
            <a:ext cx="347472" cy="347472"/>
          </a:xfrm>
          <a:prstGeom prst="rect">
            <a:avLst/>
          </a:prstGeom>
        </p:spPr>
      </p:pic>
      <p:sp>
        <p:nvSpPr>
          <p:cNvPr id="46" name="Text 24"/>
          <p:cNvSpPr txBox="1"/>
          <p:nvPr/>
        </p:nvSpPr>
        <p:spPr>
          <a:xfrm>
            <a:off x="7020382"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Envelope Simple</a:t>
            </a:r>
            <a:endParaRPr lang="en-US" sz="750" dirty="0"/>
          </a:p>
        </p:txBody>
      </p:sp>
      <p:pic>
        <p:nvPicPr>
          <p:cNvPr id="47" name="Icon PiMagnifyingGlass 0A1628" descr="preencoded.png">    </p:cNvPr>
          <p:cNvPicPr>
            <a:picLocks noChangeAspect="1"/>
          </p:cNvPicPr>
          <p:nvPr/>
        </p:nvPicPr>
        <p:blipFill>
          <a:blip r:embed="rId21">
            <a:extLst>
              <a:ext uri="{96DAC541-7B7A-43D3-8B79-37D633B846F1}">
                <asvg:svgBlip xmlns:asvg="http://schemas.microsoft.com/office/drawing/2016/SVG/main" r:embed="rId71"/>
              </a:ext>
            </a:extLst>
          </a:blip>
          <a:stretch>
            <a:fillRect/>
          </a:stretch>
        </p:blipFill>
        <p:spPr>
          <a:xfrm>
            <a:off x="8233448" y="2962656"/>
            <a:ext cx="347472" cy="347472"/>
          </a:xfrm>
          <a:prstGeom prst="rect">
            <a:avLst/>
          </a:prstGeom>
        </p:spPr>
      </p:pic>
      <p:sp>
        <p:nvSpPr>
          <p:cNvPr id="48" name="Text 25"/>
          <p:cNvSpPr txBox="1"/>
          <p:nvPr/>
        </p:nvSpPr>
        <p:spPr>
          <a:xfrm>
            <a:off x="7944917"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Magnifying Glass</a:t>
            </a:r>
            <a:endParaRPr lang="en-US" sz="750" dirty="0"/>
          </a:p>
        </p:txBody>
      </p:sp>
      <p:pic>
        <p:nvPicPr>
          <p:cNvPr id="49" name="Icon PiFlag 0A1628" descr="preencoded.png">    </p:cNvPr>
          <p:cNvPicPr>
            <a:picLocks noChangeAspect="1"/>
          </p:cNvPicPr>
          <p:nvPr/>
        </p:nvPicPr>
        <p:blipFill>
          <a:blip r:embed="rId22">
            <a:extLst>
              <a:ext uri="{96DAC541-7B7A-43D3-8B79-37D633B846F1}">
                <asvg:svgBlip xmlns:asvg="http://schemas.microsoft.com/office/drawing/2016/SVG/main" r:embed="rId72"/>
              </a:ext>
            </a:extLst>
          </a:blip>
          <a:stretch>
            <a:fillRect/>
          </a:stretch>
        </p:blipFill>
        <p:spPr>
          <a:xfrm>
            <a:off x="9157983" y="2962656"/>
            <a:ext cx="347472" cy="347472"/>
          </a:xfrm>
          <a:prstGeom prst="rect">
            <a:avLst/>
          </a:prstGeom>
        </p:spPr>
      </p:pic>
      <p:sp>
        <p:nvSpPr>
          <p:cNvPr id="50" name="Text 26"/>
          <p:cNvSpPr txBox="1"/>
          <p:nvPr/>
        </p:nvSpPr>
        <p:spPr>
          <a:xfrm>
            <a:off x="8869451"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Flag</a:t>
            </a:r>
            <a:endParaRPr lang="en-US" sz="750" dirty="0"/>
          </a:p>
        </p:txBody>
      </p:sp>
      <p:pic>
        <p:nvPicPr>
          <p:cNvPr id="51" name="Icon PiCompass 0A1628" descr="preencoded.png">    </p:cNvPr>
          <p:cNvPicPr>
            <a:picLocks noChangeAspect="1"/>
          </p:cNvPicPr>
          <p:nvPr/>
        </p:nvPicPr>
        <p:blipFill>
          <a:blip r:embed="rId23">
            <a:extLst>
              <a:ext uri="{96DAC541-7B7A-43D3-8B79-37D633B846F1}">
                <asvg:svgBlip xmlns:asvg="http://schemas.microsoft.com/office/drawing/2016/SVG/main" r:embed="rId73"/>
              </a:ext>
            </a:extLst>
          </a:blip>
          <a:stretch>
            <a:fillRect/>
          </a:stretch>
        </p:blipFill>
        <p:spPr>
          <a:xfrm>
            <a:off x="10082517" y="2962656"/>
            <a:ext cx="347472" cy="347472"/>
          </a:xfrm>
          <a:prstGeom prst="rect">
            <a:avLst/>
          </a:prstGeom>
        </p:spPr>
      </p:pic>
      <p:sp>
        <p:nvSpPr>
          <p:cNvPr id="52" name="Text 27"/>
          <p:cNvSpPr txBox="1"/>
          <p:nvPr/>
        </p:nvSpPr>
        <p:spPr>
          <a:xfrm>
            <a:off x="9793986"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Compass</a:t>
            </a:r>
            <a:endParaRPr lang="en-US" sz="750" dirty="0"/>
          </a:p>
        </p:txBody>
      </p:sp>
      <p:pic>
        <p:nvPicPr>
          <p:cNvPr id="53" name="Icon PiLightbulb 0A1628" descr="preencoded.png">    </p:cNvPr>
          <p:cNvPicPr>
            <a:picLocks noChangeAspect="1"/>
          </p:cNvPicPr>
          <p:nvPr/>
        </p:nvPicPr>
        <p:blipFill>
          <a:blip r:embed="rId24">
            <a:extLst>
              <a:ext uri="{96DAC541-7B7A-43D3-8B79-37D633B846F1}">
                <asvg:svgBlip xmlns:asvg="http://schemas.microsoft.com/office/drawing/2016/SVG/main" r:embed="rId74"/>
              </a:ext>
            </a:extLst>
          </a:blip>
          <a:stretch>
            <a:fillRect/>
          </a:stretch>
        </p:blipFill>
        <p:spPr>
          <a:xfrm>
            <a:off x="11007052" y="2962656"/>
            <a:ext cx="347472" cy="347472"/>
          </a:xfrm>
          <a:prstGeom prst="rect">
            <a:avLst/>
          </a:prstGeom>
        </p:spPr>
      </p:pic>
      <p:sp>
        <p:nvSpPr>
          <p:cNvPr id="54" name="Text 28"/>
          <p:cNvSpPr txBox="1"/>
          <p:nvPr/>
        </p:nvSpPr>
        <p:spPr>
          <a:xfrm>
            <a:off x="10718521"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Lightbulb</a:t>
            </a:r>
            <a:endParaRPr lang="en-US" sz="750" dirty="0"/>
          </a:p>
        </p:txBody>
      </p:sp>
      <p:pic>
        <p:nvPicPr>
          <p:cNvPr id="55" name="Icon PiPuzzlePiece 0A1628" descr="preencoded.png">    </p:cNvPr>
          <p:cNvPicPr>
            <a:picLocks noChangeAspect="1"/>
          </p:cNvPicPr>
          <p:nvPr/>
        </p:nvPicPr>
        <p:blipFill>
          <a:blip r:embed="rId25">
            <a:extLst>
              <a:ext uri="{96DAC541-7B7A-43D3-8B79-37D633B846F1}">
                <asvg:svgBlip xmlns:asvg="http://schemas.microsoft.com/office/drawing/2016/SVG/main" r:embed="rId75"/>
              </a:ext>
            </a:extLst>
          </a:blip>
          <a:stretch>
            <a:fillRect/>
          </a:stretch>
        </p:blipFill>
        <p:spPr>
          <a:xfrm>
            <a:off x="837171" y="3950208"/>
            <a:ext cx="347472" cy="347472"/>
          </a:xfrm>
          <a:prstGeom prst="rect">
            <a:avLst/>
          </a:prstGeom>
        </p:spPr>
      </p:pic>
      <p:sp>
        <p:nvSpPr>
          <p:cNvPr id="56" name="Text 29"/>
          <p:cNvSpPr txBox="1"/>
          <p:nvPr/>
        </p:nvSpPr>
        <p:spPr>
          <a:xfrm>
            <a:off x="548640"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Puzzle Piece</a:t>
            </a:r>
            <a:endParaRPr lang="en-US" sz="750" dirty="0"/>
          </a:p>
        </p:txBody>
      </p:sp>
      <p:pic>
        <p:nvPicPr>
          <p:cNvPr id="57" name="Icon PiTrendUp 0A1628" descr="preencoded.png">    </p:cNvPr>
          <p:cNvPicPr>
            <a:picLocks noChangeAspect="1"/>
          </p:cNvPicPr>
          <p:nvPr/>
        </p:nvPicPr>
        <p:blipFill>
          <a:blip r:embed="rId26">
            <a:extLst>
              <a:ext uri="{96DAC541-7B7A-43D3-8B79-37D633B846F1}">
                <asvg:svgBlip xmlns:asvg="http://schemas.microsoft.com/office/drawing/2016/SVG/main" r:embed="rId76"/>
              </a:ext>
            </a:extLst>
          </a:blip>
          <a:stretch>
            <a:fillRect/>
          </a:stretch>
        </p:blipFill>
        <p:spPr>
          <a:xfrm>
            <a:off x="1761706" y="3950208"/>
            <a:ext cx="347472" cy="347472"/>
          </a:xfrm>
          <a:prstGeom prst="rect">
            <a:avLst/>
          </a:prstGeom>
        </p:spPr>
      </p:pic>
      <p:sp>
        <p:nvSpPr>
          <p:cNvPr id="58" name="Text 30"/>
          <p:cNvSpPr txBox="1"/>
          <p:nvPr/>
        </p:nvSpPr>
        <p:spPr>
          <a:xfrm>
            <a:off x="1473175"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Trend Up</a:t>
            </a:r>
            <a:endParaRPr lang="en-US" sz="750" dirty="0"/>
          </a:p>
        </p:txBody>
      </p:sp>
      <p:pic>
        <p:nvPicPr>
          <p:cNvPr id="59" name="Icon PiClock 0A1628" descr="preencoded.png">    </p:cNvPr>
          <p:cNvPicPr>
            <a:picLocks noChangeAspect="1"/>
          </p:cNvPicPr>
          <p:nvPr/>
        </p:nvPicPr>
        <p:blipFill>
          <a:blip r:embed="rId27">
            <a:extLst>
              <a:ext uri="{96DAC541-7B7A-43D3-8B79-37D633B846F1}">
                <asvg:svgBlip xmlns:asvg="http://schemas.microsoft.com/office/drawing/2016/SVG/main" r:embed="rId77"/>
              </a:ext>
            </a:extLst>
          </a:blip>
          <a:stretch>
            <a:fillRect/>
          </a:stretch>
        </p:blipFill>
        <p:spPr>
          <a:xfrm>
            <a:off x="2686241" y="3950208"/>
            <a:ext cx="347472" cy="347472"/>
          </a:xfrm>
          <a:prstGeom prst="rect">
            <a:avLst/>
          </a:prstGeom>
        </p:spPr>
      </p:pic>
      <p:sp>
        <p:nvSpPr>
          <p:cNvPr id="60" name="Text 31"/>
          <p:cNvSpPr txBox="1"/>
          <p:nvPr/>
        </p:nvSpPr>
        <p:spPr>
          <a:xfrm>
            <a:off x="2397709"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Clock</a:t>
            </a:r>
            <a:endParaRPr lang="en-US" sz="750" dirty="0"/>
          </a:p>
        </p:txBody>
      </p:sp>
      <p:pic>
        <p:nvPicPr>
          <p:cNvPr id="61" name="Icon PiCheckCircle 0A1628" descr="preencoded.png">    </p:cNvPr>
          <p:cNvPicPr>
            <a:picLocks noChangeAspect="1"/>
          </p:cNvPicPr>
          <p:nvPr/>
        </p:nvPicPr>
        <p:blipFill>
          <a:blip r:embed="rId28">
            <a:extLst>
              <a:ext uri="{96DAC541-7B7A-43D3-8B79-37D633B846F1}">
                <asvg:svgBlip xmlns:asvg="http://schemas.microsoft.com/office/drawing/2016/SVG/main" r:embed="rId78"/>
              </a:ext>
            </a:extLst>
          </a:blip>
          <a:stretch>
            <a:fillRect/>
          </a:stretch>
        </p:blipFill>
        <p:spPr>
          <a:xfrm>
            <a:off x="3610775" y="3950208"/>
            <a:ext cx="347472" cy="347472"/>
          </a:xfrm>
          <a:prstGeom prst="rect">
            <a:avLst/>
          </a:prstGeom>
        </p:spPr>
      </p:pic>
      <p:sp>
        <p:nvSpPr>
          <p:cNvPr id="62" name="Text 32"/>
          <p:cNvSpPr txBox="1"/>
          <p:nvPr/>
        </p:nvSpPr>
        <p:spPr>
          <a:xfrm>
            <a:off x="3322244"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Check Circle</a:t>
            </a:r>
            <a:endParaRPr lang="en-US" sz="750" dirty="0"/>
          </a:p>
        </p:txBody>
      </p:sp>
      <p:pic>
        <p:nvPicPr>
          <p:cNvPr id="63" name="Icon PiBuildings 0A1628" descr="preencoded.png">    </p:cNvPr>
          <p:cNvPicPr>
            <a:picLocks noChangeAspect="1"/>
          </p:cNvPicPr>
          <p:nvPr/>
        </p:nvPicPr>
        <p:blipFill>
          <a:blip r:embed="rId29">
            <a:extLst>
              <a:ext uri="{96DAC541-7B7A-43D3-8B79-37D633B846F1}">
                <asvg:svgBlip xmlns:asvg="http://schemas.microsoft.com/office/drawing/2016/SVG/main" r:embed="rId79"/>
              </a:ext>
            </a:extLst>
          </a:blip>
          <a:stretch>
            <a:fillRect/>
          </a:stretch>
        </p:blipFill>
        <p:spPr>
          <a:xfrm>
            <a:off x="4535310" y="3950208"/>
            <a:ext cx="347472" cy="347472"/>
          </a:xfrm>
          <a:prstGeom prst="rect">
            <a:avLst/>
          </a:prstGeom>
        </p:spPr>
      </p:pic>
      <p:sp>
        <p:nvSpPr>
          <p:cNvPr id="64" name="Text 33"/>
          <p:cNvSpPr txBox="1"/>
          <p:nvPr/>
        </p:nvSpPr>
        <p:spPr>
          <a:xfrm>
            <a:off x="4246778"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Buildings</a:t>
            </a:r>
            <a:endParaRPr lang="en-US" sz="750" dirty="0"/>
          </a:p>
        </p:txBody>
      </p:sp>
      <p:pic>
        <p:nvPicPr>
          <p:cNvPr id="65" name="Icon PiStorefront 0A1628" descr="preencoded.png">    </p:cNvPr>
          <p:cNvPicPr>
            <a:picLocks noChangeAspect="1"/>
          </p:cNvPicPr>
          <p:nvPr/>
        </p:nvPicPr>
        <p:blipFill>
          <a:blip r:embed="rId30">
            <a:extLst>
              <a:ext uri="{96DAC541-7B7A-43D3-8B79-37D633B846F1}">
                <asvg:svgBlip xmlns:asvg="http://schemas.microsoft.com/office/drawing/2016/SVG/main" r:embed="rId80"/>
              </a:ext>
            </a:extLst>
          </a:blip>
          <a:stretch>
            <a:fillRect/>
          </a:stretch>
        </p:blipFill>
        <p:spPr>
          <a:xfrm>
            <a:off x="5459844" y="3950208"/>
            <a:ext cx="347472" cy="347472"/>
          </a:xfrm>
          <a:prstGeom prst="rect">
            <a:avLst/>
          </a:prstGeom>
        </p:spPr>
      </p:pic>
      <p:sp>
        <p:nvSpPr>
          <p:cNvPr id="66" name="Text 34"/>
          <p:cNvSpPr txBox="1"/>
          <p:nvPr/>
        </p:nvSpPr>
        <p:spPr>
          <a:xfrm>
            <a:off x="5171313"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Storefront</a:t>
            </a:r>
            <a:endParaRPr lang="en-US" sz="750" dirty="0"/>
          </a:p>
        </p:txBody>
      </p:sp>
      <p:pic>
        <p:nvPicPr>
          <p:cNvPr id="67" name="Icon PiShoppingCart 0A1628" descr="preencoded.png">    </p:cNvPr>
          <p:cNvPicPr>
            <a:picLocks noChangeAspect="1"/>
          </p:cNvPicPr>
          <p:nvPr/>
        </p:nvPicPr>
        <p:blipFill>
          <a:blip r:embed="rId31">
            <a:extLst>
              <a:ext uri="{96DAC541-7B7A-43D3-8B79-37D633B846F1}">
                <asvg:svgBlip xmlns:asvg="http://schemas.microsoft.com/office/drawing/2016/SVG/main" r:embed="rId81"/>
              </a:ext>
            </a:extLst>
          </a:blip>
          <a:stretch>
            <a:fillRect/>
          </a:stretch>
        </p:blipFill>
        <p:spPr>
          <a:xfrm>
            <a:off x="6384379" y="3950208"/>
            <a:ext cx="347472" cy="347472"/>
          </a:xfrm>
          <a:prstGeom prst="rect">
            <a:avLst/>
          </a:prstGeom>
        </p:spPr>
      </p:pic>
      <p:sp>
        <p:nvSpPr>
          <p:cNvPr id="68" name="Text 35"/>
          <p:cNvSpPr txBox="1"/>
          <p:nvPr/>
        </p:nvSpPr>
        <p:spPr>
          <a:xfrm>
            <a:off x="6095848"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Shopping Cart</a:t>
            </a:r>
            <a:endParaRPr lang="en-US" sz="750" dirty="0"/>
          </a:p>
        </p:txBody>
      </p:sp>
      <p:pic>
        <p:nvPicPr>
          <p:cNvPr id="69" name="Icon PiCreditCard 0A1628" descr="preencoded.png">    </p:cNvPr>
          <p:cNvPicPr>
            <a:picLocks noChangeAspect="1"/>
          </p:cNvPicPr>
          <p:nvPr/>
        </p:nvPicPr>
        <p:blipFill>
          <a:blip r:embed="rId32">
            <a:extLst>
              <a:ext uri="{96DAC541-7B7A-43D3-8B79-37D633B846F1}">
                <asvg:svgBlip xmlns:asvg="http://schemas.microsoft.com/office/drawing/2016/SVG/main" r:embed="rId82"/>
              </a:ext>
            </a:extLst>
          </a:blip>
          <a:stretch>
            <a:fillRect/>
          </a:stretch>
        </p:blipFill>
        <p:spPr>
          <a:xfrm>
            <a:off x="7308913" y="3950208"/>
            <a:ext cx="347472" cy="347472"/>
          </a:xfrm>
          <a:prstGeom prst="rect">
            <a:avLst/>
          </a:prstGeom>
        </p:spPr>
      </p:pic>
      <p:sp>
        <p:nvSpPr>
          <p:cNvPr id="70" name="Text 36"/>
          <p:cNvSpPr txBox="1"/>
          <p:nvPr/>
        </p:nvSpPr>
        <p:spPr>
          <a:xfrm>
            <a:off x="7020382"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Credit Card</a:t>
            </a:r>
            <a:endParaRPr lang="en-US" sz="750" dirty="0"/>
          </a:p>
        </p:txBody>
      </p:sp>
      <p:pic>
        <p:nvPicPr>
          <p:cNvPr id="71" name="Icon PiWallet 0A1628" descr="preencoded.png">    </p:cNvPr>
          <p:cNvPicPr>
            <a:picLocks noChangeAspect="1"/>
          </p:cNvPicPr>
          <p:nvPr/>
        </p:nvPicPr>
        <p:blipFill>
          <a:blip r:embed="rId33">
            <a:extLst>
              <a:ext uri="{96DAC541-7B7A-43D3-8B79-37D633B846F1}">
                <asvg:svgBlip xmlns:asvg="http://schemas.microsoft.com/office/drawing/2016/SVG/main" r:embed="rId83"/>
              </a:ext>
            </a:extLst>
          </a:blip>
          <a:stretch>
            <a:fillRect/>
          </a:stretch>
        </p:blipFill>
        <p:spPr>
          <a:xfrm>
            <a:off x="8233448" y="3950208"/>
            <a:ext cx="347472" cy="347472"/>
          </a:xfrm>
          <a:prstGeom prst="rect">
            <a:avLst/>
          </a:prstGeom>
        </p:spPr>
      </p:pic>
      <p:sp>
        <p:nvSpPr>
          <p:cNvPr id="72" name="Text 37"/>
          <p:cNvSpPr txBox="1"/>
          <p:nvPr/>
        </p:nvSpPr>
        <p:spPr>
          <a:xfrm>
            <a:off x="7944917"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Wallet</a:t>
            </a:r>
            <a:endParaRPr lang="en-US" sz="750" dirty="0"/>
          </a:p>
        </p:txBody>
      </p:sp>
      <p:pic>
        <p:nvPicPr>
          <p:cNvPr id="73" name="Icon PiBriefcase 0A1628" descr="preencoded.png">    </p:cNvPr>
          <p:cNvPicPr>
            <a:picLocks noChangeAspect="1"/>
          </p:cNvPicPr>
          <p:nvPr/>
        </p:nvPicPr>
        <p:blipFill>
          <a:blip r:embed="rId34">
            <a:extLst>
              <a:ext uri="{96DAC541-7B7A-43D3-8B79-37D633B846F1}">
                <asvg:svgBlip xmlns:asvg="http://schemas.microsoft.com/office/drawing/2016/SVG/main" r:embed="rId84"/>
              </a:ext>
            </a:extLst>
          </a:blip>
          <a:stretch>
            <a:fillRect/>
          </a:stretch>
        </p:blipFill>
        <p:spPr>
          <a:xfrm>
            <a:off x="9157983" y="3950208"/>
            <a:ext cx="347472" cy="347472"/>
          </a:xfrm>
          <a:prstGeom prst="rect">
            <a:avLst/>
          </a:prstGeom>
        </p:spPr>
      </p:pic>
      <p:sp>
        <p:nvSpPr>
          <p:cNvPr id="74" name="Text 38"/>
          <p:cNvSpPr txBox="1"/>
          <p:nvPr/>
        </p:nvSpPr>
        <p:spPr>
          <a:xfrm>
            <a:off x="8869451"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Briefcase</a:t>
            </a:r>
            <a:endParaRPr lang="en-US" sz="750" dirty="0"/>
          </a:p>
        </p:txBody>
      </p:sp>
      <p:pic>
        <p:nvPicPr>
          <p:cNvPr id="75" name="Icon PiHeadset 0A1628" descr="preencoded.png">    </p:cNvPr>
          <p:cNvPicPr>
            <a:picLocks noChangeAspect="1"/>
          </p:cNvPicPr>
          <p:nvPr/>
        </p:nvPicPr>
        <p:blipFill>
          <a:blip r:embed="rId35">
            <a:extLst>
              <a:ext uri="{96DAC541-7B7A-43D3-8B79-37D633B846F1}">
                <asvg:svgBlip xmlns:asvg="http://schemas.microsoft.com/office/drawing/2016/SVG/main" r:embed="rId85"/>
              </a:ext>
            </a:extLst>
          </a:blip>
          <a:stretch>
            <a:fillRect/>
          </a:stretch>
        </p:blipFill>
        <p:spPr>
          <a:xfrm>
            <a:off x="10082517" y="3950208"/>
            <a:ext cx="347472" cy="347472"/>
          </a:xfrm>
          <a:prstGeom prst="rect">
            <a:avLst/>
          </a:prstGeom>
        </p:spPr>
      </p:pic>
      <p:sp>
        <p:nvSpPr>
          <p:cNvPr id="76" name="Text 39"/>
          <p:cNvSpPr txBox="1"/>
          <p:nvPr/>
        </p:nvSpPr>
        <p:spPr>
          <a:xfrm>
            <a:off x="9793986"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Headset</a:t>
            </a:r>
            <a:endParaRPr lang="en-US" sz="750" dirty="0"/>
          </a:p>
        </p:txBody>
      </p:sp>
      <p:pic>
        <p:nvPicPr>
          <p:cNvPr id="77" name="Icon PiDeviceMobile 0A1628" descr="preencoded.png">    </p:cNvPr>
          <p:cNvPicPr>
            <a:picLocks noChangeAspect="1"/>
          </p:cNvPicPr>
          <p:nvPr/>
        </p:nvPicPr>
        <p:blipFill>
          <a:blip r:embed="rId36">
            <a:extLst>
              <a:ext uri="{96DAC541-7B7A-43D3-8B79-37D633B846F1}">
                <asvg:svgBlip xmlns:asvg="http://schemas.microsoft.com/office/drawing/2016/SVG/main" r:embed="rId86"/>
              </a:ext>
            </a:extLst>
          </a:blip>
          <a:stretch>
            <a:fillRect/>
          </a:stretch>
        </p:blipFill>
        <p:spPr>
          <a:xfrm>
            <a:off x="11007052" y="3950208"/>
            <a:ext cx="347472" cy="347472"/>
          </a:xfrm>
          <a:prstGeom prst="rect">
            <a:avLst/>
          </a:prstGeom>
        </p:spPr>
      </p:pic>
      <p:sp>
        <p:nvSpPr>
          <p:cNvPr id="78" name="Text 40"/>
          <p:cNvSpPr txBox="1"/>
          <p:nvPr/>
        </p:nvSpPr>
        <p:spPr>
          <a:xfrm>
            <a:off x="10718521"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Device Mobile</a:t>
            </a:r>
            <a:endParaRPr lang="en-US" sz="750" dirty="0"/>
          </a:p>
        </p:txBody>
      </p:sp>
      <p:pic>
        <p:nvPicPr>
          <p:cNvPr id="79" name="Icon PiCode 0A1628" descr="preencoded.png">    </p:cNvPr>
          <p:cNvPicPr>
            <a:picLocks noChangeAspect="1"/>
          </p:cNvPicPr>
          <p:nvPr/>
        </p:nvPicPr>
        <p:blipFill>
          <a:blip r:embed="rId37">
            <a:extLst>
              <a:ext uri="{96DAC541-7B7A-43D3-8B79-37D633B846F1}">
                <asvg:svgBlip xmlns:asvg="http://schemas.microsoft.com/office/drawing/2016/SVG/main" r:embed="rId87"/>
              </a:ext>
            </a:extLst>
          </a:blip>
          <a:stretch>
            <a:fillRect/>
          </a:stretch>
        </p:blipFill>
        <p:spPr>
          <a:xfrm>
            <a:off x="837171" y="4937760"/>
            <a:ext cx="347472" cy="347472"/>
          </a:xfrm>
          <a:prstGeom prst="rect">
            <a:avLst/>
          </a:prstGeom>
        </p:spPr>
      </p:pic>
      <p:sp>
        <p:nvSpPr>
          <p:cNvPr id="80" name="Text 41"/>
          <p:cNvSpPr txBox="1"/>
          <p:nvPr/>
        </p:nvSpPr>
        <p:spPr>
          <a:xfrm>
            <a:off x="548640"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Code</a:t>
            </a:r>
            <a:endParaRPr lang="en-US" sz="750" dirty="0"/>
          </a:p>
        </p:txBody>
      </p:sp>
      <p:pic>
        <p:nvPicPr>
          <p:cNvPr id="81" name="Icon PiLockKey 0A1628" descr="preencoded.png">    </p:cNvPr>
          <p:cNvPicPr>
            <a:picLocks noChangeAspect="1"/>
          </p:cNvPicPr>
          <p:nvPr/>
        </p:nvPicPr>
        <p:blipFill>
          <a:blip r:embed="rId38">
            <a:extLst>
              <a:ext uri="{96DAC541-7B7A-43D3-8B79-37D633B846F1}">
                <asvg:svgBlip xmlns:asvg="http://schemas.microsoft.com/office/drawing/2016/SVG/main" r:embed="rId88"/>
              </a:ext>
            </a:extLst>
          </a:blip>
          <a:stretch>
            <a:fillRect/>
          </a:stretch>
        </p:blipFill>
        <p:spPr>
          <a:xfrm>
            <a:off x="1761706" y="4937760"/>
            <a:ext cx="347472" cy="347472"/>
          </a:xfrm>
          <a:prstGeom prst="rect">
            <a:avLst/>
          </a:prstGeom>
        </p:spPr>
      </p:pic>
      <p:sp>
        <p:nvSpPr>
          <p:cNvPr id="82" name="Text 42"/>
          <p:cNvSpPr txBox="1"/>
          <p:nvPr/>
        </p:nvSpPr>
        <p:spPr>
          <a:xfrm>
            <a:off x="1473175"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Lock Key</a:t>
            </a:r>
            <a:endParaRPr lang="en-US" sz="750" dirty="0"/>
          </a:p>
        </p:txBody>
      </p:sp>
      <p:pic>
        <p:nvPicPr>
          <p:cNvPr id="83" name="Icon PiSparkle 0A1628" descr="preencoded.png">    </p:cNvPr>
          <p:cNvPicPr>
            <a:picLocks noChangeAspect="1"/>
          </p:cNvPicPr>
          <p:nvPr/>
        </p:nvPicPr>
        <p:blipFill>
          <a:blip r:embed="rId39">
            <a:extLst>
              <a:ext uri="{96DAC541-7B7A-43D3-8B79-37D633B846F1}">
                <asvg:svgBlip xmlns:asvg="http://schemas.microsoft.com/office/drawing/2016/SVG/main" r:embed="rId89"/>
              </a:ext>
            </a:extLst>
          </a:blip>
          <a:stretch>
            <a:fillRect/>
          </a:stretch>
        </p:blipFill>
        <p:spPr>
          <a:xfrm>
            <a:off x="2686241" y="4937760"/>
            <a:ext cx="347472" cy="347472"/>
          </a:xfrm>
          <a:prstGeom prst="rect">
            <a:avLst/>
          </a:prstGeom>
        </p:spPr>
      </p:pic>
      <p:sp>
        <p:nvSpPr>
          <p:cNvPr id="84" name="Text 43"/>
          <p:cNvSpPr txBox="1"/>
          <p:nvPr/>
        </p:nvSpPr>
        <p:spPr>
          <a:xfrm>
            <a:off x="2397709"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Sparkle</a:t>
            </a:r>
            <a:endParaRPr lang="en-US" sz="750" dirty="0"/>
          </a:p>
        </p:txBody>
      </p:sp>
      <p:pic>
        <p:nvPicPr>
          <p:cNvPr id="85" name="Icon PiFunnel 0A1628" descr="preencoded.png">    </p:cNvPr>
          <p:cNvPicPr>
            <a:picLocks noChangeAspect="1"/>
          </p:cNvPicPr>
          <p:nvPr/>
        </p:nvPicPr>
        <p:blipFill>
          <a:blip r:embed="rId40">
            <a:extLst>
              <a:ext uri="{96DAC541-7B7A-43D3-8B79-37D633B846F1}">
                <asvg:svgBlip xmlns:asvg="http://schemas.microsoft.com/office/drawing/2016/SVG/main" r:embed="rId90"/>
              </a:ext>
            </a:extLst>
          </a:blip>
          <a:stretch>
            <a:fillRect/>
          </a:stretch>
        </p:blipFill>
        <p:spPr>
          <a:xfrm>
            <a:off x="3610775" y="4937760"/>
            <a:ext cx="347472" cy="347472"/>
          </a:xfrm>
          <a:prstGeom prst="rect">
            <a:avLst/>
          </a:prstGeom>
        </p:spPr>
      </p:pic>
      <p:sp>
        <p:nvSpPr>
          <p:cNvPr id="86" name="Text 44"/>
          <p:cNvSpPr txBox="1"/>
          <p:nvPr/>
        </p:nvSpPr>
        <p:spPr>
          <a:xfrm>
            <a:off x="3322244"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Funnel</a:t>
            </a:r>
            <a:endParaRPr lang="en-US" sz="750" dirty="0"/>
          </a:p>
        </p:txBody>
      </p:sp>
      <p:pic>
        <p:nvPicPr>
          <p:cNvPr id="87" name="Icon PiMapPin 0A1628" descr="preencoded.png">    </p:cNvPr>
          <p:cNvPicPr>
            <a:picLocks noChangeAspect="1"/>
          </p:cNvPicPr>
          <p:nvPr/>
        </p:nvPicPr>
        <p:blipFill>
          <a:blip r:embed="rId41">
            <a:extLst>
              <a:ext uri="{96DAC541-7B7A-43D3-8B79-37D633B846F1}">
                <asvg:svgBlip xmlns:asvg="http://schemas.microsoft.com/office/drawing/2016/SVG/main" r:embed="rId91"/>
              </a:ext>
            </a:extLst>
          </a:blip>
          <a:stretch>
            <a:fillRect/>
          </a:stretch>
        </p:blipFill>
        <p:spPr>
          <a:xfrm>
            <a:off x="4535310" y="4937760"/>
            <a:ext cx="347472" cy="347472"/>
          </a:xfrm>
          <a:prstGeom prst="rect">
            <a:avLst/>
          </a:prstGeom>
        </p:spPr>
      </p:pic>
      <p:sp>
        <p:nvSpPr>
          <p:cNvPr id="88" name="Text 45"/>
          <p:cNvSpPr txBox="1"/>
          <p:nvPr/>
        </p:nvSpPr>
        <p:spPr>
          <a:xfrm>
            <a:off x="4246778"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Map Pin</a:t>
            </a:r>
            <a:endParaRPr lang="en-US" sz="750" dirty="0"/>
          </a:p>
        </p:txBody>
      </p:sp>
      <p:pic>
        <p:nvPicPr>
          <p:cNvPr id="89" name="Icon PiCalendarBlank 0A1628" descr="preencoded.png">    </p:cNvPr>
          <p:cNvPicPr>
            <a:picLocks noChangeAspect="1"/>
          </p:cNvPicPr>
          <p:nvPr/>
        </p:nvPicPr>
        <p:blipFill>
          <a:blip r:embed="rId42">
            <a:extLst>
              <a:ext uri="{96DAC541-7B7A-43D3-8B79-37D633B846F1}">
                <asvg:svgBlip xmlns:asvg="http://schemas.microsoft.com/office/drawing/2016/SVG/main" r:embed="rId92"/>
              </a:ext>
            </a:extLst>
          </a:blip>
          <a:stretch>
            <a:fillRect/>
          </a:stretch>
        </p:blipFill>
        <p:spPr>
          <a:xfrm>
            <a:off x="5459844" y="4937760"/>
            <a:ext cx="347472" cy="347472"/>
          </a:xfrm>
          <a:prstGeom prst="rect">
            <a:avLst/>
          </a:prstGeom>
        </p:spPr>
      </p:pic>
      <p:sp>
        <p:nvSpPr>
          <p:cNvPr id="90" name="Text 46"/>
          <p:cNvSpPr txBox="1"/>
          <p:nvPr/>
        </p:nvSpPr>
        <p:spPr>
          <a:xfrm>
            <a:off x="5171313"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Calendar Blank</a:t>
            </a:r>
            <a:endParaRPr lang="en-US" sz="750" dirty="0"/>
          </a:p>
        </p:txBody>
      </p:sp>
      <p:pic>
        <p:nvPicPr>
          <p:cNvPr id="91" name="Icon PiGauge 0A1628" descr="preencoded.png">    </p:cNvPr>
          <p:cNvPicPr>
            <a:picLocks noChangeAspect="1"/>
          </p:cNvPicPr>
          <p:nvPr/>
        </p:nvPicPr>
        <p:blipFill>
          <a:blip r:embed="rId43">
            <a:extLst>
              <a:ext uri="{96DAC541-7B7A-43D3-8B79-37D633B846F1}">
                <asvg:svgBlip xmlns:asvg="http://schemas.microsoft.com/office/drawing/2016/SVG/main" r:embed="rId93"/>
              </a:ext>
            </a:extLst>
          </a:blip>
          <a:stretch>
            <a:fillRect/>
          </a:stretch>
        </p:blipFill>
        <p:spPr>
          <a:xfrm>
            <a:off x="6384379" y="4937760"/>
            <a:ext cx="347472" cy="347472"/>
          </a:xfrm>
          <a:prstGeom prst="rect">
            <a:avLst/>
          </a:prstGeom>
        </p:spPr>
      </p:pic>
      <p:sp>
        <p:nvSpPr>
          <p:cNvPr id="92" name="Text 47"/>
          <p:cNvSpPr txBox="1"/>
          <p:nvPr/>
        </p:nvSpPr>
        <p:spPr>
          <a:xfrm>
            <a:off x="6095848"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Gauge</a:t>
            </a:r>
            <a:endParaRPr lang="en-US" sz="750" dirty="0"/>
          </a:p>
        </p:txBody>
      </p:sp>
      <p:pic>
        <p:nvPicPr>
          <p:cNvPr id="93" name="Icon PiPath 0A1628" descr="preencoded.png">    </p:cNvPr>
          <p:cNvPicPr>
            <a:picLocks noChangeAspect="1"/>
          </p:cNvPicPr>
          <p:nvPr/>
        </p:nvPicPr>
        <p:blipFill>
          <a:blip r:embed="rId44">
            <a:extLst>
              <a:ext uri="{96DAC541-7B7A-43D3-8B79-37D633B846F1}">
                <asvg:svgBlip xmlns:asvg="http://schemas.microsoft.com/office/drawing/2016/SVG/main" r:embed="rId94"/>
              </a:ext>
            </a:extLst>
          </a:blip>
          <a:stretch>
            <a:fillRect/>
          </a:stretch>
        </p:blipFill>
        <p:spPr>
          <a:xfrm>
            <a:off x="7308913" y="4937760"/>
            <a:ext cx="347472" cy="347472"/>
          </a:xfrm>
          <a:prstGeom prst="rect">
            <a:avLst/>
          </a:prstGeom>
        </p:spPr>
      </p:pic>
      <p:sp>
        <p:nvSpPr>
          <p:cNvPr id="94" name="Text 48"/>
          <p:cNvSpPr txBox="1"/>
          <p:nvPr/>
        </p:nvSpPr>
        <p:spPr>
          <a:xfrm>
            <a:off x="7020382"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Path</a:t>
            </a:r>
            <a:endParaRPr lang="en-US" sz="750" dirty="0"/>
          </a:p>
        </p:txBody>
      </p:sp>
      <p:pic>
        <p:nvPicPr>
          <p:cNvPr id="95" name="Icon PiCpu 0A1628" descr="preencoded.png">    </p:cNvPr>
          <p:cNvPicPr>
            <a:picLocks noChangeAspect="1"/>
          </p:cNvPicPr>
          <p:nvPr/>
        </p:nvPicPr>
        <p:blipFill>
          <a:blip r:embed="rId45">
            <a:extLst>
              <a:ext uri="{96DAC541-7B7A-43D3-8B79-37D633B846F1}">
                <asvg:svgBlip xmlns:asvg="http://schemas.microsoft.com/office/drawing/2016/SVG/main" r:embed="rId95"/>
              </a:ext>
            </a:extLst>
          </a:blip>
          <a:stretch>
            <a:fillRect/>
          </a:stretch>
        </p:blipFill>
        <p:spPr>
          <a:xfrm>
            <a:off x="8233448" y="4937760"/>
            <a:ext cx="347472" cy="347472"/>
          </a:xfrm>
          <a:prstGeom prst="rect">
            <a:avLst/>
          </a:prstGeom>
        </p:spPr>
      </p:pic>
      <p:sp>
        <p:nvSpPr>
          <p:cNvPr id="96" name="Text 49"/>
          <p:cNvSpPr txBox="1"/>
          <p:nvPr/>
        </p:nvSpPr>
        <p:spPr>
          <a:xfrm>
            <a:off x="7944917"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Cpu</a:t>
            </a:r>
            <a:endParaRPr lang="en-US" sz="750" dirty="0"/>
          </a:p>
        </p:txBody>
      </p:sp>
      <p:pic>
        <p:nvPicPr>
          <p:cNvPr id="97" name="Icon PiTreeStructure 0A1628" descr="preencoded.png">    </p:cNvPr>
          <p:cNvPicPr>
            <a:picLocks noChangeAspect="1"/>
          </p:cNvPicPr>
          <p:nvPr/>
        </p:nvPicPr>
        <p:blipFill>
          <a:blip r:embed="rId46">
            <a:extLst>
              <a:ext uri="{96DAC541-7B7A-43D3-8B79-37D633B846F1}">
                <asvg:svgBlip xmlns:asvg="http://schemas.microsoft.com/office/drawing/2016/SVG/main" r:embed="rId96"/>
              </a:ext>
            </a:extLst>
          </a:blip>
          <a:stretch>
            <a:fillRect/>
          </a:stretch>
        </p:blipFill>
        <p:spPr>
          <a:xfrm>
            <a:off x="9157983" y="4937760"/>
            <a:ext cx="347472" cy="347472"/>
          </a:xfrm>
          <a:prstGeom prst="rect">
            <a:avLst/>
          </a:prstGeom>
        </p:spPr>
      </p:pic>
      <p:sp>
        <p:nvSpPr>
          <p:cNvPr id="98" name="Text 50"/>
          <p:cNvSpPr txBox="1"/>
          <p:nvPr/>
        </p:nvSpPr>
        <p:spPr>
          <a:xfrm>
            <a:off x="8869451"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Tree Structure</a:t>
            </a:r>
            <a:endParaRPr lang="en-US" sz="750" dirty="0"/>
          </a:p>
        </p:txBody>
      </p:sp>
      <p:pic>
        <p:nvPicPr>
          <p:cNvPr id="99" name="Icon PiCoins 0A1628" descr="preencoded.png">    </p:cNvPr>
          <p:cNvPicPr>
            <a:picLocks noChangeAspect="1"/>
          </p:cNvPicPr>
          <p:nvPr/>
        </p:nvPicPr>
        <p:blipFill>
          <a:blip r:embed="rId47">
            <a:extLst>
              <a:ext uri="{96DAC541-7B7A-43D3-8B79-37D633B846F1}">
                <asvg:svgBlip xmlns:asvg="http://schemas.microsoft.com/office/drawing/2016/SVG/main" r:embed="rId97"/>
              </a:ext>
            </a:extLst>
          </a:blip>
          <a:stretch>
            <a:fillRect/>
          </a:stretch>
        </p:blipFill>
        <p:spPr>
          <a:xfrm>
            <a:off x="10082517" y="4937760"/>
            <a:ext cx="347472" cy="347472"/>
          </a:xfrm>
          <a:prstGeom prst="rect">
            <a:avLst/>
          </a:prstGeom>
        </p:spPr>
      </p:pic>
      <p:sp>
        <p:nvSpPr>
          <p:cNvPr id="100" name="Text 51"/>
          <p:cNvSpPr txBox="1"/>
          <p:nvPr/>
        </p:nvSpPr>
        <p:spPr>
          <a:xfrm>
            <a:off x="9793986"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Coins</a:t>
            </a:r>
            <a:endParaRPr lang="en-US" sz="750" dirty="0"/>
          </a:p>
        </p:txBody>
      </p:sp>
      <p:pic>
        <p:nvPicPr>
          <p:cNvPr id="101" name="Icon PiScales 0A1628" descr="preencoded.png">    </p:cNvPr>
          <p:cNvPicPr>
            <a:picLocks noChangeAspect="1"/>
          </p:cNvPicPr>
          <p:nvPr/>
        </p:nvPicPr>
        <p:blipFill>
          <a:blip r:embed="rId48">
            <a:extLst>
              <a:ext uri="{96DAC541-7B7A-43D3-8B79-37D633B846F1}">
                <asvg:svgBlip xmlns:asvg="http://schemas.microsoft.com/office/drawing/2016/SVG/main" r:embed="rId98"/>
              </a:ext>
            </a:extLst>
          </a:blip>
          <a:stretch>
            <a:fillRect/>
          </a:stretch>
        </p:blipFill>
        <p:spPr>
          <a:xfrm>
            <a:off x="11007052" y="4937760"/>
            <a:ext cx="347472" cy="347472"/>
          </a:xfrm>
          <a:prstGeom prst="rect">
            <a:avLst/>
          </a:prstGeom>
        </p:spPr>
      </p:pic>
      <p:sp>
        <p:nvSpPr>
          <p:cNvPr id="102" name="Text 52"/>
          <p:cNvSpPr txBox="1"/>
          <p:nvPr/>
        </p:nvSpPr>
        <p:spPr>
          <a:xfrm>
            <a:off x="10718521"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Scales</a:t>
            </a:r>
            <a:endParaRPr lang="en-US" sz="7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Chart editing and styling guidance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Every chart is a native PowerPoint chart. Styling follows three rules: one message, one highlight, minimal ink.</a:t>
            </a:r>
            <a:endParaRPr lang="en-US" sz="1150" dirty="0"/>
          </a:p>
        </p:txBody>
      </p:sp>
      <p:sp>
        <p:nvSpPr>
          <p:cNvPr id="6" name="Shape 4"/>
          <p:cNvSpPr/>
          <p:nvPr/>
        </p:nvSpPr>
        <p:spPr>
          <a:xfrm>
            <a:off x="548640" y="1920240"/>
            <a:ext cx="384048" cy="384048"/>
          </a:xfrm>
          <a:prstGeom prst="ellipse">
            <a:avLst/>
          </a:prstGeom>
          <a:solidFill>
            <a:schemeClr val="tx1"/>
          </a:solidFill>
          <a:ln/>
        </p:spPr>
      </p:sp>
      <p:sp>
        <p:nvSpPr>
          <p:cNvPr id="7" name="Text 5"/>
          <p:cNvSpPr txBox="1"/>
          <p:nvPr/>
        </p:nvSpPr>
        <p:spPr>
          <a:xfrm>
            <a:off x="548640" y="192024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1</a:t>
            </a:r>
            <a:endParaRPr lang="en-US" sz="1200" dirty="0"/>
          </a:p>
        </p:txBody>
      </p:sp>
      <p:sp>
        <p:nvSpPr>
          <p:cNvPr id="8" name="Text 6"/>
          <p:cNvSpPr txBox="1"/>
          <p:nvPr/>
        </p:nvSpPr>
        <p:spPr>
          <a:xfrm>
            <a:off x="1097280" y="190195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Edit data</a:t>
            </a:r>
            <a:endParaRPr lang="en-US" sz="1300" dirty="0"/>
          </a:p>
        </p:txBody>
      </p:sp>
      <p:sp>
        <p:nvSpPr>
          <p:cNvPr id="9" name="Text 7"/>
          <p:cNvSpPr txBox="1"/>
          <p:nvPr/>
        </p:nvSpPr>
        <p:spPr>
          <a:xfrm>
            <a:off x="1097280" y="219456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Right-click the chart › Edit Data. Type over values in the sheet.</a:t>
            </a:r>
            <a:endParaRPr lang="en-US" sz="1050" dirty="0"/>
          </a:p>
        </p:txBody>
      </p:sp>
      <p:sp>
        <p:nvSpPr>
          <p:cNvPr id="10" name="Shape 8"/>
          <p:cNvSpPr/>
          <p:nvPr/>
        </p:nvSpPr>
        <p:spPr>
          <a:xfrm>
            <a:off x="548640" y="2926080"/>
            <a:ext cx="384048" cy="384048"/>
          </a:xfrm>
          <a:prstGeom prst="ellipse">
            <a:avLst/>
          </a:prstGeom>
          <a:solidFill>
            <a:schemeClr val="tx1"/>
          </a:solidFill>
          <a:ln/>
        </p:spPr>
      </p:sp>
      <p:sp>
        <p:nvSpPr>
          <p:cNvPr id="11" name="Text 9"/>
          <p:cNvSpPr txBox="1"/>
          <p:nvPr/>
        </p:nvSpPr>
        <p:spPr>
          <a:xfrm>
            <a:off x="548640" y="292608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2</a:t>
            </a:r>
            <a:endParaRPr lang="en-US" sz="1200" dirty="0"/>
          </a:p>
        </p:txBody>
      </p:sp>
      <p:sp>
        <p:nvSpPr>
          <p:cNvPr id="12" name="Text 10"/>
          <p:cNvSpPr txBox="1"/>
          <p:nvPr/>
        </p:nvSpPr>
        <p:spPr>
          <a:xfrm>
            <a:off x="1097280" y="290779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Highlight</a:t>
            </a:r>
            <a:endParaRPr lang="en-US" sz="1300" dirty="0"/>
          </a:p>
        </p:txBody>
      </p:sp>
      <p:sp>
        <p:nvSpPr>
          <p:cNvPr id="13" name="Text 11"/>
          <p:cNvSpPr txBox="1"/>
          <p:nvPr/>
        </p:nvSpPr>
        <p:spPr>
          <a:xfrm>
            <a:off x="1097280" y="320040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Click a bar twice › Format Data Point › Fill: Navy or Lime.</a:t>
            </a:r>
            <a:endParaRPr lang="en-US" sz="1050" dirty="0"/>
          </a:p>
        </p:txBody>
      </p:sp>
      <p:sp>
        <p:nvSpPr>
          <p:cNvPr id="14" name="Shape 12"/>
          <p:cNvSpPr/>
          <p:nvPr/>
        </p:nvSpPr>
        <p:spPr>
          <a:xfrm>
            <a:off x="548640" y="3931920"/>
            <a:ext cx="384048" cy="384048"/>
          </a:xfrm>
          <a:prstGeom prst="ellipse">
            <a:avLst/>
          </a:prstGeom>
          <a:solidFill>
            <a:schemeClr val="tx1"/>
          </a:solidFill>
          <a:ln/>
        </p:spPr>
      </p:sp>
      <p:sp>
        <p:nvSpPr>
          <p:cNvPr id="15" name="Text 13"/>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3</a:t>
            </a:r>
            <a:endParaRPr lang="en-US" sz="1200" dirty="0"/>
          </a:p>
        </p:txBody>
      </p:sp>
      <p:sp>
        <p:nvSpPr>
          <p:cNvPr id="16" name="Text 14"/>
          <p:cNvSpPr txBox="1"/>
          <p:nvPr/>
        </p:nvSpPr>
        <p:spPr>
          <a:xfrm>
            <a:off x="1097280" y="391363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Labels</a:t>
            </a:r>
            <a:endParaRPr lang="en-US" sz="1300" dirty="0"/>
          </a:p>
        </p:txBody>
      </p:sp>
      <p:sp>
        <p:nvSpPr>
          <p:cNvPr id="17" name="Text 15"/>
          <p:cNvSpPr txBox="1"/>
          <p:nvPr/>
        </p:nvSpPr>
        <p:spPr>
          <a:xfrm>
            <a:off x="1097280" y="420624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Chart Elements (+) › Data Labels. Keep axis labels 9–10 pt.</a:t>
            </a:r>
            <a:endParaRPr lang="en-US" sz="1050" dirty="0"/>
          </a:p>
        </p:txBody>
      </p:sp>
      <p:sp>
        <p:nvSpPr>
          <p:cNvPr id="18" name="Shape 16"/>
          <p:cNvSpPr/>
          <p:nvPr/>
        </p:nvSpPr>
        <p:spPr>
          <a:xfrm>
            <a:off x="548640" y="4937760"/>
            <a:ext cx="384048" cy="384048"/>
          </a:xfrm>
          <a:prstGeom prst="ellipse">
            <a:avLst/>
          </a:prstGeom>
          <a:solidFill>
            <a:schemeClr val="tx1"/>
          </a:solidFill>
          <a:ln/>
        </p:spPr>
      </p:sp>
      <p:sp>
        <p:nvSpPr>
          <p:cNvPr id="19" name="Text 17"/>
          <p:cNvSpPr txBox="1"/>
          <p:nvPr/>
        </p:nvSpPr>
        <p:spPr>
          <a:xfrm>
            <a:off x="548640" y="493776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4</a:t>
            </a:r>
            <a:endParaRPr lang="en-US" sz="1200" dirty="0"/>
          </a:p>
        </p:txBody>
      </p:sp>
      <p:sp>
        <p:nvSpPr>
          <p:cNvPr id="20" name="Text 18"/>
          <p:cNvSpPr txBox="1"/>
          <p:nvPr/>
        </p:nvSpPr>
        <p:spPr>
          <a:xfrm>
            <a:off x="1097280" y="491947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Recolour</a:t>
            </a:r>
            <a:endParaRPr lang="en-US" sz="1300" dirty="0"/>
          </a:p>
        </p:txBody>
      </p:sp>
      <p:sp>
        <p:nvSpPr>
          <p:cNvPr id="21" name="Text 19"/>
          <p:cNvSpPr txBox="1"/>
          <p:nvPr/>
        </p:nvSpPr>
        <p:spPr>
          <a:xfrm>
            <a:off x="1097280" y="521208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Design › Variants › Colors re-colours every chart at once.</a:t>
            </a:r>
            <a:endParaRPr lang="en-US" sz="1050" dirty="0"/>
          </a:p>
        </p:txBody>
      </p:sp>
      <p:sp>
        <p:nvSpPr>
          <p:cNvPr id="22" name="Shape 20"/>
          <p:cNvSpPr/>
          <p:nvPr/>
        </p:nvSpPr>
        <p:spPr>
          <a:xfrm>
            <a:off x="5266563" y="1874520"/>
            <a:ext cx="3073946" cy="4160520"/>
          </a:xfrm>
          <a:prstGeom prst="roundRect">
            <a:avLst>
              <a:gd name="adj" fmla="val 2975"/>
            </a:avLst>
          </a:prstGeom>
          <a:solidFill>
            <a:schemeClr val="bg2"/>
          </a:solidFill>
          <a:ln/>
        </p:spPr>
      </p:sp>
      <p:sp>
        <p:nvSpPr>
          <p:cNvPr id="23" name="Shape 21"/>
          <p:cNvSpPr/>
          <p:nvPr/>
        </p:nvSpPr>
        <p:spPr>
          <a:xfrm>
            <a:off x="5495163" y="2057400"/>
            <a:ext cx="731520" cy="274320"/>
          </a:xfrm>
          <a:prstGeom prst="roundRect">
            <a:avLst>
              <a:gd name="adj" fmla="val 50000"/>
            </a:avLst>
          </a:prstGeom>
          <a:solidFill>
            <a:schemeClr val="tx1"/>
          </a:solidFill>
          <a:ln/>
        </p:spPr>
      </p:sp>
      <p:sp>
        <p:nvSpPr>
          <p:cNvPr id="24" name="Text 22"/>
          <p:cNvSpPr txBox="1"/>
          <p:nvPr/>
        </p:nvSpPr>
        <p:spPr>
          <a:xfrm>
            <a:off x="5495163" y="2057400"/>
            <a:ext cx="73152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Avoid</a:t>
            </a:r>
            <a:endParaRPr lang="en-US" sz="900" dirty="0"/>
          </a:p>
        </p:txBody>
      </p:sp>
      <p:sp>
        <p:nvSpPr>
          <p:cNvPr id="25" name="Text 23"/>
          <p:cNvSpPr txBox="1"/>
          <p:nvPr/>
        </p:nvSpPr>
        <p:spPr>
          <a:xfrm>
            <a:off x="5495163" y="2423160"/>
            <a:ext cx="2616746" cy="4572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Rainbow colours, gridlines, 3D, legend for one series</a:t>
            </a:r>
            <a:endParaRPr lang="en-US" sz="1000" dirty="0"/>
          </a:p>
        </p:txBody>
      </p:sp>
      <p:graphicFrame>
        <p:nvGraphicFramePr>
          <p:cNvPr id="26" name="Chart 0" descr=""/>
          <p:cNvGraphicFramePr/>
          <p:nvPr/>
        </p:nvGraphicFramePr>
        <p:xfrm>
          <a:off x="5449443" y="2926080"/>
          <a:ext cx="2708186" cy="2926080"/>
        </p:xfrm>
        <a:graphic xmlns:a="http://schemas.openxmlformats.org/drawingml/2006/main">
          <a:graphicData uri="http://schemas.openxmlformats.org/drawingml/2006/chart">
            <c:chart xmlns:c="http://schemas.openxmlformats.org/drawingml/2006/chart" r:id="rId1"/>
          </a:graphicData>
        </a:graphic>
      </p:graphicFrame>
      <p:sp>
        <p:nvSpPr>
          <p:cNvPr id="27" name="Shape 24"/>
          <p:cNvSpPr/>
          <p:nvPr/>
        </p:nvSpPr>
        <p:spPr>
          <a:xfrm>
            <a:off x="8569109" y="1874520"/>
            <a:ext cx="3073946" cy="4160520"/>
          </a:xfrm>
          <a:prstGeom prst="roundRect">
            <a:avLst>
              <a:gd name="adj" fmla="val 2975"/>
            </a:avLst>
          </a:prstGeom>
          <a:solidFill>
            <a:schemeClr val="bg2"/>
          </a:solidFill>
          <a:ln/>
        </p:spPr>
      </p:sp>
      <p:sp>
        <p:nvSpPr>
          <p:cNvPr id="28" name="Shape 25"/>
          <p:cNvSpPr/>
          <p:nvPr/>
        </p:nvSpPr>
        <p:spPr>
          <a:xfrm>
            <a:off x="8797709" y="2057400"/>
            <a:ext cx="731520" cy="274320"/>
          </a:xfrm>
          <a:prstGeom prst="roundRect">
            <a:avLst>
              <a:gd name="adj" fmla="val 50000"/>
            </a:avLst>
          </a:prstGeom>
          <a:solidFill>
            <a:schemeClr val="accent1"/>
          </a:solidFill>
          <a:ln/>
        </p:spPr>
      </p:sp>
      <p:sp>
        <p:nvSpPr>
          <p:cNvPr id="29" name="Text 26"/>
          <p:cNvSpPr txBox="1"/>
          <p:nvPr/>
        </p:nvSpPr>
        <p:spPr>
          <a:xfrm>
            <a:off x="8797709" y="2057400"/>
            <a:ext cx="7315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Prefer</a:t>
            </a:r>
            <a:endParaRPr lang="en-US" sz="900" dirty="0"/>
          </a:p>
        </p:txBody>
      </p:sp>
      <p:sp>
        <p:nvSpPr>
          <p:cNvPr id="30" name="Text 27"/>
          <p:cNvSpPr txBox="1"/>
          <p:nvPr/>
        </p:nvSpPr>
        <p:spPr>
          <a:xfrm>
            <a:off x="8797709" y="2423160"/>
            <a:ext cx="2616746" cy="4572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One highlight, direct labels, no gridlines, message in the title</a:t>
            </a:r>
            <a:endParaRPr lang="en-US" sz="1000" dirty="0"/>
          </a:p>
        </p:txBody>
      </p:sp>
      <p:graphicFrame>
        <p:nvGraphicFramePr>
          <p:cNvPr id="31" name="Chart 1" descr=""/>
          <p:cNvGraphicFramePr/>
          <p:nvPr/>
        </p:nvGraphicFramePr>
        <p:xfrm>
          <a:off x="8751989" y="2926080"/>
          <a:ext cx="2708186" cy="29260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705295" y="0"/>
            <a:ext cx="1371600" cy="1371600"/>
          </a:xfrm>
          <a:prstGeom prst="rect">
            <a:avLst/>
          </a:prstGeom>
          <a:solidFill>
            <a:schemeClr val="bg2"/>
          </a:solidFill>
          <a:ln/>
        </p:spPr>
      </p:sp>
      <p:sp>
        <p:nvSpPr>
          <p:cNvPr id="3" name="Shape 1"/>
          <p:cNvSpPr/>
          <p:nvPr/>
        </p:nvSpPr>
        <p:spPr>
          <a:xfrm>
            <a:off x="6019495" y="0"/>
            <a:ext cx="1371600" cy="1371600"/>
          </a:xfrm>
          <a:prstGeom prst="pie">
            <a:avLst>
              <a:gd name="adj1" fmla="val 16200000"/>
              <a:gd name="adj2" fmla="val 5400000"/>
            </a:avLst>
          </a:prstGeom>
          <a:solidFill>
            <a:schemeClr val="tx1"/>
          </a:solidFill>
          <a:ln/>
        </p:spPr>
      </p:sp>
      <p:sp>
        <p:nvSpPr>
          <p:cNvPr id="4" name="Shape 2"/>
          <p:cNvSpPr/>
          <p:nvPr/>
        </p:nvSpPr>
        <p:spPr>
          <a:xfrm>
            <a:off x="8076895" y="0"/>
            <a:ext cx="1371600" cy="1371600"/>
          </a:xfrm>
          <a:prstGeom prst="rect">
            <a:avLst/>
          </a:prstGeom>
          <a:solidFill>
            <a:schemeClr val="tx1"/>
          </a:solidFill>
          <a:ln/>
        </p:spPr>
      </p:sp>
      <p:sp>
        <p:nvSpPr>
          <p:cNvPr id="5" name="Shape 3"/>
          <p:cNvSpPr/>
          <p:nvPr/>
        </p:nvSpPr>
        <p:spPr>
          <a:xfrm>
            <a:off x="8598103" y="521208"/>
            <a:ext cx="329184" cy="329184"/>
          </a:xfrm>
          <a:prstGeom prst="ellipse">
            <a:avLst/>
          </a:prstGeom>
          <a:solidFill>
            <a:schemeClr val="accent1"/>
          </a:solidFill>
          <a:ln/>
        </p:spPr>
      </p:sp>
      <p:sp>
        <p:nvSpPr>
          <p:cNvPr id="6" name="Shape 4"/>
          <p:cNvSpPr/>
          <p:nvPr/>
        </p:nvSpPr>
        <p:spPr>
          <a:xfrm>
            <a:off x="9448495" y="0"/>
            <a:ext cx="1371600" cy="1371600"/>
          </a:xfrm>
          <a:prstGeom prst="rect">
            <a:avLst/>
          </a:prstGeom>
          <a:solidFill>
            <a:schemeClr val="accent1"/>
          </a:solidFill>
          <a:ln/>
        </p:spPr>
      </p:sp>
      <p:sp>
        <p:nvSpPr>
          <p:cNvPr id="7" name="Shape 5"/>
          <p:cNvSpPr/>
          <p:nvPr/>
        </p:nvSpPr>
        <p:spPr>
          <a:xfrm>
            <a:off x="8076895" y="-1371600"/>
            <a:ext cx="2743200" cy="2743200"/>
          </a:xfrm>
          <a:prstGeom prst="pie">
            <a:avLst>
              <a:gd name="adj1" fmla="val 0"/>
              <a:gd name="adj2" fmla="val 5400000"/>
            </a:avLst>
          </a:prstGeom>
          <a:solidFill>
            <a:schemeClr val="tx1"/>
          </a:solidFill>
          <a:ln/>
        </p:spPr>
      </p:sp>
      <p:sp>
        <p:nvSpPr>
          <p:cNvPr id="8" name="Shape 6"/>
          <p:cNvSpPr/>
          <p:nvPr/>
        </p:nvSpPr>
        <p:spPr>
          <a:xfrm>
            <a:off x="10820095" y="0"/>
            <a:ext cx="1371600" cy="1371600"/>
          </a:xfrm>
          <a:prstGeom prst="rect">
            <a:avLst/>
          </a:prstGeom>
          <a:solidFill>
            <a:schemeClr val="tx1"/>
          </a:solidFill>
          <a:ln/>
        </p:spPr>
      </p:sp>
      <p:sp>
        <p:nvSpPr>
          <p:cNvPr id="9" name="Shape 7"/>
          <p:cNvSpPr/>
          <p:nvPr/>
        </p:nvSpPr>
        <p:spPr>
          <a:xfrm>
            <a:off x="6705295" y="1371600"/>
            <a:ext cx="1371600" cy="1371600"/>
          </a:xfrm>
          <a:prstGeom prst="rect">
            <a:avLst/>
          </a:prstGeom>
          <a:solidFill>
            <a:schemeClr val="tx1"/>
          </a:solidFill>
          <a:ln/>
        </p:spPr>
      </p:sp>
      <p:sp>
        <p:nvSpPr>
          <p:cNvPr id="10" name="Shape 8"/>
          <p:cNvSpPr/>
          <p:nvPr/>
        </p:nvSpPr>
        <p:spPr>
          <a:xfrm>
            <a:off x="6705295" y="0"/>
            <a:ext cx="2743200" cy="2743200"/>
          </a:xfrm>
          <a:prstGeom prst="pie">
            <a:avLst>
              <a:gd name="adj1" fmla="val 5400000"/>
              <a:gd name="adj2" fmla="val 10800000"/>
            </a:avLst>
          </a:prstGeom>
          <a:solidFill>
            <a:schemeClr val="accent1"/>
          </a:solidFill>
          <a:ln/>
        </p:spPr>
      </p:sp>
      <p:sp>
        <p:nvSpPr>
          <p:cNvPr id="11" name="Shape 9"/>
          <p:cNvSpPr/>
          <p:nvPr/>
        </p:nvSpPr>
        <p:spPr>
          <a:xfrm>
            <a:off x="8076895" y="1371600"/>
            <a:ext cx="1371600" cy="1371600"/>
          </a:xfrm>
          <a:prstGeom prst="rect">
            <a:avLst/>
          </a:prstGeom>
          <a:solidFill>
            <a:schemeClr val="accent5"/>
          </a:solidFill>
          <a:ln/>
        </p:spPr>
      </p:sp>
      <p:sp>
        <p:nvSpPr>
          <p:cNvPr id="12" name="Shape 10"/>
          <p:cNvSpPr/>
          <p:nvPr/>
        </p:nvSpPr>
        <p:spPr>
          <a:xfrm>
            <a:off x="8159191" y="1453896"/>
            <a:ext cx="1207008" cy="1207008"/>
          </a:xfrm>
          <a:prstGeom prst="ellipse">
            <a:avLst/>
          </a:prstGeom>
          <a:ln w="19050">
            <a:solidFill>
              <a:schemeClr val="accent1"/>
            </a:solidFill>
            <a:prstDash val="solid"/>
          </a:ln>
        </p:spPr>
      </p:sp>
      <p:sp>
        <p:nvSpPr>
          <p:cNvPr id="13" name="Shape 11"/>
          <p:cNvSpPr/>
          <p:nvPr/>
        </p:nvSpPr>
        <p:spPr>
          <a:xfrm>
            <a:off x="9448495" y="1371600"/>
            <a:ext cx="1371600" cy="1371600"/>
          </a:xfrm>
          <a:prstGeom prst="rect">
            <a:avLst/>
          </a:prstGeom>
          <a:solidFill>
            <a:schemeClr val="tx1"/>
          </a:solidFill>
          <a:ln/>
        </p:spPr>
      </p:sp>
      <p:sp>
        <p:nvSpPr>
          <p:cNvPr id="14" name="Shape 12"/>
          <p:cNvSpPr/>
          <p:nvPr/>
        </p:nvSpPr>
        <p:spPr>
          <a:xfrm>
            <a:off x="10820095" y="1371600"/>
            <a:ext cx="1371600" cy="1371600"/>
          </a:xfrm>
          <a:prstGeom prst="rect">
            <a:avLst/>
          </a:prstGeom>
          <a:solidFill>
            <a:schemeClr val="bg2"/>
          </a:solidFill>
          <a:ln/>
        </p:spPr>
      </p:sp>
      <p:sp>
        <p:nvSpPr>
          <p:cNvPr id="15" name="Shape 13"/>
          <p:cNvSpPr/>
          <p:nvPr/>
        </p:nvSpPr>
        <p:spPr>
          <a:xfrm>
            <a:off x="10820095" y="1371600"/>
            <a:ext cx="1371600" cy="1371600"/>
          </a:xfrm>
          <a:prstGeom prst="ellipse">
            <a:avLst/>
          </a:prstGeom>
          <a:solidFill>
            <a:schemeClr val="tx1"/>
          </a:solidFill>
          <a:ln/>
        </p:spPr>
      </p:sp>
      <p:sp>
        <p:nvSpPr>
          <p:cNvPr id="16" name="Shape 14"/>
          <p:cNvSpPr/>
          <p:nvPr/>
        </p:nvSpPr>
        <p:spPr>
          <a:xfrm>
            <a:off x="6705295" y="2743200"/>
            <a:ext cx="1371600" cy="1371600"/>
          </a:xfrm>
          <a:prstGeom prst="rect">
            <a:avLst/>
          </a:prstGeom>
          <a:solidFill>
            <a:schemeClr val="accent1"/>
          </a:solidFill>
          <a:ln/>
        </p:spPr>
      </p:sp>
      <p:sp>
        <p:nvSpPr>
          <p:cNvPr id="17" name="Shape 15"/>
          <p:cNvSpPr/>
          <p:nvPr/>
        </p:nvSpPr>
        <p:spPr>
          <a:xfrm>
            <a:off x="8076895" y="2743200"/>
            <a:ext cx="1371600" cy="1371600"/>
          </a:xfrm>
          <a:prstGeom prst="rect">
            <a:avLst/>
          </a:prstGeom>
          <a:solidFill>
            <a:schemeClr val="tx1"/>
          </a:solidFill>
          <a:ln/>
        </p:spPr>
      </p:sp>
      <p:sp>
        <p:nvSpPr>
          <p:cNvPr id="18" name="Shape 16"/>
          <p:cNvSpPr/>
          <p:nvPr/>
        </p:nvSpPr>
        <p:spPr>
          <a:xfrm>
            <a:off x="8076895" y="2057400"/>
            <a:ext cx="1371600" cy="1371600"/>
          </a:xfrm>
          <a:prstGeom prst="pie">
            <a:avLst>
              <a:gd name="adj1" fmla="val 0"/>
              <a:gd name="adj2" fmla="val 10800000"/>
            </a:avLst>
          </a:prstGeom>
          <a:solidFill>
            <a:schemeClr val="bg2"/>
          </a:solidFill>
          <a:ln/>
        </p:spPr>
      </p:sp>
      <p:sp>
        <p:nvSpPr>
          <p:cNvPr id="19" name="Shape 17"/>
          <p:cNvSpPr/>
          <p:nvPr/>
        </p:nvSpPr>
        <p:spPr>
          <a:xfrm>
            <a:off x="9448495" y="2743200"/>
            <a:ext cx="1371600" cy="1371600"/>
          </a:xfrm>
          <a:prstGeom prst="rect">
            <a:avLst/>
          </a:prstGeom>
          <a:solidFill>
            <a:schemeClr val="accent5"/>
          </a:solidFill>
          <a:ln/>
        </p:spPr>
      </p:sp>
      <p:sp>
        <p:nvSpPr>
          <p:cNvPr id="20" name="Shape 18"/>
          <p:cNvSpPr/>
          <p:nvPr/>
        </p:nvSpPr>
        <p:spPr>
          <a:xfrm>
            <a:off x="9695383" y="2990088"/>
            <a:ext cx="54864" cy="54864"/>
          </a:xfrm>
          <a:prstGeom prst="ellipse">
            <a:avLst/>
          </a:prstGeom>
          <a:solidFill>
            <a:schemeClr val="accent1"/>
          </a:solidFill>
          <a:ln/>
        </p:spPr>
      </p:sp>
      <p:sp>
        <p:nvSpPr>
          <p:cNvPr id="21" name="Shape 19"/>
          <p:cNvSpPr/>
          <p:nvPr/>
        </p:nvSpPr>
        <p:spPr>
          <a:xfrm>
            <a:off x="9695383" y="3401568"/>
            <a:ext cx="54864" cy="54864"/>
          </a:xfrm>
          <a:prstGeom prst="ellipse">
            <a:avLst/>
          </a:prstGeom>
          <a:solidFill>
            <a:schemeClr val="accent1"/>
          </a:solidFill>
          <a:ln/>
        </p:spPr>
      </p:sp>
      <p:sp>
        <p:nvSpPr>
          <p:cNvPr id="22" name="Shape 20"/>
          <p:cNvSpPr/>
          <p:nvPr/>
        </p:nvSpPr>
        <p:spPr>
          <a:xfrm>
            <a:off x="9695383" y="3813048"/>
            <a:ext cx="54864" cy="54864"/>
          </a:xfrm>
          <a:prstGeom prst="ellipse">
            <a:avLst/>
          </a:prstGeom>
          <a:solidFill>
            <a:schemeClr val="accent1"/>
          </a:solidFill>
          <a:ln/>
        </p:spPr>
      </p:sp>
      <p:sp>
        <p:nvSpPr>
          <p:cNvPr id="23" name="Shape 21"/>
          <p:cNvSpPr/>
          <p:nvPr/>
        </p:nvSpPr>
        <p:spPr>
          <a:xfrm>
            <a:off x="10106863" y="2990088"/>
            <a:ext cx="54864" cy="54864"/>
          </a:xfrm>
          <a:prstGeom prst="ellipse">
            <a:avLst/>
          </a:prstGeom>
          <a:solidFill>
            <a:schemeClr val="accent1"/>
          </a:solidFill>
          <a:ln/>
        </p:spPr>
      </p:sp>
      <p:sp>
        <p:nvSpPr>
          <p:cNvPr id="24" name="Shape 22"/>
          <p:cNvSpPr/>
          <p:nvPr/>
        </p:nvSpPr>
        <p:spPr>
          <a:xfrm>
            <a:off x="10106863" y="3401568"/>
            <a:ext cx="54864" cy="54864"/>
          </a:xfrm>
          <a:prstGeom prst="ellipse">
            <a:avLst/>
          </a:prstGeom>
          <a:solidFill>
            <a:schemeClr val="accent1"/>
          </a:solidFill>
          <a:ln/>
        </p:spPr>
      </p:sp>
      <p:sp>
        <p:nvSpPr>
          <p:cNvPr id="25" name="Shape 23"/>
          <p:cNvSpPr/>
          <p:nvPr/>
        </p:nvSpPr>
        <p:spPr>
          <a:xfrm>
            <a:off x="10106863" y="3813048"/>
            <a:ext cx="54864" cy="54864"/>
          </a:xfrm>
          <a:prstGeom prst="ellipse">
            <a:avLst/>
          </a:prstGeom>
          <a:solidFill>
            <a:schemeClr val="accent1"/>
          </a:solidFill>
          <a:ln/>
        </p:spPr>
      </p:sp>
      <p:sp>
        <p:nvSpPr>
          <p:cNvPr id="26" name="Shape 24"/>
          <p:cNvSpPr/>
          <p:nvPr/>
        </p:nvSpPr>
        <p:spPr>
          <a:xfrm>
            <a:off x="10518343" y="2990088"/>
            <a:ext cx="54864" cy="54864"/>
          </a:xfrm>
          <a:prstGeom prst="ellipse">
            <a:avLst/>
          </a:prstGeom>
          <a:solidFill>
            <a:schemeClr val="accent1"/>
          </a:solidFill>
          <a:ln/>
        </p:spPr>
      </p:sp>
      <p:sp>
        <p:nvSpPr>
          <p:cNvPr id="27" name="Shape 25"/>
          <p:cNvSpPr/>
          <p:nvPr/>
        </p:nvSpPr>
        <p:spPr>
          <a:xfrm>
            <a:off x="10518343" y="3401568"/>
            <a:ext cx="54864" cy="54864"/>
          </a:xfrm>
          <a:prstGeom prst="ellipse">
            <a:avLst/>
          </a:prstGeom>
          <a:solidFill>
            <a:schemeClr val="accent1"/>
          </a:solidFill>
          <a:ln/>
        </p:spPr>
      </p:sp>
      <p:sp>
        <p:nvSpPr>
          <p:cNvPr id="28" name="Shape 26"/>
          <p:cNvSpPr/>
          <p:nvPr/>
        </p:nvSpPr>
        <p:spPr>
          <a:xfrm>
            <a:off x="10518343" y="3813048"/>
            <a:ext cx="54864" cy="54864"/>
          </a:xfrm>
          <a:prstGeom prst="ellipse">
            <a:avLst/>
          </a:prstGeom>
          <a:solidFill>
            <a:schemeClr val="accent1"/>
          </a:solidFill>
          <a:ln/>
        </p:spPr>
      </p:sp>
      <p:sp>
        <p:nvSpPr>
          <p:cNvPr id="29" name="Shape 27"/>
          <p:cNvSpPr/>
          <p:nvPr/>
        </p:nvSpPr>
        <p:spPr>
          <a:xfrm>
            <a:off x="10820095" y="2743200"/>
            <a:ext cx="1371600" cy="1371600"/>
          </a:xfrm>
          <a:prstGeom prst="rect">
            <a:avLst/>
          </a:prstGeom>
          <a:solidFill>
            <a:schemeClr val="tx1"/>
          </a:solidFill>
          <a:ln/>
        </p:spPr>
      </p:sp>
      <p:sp>
        <p:nvSpPr>
          <p:cNvPr id="30" name="Shape 28"/>
          <p:cNvSpPr/>
          <p:nvPr/>
        </p:nvSpPr>
        <p:spPr>
          <a:xfrm>
            <a:off x="9448495" y="2743200"/>
            <a:ext cx="2743200" cy="2743200"/>
          </a:xfrm>
          <a:prstGeom prst="pie">
            <a:avLst>
              <a:gd name="adj1" fmla="val 16200000"/>
              <a:gd name="adj2" fmla="val 21600000"/>
            </a:avLst>
          </a:prstGeom>
          <a:solidFill>
            <a:schemeClr val="accent1"/>
          </a:solidFill>
          <a:ln/>
        </p:spPr>
      </p:sp>
      <p:sp>
        <p:nvSpPr>
          <p:cNvPr id="31" name="Shape 29"/>
          <p:cNvSpPr/>
          <p:nvPr/>
        </p:nvSpPr>
        <p:spPr>
          <a:xfrm>
            <a:off x="6705295" y="4114800"/>
            <a:ext cx="1371600" cy="1371600"/>
          </a:xfrm>
          <a:prstGeom prst="rect">
            <a:avLst/>
          </a:prstGeom>
          <a:solidFill>
            <a:schemeClr val="tx1"/>
          </a:solidFill>
          <a:ln/>
        </p:spPr>
      </p:sp>
      <p:sp>
        <p:nvSpPr>
          <p:cNvPr id="32" name="Shape 30"/>
          <p:cNvSpPr/>
          <p:nvPr/>
        </p:nvSpPr>
        <p:spPr>
          <a:xfrm>
            <a:off x="6705295" y="4114800"/>
            <a:ext cx="1371600" cy="1371600"/>
          </a:xfrm>
          <a:prstGeom prst="ellipse">
            <a:avLst/>
          </a:prstGeom>
          <a:solidFill>
            <a:schemeClr val="bg2"/>
          </a:solidFill>
          <a:ln/>
        </p:spPr>
      </p:sp>
      <p:sp>
        <p:nvSpPr>
          <p:cNvPr id="33" name="Shape 31"/>
          <p:cNvSpPr/>
          <p:nvPr/>
        </p:nvSpPr>
        <p:spPr>
          <a:xfrm>
            <a:off x="8076895" y="4114800"/>
            <a:ext cx="1371600" cy="1371600"/>
          </a:xfrm>
          <a:prstGeom prst="rect">
            <a:avLst/>
          </a:prstGeom>
          <a:solidFill>
            <a:schemeClr val="tx1"/>
          </a:solidFill>
          <a:ln/>
        </p:spPr>
      </p:sp>
      <p:sp>
        <p:nvSpPr>
          <p:cNvPr id="34" name="Shape 32"/>
          <p:cNvSpPr/>
          <p:nvPr/>
        </p:nvSpPr>
        <p:spPr>
          <a:xfrm>
            <a:off x="9448495" y="4114800"/>
            <a:ext cx="1371600" cy="1371600"/>
          </a:xfrm>
          <a:prstGeom prst="rect">
            <a:avLst/>
          </a:prstGeom>
          <a:solidFill>
            <a:schemeClr val="bg2"/>
          </a:solidFill>
          <a:ln/>
        </p:spPr>
      </p:sp>
      <p:sp>
        <p:nvSpPr>
          <p:cNvPr id="35" name="Shape 33"/>
          <p:cNvSpPr/>
          <p:nvPr/>
        </p:nvSpPr>
        <p:spPr>
          <a:xfrm>
            <a:off x="9448495" y="4114800"/>
            <a:ext cx="2743200" cy="2743200"/>
          </a:xfrm>
          <a:prstGeom prst="pie">
            <a:avLst>
              <a:gd name="adj1" fmla="val 10800000"/>
              <a:gd name="adj2" fmla="val 16200000"/>
            </a:avLst>
          </a:prstGeom>
          <a:solidFill>
            <a:schemeClr val="tx1"/>
          </a:solidFill>
          <a:ln/>
        </p:spPr>
      </p:sp>
      <p:sp>
        <p:nvSpPr>
          <p:cNvPr id="36" name="Shape 34"/>
          <p:cNvSpPr/>
          <p:nvPr/>
        </p:nvSpPr>
        <p:spPr>
          <a:xfrm>
            <a:off x="10820095" y="4114800"/>
            <a:ext cx="1371600" cy="1371600"/>
          </a:xfrm>
          <a:prstGeom prst="rect">
            <a:avLst/>
          </a:prstGeom>
          <a:solidFill>
            <a:schemeClr val="accent5"/>
          </a:solidFill>
          <a:ln/>
        </p:spPr>
      </p:sp>
      <p:sp>
        <p:nvSpPr>
          <p:cNvPr id="37" name="Shape 35"/>
          <p:cNvSpPr/>
          <p:nvPr/>
        </p:nvSpPr>
        <p:spPr>
          <a:xfrm>
            <a:off x="6705295" y="5486400"/>
            <a:ext cx="1371600" cy="1371600"/>
          </a:xfrm>
          <a:prstGeom prst="rect">
            <a:avLst/>
          </a:prstGeom>
          <a:solidFill>
            <a:schemeClr val="bg2"/>
          </a:solidFill>
          <a:ln/>
        </p:spPr>
      </p:sp>
      <p:sp>
        <p:nvSpPr>
          <p:cNvPr id="38" name="Shape 36"/>
          <p:cNvSpPr/>
          <p:nvPr/>
        </p:nvSpPr>
        <p:spPr>
          <a:xfrm>
            <a:off x="8076895" y="5486400"/>
            <a:ext cx="1371600" cy="1371600"/>
          </a:xfrm>
          <a:prstGeom prst="rect">
            <a:avLst/>
          </a:prstGeom>
          <a:solidFill>
            <a:schemeClr val="accent1"/>
          </a:solidFill>
          <a:ln/>
        </p:spPr>
      </p:sp>
      <p:sp>
        <p:nvSpPr>
          <p:cNvPr id="39" name="Shape 37"/>
          <p:cNvSpPr/>
          <p:nvPr/>
        </p:nvSpPr>
        <p:spPr>
          <a:xfrm>
            <a:off x="8076895" y="6172200"/>
            <a:ext cx="1371600" cy="1371600"/>
          </a:xfrm>
          <a:prstGeom prst="pie">
            <a:avLst>
              <a:gd name="adj1" fmla="val 10800000"/>
              <a:gd name="adj2" fmla="val 21600000"/>
            </a:avLst>
          </a:prstGeom>
          <a:solidFill>
            <a:schemeClr val="tx1"/>
          </a:solidFill>
          <a:ln/>
        </p:spPr>
      </p:sp>
      <p:sp>
        <p:nvSpPr>
          <p:cNvPr id="40" name="Shape 38"/>
          <p:cNvSpPr/>
          <p:nvPr/>
        </p:nvSpPr>
        <p:spPr>
          <a:xfrm>
            <a:off x="9448495" y="5486400"/>
            <a:ext cx="1371600" cy="1371600"/>
          </a:xfrm>
          <a:prstGeom prst="rect">
            <a:avLst/>
          </a:prstGeom>
          <a:solidFill>
            <a:schemeClr val="tx1"/>
          </a:solidFill>
          <a:ln/>
        </p:spPr>
      </p:sp>
      <p:sp>
        <p:nvSpPr>
          <p:cNvPr id="41" name="Shape 39"/>
          <p:cNvSpPr/>
          <p:nvPr/>
        </p:nvSpPr>
        <p:spPr>
          <a:xfrm>
            <a:off x="10820095" y="5486400"/>
            <a:ext cx="1371600" cy="1371600"/>
          </a:xfrm>
          <a:prstGeom prst="rect">
            <a:avLst/>
          </a:prstGeom>
          <a:solidFill>
            <a:schemeClr val="tx1"/>
          </a:solidFill>
          <a:ln/>
        </p:spPr>
      </p:sp>
      <p:sp>
        <p:nvSpPr>
          <p:cNvPr id="42" name="Shape 40"/>
          <p:cNvSpPr/>
          <p:nvPr/>
        </p:nvSpPr>
        <p:spPr>
          <a:xfrm>
            <a:off x="11341303" y="6007608"/>
            <a:ext cx="329184" cy="329184"/>
          </a:xfrm>
          <a:prstGeom prst="ellipse">
            <a:avLst/>
          </a:prstGeom>
          <a:solidFill>
            <a:schemeClr val="accent1"/>
          </a:solidFill>
          <a:ln/>
        </p:spPr>
      </p:sp>
      <p:sp>
        <p:nvSpPr>
          <p:cNvPr id="43" name="Text 41"/>
          <p:cNvSpPr txBox="1"/>
          <p:nvPr/>
        </p:nvSpPr>
        <p:spPr>
          <a:xfrm>
            <a:off x="548640" y="502920"/>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44" name="Shape 42"/>
          <p:cNvSpPr/>
          <p:nvPr/>
        </p:nvSpPr>
        <p:spPr>
          <a:xfrm>
            <a:off x="548640" y="1943100"/>
            <a:ext cx="91440" cy="91440"/>
          </a:xfrm>
          <a:prstGeom prst="rect">
            <a:avLst/>
          </a:prstGeom>
          <a:solidFill>
            <a:schemeClr val="accent1"/>
          </a:solidFill>
          <a:ln/>
        </p:spPr>
      </p:sp>
      <p:sp>
        <p:nvSpPr>
          <p:cNvPr id="45" name="Text 43"/>
          <p:cNvSpPr txBox="1"/>
          <p:nvPr/>
        </p:nvSpPr>
        <p:spPr>
          <a:xfrm>
            <a:off x="731520" y="187452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ANNUAL BUSINESS REVIEW 2026</a:t>
            </a:r>
            <a:endParaRPr lang="en-US" sz="950" dirty="0"/>
          </a:p>
        </p:txBody>
      </p:sp>
      <p:sp>
        <p:nvSpPr>
          <p:cNvPr id="46" name="Text 44"/>
          <p:cNvSpPr txBox="1"/>
          <p:nvPr/>
        </p:nvSpPr>
        <p:spPr>
          <a:xfrm>
            <a:off x="548640" y="2240280"/>
            <a:ext cx="5852160" cy="2560320"/>
          </a:xfrm>
          <a:prstGeom prst="rect">
            <a:avLst/>
          </a:prstGeom>
          <a:noFill/>
          <a:ln/>
        </p:spPr>
        <p:txBody>
          <a:bodyPr wrap="square" lIns="0" tIns="0" rIns="0" bIns="0" rtlCol="0" anchor="t"/>
          <a:lstStyle/>
          <a:p>
            <a:pPr algn="l" indent="0" marL="0">
              <a:lnSpc>
                <a:spcPct val="92000"/>
              </a:lnSpc>
              <a:buNone/>
            </a:pPr>
            <a:r>
              <a:rPr lang="en-US" sz="5800" dirty="0">
                <a:solidFill>
                  <a:schemeClr val="tx1"/>
                </a:solidFill>
                <a:latin typeface="Manrope ExtraBold" pitchFamily="34" charset="0"/>
                <a:ea typeface="Manrope ExtraBold" pitchFamily="34" charset="-122"/>
                <a:cs typeface="Manrope ExtraBold" pitchFamily="34" charset="-120"/>
              </a:rPr>
              <a:t>Build what</a:t>
            </a:r>
            <a:endParaRPr lang="en-US" sz="5800" dirty="0"/>
          </a:p>
          <a:p>
            <a:pPr algn="l" indent="0" marL="0">
              <a:lnSpc>
                <a:spcPct val="92000"/>
              </a:lnSpc>
              <a:buNone/>
            </a:pPr>
            <a:r>
              <a:rPr lang="en-US" sz="5800" dirty="0">
                <a:solidFill>
                  <a:schemeClr val="tx1"/>
                </a:solidFill>
                <a:latin typeface="Manrope ExtraBold" pitchFamily="34" charset="0"/>
                <a:ea typeface="Manrope ExtraBold" pitchFamily="34" charset="-122"/>
                <a:cs typeface="Manrope ExtraBold" pitchFamily="34" charset="-120"/>
              </a:rPr>
              <a:t>moves the</a:t>
            </a:r>
            <a:endParaRPr lang="en-US" sz="5800" dirty="0"/>
          </a:p>
          <a:p>
            <a:pPr algn="l" indent="0" marL="0">
              <a:lnSpc>
                <a:spcPct val="92000"/>
              </a:lnSpc>
              <a:buNone/>
            </a:pPr>
            <a:r>
              <a:rPr lang="en-US" sz="5800" dirty="0">
                <a:solidFill>
                  <a:schemeClr val="tx1"/>
                </a:solidFill>
                <a:latin typeface="Manrope ExtraBold" pitchFamily="34" charset="0"/>
                <a:ea typeface="Manrope ExtraBold" pitchFamily="34" charset="-122"/>
                <a:cs typeface="Manrope ExtraBold" pitchFamily="34" charset="-120"/>
              </a:rPr>
              <a:t>market.</a:t>
            </a:r>
            <a:endParaRPr lang="en-US" sz="5800" dirty="0"/>
          </a:p>
        </p:txBody>
      </p:sp>
      <p:sp>
        <p:nvSpPr>
          <p:cNvPr id="47" name="Text 45"/>
          <p:cNvSpPr txBox="1"/>
          <p:nvPr/>
        </p:nvSpPr>
        <p:spPr>
          <a:xfrm>
            <a:off x="548640" y="4846320"/>
            <a:ext cx="5120640" cy="548640"/>
          </a:xfrm>
          <a:prstGeom prst="rect">
            <a:avLst/>
          </a:prstGeom>
          <a:noFill/>
          <a:ln/>
        </p:spPr>
        <p:txBody>
          <a:bodyPr wrap="square" lIns="0" tIns="0" rIns="0" bIns="0" rtlCol="0" anchor="t"/>
          <a:lstStyle/>
          <a:p>
            <a:pPr algn="l" indent="0" marL="0">
              <a:lnSpc>
                <a:spcPct val="120000"/>
              </a:lnSpc>
              <a:buNone/>
            </a:pPr>
            <a:r>
              <a:rPr lang="en-US" sz="1400" dirty="0">
                <a:solidFill>
                  <a:schemeClr val="tx2"/>
                </a:solidFill>
                <a:latin typeface="Inter" pitchFamily="34" charset="0"/>
                <a:ea typeface="Inter" pitchFamily="34" charset="-122"/>
                <a:cs typeface="Inter" pitchFamily="34" charset="-120"/>
              </a:rPr>
              <a:t>Growth strategy, sales performance and the plan for the next 24 months.</a:t>
            </a:r>
            <a:endParaRPr lang="en-US" sz="1400" dirty="0"/>
          </a:p>
        </p:txBody>
      </p:sp>
      <p:sp>
        <p:nvSpPr>
          <p:cNvPr id="48" name="Text 46"/>
          <p:cNvSpPr txBox="1"/>
          <p:nvPr/>
        </p:nvSpPr>
        <p:spPr>
          <a:xfrm>
            <a:off x="548640" y="5897880"/>
            <a:ext cx="16459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Prepared by</a:t>
            </a:r>
            <a:endParaRPr lang="en-US" sz="900" dirty="0"/>
          </a:p>
        </p:txBody>
      </p:sp>
      <p:sp>
        <p:nvSpPr>
          <p:cNvPr id="49" name="Text 47"/>
          <p:cNvSpPr txBox="1"/>
          <p:nvPr/>
        </p:nvSpPr>
        <p:spPr>
          <a:xfrm>
            <a:off x="548640" y="6108192"/>
            <a:ext cx="1645920"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Strategy Office</a:t>
            </a:r>
            <a:endParaRPr lang="en-US" sz="1050" dirty="0"/>
          </a:p>
        </p:txBody>
      </p:sp>
      <p:sp>
        <p:nvSpPr>
          <p:cNvPr id="50" name="Text 48"/>
          <p:cNvSpPr txBox="1"/>
          <p:nvPr/>
        </p:nvSpPr>
        <p:spPr>
          <a:xfrm>
            <a:off x="2331720" y="5897880"/>
            <a:ext cx="16459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Date</a:t>
            </a:r>
            <a:endParaRPr lang="en-US" sz="900" dirty="0"/>
          </a:p>
        </p:txBody>
      </p:sp>
      <p:sp>
        <p:nvSpPr>
          <p:cNvPr id="51" name="Text 49"/>
          <p:cNvSpPr txBox="1"/>
          <p:nvPr/>
        </p:nvSpPr>
        <p:spPr>
          <a:xfrm>
            <a:off x="2331720" y="6108192"/>
            <a:ext cx="1645920"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September 2026</a:t>
            </a:r>
            <a:endParaRPr lang="en-US" sz="1050" dirty="0"/>
          </a:p>
        </p:txBody>
      </p:sp>
      <p:sp>
        <p:nvSpPr>
          <p:cNvPr id="52" name="Text 50"/>
          <p:cNvSpPr txBox="1"/>
          <p:nvPr/>
        </p:nvSpPr>
        <p:spPr>
          <a:xfrm>
            <a:off x="4114800" y="5897880"/>
            <a:ext cx="16459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Classification</a:t>
            </a:r>
            <a:endParaRPr lang="en-US" sz="900" dirty="0"/>
          </a:p>
        </p:txBody>
      </p:sp>
      <p:sp>
        <p:nvSpPr>
          <p:cNvPr id="53" name="Text 51"/>
          <p:cNvSpPr txBox="1"/>
          <p:nvPr/>
        </p:nvSpPr>
        <p:spPr>
          <a:xfrm>
            <a:off x="4114800" y="6108192"/>
            <a:ext cx="1645920"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Confidential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502920"/>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3" name="Text 1"/>
          <p:cNvSpPr txBox="1"/>
          <p:nvPr/>
        </p:nvSpPr>
        <p:spPr>
          <a:xfrm>
            <a:off x="9814255" y="502920"/>
            <a:ext cx="182880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2026 Edition</a:t>
            </a:r>
            <a:endParaRPr lang="en-US" sz="1000" dirty="0"/>
          </a:p>
        </p:txBody>
      </p:sp>
      <p:sp>
        <p:nvSpPr>
          <p:cNvPr id="4" name="Shape 2"/>
          <p:cNvSpPr/>
          <p:nvPr/>
        </p:nvSpPr>
        <p:spPr>
          <a:xfrm>
            <a:off x="548640" y="2148840"/>
            <a:ext cx="801563" cy="274320"/>
          </a:xfrm>
          <a:prstGeom prst="roundRect">
            <a:avLst>
              <a:gd name="adj" fmla="val 50000"/>
            </a:avLst>
          </a:prstGeom>
          <a:solidFill>
            <a:schemeClr val="accent1"/>
          </a:solidFill>
          <a:ln/>
        </p:spPr>
      </p:sp>
      <p:sp>
        <p:nvSpPr>
          <p:cNvPr id="5" name="Text 3"/>
          <p:cNvSpPr txBox="1"/>
          <p:nvPr/>
        </p:nvSpPr>
        <p:spPr>
          <a:xfrm>
            <a:off x="548640" y="2148840"/>
            <a:ext cx="801563"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Q3 2026</a:t>
            </a:r>
            <a:endParaRPr lang="en-US" sz="900" dirty="0"/>
          </a:p>
        </p:txBody>
      </p:sp>
      <p:sp>
        <p:nvSpPr>
          <p:cNvPr id="6" name="Text 4"/>
          <p:cNvSpPr txBox="1"/>
          <p:nvPr/>
        </p:nvSpPr>
        <p:spPr>
          <a:xfrm>
            <a:off x="548640" y="2606040"/>
            <a:ext cx="8229600" cy="914400"/>
          </a:xfrm>
          <a:prstGeom prst="rect">
            <a:avLst/>
          </a:prstGeom>
          <a:noFill/>
          <a:ln/>
        </p:spPr>
        <p:txBody>
          <a:bodyPr wrap="square" lIns="0" tIns="0" rIns="0" bIns="0" rtlCol="0" anchor="t"/>
          <a:lstStyle/>
          <a:p>
            <a:pPr algn="l" indent="0" marL="0">
              <a:buNone/>
            </a:pPr>
            <a:r>
              <a:rPr lang="en-US" sz="4800" b="1" dirty="0">
                <a:solidFill>
                  <a:schemeClr val="tx1"/>
                </a:solidFill>
                <a:latin typeface="Manrope" pitchFamily="34" charset="0"/>
                <a:ea typeface="Manrope" pitchFamily="34" charset="-122"/>
                <a:cs typeface="Manrope" pitchFamily="34" charset="-120"/>
              </a:rPr>
              <a:t>Quarterly Business Review</a:t>
            </a:r>
            <a:endParaRPr lang="en-US" sz="4800" dirty="0"/>
          </a:p>
        </p:txBody>
      </p:sp>
      <p:sp>
        <p:nvSpPr>
          <p:cNvPr id="7" name="Text 5"/>
          <p:cNvSpPr txBox="1"/>
          <p:nvPr/>
        </p:nvSpPr>
        <p:spPr>
          <a:xfrm>
            <a:off x="548640" y="3566160"/>
            <a:ext cx="7315200" cy="365760"/>
          </a:xfrm>
          <a:prstGeom prst="rect">
            <a:avLst/>
          </a:prstGeom>
          <a:noFill/>
          <a:ln/>
        </p:spPr>
        <p:txBody>
          <a:bodyPr wrap="square" lIns="0" tIns="0" rIns="0" bIns="0" rtlCol="0" anchor="t"/>
          <a:lstStyle/>
          <a:p>
            <a:pPr algn="l" indent="0" marL="0">
              <a:buNone/>
            </a:pPr>
            <a:r>
              <a:rPr lang="en-US" sz="1600" dirty="0">
                <a:solidFill>
                  <a:schemeClr val="accent3"/>
                </a:solidFill>
                <a:latin typeface="Inter" pitchFamily="34" charset="0"/>
                <a:ea typeface="Inter" pitchFamily="34" charset="-122"/>
                <a:cs typeface="Inter" pitchFamily="34" charset="-120"/>
              </a:rPr>
              <a:t>Performance, pipeline and priorities for the quarter ahead.</a:t>
            </a:r>
            <a:endParaRPr lang="en-US" sz="1600" dirty="0"/>
          </a:p>
        </p:txBody>
      </p:sp>
      <p:sp>
        <p:nvSpPr>
          <p:cNvPr id="8" name="Shape 6"/>
          <p:cNvSpPr/>
          <p:nvPr/>
        </p:nvSpPr>
        <p:spPr>
          <a:xfrm>
            <a:off x="548640" y="5394960"/>
            <a:ext cx="8899855" cy="0"/>
          </a:xfrm>
          <a:prstGeom prst="line">
            <a:avLst/>
          </a:prstGeom>
          <a:noFill/>
          <a:ln w="9525">
            <a:solidFill>
              <a:schemeClr val="accent4"/>
            </a:solidFill>
            <a:prstDash val="solid"/>
          </a:ln>
        </p:spPr>
      </p:sp>
      <p:sp>
        <p:nvSpPr>
          <p:cNvPr id="9" name="Text 7"/>
          <p:cNvSpPr txBox="1"/>
          <p:nvPr/>
        </p:nvSpPr>
        <p:spPr>
          <a:xfrm>
            <a:off x="548640" y="5577840"/>
            <a:ext cx="25603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Presenter</a:t>
            </a:r>
            <a:endParaRPr lang="en-US" sz="900" dirty="0"/>
          </a:p>
        </p:txBody>
      </p:sp>
      <p:sp>
        <p:nvSpPr>
          <p:cNvPr id="10" name="Text 8"/>
          <p:cNvSpPr txBox="1"/>
          <p:nvPr/>
        </p:nvSpPr>
        <p:spPr>
          <a:xfrm>
            <a:off x="548640" y="5797296"/>
            <a:ext cx="256032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Chief Revenue Officer</a:t>
            </a:r>
            <a:endParaRPr lang="en-US" sz="1100" dirty="0"/>
          </a:p>
        </p:txBody>
      </p:sp>
      <p:sp>
        <p:nvSpPr>
          <p:cNvPr id="11" name="Text 9"/>
          <p:cNvSpPr txBox="1"/>
          <p:nvPr/>
        </p:nvSpPr>
        <p:spPr>
          <a:xfrm>
            <a:off x="3291840" y="5577840"/>
            <a:ext cx="25603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Audience</a:t>
            </a:r>
            <a:endParaRPr lang="en-US" sz="900" dirty="0"/>
          </a:p>
        </p:txBody>
      </p:sp>
      <p:sp>
        <p:nvSpPr>
          <p:cNvPr id="12" name="Text 10"/>
          <p:cNvSpPr txBox="1"/>
          <p:nvPr/>
        </p:nvSpPr>
        <p:spPr>
          <a:xfrm>
            <a:off x="3291840" y="5797296"/>
            <a:ext cx="256032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Executive Leadership Team</a:t>
            </a:r>
            <a:endParaRPr lang="en-US" sz="1100" dirty="0"/>
          </a:p>
        </p:txBody>
      </p:sp>
      <p:sp>
        <p:nvSpPr>
          <p:cNvPr id="13" name="Text 11"/>
          <p:cNvSpPr txBox="1"/>
          <p:nvPr/>
        </p:nvSpPr>
        <p:spPr>
          <a:xfrm>
            <a:off x="6035040" y="5577840"/>
            <a:ext cx="25603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Date</a:t>
            </a:r>
            <a:endParaRPr lang="en-US" sz="900" dirty="0"/>
          </a:p>
        </p:txBody>
      </p:sp>
      <p:sp>
        <p:nvSpPr>
          <p:cNvPr id="14" name="Text 12"/>
          <p:cNvSpPr txBox="1"/>
          <p:nvPr/>
        </p:nvSpPr>
        <p:spPr>
          <a:xfrm>
            <a:off x="6035040" y="5797296"/>
            <a:ext cx="256032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14 October 2026</a:t>
            </a:r>
            <a:endParaRPr lang="en-US" sz="1100" dirty="0"/>
          </a:p>
        </p:txBody>
      </p:sp>
      <p:sp>
        <p:nvSpPr>
          <p:cNvPr id="15" name="Shape 13"/>
          <p:cNvSpPr/>
          <p:nvPr/>
        </p:nvSpPr>
        <p:spPr>
          <a:xfrm>
            <a:off x="9997135" y="4663440"/>
            <a:ext cx="822960" cy="822960"/>
          </a:xfrm>
          <a:prstGeom prst="rect">
            <a:avLst/>
          </a:prstGeom>
          <a:solidFill>
            <a:schemeClr val="tx1"/>
          </a:solidFill>
          <a:ln/>
        </p:spPr>
      </p:sp>
      <p:sp>
        <p:nvSpPr>
          <p:cNvPr id="16" name="Shape 14"/>
          <p:cNvSpPr/>
          <p:nvPr/>
        </p:nvSpPr>
        <p:spPr>
          <a:xfrm>
            <a:off x="9997135" y="4663440"/>
            <a:ext cx="1645920" cy="1645920"/>
          </a:xfrm>
          <a:prstGeom prst="pie">
            <a:avLst>
              <a:gd name="adj1" fmla="val 10800000"/>
              <a:gd name="adj2" fmla="val 16200000"/>
            </a:avLst>
          </a:prstGeom>
          <a:solidFill>
            <a:schemeClr val="accent1"/>
          </a:solidFill>
          <a:ln/>
        </p:spPr>
      </p:sp>
      <p:sp>
        <p:nvSpPr>
          <p:cNvPr id="17" name="Shape 15"/>
          <p:cNvSpPr/>
          <p:nvPr/>
        </p:nvSpPr>
        <p:spPr>
          <a:xfrm>
            <a:off x="10820095" y="4663440"/>
            <a:ext cx="822960" cy="822960"/>
          </a:xfrm>
          <a:prstGeom prst="rect">
            <a:avLst/>
          </a:prstGeom>
          <a:solidFill>
            <a:schemeClr val="bg2"/>
          </a:solidFill>
          <a:ln/>
        </p:spPr>
      </p:sp>
      <p:sp>
        <p:nvSpPr>
          <p:cNvPr id="18" name="Shape 16"/>
          <p:cNvSpPr/>
          <p:nvPr/>
        </p:nvSpPr>
        <p:spPr>
          <a:xfrm>
            <a:off x="10820095" y="4663440"/>
            <a:ext cx="822960" cy="822960"/>
          </a:xfrm>
          <a:prstGeom prst="ellipse">
            <a:avLst/>
          </a:prstGeom>
          <a:solidFill>
            <a:schemeClr val="tx1"/>
          </a:solidFill>
          <a:ln/>
        </p:spPr>
      </p:sp>
      <p:sp>
        <p:nvSpPr>
          <p:cNvPr id="19" name="Shape 17"/>
          <p:cNvSpPr/>
          <p:nvPr/>
        </p:nvSpPr>
        <p:spPr>
          <a:xfrm>
            <a:off x="9997135" y="5486400"/>
            <a:ext cx="822960" cy="822960"/>
          </a:xfrm>
          <a:prstGeom prst="rect">
            <a:avLst/>
          </a:prstGeom>
          <a:solidFill>
            <a:schemeClr val="accent1"/>
          </a:solidFill>
          <a:ln/>
        </p:spPr>
      </p:sp>
      <p:sp>
        <p:nvSpPr>
          <p:cNvPr id="20" name="Shape 18"/>
          <p:cNvSpPr/>
          <p:nvPr/>
        </p:nvSpPr>
        <p:spPr>
          <a:xfrm>
            <a:off x="10820095" y="5486400"/>
            <a:ext cx="822960" cy="822960"/>
          </a:xfrm>
          <a:prstGeom prst="rect">
            <a:avLst/>
          </a:prstGeom>
          <a:solidFill>
            <a:schemeClr val="tx1"/>
          </a:solidFill>
          <a:ln/>
        </p:spPr>
      </p:sp>
      <p:sp>
        <p:nvSpPr>
          <p:cNvPr id="21" name="Shape 19"/>
          <p:cNvSpPr/>
          <p:nvPr/>
        </p:nvSpPr>
        <p:spPr>
          <a:xfrm>
            <a:off x="10408615" y="5486400"/>
            <a:ext cx="822960" cy="822960"/>
          </a:xfrm>
          <a:prstGeom prst="pie">
            <a:avLst>
              <a:gd name="adj1" fmla="val 16200000"/>
              <a:gd name="adj2" fmla="val 5400000"/>
            </a:avLst>
          </a:prstGeom>
          <a:solidFill>
            <a:schemeClr val="bg2"/>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617220"/>
            <a:ext cx="91440" cy="91440"/>
          </a:xfrm>
          <a:prstGeom prst="rect">
            <a:avLst/>
          </a:prstGeom>
          <a:solidFill>
            <a:schemeClr val="accent1"/>
          </a:solidFill>
          <a:ln/>
        </p:spPr>
      </p:sp>
      <p:sp>
        <p:nvSpPr>
          <p:cNvPr id="3" name="Text 1"/>
          <p:cNvSpPr txBox="1"/>
          <p:nvPr/>
        </p:nvSpPr>
        <p:spPr>
          <a:xfrm>
            <a:off x="731520" y="54864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GO-TO-MARKET PLAN · FY2027</a:t>
            </a:r>
            <a:endParaRPr lang="en-US" sz="950" dirty="0"/>
          </a:p>
        </p:txBody>
      </p:sp>
      <p:sp>
        <p:nvSpPr>
          <p:cNvPr id="4" name="Text 2"/>
          <p:cNvSpPr txBox="1"/>
          <p:nvPr/>
        </p:nvSpPr>
        <p:spPr>
          <a:xfrm>
            <a:off x="9814255" y="530352"/>
            <a:ext cx="1828800" cy="274320"/>
          </a:xfrm>
          <a:prstGeom prst="rect">
            <a:avLst/>
          </a:prstGeom>
          <a:noFill/>
          <a:ln/>
        </p:spPr>
        <p:txBody>
          <a:bodyPr wrap="square" lIns="0" tIns="0" rIns="0" bIns="0" rtlCol="0" anchor="t"/>
          <a:lstStyle/>
          <a:p>
            <a:pPr algn="r" indent="0" marL="0">
              <a:buNone/>
            </a:pPr>
            <a:r>
              <a:rPr lang="en-US" sz="1300" spc="200" kern="0" dirty="0">
                <a:solidFill>
                  <a:schemeClr val="bg1"/>
                </a:solidFill>
                <a:latin typeface="Manrope ExtraBold" pitchFamily="34" charset="0"/>
                <a:ea typeface="Manrope ExtraBold" pitchFamily="34" charset="-122"/>
                <a:cs typeface="Manrope ExtraBold" pitchFamily="34" charset="-120"/>
              </a:rPr>
              <a:t>VERTEX</a:t>
            </a:r>
            <a:endParaRPr lang="en-US" sz="1300" dirty="0"/>
          </a:p>
        </p:txBody>
      </p:sp>
      <p:sp>
        <p:nvSpPr>
          <p:cNvPr id="5" name="Text 3"/>
          <p:cNvSpPr txBox="1"/>
          <p:nvPr/>
        </p:nvSpPr>
        <p:spPr>
          <a:xfrm>
            <a:off x="438912" y="1143000"/>
            <a:ext cx="8229600" cy="3108960"/>
          </a:xfrm>
          <a:prstGeom prst="rect">
            <a:avLst/>
          </a:prstGeom>
          <a:noFill/>
          <a:ln/>
        </p:spPr>
        <p:txBody>
          <a:bodyPr wrap="square" lIns="0" tIns="0" rIns="0" bIns="0" rtlCol="0" anchor="ctr"/>
          <a:lstStyle/>
          <a:p>
            <a:pPr algn="l" indent="0" marL="0">
              <a:buNone/>
            </a:pPr>
            <a:r>
              <a:rPr lang="en-US" sz="21000" dirty="0">
                <a:solidFill>
                  <a:schemeClr val="bg1"/>
                </a:solidFill>
                <a:latin typeface="Manrope ExtraBold" pitchFamily="34" charset="0"/>
                <a:ea typeface="Manrope ExtraBold" pitchFamily="34" charset="-122"/>
                <a:cs typeface="Manrope ExtraBold" pitchFamily="34" charset="-120"/>
              </a:rPr>
              <a:t>Grow</a:t>
            </a:r>
            <a:pPr algn="l" indent="0" marL="0">
              <a:buNone/>
            </a:pPr>
            <a:r>
              <a:rPr lang="en-US" sz="21000" dirty="0">
                <a:solidFill>
                  <a:schemeClr val="accent1"/>
                </a:solidFill>
                <a:latin typeface="Manrope ExtraBold" pitchFamily="34" charset="0"/>
                <a:ea typeface="Manrope ExtraBold" pitchFamily="34" charset="-122"/>
                <a:cs typeface="Manrope ExtraBold" pitchFamily="34" charset="-120"/>
              </a:rPr>
              <a:t>.</a:t>
            </a:r>
            <a:endParaRPr lang="en-US" sz="21000" dirty="0"/>
          </a:p>
        </p:txBody>
      </p:sp>
      <p:sp>
        <p:nvSpPr>
          <p:cNvPr id="6" name="Text 4"/>
          <p:cNvSpPr txBox="1"/>
          <p:nvPr/>
        </p:nvSpPr>
        <p:spPr>
          <a:xfrm>
            <a:off x="548640" y="4434840"/>
            <a:ext cx="4572000" cy="1097280"/>
          </a:xfrm>
          <a:prstGeom prst="rect">
            <a:avLst/>
          </a:prstGeom>
          <a:noFill/>
          <a:ln/>
        </p:spPr>
        <p:txBody>
          <a:bodyPr wrap="square" lIns="0" tIns="0" rIns="0" bIns="0" rtlCol="0" anchor="t"/>
          <a:lstStyle/>
          <a:p>
            <a:pPr algn="l" indent="0" marL="0">
              <a:lnSpc>
                <a:spcPct val="100000"/>
              </a:lnSpc>
              <a:buNone/>
            </a:pPr>
            <a:r>
              <a:rPr lang="en-US" sz="3000" b="1" dirty="0">
                <a:solidFill>
                  <a:schemeClr val="bg1"/>
                </a:solidFill>
                <a:latin typeface="Manrope" pitchFamily="34" charset="0"/>
                <a:ea typeface="Manrope" pitchFamily="34" charset="-122"/>
                <a:cs typeface="Manrope" pitchFamily="34" charset="-120"/>
              </a:rPr>
              <a:t>Faster. Smarter.</a:t>
            </a:r>
            <a:endParaRPr lang="en-US" sz="3000" dirty="0"/>
          </a:p>
          <a:p>
            <a:pPr algn="l" indent="0" marL="0">
              <a:lnSpc>
                <a:spcPct val="100000"/>
              </a:lnSpc>
              <a:buNone/>
            </a:pPr>
            <a:r>
              <a:rPr lang="en-US" sz="3000" b="1" dirty="0">
                <a:solidFill>
                  <a:schemeClr val="bg1"/>
                </a:solidFill>
                <a:latin typeface="Manrope" pitchFamily="34" charset="0"/>
                <a:ea typeface="Manrope" pitchFamily="34" charset="-122"/>
                <a:cs typeface="Manrope" pitchFamily="34" charset="-120"/>
              </a:rPr>
              <a:t>Together.</a:t>
            </a:r>
            <a:endParaRPr lang="en-US" sz="3000" dirty="0"/>
          </a:p>
        </p:txBody>
      </p:sp>
      <p:sp>
        <p:nvSpPr>
          <p:cNvPr id="7" name="Text 5"/>
          <p:cNvSpPr txBox="1"/>
          <p:nvPr/>
        </p:nvSpPr>
        <p:spPr>
          <a:xfrm>
            <a:off x="7153732" y="4572000"/>
            <a:ext cx="4489323" cy="914400"/>
          </a:xfrm>
          <a:prstGeom prst="rect">
            <a:avLst/>
          </a:prstGeom>
          <a:noFill/>
          <a:ln/>
        </p:spPr>
        <p:txBody>
          <a:bodyPr wrap="square" lIns="0" tIns="0" rIns="0" bIns="0" rtlCol="0" anchor="t"/>
          <a:lstStyle/>
          <a:p>
            <a:pPr algn="l" indent="0" marL="0">
              <a:lnSpc>
                <a:spcPct val="125000"/>
              </a:lnSpc>
              <a:buNone/>
            </a:pPr>
            <a:r>
              <a:rPr lang="en-US" sz="1300" dirty="0">
                <a:solidFill>
                  <a:schemeClr val="accent4"/>
                </a:solidFill>
                <a:latin typeface="Inter" pitchFamily="34" charset="0"/>
                <a:ea typeface="Inter" pitchFamily="34" charset="-122"/>
                <a:cs typeface="Inter" pitchFamily="34" charset="-120"/>
              </a:rPr>
              <a:t>A focused plan to double enterprise revenue by expanding into three new markets and doubling partner-sourced pipeline.</a:t>
            </a:r>
            <a:endParaRPr lang="en-US" sz="1300" dirty="0"/>
          </a:p>
        </p:txBody>
      </p:sp>
      <p:sp>
        <p:nvSpPr>
          <p:cNvPr id="8" name="Shape 6"/>
          <p:cNvSpPr/>
          <p:nvPr/>
        </p:nvSpPr>
        <p:spPr>
          <a:xfrm>
            <a:off x="9722815" y="1234440"/>
            <a:ext cx="64008" cy="64008"/>
          </a:xfrm>
          <a:prstGeom prst="ellipse">
            <a:avLst/>
          </a:prstGeom>
          <a:solidFill>
            <a:schemeClr val="accent1"/>
          </a:solidFill>
          <a:ln/>
        </p:spPr>
      </p:sp>
      <p:sp>
        <p:nvSpPr>
          <p:cNvPr id="9" name="Shape 7"/>
          <p:cNvSpPr/>
          <p:nvPr/>
        </p:nvSpPr>
        <p:spPr>
          <a:xfrm>
            <a:off x="9722815" y="1490472"/>
            <a:ext cx="64008" cy="64008"/>
          </a:xfrm>
          <a:prstGeom prst="ellipse">
            <a:avLst/>
          </a:prstGeom>
          <a:solidFill>
            <a:schemeClr val="accent1"/>
          </a:solidFill>
          <a:ln/>
        </p:spPr>
      </p:sp>
      <p:sp>
        <p:nvSpPr>
          <p:cNvPr id="10" name="Shape 8"/>
          <p:cNvSpPr/>
          <p:nvPr/>
        </p:nvSpPr>
        <p:spPr>
          <a:xfrm>
            <a:off x="9722815" y="1746504"/>
            <a:ext cx="64008" cy="64008"/>
          </a:xfrm>
          <a:prstGeom prst="ellipse">
            <a:avLst/>
          </a:prstGeom>
          <a:solidFill>
            <a:schemeClr val="accent1"/>
          </a:solidFill>
          <a:ln/>
        </p:spPr>
      </p:sp>
      <p:sp>
        <p:nvSpPr>
          <p:cNvPr id="11" name="Shape 9"/>
          <p:cNvSpPr/>
          <p:nvPr/>
        </p:nvSpPr>
        <p:spPr>
          <a:xfrm>
            <a:off x="9722815" y="2002536"/>
            <a:ext cx="64008" cy="64008"/>
          </a:xfrm>
          <a:prstGeom prst="ellipse">
            <a:avLst/>
          </a:prstGeom>
          <a:solidFill>
            <a:schemeClr val="accent1"/>
          </a:solidFill>
          <a:ln/>
        </p:spPr>
      </p:sp>
      <p:sp>
        <p:nvSpPr>
          <p:cNvPr id="12" name="Shape 10"/>
          <p:cNvSpPr/>
          <p:nvPr/>
        </p:nvSpPr>
        <p:spPr>
          <a:xfrm>
            <a:off x="9722815" y="2258568"/>
            <a:ext cx="64008" cy="64008"/>
          </a:xfrm>
          <a:prstGeom prst="ellipse">
            <a:avLst/>
          </a:prstGeom>
          <a:solidFill>
            <a:schemeClr val="accent1"/>
          </a:solidFill>
          <a:ln/>
        </p:spPr>
      </p:sp>
      <p:sp>
        <p:nvSpPr>
          <p:cNvPr id="13" name="Shape 11"/>
          <p:cNvSpPr/>
          <p:nvPr/>
        </p:nvSpPr>
        <p:spPr>
          <a:xfrm>
            <a:off x="9722815" y="2514600"/>
            <a:ext cx="64008" cy="64008"/>
          </a:xfrm>
          <a:prstGeom prst="ellipse">
            <a:avLst/>
          </a:prstGeom>
          <a:solidFill>
            <a:schemeClr val="accent1"/>
          </a:solidFill>
          <a:ln/>
        </p:spPr>
      </p:sp>
      <p:sp>
        <p:nvSpPr>
          <p:cNvPr id="14" name="Shape 12"/>
          <p:cNvSpPr/>
          <p:nvPr/>
        </p:nvSpPr>
        <p:spPr>
          <a:xfrm>
            <a:off x="9722815" y="2770632"/>
            <a:ext cx="64008" cy="64008"/>
          </a:xfrm>
          <a:prstGeom prst="ellipse">
            <a:avLst/>
          </a:prstGeom>
          <a:solidFill>
            <a:schemeClr val="accent1"/>
          </a:solidFill>
          <a:ln/>
        </p:spPr>
      </p:sp>
      <p:sp>
        <p:nvSpPr>
          <p:cNvPr id="15" name="Shape 13"/>
          <p:cNvSpPr/>
          <p:nvPr/>
        </p:nvSpPr>
        <p:spPr>
          <a:xfrm>
            <a:off x="9722815" y="3026664"/>
            <a:ext cx="64008" cy="64008"/>
          </a:xfrm>
          <a:prstGeom prst="ellipse">
            <a:avLst/>
          </a:prstGeom>
          <a:solidFill>
            <a:schemeClr val="accent1"/>
          </a:solidFill>
          <a:ln/>
        </p:spPr>
      </p:sp>
      <p:sp>
        <p:nvSpPr>
          <p:cNvPr id="16" name="Shape 14"/>
          <p:cNvSpPr/>
          <p:nvPr/>
        </p:nvSpPr>
        <p:spPr>
          <a:xfrm>
            <a:off x="9978847" y="1234440"/>
            <a:ext cx="64008" cy="64008"/>
          </a:xfrm>
          <a:prstGeom prst="ellipse">
            <a:avLst/>
          </a:prstGeom>
          <a:solidFill>
            <a:schemeClr val="accent1"/>
          </a:solidFill>
          <a:ln/>
        </p:spPr>
      </p:sp>
      <p:sp>
        <p:nvSpPr>
          <p:cNvPr id="17" name="Shape 15"/>
          <p:cNvSpPr/>
          <p:nvPr/>
        </p:nvSpPr>
        <p:spPr>
          <a:xfrm>
            <a:off x="9978847" y="1490472"/>
            <a:ext cx="64008" cy="64008"/>
          </a:xfrm>
          <a:prstGeom prst="ellipse">
            <a:avLst/>
          </a:prstGeom>
          <a:solidFill>
            <a:schemeClr val="accent1"/>
          </a:solidFill>
          <a:ln/>
        </p:spPr>
      </p:sp>
      <p:sp>
        <p:nvSpPr>
          <p:cNvPr id="18" name="Shape 16"/>
          <p:cNvSpPr/>
          <p:nvPr/>
        </p:nvSpPr>
        <p:spPr>
          <a:xfrm>
            <a:off x="9978847" y="1746504"/>
            <a:ext cx="64008" cy="64008"/>
          </a:xfrm>
          <a:prstGeom prst="ellipse">
            <a:avLst/>
          </a:prstGeom>
          <a:solidFill>
            <a:schemeClr val="accent1"/>
          </a:solidFill>
          <a:ln/>
        </p:spPr>
      </p:sp>
      <p:sp>
        <p:nvSpPr>
          <p:cNvPr id="19" name="Shape 17"/>
          <p:cNvSpPr/>
          <p:nvPr/>
        </p:nvSpPr>
        <p:spPr>
          <a:xfrm>
            <a:off x="9978847" y="2002536"/>
            <a:ext cx="64008" cy="64008"/>
          </a:xfrm>
          <a:prstGeom prst="ellipse">
            <a:avLst/>
          </a:prstGeom>
          <a:solidFill>
            <a:schemeClr val="accent1"/>
          </a:solidFill>
          <a:ln/>
        </p:spPr>
      </p:sp>
      <p:sp>
        <p:nvSpPr>
          <p:cNvPr id="20" name="Shape 18"/>
          <p:cNvSpPr/>
          <p:nvPr/>
        </p:nvSpPr>
        <p:spPr>
          <a:xfrm>
            <a:off x="9978847" y="2258568"/>
            <a:ext cx="64008" cy="64008"/>
          </a:xfrm>
          <a:prstGeom prst="ellipse">
            <a:avLst/>
          </a:prstGeom>
          <a:solidFill>
            <a:schemeClr val="accent1"/>
          </a:solidFill>
          <a:ln/>
        </p:spPr>
      </p:sp>
      <p:sp>
        <p:nvSpPr>
          <p:cNvPr id="21" name="Shape 19"/>
          <p:cNvSpPr/>
          <p:nvPr/>
        </p:nvSpPr>
        <p:spPr>
          <a:xfrm>
            <a:off x="9978847" y="2514600"/>
            <a:ext cx="64008" cy="64008"/>
          </a:xfrm>
          <a:prstGeom prst="ellipse">
            <a:avLst/>
          </a:prstGeom>
          <a:solidFill>
            <a:schemeClr val="accent1"/>
          </a:solidFill>
          <a:ln/>
        </p:spPr>
      </p:sp>
      <p:sp>
        <p:nvSpPr>
          <p:cNvPr id="22" name="Shape 20"/>
          <p:cNvSpPr/>
          <p:nvPr/>
        </p:nvSpPr>
        <p:spPr>
          <a:xfrm>
            <a:off x="9978847" y="2770632"/>
            <a:ext cx="64008" cy="64008"/>
          </a:xfrm>
          <a:prstGeom prst="ellipse">
            <a:avLst/>
          </a:prstGeom>
          <a:solidFill>
            <a:schemeClr val="accent1"/>
          </a:solidFill>
          <a:ln/>
        </p:spPr>
      </p:sp>
      <p:sp>
        <p:nvSpPr>
          <p:cNvPr id="23" name="Shape 21"/>
          <p:cNvSpPr/>
          <p:nvPr/>
        </p:nvSpPr>
        <p:spPr>
          <a:xfrm>
            <a:off x="9978847" y="3026664"/>
            <a:ext cx="64008" cy="64008"/>
          </a:xfrm>
          <a:prstGeom prst="ellipse">
            <a:avLst/>
          </a:prstGeom>
          <a:solidFill>
            <a:schemeClr val="accent1"/>
          </a:solidFill>
          <a:ln/>
        </p:spPr>
      </p:sp>
      <p:sp>
        <p:nvSpPr>
          <p:cNvPr id="24" name="Shape 22"/>
          <p:cNvSpPr/>
          <p:nvPr/>
        </p:nvSpPr>
        <p:spPr>
          <a:xfrm>
            <a:off x="10234879" y="1234440"/>
            <a:ext cx="64008" cy="64008"/>
          </a:xfrm>
          <a:prstGeom prst="ellipse">
            <a:avLst/>
          </a:prstGeom>
          <a:solidFill>
            <a:schemeClr val="accent1"/>
          </a:solidFill>
          <a:ln/>
        </p:spPr>
      </p:sp>
      <p:sp>
        <p:nvSpPr>
          <p:cNvPr id="25" name="Shape 23"/>
          <p:cNvSpPr/>
          <p:nvPr/>
        </p:nvSpPr>
        <p:spPr>
          <a:xfrm>
            <a:off x="10234879" y="1490472"/>
            <a:ext cx="64008" cy="64008"/>
          </a:xfrm>
          <a:prstGeom prst="ellipse">
            <a:avLst/>
          </a:prstGeom>
          <a:solidFill>
            <a:schemeClr val="accent1"/>
          </a:solidFill>
          <a:ln/>
        </p:spPr>
      </p:sp>
      <p:sp>
        <p:nvSpPr>
          <p:cNvPr id="26" name="Shape 24"/>
          <p:cNvSpPr/>
          <p:nvPr/>
        </p:nvSpPr>
        <p:spPr>
          <a:xfrm>
            <a:off x="10234879" y="1746504"/>
            <a:ext cx="64008" cy="64008"/>
          </a:xfrm>
          <a:prstGeom prst="ellipse">
            <a:avLst/>
          </a:prstGeom>
          <a:solidFill>
            <a:schemeClr val="accent1"/>
          </a:solidFill>
          <a:ln/>
        </p:spPr>
      </p:sp>
      <p:sp>
        <p:nvSpPr>
          <p:cNvPr id="27" name="Shape 25"/>
          <p:cNvSpPr/>
          <p:nvPr/>
        </p:nvSpPr>
        <p:spPr>
          <a:xfrm>
            <a:off x="10234879" y="2002536"/>
            <a:ext cx="64008" cy="64008"/>
          </a:xfrm>
          <a:prstGeom prst="ellipse">
            <a:avLst/>
          </a:prstGeom>
          <a:solidFill>
            <a:schemeClr val="accent1"/>
          </a:solidFill>
          <a:ln/>
        </p:spPr>
      </p:sp>
      <p:sp>
        <p:nvSpPr>
          <p:cNvPr id="28" name="Shape 26"/>
          <p:cNvSpPr/>
          <p:nvPr/>
        </p:nvSpPr>
        <p:spPr>
          <a:xfrm>
            <a:off x="10234879" y="2258568"/>
            <a:ext cx="64008" cy="64008"/>
          </a:xfrm>
          <a:prstGeom prst="ellipse">
            <a:avLst/>
          </a:prstGeom>
          <a:solidFill>
            <a:schemeClr val="accent1"/>
          </a:solidFill>
          <a:ln/>
        </p:spPr>
      </p:sp>
      <p:sp>
        <p:nvSpPr>
          <p:cNvPr id="29" name="Shape 27"/>
          <p:cNvSpPr/>
          <p:nvPr/>
        </p:nvSpPr>
        <p:spPr>
          <a:xfrm>
            <a:off x="10234879" y="2514600"/>
            <a:ext cx="64008" cy="64008"/>
          </a:xfrm>
          <a:prstGeom prst="ellipse">
            <a:avLst/>
          </a:prstGeom>
          <a:solidFill>
            <a:schemeClr val="accent1"/>
          </a:solidFill>
          <a:ln/>
        </p:spPr>
      </p:sp>
      <p:sp>
        <p:nvSpPr>
          <p:cNvPr id="30" name="Shape 28"/>
          <p:cNvSpPr/>
          <p:nvPr/>
        </p:nvSpPr>
        <p:spPr>
          <a:xfrm>
            <a:off x="10234879" y="2770632"/>
            <a:ext cx="64008" cy="64008"/>
          </a:xfrm>
          <a:prstGeom prst="ellipse">
            <a:avLst/>
          </a:prstGeom>
          <a:solidFill>
            <a:schemeClr val="accent1"/>
          </a:solidFill>
          <a:ln/>
        </p:spPr>
      </p:sp>
      <p:sp>
        <p:nvSpPr>
          <p:cNvPr id="31" name="Shape 29"/>
          <p:cNvSpPr/>
          <p:nvPr/>
        </p:nvSpPr>
        <p:spPr>
          <a:xfrm>
            <a:off x="10234879" y="3026664"/>
            <a:ext cx="64008" cy="64008"/>
          </a:xfrm>
          <a:prstGeom prst="ellipse">
            <a:avLst/>
          </a:prstGeom>
          <a:solidFill>
            <a:schemeClr val="accent1"/>
          </a:solidFill>
          <a:ln/>
        </p:spPr>
      </p:sp>
      <p:sp>
        <p:nvSpPr>
          <p:cNvPr id="32" name="Shape 30"/>
          <p:cNvSpPr/>
          <p:nvPr/>
        </p:nvSpPr>
        <p:spPr>
          <a:xfrm>
            <a:off x="10490911" y="1234440"/>
            <a:ext cx="64008" cy="64008"/>
          </a:xfrm>
          <a:prstGeom prst="ellipse">
            <a:avLst/>
          </a:prstGeom>
          <a:solidFill>
            <a:schemeClr val="accent1"/>
          </a:solidFill>
          <a:ln/>
        </p:spPr>
      </p:sp>
      <p:sp>
        <p:nvSpPr>
          <p:cNvPr id="33" name="Shape 31"/>
          <p:cNvSpPr/>
          <p:nvPr/>
        </p:nvSpPr>
        <p:spPr>
          <a:xfrm>
            <a:off x="10490911" y="1490472"/>
            <a:ext cx="64008" cy="64008"/>
          </a:xfrm>
          <a:prstGeom prst="ellipse">
            <a:avLst/>
          </a:prstGeom>
          <a:solidFill>
            <a:schemeClr val="accent1"/>
          </a:solidFill>
          <a:ln/>
        </p:spPr>
      </p:sp>
      <p:sp>
        <p:nvSpPr>
          <p:cNvPr id="34" name="Shape 32"/>
          <p:cNvSpPr/>
          <p:nvPr/>
        </p:nvSpPr>
        <p:spPr>
          <a:xfrm>
            <a:off x="10490911" y="1746504"/>
            <a:ext cx="64008" cy="64008"/>
          </a:xfrm>
          <a:prstGeom prst="ellipse">
            <a:avLst/>
          </a:prstGeom>
          <a:solidFill>
            <a:schemeClr val="accent1"/>
          </a:solidFill>
          <a:ln/>
        </p:spPr>
      </p:sp>
      <p:sp>
        <p:nvSpPr>
          <p:cNvPr id="35" name="Shape 33"/>
          <p:cNvSpPr/>
          <p:nvPr/>
        </p:nvSpPr>
        <p:spPr>
          <a:xfrm>
            <a:off x="10490911" y="2002536"/>
            <a:ext cx="64008" cy="64008"/>
          </a:xfrm>
          <a:prstGeom prst="ellipse">
            <a:avLst/>
          </a:prstGeom>
          <a:solidFill>
            <a:schemeClr val="accent1"/>
          </a:solidFill>
          <a:ln/>
        </p:spPr>
      </p:sp>
      <p:sp>
        <p:nvSpPr>
          <p:cNvPr id="36" name="Shape 34"/>
          <p:cNvSpPr/>
          <p:nvPr/>
        </p:nvSpPr>
        <p:spPr>
          <a:xfrm>
            <a:off x="10490911" y="2258568"/>
            <a:ext cx="64008" cy="64008"/>
          </a:xfrm>
          <a:prstGeom prst="ellipse">
            <a:avLst/>
          </a:prstGeom>
          <a:solidFill>
            <a:schemeClr val="accent1"/>
          </a:solidFill>
          <a:ln/>
        </p:spPr>
      </p:sp>
      <p:sp>
        <p:nvSpPr>
          <p:cNvPr id="37" name="Shape 35"/>
          <p:cNvSpPr/>
          <p:nvPr/>
        </p:nvSpPr>
        <p:spPr>
          <a:xfrm>
            <a:off x="10490911" y="2514600"/>
            <a:ext cx="64008" cy="64008"/>
          </a:xfrm>
          <a:prstGeom prst="ellipse">
            <a:avLst/>
          </a:prstGeom>
          <a:solidFill>
            <a:schemeClr val="accent1"/>
          </a:solidFill>
          <a:ln/>
        </p:spPr>
      </p:sp>
      <p:sp>
        <p:nvSpPr>
          <p:cNvPr id="38" name="Shape 36"/>
          <p:cNvSpPr/>
          <p:nvPr/>
        </p:nvSpPr>
        <p:spPr>
          <a:xfrm>
            <a:off x="10490911" y="2770632"/>
            <a:ext cx="64008" cy="64008"/>
          </a:xfrm>
          <a:prstGeom prst="ellipse">
            <a:avLst/>
          </a:prstGeom>
          <a:solidFill>
            <a:schemeClr val="accent1"/>
          </a:solidFill>
          <a:ln/>
        </p:spPr>
      </p:sp>
      <p:sp>
        <p:nvSpPr>
          <p:cNvPr id="39" name="Shape 37"/>
          <p:cNvSpPr/>
          <p:nvPr/>
        </p:nvSpPr>
        <p:spPr>
          <a:xfrm>
            <a:off x="10490911" y="3026664"/>
            <a:ext cx="64008" cy="64008"/>
          </a:xfrm>
          <a:prstGeom prst="ellipse">
            <a:avLst/>
          </a:prstGeom>
          <a:solidFill>
            <a:schemeClr val="accent1"/>
          </a:solidFill>
          <a:ln/>
        </p:spPr>
      </p:sp>
      <p:sp>
        <p:nvSpPr>
          <p:cNvPr id="40" name="Shape 38"/>
          <p:cNvSpPr/>
          <p:nvPr/>
        </p:nvSpPr>
        <p:spPr>
          <a:xfrm>
            <a:off x="10746943" y="1234440"/>
            <a:ext cx="64008" cy="64008"/>
          </a:xfrm>
          <a:prstGeom prst="ellipse">
            <a:avLst/>
          </a:prstGeom>
          <a:solidFill>
            <a:schemeClr val="accent1"/>
          </a:solidFill>
          <a:ln/>
        </p:spPr>
      </p:sp>
      <p:sp>
        <p:nvSpPr>
          <p:cNvPr id="41" name="Shape 39"/>
          <p:cNvSpPr/>
          <p:nvPr/>
        </p:nvSpPr>
        <p:spPr>
          <a:xfrm>
            <a:off x="10746943" y="1490472"/>
            <a:ext cx="64008" cy="64008"/>
          </a:xfrm>
          <a:prstGeom prst="ellipse">
            <a:avLst/>
          </a:prstGeom>
          <a:solidFill>
            <a:schemeClr val="accent1"/>
          </a:solidFill>
          <a:ln/>
        </p:spPr>
      </p:sp>
      <p:sp>
        <p:nvSpPr>
          <p:cNvPr id="42" name="Shape 40"/>
          <p:cNvSpPr/>
          <p:nvPr/>
        </p:nvSpPr>
        <p:spPr>
          <a:xfrm>
            <a:off x="10746943" y="1746504"/>
            <a:ext cx="64008" cy="64008"/>
          </a:xfrm>
          <a:prstGeom prst="ellipse">
            <a:avLst/>
          </a:prstGeom>
          <a:solidFill>
            <a:schemeClr val="accent1"/>
          </a:solidFill>
          <a:ln/>
        </p:spPr>
      </p:sp>
      <p:sp>
        <p:nvSpPr>
          <p:cNvPr id="43" name="Shape 41"/>
          <p:cNvSpPr/>
          <p:nvPr/>
        </p:nvSpPr>
        <p:spPr>
          <a:xfrm>
            <a:off x="10746943" y="2002536"/>
            <a:ext cx="64008" cy="64008"/>
          </a:xfrm>
          <a:prstGeom prst="ellipse">
            <a:avLst/>
          </a:prstGeom>
          <a:solidFill>
            <a:schemeClr val="accent1"/>
          </a:solidFill>
          <a:ln/>
        </p:spPr>
      </p:sp>
      <p:sp>
        <p:nvSpPr>
          <p:cNvPr id="44" name="Shape 42"/>
          <p:cNvSpPr/>
          <p:nvPr/>
        </p:nvSpPr>
        <p:spPr>
          <a:xfrm>
            <a:off x="10746943" y="2258568"/>
            <a:ext cx="64008" cy="64008"/>
          </a:xfrm>
          <a:prstGeom prst="ellipse">
            <a:avLst/>
          </a:prstGeom>
          <a:solidFill>
            <a:schemeClr val="accent1"/>
          </a:solidFill>
          <a:ln/>
        </p:spPr>
      </p:sp>
      <p:sp>
        <p:nvSpPr>
          <p:cNvPr id="45" name="Shape 43"/>
          <p:cNvSpPr/>
          <p:nvPr/>
        </p:nvSpPr>
        <p:spPr>
          <a:xfrm>
            <a:off x="10746943" y="2514600"/>
            <a:ext cx="64008" cy="64008"/>
          </a:xfrm>
          <a:prstGeom prst="ellipse">
            <a:avLst/>
          </a:prstGeom>
          <a:solidFill>
            <a:schemeClr val="accent1"/>
          </a:solidFill>
          <a:ln/>
        </p:spPr>
      </p:sp>
      <p:sp>
        <p:nvSpPr>
          <p:cNvPr id="46" name="Shape 44"/>
          <p:cNvSpPr/>
          <p:nvPr/>
        </p:nvSpPr>
        <p:spPr>
          <a:xfrm>
            <a:off x="10746943" y="2770632"/>
            <a:ext cx="64008" cy="64008"/>
          </a:xfrm>
          <a:prstGeom prst="ellipse">
            <a:avLst/>
          </a:prstGeom>
          <a:solidFill>
            <a:schemeClr val="accent1"/>
          </a:solidFill>
          <a:ln/>
        </p:spPr>
      </p:sp>
      <p:sp>
        <p:nvSpPr>
          <p:cNvPr id="47" name="Shape 45"/>
          <p:cNvSpPr/>
          <p:nvPr/>
        </p:nvSpPr>
        <p:spPr>
          <a:xfrm>
            <a:off x="10746943" y="3026664"/>
            <a:ext cx="64008" cy="64008"/>
          </a:xfrm>
          <a:prstGeom prst="ellipse">
            <a:avLst/>
          </a:prstGeom>
          <a:solidFill>
            <a:schemeClr val="accent1"/>
          </a:solidFill>
          <a:ln/>
        </p:spPr>
      </p:sp>
      <p:sp>
        <p:nvSpPr>
          <p:cNvPr id="48" name="Shape 46"/>
          <p:cNvSpPr/>
          <p:nvPr/>
        </p:nvSpPr>
        <p:spPr>
          <a:xfrm>
            <a:off x="11002975" y="1234440"/>
            <a:ext cx="64008" cy="64008"/>
          </a:xfrm>
          <a:prstGeom prst="ellipse">
            <a:avLst/>
          </a:prstGeom>
          <a:solidFill>
            <a:schemeClr val="accent1"/>
          </a:solidFill>
          <a:ln/>
        </p:spPr>
      </p:sp>
      <p:sp>
        <p:nvSpPr>
          <p:cNvPr id="49" name="Shape 47"/>
          <p:cNvSpPr/>
          <p:nvPr/>
        </p:nvSpPr>
        <p:spPr>
          <a:xfrm>
            <a:off x="11002975" y="1490472"/>
            <a:ext cx="64008" cy="64008"/>
          </a:xfrm>
          <a:prstGeom prst="ellipse">
            <a:avLst/>
          </a:prstGeom>
          <a:solidFill>
            <a:schemeClr val="accent1"/>
          </a:solidFill>
          <a:ln/>
        </p:spPr>
      </p:sp>
      <p:sp>
        <p:nvSpPr>
          <p:cNvPr id="50" name="Shape 48"/>
          <p:cNvSpPr/>
          <p:nvPr/>
        </p:nvSpPr>
        <p:spPr>
          <a:xfrm>
            <a:off x="11002975" y="1746504"/>
            <a:ext cx="64008" cy="64008"/>
          </a:xfrm>
          <a:prstGeom prst="ellipse">
            <a:avLst/>
          </a:prstGeom>
          <a:solidFill>
            <a:schemeClr val="accent1"/>
          </a:solidFill>
          <a:ln/>
        </p:spPr>
      </p:sp>
      <p:sp>
        <p:nvSpPr>
          <p:cNvPr id="51" name="Shape 49"/>
          <p:cNvSpPr/>
          <p:nvPr/>
        </p:nvSpPr>
        <p:spPr>
          <a:xfrm>
            <a:off x="11002975" y="2002536"/>
            <a:ext cx="64008" cy="64008"/>
          </a:xfrm>
          <a:prstGeom prst="ellipse">
            <a:avLst/>
          </a:prstGeom>
          <a:solidFill>
            <a:schemeClr val="accent1"/>
          </a:solidFill>
          <a:ln/>
        </p:spPr>
      </p:sp>
      <p:sp>
        <p:nvSpPr>
          <p:cNvPr id="52" name="Shape 50"/>
          <p:cNvSpPr/>
          <p:nvPr/>
        </p:nvSpPr>
        <p:spPr>
          <a:xfrm>
            <a:off x="11002975" y="2258568"/>
            <a:ext cx="64008" cy="64008"/>
          </a:xfrm>
          <a:prstGeom prst="ellipse">
            <a:avLst/>
          </a:prstGeom>
          <a:solidFill>
            <a:schemeClr val="accent1"/>
          </a:solidFill>
          <a:ln/>
        </p:spPr>
      </p:sp>
      <p:sp>
        <p:nvSpPr>
          <p:cNvPr id="53" name="Shape 51"/>
          <p:cNvSpPr/>
          <p:nvPr/>
        </p:nvSpPr>
        <p:spPr>
          <a:xfrm>
            <a:off x="11002975" y="2514600"/>
            <a:ext cx="64008" cy="64008"/>
          </a:xfrm>
          <a:prstGeom prst="ellipse">
            <a:avLst/>
          </a:prstGeom>
          <a:solidFill>
            <a:schemeClr val="accent1"/>
          </a:solidFill>
          <a:ln/>
        </p:spPr>
      </p:sp>
      <p:sp>
        <p:nvSpPr>
          <p:cNvPr id="54" name="Shape 52"/>
          <p:cNvSpPr/>
          <p:nvPr/>
        </p:nvSpPr>
        <p:spPr>
          <a:xfrm>
            <a:off x="11002975" y="2770632"/>
            <a:ext cx="64008" cy="64008"/>
          </a:xfrm>
          <a:prstGeom prst="ellipse">
            <a:avLst/>
          </a:prstGeom>
          <a:solidFill>
            <a:schemeClr val="accent1"/>
          </a:solidFill>
          <a:ln/>
        </p:spPr>
      </p:sp>
      <p:sp>
        <p:nvSpPr>
          <p:cNvPr id="55" name="Shape 53"/>
          <p:cNvSpPr/>
          <p:nvPr/>
        </p:nvSpPr>
        <p:spPr>
          <a:xfrm>
            <a:off x="11002975" y="3026664"/>
            <a:ext cx="64008" cy="64008"/>
          </a:xfrm>
          <a:prstGeom prst="ellipse">
            <a:avLst/>
          </a:prstGeom>
          <a:solidFill>
            <a:schemeClr val="accent1"/>
          </a:solidFill>
          <a:ln/>
        </p:spPr>
      </p:sp>
      <p:sp>
        <p:nvSpPr>
          <p:cNvPr id="56" name="Shape 54"/>
          <p:cNvSpPr/>
          <p:nvPr/>
        </p:nvSpPr>
        <p:spPr>
          <a:xfrm>
            <a:off x="11259007" y="1234440"/>
            <a:ext cx="64008" cy="64008"/>
          </a:xfrm>
          <a:prstGeom prst="ellipse">
            <a:avLst/>
          </a:prstGeom>
          <a:solidFill>
            <a:schemeClr val="accent1"/>
          </a:solidFill>
          <a:ln/>
        </p:spPr>
      </p:sp>
      <p:sp>
        <p:nvSpPr>
          <p:cNvPr id="57" name="Shape 55"/>
          <p:cNvSpPr/>
          <p:nvPr/>
        </p:nvSpPr>
        <p:spPr>
          <a:xfrm>
            <a:off x="11259007" y="1490472"/>
            <a:ext cx="64008" cy="64008"/>
          </a:xfrm>
          <a:prstGeom prst="ellipse">
            <a:avLst/>
          </a:prstGeom>
          <a:solidFill>
            <a:schemeClr val="accent1"/>
          </a:solidFill>
          <a:ln/>
        </p:spPr>
      </p:sp>
      <p:sp>
        <p:nvSpPr>
          <p:cNvPr id="58" name="Shape 56"/>
          <p:cNvSpPr/>
          <p:nvPr/>
        </p:nvSpPr>
        <p:spPr>
          <a:xfrm>
            <a:off x="11259007" y="1746504"/>
            <a:ext cx="64008" cy="64008"/>
          </a:xfrm>
          <a:prstGeom prst="ellipse">
            <a:avLst/>
          </a:prstGeom>
          <a:solidFill>
            <a:schemeClr val="accent1"/>
          </a:solidFill>
          <a:ln/>
        </p:spPr>
      </p:sp>
      <p:sp>
        <p:nvSpPr>
          <p:cNvPr id="59" name="Shape 57"/>
          <p:cNvSpPr/>
          <p:nvPr/>
        </p:nvSpPr>
        <p:spPr>
          <a:xfrm>
            <a:off x="11259007" y="2002536"/>
            <a:ext cx="64008" cy="64008"/>
          </a:xfrm>
          <a:prstGeom prst="ellipse">
            <a:avLst/>
          </a:prstGeom>
          <a:solidFill>
            <a:schemeClr val="accent1"/>
          </a:solidFill>
          <a:ln/>
        </p:spPr>
      </p:sp>
      <p:sp>
        <p:nvSpPr>
          <p:cNvPr id="60" name="Shape 58"/>
          <p:cNvSpPr/>
          <p:nvPr/>
        </p:nvSpPr>
        <p:spPr>
          <a:xfrm>
            <a:off x="11259007" y="2258568"/>
            <a:ext cx="64008" cy="64008"/>
          </a:xfrm>
          <a:prstGeom prst="ellipse">
            <a:avLst/>
          </a:prstGeom>
          <a:solidFill>
            <a:schemeClr val="accent1"/>
          </a:solidFill>
          <a:ln/>
        </p:spPr>
      </p:sp>
      <p:sp>
        <p:nvSpPr>
          <p:cNvPr id="61" name="Shape 59"/>
          <p:cNvSpPr/>
          <p:nvPr/>
        </p:nvSpPr>
        <p:spPr>
          <a:xfrm>
            <a:off x="11259007" y="2514600"/>
            <a:ext cx="64008" cy="64008"/>
          </a:xfrm>
          <a:prstGeom prst="ellipse">
            <a:avLst/>
          </a:prstGeom>
          <a:solidFill>
            <a:schemeClr val="accent1"/>
          </a:solidFill>
          <a:ln/>
        </p:spPr>
      </p:sp>
      <p:sp>
        <p:nvSpPr>
          <p:cNvPr id="62" name="Shape 60"/>
          <p:cNvSpPr/>
          <p:nvPr/>
        </p:nvSpPr>
        <p:spPr>
          <a:xfrm>
            <a:off x="11259007" y="2770632"/>
            <a:ext cx="64008" cy="64008"/>
          </a:xfrm>
          <a:prstGeom prst="ellipse">
            <a:avLst/>
          </a:prstGeom>
          <a:solidFill>
            <a:schemeClr val="accent1"/>
          </a:solidFill>
          <a:ln/>
        </p:spPr>
      </p:sp>
      <p:sp>
        <p:nvSpPr>
          <p:cNvPr id="63" name="Shape 61"/>
          <p:cNvSpPr/>
          <p:nvPr/>
        </p:nvSpPr>
        <p:spPr>
          <a:xfrm>
            <a:off x="11259007" y="3026664"/>
            <a:ext cx="64008" cy="64008"/>
          </a:xfrm>
          <a:prstGeom prst="ellipse">
            <a:avLst/>
          </a:prstGeom>
          <a:solidFill>
            <a:schemeClr val="accent1"/>
          </a:solidFill>
          <a:ln/>
        </p:spPr>
      </p:sp>
      <p:sp>
        <p:nvSpPr>
          <p:cNvPr id="64" name="Shape 62"/>
          <p:cNvSpPr/>
          <p:nvPr/>
        </p:nvSpPr>
        <p:spPr>
          <a:xfrm>
            <a:off x="11515039" y="1234440"/>
            <a:ext cx="64008" cy="64008"/>
          </a:xfrm>
          <a:prstGeom prst="ellipse">
            <a:avLst/>
          </a:prstGeom>
          <a:solidFill>
            <a:schemeClr val="accent1"/>
          </a:solidFill>
          <a:ln/>
        </p:spPr>
      </p:sp>
      <p:sp>
        <p:nvSpPr>
          <p:cNvPr id="65" name="Shape 63"/>
          <p:cNvSpPr/>
          <p:nvPr/>
        </p:nvSpPr>
        <p:spPr>
          <a:xfrm>
            <a:off x="11515039" y="1490472"/>
            <a:ext cx="64008" cy="64008"/>
          </a:xfrm>
          <a:prstGeom prst="ellipse">
            <a:avLst/>
          </a:prstGeom>
          <a:solidFill>
            <a:schemeClr val="accent1"/>
          </a:solidFill>
          <a:ln/>
        </p:spPr>
      </p:sp>
      <p:sp>
        <p:nvSpPr>
          <p:cNvPr id="66" name="Shape 64"/>
          <p:cNvSpPr/>
          <p:nvPr/>
        </p:nvSpPr>
        <p:spPr>
          <a:xfrm>
            <a:off x="11515039" y="1746504"/>
            <a:ext cx="64008" cy="64008"/>
          </a:xfrm>
          <a:prstGeom prst="ellipse">
            <a:avLst/>
          </a:prstGeom>
          <a:solidFill>
            <a:schemeClr val="accent1"/>
          </a:solidFill>
          <a:ln/>
        </p:spPr>
      </p:sp>
      <p:sp>
        <p:nvSpPr>
          <p:cNvPr id="67" name="Shape 65"/>
          <p:cNvSpPr/>
          <p:nvPr/>
        </p:nvSpPr>
        <p:spPr>
          <a:xfrm>
            <a:off x="11515039" y="2002536"/>
            <a:ext cx="64008" cy="64008"/>
          </a:xfrm>
          <a:prstGeom prst="ellipse">
            <a:avLst/>
          </a:prstGeom>
          <a:solidFill>
            <a:schemeClr val="accent1"/>
          </a:solidFill>
          <a:ln/>
        </p:spPr>
      </p:sp>
      <p:sp>
        <p:nvSpPr>
          <p:cNvPr id="68" name="Shape 66"/>
          <p:cNvSpPr/>
          <p:nvPr/>
        </p:nvSpPr>
        <p:spPr>
          <a:xfrm>
            <a:off x="11515039" y="2258568"/>
            <a:ext cx="64008" cy="64008"/>
          </a:xfrm>
          <a:prstGeom prst="ellipse">
            <a:avLst/>
          </a:prstGeom>
          <a:solidFill>
            <a:schemeClr val="accent1"/>
          </a:solidFill>
          <a:ln/>
        </p:spPr>
      </p:sp>
      <p:sp>
        <p:nvSpPr>
          <p:cNvPr id="69" name="Shape 67"/>
          <p:cNvSpPr/>
          <p:nvPr/>
        </p:nvSpPr>
        <p:spPr>
          <a:xfrm>
            <a:off x="11515039" y="2514600"/>
            <a:ext cx="64008" cy="64008"/>
          </a:xfrm>
          <a:prstGeom prst="ellipse">
            <a:avLst/>
          </a:prstGeom>
          <a:solidFill>
            <a:schemeClr val="accent1"/>
          </a:solidFill>
          <a:ln/>
        </p:spPr>
      </p:sp>
      <p:sp>
        <p:nvSpPr>
          <p:cNvPr id="70" name="Shape 68"/>
          <p:cNvSpPr/>
          <p:nvPr/>
        </p:nvSpPr>
        <p:spPr>
          <a:xfrm>
            <a:off x="11515039" y="2770632"/>
            <a:ext cx="64008" cy="64008"/>
          </a:xfrm>
          <a:prstGeom prst="ellipse">
            <a:avLst/>
          </a:prstGeom>
          <a:solidFill>
            <a:schemeClr val="accent1"/>
          </a:solidFill>
          <a:ln/>
        </p:spPr>
      </p:sp>
      <p:sp>
        <p:nvSpPr>
          <p:cNvPr id="71" name="Shape 69"/>
          <p:cNvSpPr/>
          <p:nvPr/>
        </p:nvSpPr>
        <p:spPr>
          <a:xfrm>
            <a:off x="11515039" y="3026664"/>
            <a:ext cx="64008" cy="64008"/>
          </a:xfrm>
          <a:prstGeom prst="ellipse">
            <a:avLst/>
          </a:prstGeom>
          <a:solidFill>
            <a:schemeClr val="accent1"/>
          </a:solidFill>
          <a:ln/>
        </p:spPr>
      </p:sp>
      <p:sp>
        <p:nvSpPr>
          <p:cNvPr id="72" name="Shape 70"/>
          <p:cNvSpPr/>
          <p:nvPr/>
        </p:nvSpPr>
        <p:spPr>
          <a:xfrm>
            <a:off x="548640" y="5989320"/>
            <a:ext cx="11094415" cy="0"/>
          </a:xfrm>
          <a:prstGeom prst="line">
            <a:avLst/>
          </a:prstGeom>
          <a:noFill/>
          <a:ln w="12700">
            <a:solidFill>
              <a:schemeClr val="accent5"/>
            </a:solidFill>
            <a:prstDash val="solid"/>
          </a:ln>
        </p:spPr>
      </p:sp>
      <p:sp>
        <p:nvSpPr>
          <p:cNvPr id="73" name="Text 71"/>
          <p:cNvSpPr txBox="1"/>
          <p:nvPr/>
        </p:nvSpPr>
        <p:spPr>
          <a:xfrm>
            <a:off x="548640" y="6144768"/>
            <a:ext cx="3657600"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Commercial Strategy Office</a:t>
            </a:r>
            <a:endParaRPr lang="en-US" sz="1000" dirty="0"/>
          </a:p>
        </p:txBody>
      </p:sp>
      <p:sp>
        <p:nvSpPr>
          <p:cNvPr id="74" name="Text 72"/>
          <p:cNvSpPr txBox="1"/>
          <p:nvPr/>
        </p:nvSpPr>
        <p:spPr>
          <a:xfrm>
            <a:off x="8899855" y="6144768"/>
            <a:ext cx="2743200" cy="228600"/>
          </a:xfrm>
          <a:prstGeom prst="rect">
            <a:avLst/>
          </a:prstGeom>
          <a:noFill/>
          <a:ln/>
        </p:spPr>
        <p:txBody>
          <a:bodyPr wrap="square" lIns="0" tIns="0" rIns="0" bIns="0" rtlCol="0" anchor="t"/>
          <a:lstStyle/>
          <a:p>
            <a:pPr algn="r" indent="0" marL="0">
              <a:buNone/>
            </a:pPr>
            <a:r>
              <a:rPr lang="en-US" sz="1000" dirty="0">
                <a:solidFill>
                  <a:schemeClr val="accent4"/>
                </a:solidFill>
                <a:latin typeface="Inter" pitchFamily="34" charset="0"/>
                <a:ea typeface="Inter" pitchFamily="34" charset="-122"/>
                <a:cs typeface="Inter" pitchFamily="34" charset="-120"/>
              </a:rPr>
              <a:t>October 2026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6949440" cy="6858000"/>
          </a:xfrm>
          <a:prstGeom prst="rect">
            <a:avLst/>
          </a:prstGeom>
          <a:solidFill>
            <a:schemeClr val="bg2"/>
          </a:solidFill>
          <a:ln/>
        </p:spPr>
      </p:sp>
      <p:sp>
        <p:nvSpPr>
          <p:cNvPr id="3" name="Shape 1"/>
          <p:cNvSpPr/>
          <p:nvPr/>
        </p:nvSpPr>
        <p:spPr>
          <a:xfrm>
            <a:off x="6949440" y="0"/>
            <a:ext cx="5242255" cy="6858000"/>
          </a:xfrm>
          <a:prstGeom prst="rect">
            <a:avLst/>
          </a:prstGeom>
          <a:solidFill>
            <a:schemeClr val="tx1"/>
          </a:solidFill>
          <a:ln/>
        </p:spPr>
      </p:sp>
      <p:sp>
        <p:nvSpPr>
          <p:cNvPr id="4" name="Text 2"/>
          <p:cNvSpPr txBox="1"/>
          <p:nvPr/>
        </p:nvSpPr>
        <p:spPr>
          <a:xfrm>
            <a:off x="548640" y="502920"/>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5" name="Shape 3"/>
          <p:cNvSpPr/>
          <p:nvPr/>
        </p:nvSpPr>
        <p:spPr>
          <a:xfrm>
            <a:off x="548640" y="1988820"/>
            <a:ext cx="91440" cy="91440"/>
          </a:xfrm>
          <a:prstGeom prst="rect">
            <a:avLst/>
          </a:prstGeom>
          <a:solidFill>
            <a:schemeClr val="accent1"/>
          </a:solidFill>
          <a:ln/>
        </p:spPr>
      </p:sp>
      <p:sp>
        <p:nvSpPr>
          <p:cNvPr id="6" name="Text 4"/>
          <p:cNvSpPr txBox="1"/>
          <p:nvPr/>
        </p:nvSpPr>
        <p:spPr>
          <a:xfrm>
            <a:off x="731520" y="192024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INVESTOR PRESENTATION</a:t>
            </a:r>
            <a:endParaRPr lang="en-US" sz="950" dirty="0"/>
          </a:p>
        </p:txBody>
      </p:sp>
      <p:sp>
        <p:nvSpPr>
          <p:cNvPr id="7" name="Text 5"/>
          <p:cNvSpPr txBox="1"/>
          <p:nvPr/>
        </p:nvSpPr>
        <p:spPr>
          <a:xfrm>
            <a:off x="548640" y="2286000"/>
            <a:ext cx="6035040" cy="1737360"/>
          </a:xfrm>
          <a:prstGeom prst="rect">
            <a:avLst/>
          </a:prstGeom>
          <a:noFill/>
          <a:ln/>
        </p:spPr>
        <p:txBody>
          <a:bodyPr wrap="square" lIns="0" tIns="0" rIns="0" bIns="0" rtlCol="0" anchor="t"/>
          <a:lstStyle/>
          <a:p>
            <a:pPr algn="l" indent="0" marL="0">
              <a:lnSpc>
                <a:spcPct val="95000"/>
              </a:lnSpc>
              <a:buNone/>
            </a:pPr>
            <a:r>
              <a:rPr lang="en-US" sz="4600" b="1" dirty="0">
                <a:solidFill>
                  <a:schemeClr val="tx1"/>
                </a:solidFill>
                <a:latin typeface="Manrope" pitchFamily="34" charset="0"/>
                <a:ea typeface="Manrope" pitchFamily="34" charset="-122"/>
                <a:cs typeface="Manrope" pitchFamily="34" charset="-120"/>
              </a:rPr>
              <a:t>Series B</a:t>
            </a:r>
            <a:endParaRPr lang="en-US" sz="4600" dirty="0"/>
          </a:p>
          <a:p>
            <a:pPr algn="l" indent="0" marL="0">
              <a:lnSpc>
                <a:spcPct val="95000"/>
              </a:lnSpc>
              <a:buNone/>
            </a:pPr>
            <a:r>
              <a:rPr lang="en-US" sz="4600" b="1" dirty="0">
                <a:solidFill>
                  <a:schemeClr val="tx1"/>
                </a:solidFill>
                <a:latin typeface="Manrope" pitchFamily="34" charset="0"/>
                <a:ea typeface="Manrope" pitchFamily="34" charset="-122"/>
                <a:cs typeface="Manrope" pitchFamily="34" charset="-120"/>
              </a:rPr>
              <a:t>Funding Proposal</a:t>
            </a:r>
            <a:endParaRPr lang="en-US" sz="4600" dirty="0"/>
          </a:p>
        </p:txBody>
      </p:sp>
      <p:sp>
        <p:nvSpPr>
          <p:cNvPr id="8" name="Text 6"/>
          <p:cNvSpPr txBox="1"/>
          <p:nvPr/>
        </p:nvSpPr>
        <p:spPr>
          <a:xfrm>
            <a:off x="548640" y="4160520"/>
            <a:ext cx="5486400" cy="731520"/>
          </a:xfrm>
          <a:prstGeom prst="rect">
            <a:avLst/>
          </a:prstGeom>
          <a:noFill/>
          <a:ln/>
        </p:spPr>
        <p:txBody>
          <a:bodyPr wrap="square" lIns="0" tIns="0" rIns="0" bIns="0" rtlCol="0" anchor="t"/>
          <a:lstStyle/>
          <a:p>
            <a:pPr algn="l" indent="0" marL="0">
              <a:lnSpc>
                <a:spcPct val="120000"/>
              </a:lnSpc>
              <a:buNone/>
            </a:pPr>
            <a:r>
              <a:rPr lang="en-US" sz="1400" dirty="0">
                <a:solidFill>
                  <a:schemeClr val="tx2"/>
                </a:solidFill>
                <a:latin typeface="Inter" pitchFamily="34" charset="0"/>
                <a:ea typeface="Inter" pitchFamily="34" charset="-122"/>
                <a:cs typeface="Inter" pitchFamily="34" charset="-120"/>
              </a:rPr>
              <a:t>Scaling the revenue platform for the mid-market — traction, plan and use of funds.</a:t>
            </a:r>
            <a:endParaRPr lang="en-US" sz="1400" dirty="0"/>
          </a:p>
        </p:txBody>
      </p:sp>
      <p:sp>
        <p:nvSpPr>
          <p:cNvPr id="9" name="Text 7"/>
          <p:cNvSpPr txBox="1"/>
          <p:nvPr/>
        </p:nvSpPr>
        <p:spPr>
          <a:xfrm>
            <a:off x="548640" y="6144768"/>
            <a:ext cx="5486400"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Corvanta Inc.  ·  Strictly confidential  ·  2026</a:t>
            </a:r>
            <a:endParaRPr lang="en-US" sz="1000" dirty="0"/>
          </a:p>
        </p:txBody>
      </p:sp>
      <p:sp>
        <p:nvSpPr>
          <p:cNvPr id="10" name="Text 8"/>
          <p:cNvSpPr txBox="1"/>
          <p:nvPr/>
        </p:nvSpPr>
        <p:spPr>
          <a:xfrm>
            <a:off x="7589520" y="1188720"/>
            <a:ext cx="36576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AT A GLANCE</a:t>
            </a:r>
            <a:endParaRPr lang="en-US" sz="950" dirty="0"/>
          </a:p>
        </p:txBody>
      </p:sp>
      <p:sp>
        <p:nvSpPr>
          <p:cNvPr id="11" name="Text 9"/>
          <p:cNvSpPr txBox="1"/>
          <p:nvPr/>
        </p:nvSpPr>
        <p:spPr>
          <a:xfrm>
            <a:off x="7589520" y="1691640"/>
            <a:ext cx="4023360" cy="777240"/>
          </a:xfrm>
          <a:prstGeom prst="rect">
            <a:avLst/>
          </a:prstGeom>
          <a:noFill/>
          <a:ln/>
        </p:spPr>
        <p:txBody>
          <a:bodyPr wrap="square" lIns="0" tIns="0" rIns="0" bIns="0" rtlCol="0" anchor="t"/>
          <a:lstStyle/>
          <a:p>
            <a:pPr algn="l" indent="0" marL="0">
              <a:buNone/>
            </a:pPr>
            <a:r>
              <a:rPr lang="en-US" sz="4800" dirty="0">
                <a:solidFill>
                  <a:schemeClr val="accent1"/>
                </a:solidFill>
                <a:latin typeface="Manrope ExtraBold" pitchFamily="34" charset="0"/>
                <a:ea typeface="Manrope ExtraBold" pitchFamily="34" charset="-122"/>
                <a:cs typeface="Manrope ExtraBold" pitchFamily="34" charset="-120"/>
              </a:rPr>
              <a:t>$48.6M</a:t>
            </a:r>
            <a:endParaRPr lang="en-US" sz="4800" dirty="0"/>
          </a:p>
        </p:txBody>
      </p:sp>
      <p:sp>
        <p:nvSpPr>
          <p:cNvPr id="12" name="Text 10"/>
          <p:cNvSpPr txBox="1"/>
          <p:nvPr/>
        </p:nvSpPr>
        <p:spPr>
          <a:xfrm>
            <a:off x="7589520" y="2468880"/>
            <a:ext cx="4023360"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Annual recurring revenue</a:t>
            </a:r>
            <a:endParaRPr lang="en-US" sz="1150" dirty="0"/>
          </a:p>
        </p:txBody>
      </p:sp>
      <p:sp>
        <p:nvSpPr>
          <p:cNvPr id="13" name="Shape 11"/>
          <p:cNvSpPr/>
          <p:nvPr/>
        </p:nvSpPr>
        <p:spPr>
          <a:xfrm>
            <a:off x="7589520" y="2926080"/>
            <a:ext cx="4023360" cy="0"/>
          </a:xfrm>
          <a:prstGeom prst="line">
            <a:avLst/>
          </a:prstGeom>
          <a:noFill/>
          <a:ln w="12700">
            <a:solidFill>
              <a:schemeClr val="accent5"/>
            </a:solidFill>
            <a:prstDash val="solid"/>
          </a:ln>
        </p:spPr>
      </p:sp>
      <p:sp>
        <p:nvSpPr>
          <p:cNvPr id="14" name="Text 12"/>
          <p:cNvSpPr txBox="1"/>
          <p:nvPr/>
        </p:nvSpPr>
        <p:spPr>
          <a:xfrm>
            <a:off x="7589520" y="3108960"/>
            <a:ext cx="4023360" cy="777240"/>
          </a:xfrm>
          <a:prstGeom prst="rect">
            <a:avLst/>
          </a:prstGeom>
          <a:noFill/>
          <a:ln/>
        </p:spPr>
        <p:txBody>
          <a:bodyPr wrap="square" lIns="0" tIns="0" rIns="0" bIns="0" rtlCol="0" anchor="t"/>
          <a:lstStyle/>
          <a:p>
            <a:pPr algn="l" indent="0" marL="0">
              <a:buNone/>
            </a:pPr>
            <a:r>
              <a:rPr lang="en-US" sz="4800" dirty="0">
                <a:solidFill>
                  <a:schemeClr val="bg1"/>
                </a:solidFill>
                <a:latin typeface="Manrope ExtraBold" pitchFamily="34" charset="0"/>
                <a:ea typeface="Manrope ExtraBold" pitchFamily="34" charset="-122"/>
                <a:cs typeface="Manrope ExtraBold" pitchFamily="34" charset="-120"/>
              </a:rPr>
              <a:t>62%</a:t>
            </a:r>
            <a:endParaRPr lang="en-US" sz="4800" dirty="0"/>
          </a:p>
        </p:txBody>
      </p:sp>
      <p:sp>
        <p:nvSpPr>
          <p:cNvPr id="15" name="Text 13"/>
          <p:cNvSpPr txBox="1"/>
          <p:nvPr/>
        </p:nvSpPr>
        <p:spPr>
          <a:xfrm>
            <a:off x="7589520" y="3886200"/>
            <a:ext cx="4023360"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Year-over-year growth</a:t>
            </a:r>
            <a:endParaRPr lang="en-US" sz="1150" dirty="0"/>
          </a:p>
        </p:txBody>
      </p:sp>
      <p:sp>
        <p:nvSpPr>
          <p:cNvPr id="16" name="Shape 14"/>
          <p:cNvSpPr/>
          <p:nvPr/>
        </p:nvSpPr>
        <p:spPr>
          <a:xfrm>
            <a:off x="7589520" y="4343400"/>
            <a:ext cx="4023360" cy="0"/>
          </a:xfrm>
          <a:prstGeom prst="line">
            <a:avLst/>
          </a:prstGeom>
          <a:noFill/>
          <a:ln w="12700">
            <a:solidFill>
              <a:schemeClr val="accent5"/>
            </a:solidFill>
            <a:prstDash val="solid"/>
          </a:ln>
        </p:spPr>
      </p:sp>
      <p:sp>
        <p:nvSpPr>
          <p:cNvPr id="17" name="Text 15"/>
          <p:cNvSpPr txBox="1"/>
          <p:nvPr/>
        </p:nvSpPr>
        <p:spPr>
          <a:xfrm>
            <a:off x="7589520" y="4526280"/>
            <a:ext cx="4023360" cy="777240"/>
          </a:xfrm>
          <a:prstGeom prst="rect">
            <a:avLst/>
          </a:prstGeom>
          <a:noFill/>
          <a:ln/>
        </p:spPr>
        <p:txBody>
          <a:bodyPr wrap="square" lIns="0" tIns="0" rIns="0" bIns="0" rtlCol="0" anchor="t"/>
          <a:lstStyle/>
          <a:p>
            <a:pPr algn="l" indent="0" marL="0">
              <a:buNone/>
            </a:pPr>
            <a:r>
              <a:rPr lang="en-US" sz="4800" dirty="0">
                <a:solidFill>
                  <a:schemeClr val="bg1"/>
                </a:solidFill>
                <a:latin typeface="Manrope ExtraBold" pitchFamily="34" charset="0"/>
                <a:ea typeface="Manrope ExtraBold" pitchFamily="34" charset="-122"/>
                <a:cs typeface="Manrope ExtraBold" pitchFamily="34" charset="-120"/>
              </a:rPr>
              <a:t>128%</a:t>
            </a:r>
            <a:endParaRPr lang="en-US" sz="4800" dirty="0"/>
          </a:p>
        </p:txBody>
      </p:sp>
      <p:sp>
        <p:nvSpPr>
          <p:cNvPr id="18" name="Text 16"/>
          <p:cNvSpPr txBox="1"/>
          <p:nvPr/>
        </p:nvSpPr>
        <p:spPr>
          <a:xfrm>
            <a:off x="7589520" y="5303520"/>
            <a:ext cx="4023360"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Net revenue retention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9265615" y="3931920"/>
            <a:ext cx="5852160" cy="5852160"/>
          </a:xfrm>
          <a:prstGeom prst="pie">
            <a:avLst>
              <a:gd name="adj1" fmla="val 10800000"/>
              <a:gd name="adj2" fmla="val 16200000"/>
            </a:avLst>
          </a:prstGeom>
          <a:solidFill>
            <a:schemeClr val="accent1"/>
          </a:solidFill>
          <a:ln/>
        </p:spPr>
      </p:sp>
      <p:sp>
        <p:nvSpPr>
          <p:cNvPr id="3" name="Shape 1"/>
          <p:cNvSpPr/>
          <p:nvPr/>
        </p:nvSpPr>
        <p:spPr>
          <a:xfrm>
            <a:off x="10454335" y="5120640"/>
            <a:ext cx="3474720" cy="3474720"/>
          </a:xfrm>
          <a:prstGeom prst="pie">
            <a:avLst>
              <a:gd name="adj1" fmla="val 10800000"/>
              <a:gd name="adj2" fmla="val 16200000"/>
            </a:avLst>
          </a:prstGeom>
          <a:solidFill>
            <a:schemeClr val="tx1"/>
          </a:solidFill>
          <a:ln/>
        </p:spPr>
      </p:sp>
      <p:sp>
        <p:nvSpPr>
          <p:cNvPr id="4" name="Shape 2"/>
          <p:cNvSpPr/>
          <p:nvPr/>
        </p:nvSpPr>
        <p:spPr>
          <a:xfrm>
            <a:off x="11140135" y="5806440"/>
            <a:ext cx="274320" cy="274320"/>
          </a:xfrm>
          <a:prstGeom prst="ellipse">
            <a:avLst/>
          </a:prstGeom>
          <a:solidFill>
            <a:schemeClr val="accent1"/>
          </a:solidFill>
          <a:ln/>
        </p:spPr>
      </p:sp>
      <p:sp>
        <p:nvSpPr>
          <p:cNvPr id="5" name="Text 3"/>
          <p:cNvSpPr txBox="1"/>
          <p:nvPr/>
        </p:nvSpPr>
        <p:spPr>
          <a:xfrm>
            <a:off x="548640" y="530352"/>
            <a:ext cx="1828800" cy="274320"/>
          </a:xfrm>
          <a:prstGeom prst="rect">
            <a:avLst/>
          </a:prstGeom>
          <a:noFill/>
          <a:ln/>
        </p:spPr>
        <p:txBody>
          <a:bodyPr wrap="square" lIns="0" tIns="0" rIns="0" bIns="0" rtlCol="0" anchor="t"/>
          <a:lstStyle/>
          <a:p>
            <a:pPr algn="l" indent="0" marL="0">
              <a:buNone/>
            </a:pPr>
            <a:r>
              <a:rPr lang="en-US" sz="1300" spc="200" kern="0" dirty="0">
                <a:solidFill>
                  <a:schemeClr val="bg1"/>
                </a:solidFill>
                <a:latin typeface="Manrope ExtraBold" pitchFamily="34" charset="0"/>
                <a:ea typeface="Manrope ExtraBold" pitchFamily="34" charset="-122"/>
                <a:cs typeface="Manrope ExtraBold" pitchFamily="34" charset="-120"/>
              </a:rPr>
              <a:t>VERTEX</a:t>
            </a:r>
            <a:endParaRPr lang="en-US" sz="1300" dirty="0"/>
          </a:p>
        </p:txBody>
      </p:sp>
      <p:sp>
        <p:nvSpPr>
          <p:cNvPr id="6" name="Shape 4"/>
          <p:cNvSpPr/>
          <p:nvPr/>
        </p:nvSpPr>
        <p:spPr>
          <a:xfrm>
            <a:off x="548640" y="1805940"/>
            <a:ext cx="91440" cy="91440"/>
          </a:xfrm>
          <a:prstGeom prst="rect">
            <a:avLst/>
          </a:prstGeom>
          <a:solidFill>
            <a:schemeClr val="accent1"/>
          </a:solidFill>
          <a:ln/>
        </p:spPr>
      </p:sp>
      <p:sp>
        <p:nvSpPr>
          <p:cNvPr id="7" name="Text 5"/>
          <p:cNvSpPr txBox="1"/>
          <p:nvPr/>
        </p:nvSpPr>
        <p:spPr>
          <a:xfrm>
            <a:off x="731520" y="173736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BOARD OF DIRECTORS · Q3 2026</a:t>
            </a:r>
            <a:endParaRPr lang="en-US" sz="950" dirty="0"/>
          </a:p>
        </p:txBody>
      </p:sp>
      <p:sp>
        <p:nvSpPr>
          <p:cNvPr id="8" name="Text 6"/>
          <p:cNvSpPr txBox="1"/>
          <p:nvPr/>
        </p:nvSpPr>
        <p:spPr>
          <a:xfrm>
            <a:off x="548640" y="2103120"/>
            <a:ext cx="7315200" cy="1737360"/>
          </a:xfrm>
          <a:prstGeom prst="rect">
            <a:avLst/>
          </a:prstGeom>
          <a:noFill/>
          <a:ln/>
        </p:spPr>
        <p:txBody>
          <a:bodyPr wrap="square" lIns="0" tIns="0" rIns="0" bIns="0" rtlCol="0" anchor="t"/>
          <a:lstStyle/>
          <a:p>
            <a:pPr algn="l" indent="0" marL="0">
              <a:lnSpc>
                <a:spcPct val="95000"/>
              </a:lnSpc>
              <a:buNone/>
            </a:pPr>
            <a:r>
              <a:rPr lang="en-US" sz="4800" b="1" dirty="0">
                <a:solidFill>
                  <a:schemeClr val="bg1"/>
                </a:solidFill>
                <a:latin typeface="Manrope" pitchFamily="34" charset="0"/>
                <a:ea typeface="Manrope" pitchFamily="34" charset="-122"/>
                <a:cs typeface="Manrope" pitchFamily="34" charset="-120"/>
              </a:rPr>
              <a:t>Executive</a:t>
            </a:r>
            <a:endParaRPr lang="en-US" sz="4800" dirty="0"/>
          </a:p>
          <a:p>
            <a:pPr algn="l" indent="0" marL="0">
              <a:lnSpc>
                <a:spcPct val="95000"/>
              </a:lnSpc>
              <a:buNone/>
            </a:pPr>
            <a:r>
              <a:rPr lang="en-US" sz="4800" b="1" dirty="0">
                <a:solidFill>
                  <a:schemeClr val="bg1"/>
                </a:solidFill>
                <a:latin typeface="Manrope" pitchFamily="34" charset="0"/>
                <a:ea typeface="Manrope" pitchFamily="34" charset="-122"/>
                <a:cs typeface="Manrope" pitchFamily="34" charset="-120"/>
              </a:rPr>
              <a:t>Performance Review</a:t>
            </a:r>
            <a:endParaRPr lang="en-US" sz="4800" dirty="0"/>
          </a:p>
        </p:txBody>
      </p:sp>
      <p:sp>
        <p:nvSpPr>
          <p:cNvPr id="9" name="Text 7"/>
          <p:cNvSpPr txBox="1"/>
          <p:nvPr/>
        </p:nvSpPr>
        <p:spPr>
          <a:xfrm>
            <a:off x="548640" y="3977640"/>
            <a:ext cx="6400800" cy="411480"/>
          </a:xfrm>
          <a:prstGeom prst="rect">
            <a:avLst/>
          </a:prstGeom>
          <a:noFill/>
          <a:ln/>
        </p:spPr>
        <p:txBody>
          <a:bodyPr wrap="square" lIns="0" tIns="0" rIns="0" bIns="0" rtlCol="0" anchor="t"/>
          <a:lstStyle/>
          <a:p>
            <a:pPr algn="l" indent="0" marL="0">
              <a:buNone/>
            </a:pPr>
            <a:r>
              <a:rPr lang="en-US" sz="1500" dirty="0">
                <a:solidFill>
                  <a:schemeClr val="accent4"/>
                </a:solidFill>
                <a:latin typeface="Inter" pitchFamily="34" charset="0"/>
                <a:ea typeface="Inter" pitchFamily="34" charset="-122"/>
                <a:cs typeface="Inter" pitchFamily="34" charset="-120"/>
              </a:rPr>
              <a:t>Results, risks and decisions required from the board.</a:t>
            </a:r>
            <a:endParaRPr lang="en-US" sz="1500" dirty="0"/>
          </a:p>
        </p:txBody>
      </p:sp>
      <p:sp>
        <p:nvSpPr>
          <p:cNvPr id="10" name="Text 8"/>
          <p:cNvSpPr txBox="1"/>
          <p:nvPr/>
        </p:nvSpPr>
        <p:spPr>
          <a:xfrm>
            <a:off x="548640" y="5349240"/>
            <a:ext cx="219456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Presented by</a:t>
            </a:r>
            <a:endParaRPr lang="en-US" sz="900" dirty="0"/>
          </a:p>
        </p:txBody>
      </p:sp>
      <p:sp>
        <p:nvSpPr>
          <p:cNvPr id="11" name="Text 9"/>
          <p:cNvSpPr txBox="1"/>
          <p:nvPr/>
        </p:nvSpPr>
        <p:spPr>
          <a:xfrm>
            <a:off x="548640" y="5577840"/>
            <a:ext cx="2194560"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Chief Executive Officer</a:t>
            </a:r>
            <a:endParaRPr lang="en-US" sz="1150" dirty="0"/>
          </a:p>
        </p:txBody>
      </p:sp>
      <p:sp>
        <p:nvSpPr>
          <p:cNvPr id="12" name="Text 10"/>
          <p:cNvSpPr txBox="1"/>
          <p:nvPr/>
        </p:nvSpPr>
        <p:spPr>
          <a:xfrm>
            <a:off x="2880360" y="5349240"/>
            <a:ext cx="219456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Meeting date</a:t>
            </a:r>
            <a:endParaRPr lang="en-US" sz="900" dirty="0"/>
          </a:p>
        </p:txBody>
      </p:sp>
      <p:sp>
        <p:nvSpPr>
          <p:cNvPr id="13" name="Text 11"/>
          <p:cNvSpPr txBox="1"/>
          <p:nvPr/>
        </p:nvSpPr>
        <p:spPr>
          <a:xfrm>
            <a:off x="2880360" y="5577840"/>
            <a:ext cx="2194560"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22 October 2026</a:t>
            </a:r>
            <a:endParaRPr lang="en-US" sz="1150" dirty="0"/>
          </a:p>
        </p:txBody>
      </p:sp>
      <p:sp>
        <p:nvSpPr>
          <p:cNvPr id="14" name="Text 12"/>
          <p:cNvSpPr txBox="1"/>
          <p:nvPr/>
        </p:nvSpPr>
        <p:spPr>
          <a:xfrm>
            <a:off x="5212080" y="5349240"/>
            <a:ext cx="219456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Decisions required</a:t>
            </a:r>
            <a:endParaRPr lang="en-US" sz="900" dirty="0"/>
          </a:p>
        </p:txBody>
      </p:sp>
      <p:sp>
        <p:nvSpPr>
          <p:cNvPr id="15" name="Text 13"/>
          <p:cNvSpPr txBox="1"/>
          <p:nvPr/>
        </p:nvSpPr>
        <p:spPr>
          <a:xfrm>
            <a:off x="5212080" y="5577840"/>
            <a:ext cx="2194560"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3 items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AGENDA</a:t>
            </a:r>
            <a:endParaRPr lang="en-US" sz="950" dirty="0"/>
          </a:p>
        </p:txBody>
      </p:sp>
      <p:sp>
        <p:nvSpPr>
          <p:cNvPr id="4" name="Text 2"/>
          <p:cNvSpPr txBox="1"/>
          <p:nvPr/>
        </p:nvSpPr>
        <p:spPr>
          <a:xfrm>
            <a:off x="548640" y="777240"/>
            <a:ext cx="3545738" cy="164592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anrope" pitchFamily="34" charset="0"/>
                <a:ea typeface="Manrope" pitchFamily="34" charset="-122"/>
                <a:cs typeface="Manrope" pitchFamily="34" charset="-120"/>
              </a:rPr>
              <a:t>Today’s</a:t>
            </a:r>
            <a:endParaRPr lang="en-US" sz="4000" dirty="0"/>
          </a:p>
          <a:p>
            <a:pPr algn="l" indent="0" marL="0">
              <a:lnSpc>
                <a:spcPct val="95000"/>
              </a:lnSpc>
              <a:buNone/>
            </a:pPr>
            <a:r>
              <a:rPr lang="en-US" sz="4000" b="1" dirty="0">
                <a:solidFill>
                  <a:schemeClr val="tx1"/>
                </a:solidFill>
                <a:latin typeface="Manrope" pitchFamily="34" charset="0"/>
                <a:ea typeface="Manrope" pitchFamily="34" charset="-122"/>
                <a:cs typeface="Manrope" pitchFamily="34" charset="-120"/>
              </a:rPr>
              <a:t>agenda</a:t>
            </a:r>
            <a:endParaRPr lang="en-US" sz="4000" dirty="0"/>
          </a:p>
        </p:txBody>
      </p:sp>
      <p:sp>
        <p:nvSpPr>
          <p:cNvPr id="5" name="Text 3"/>
          <p:cNvSpPr txBox="1"/>
          <p:nvPr/>
        </p:nvSpPr>
        <p:spPr>
          <a:xfrm>
            <a:off x="548640" y="2560320"/>
            <a:ext cx="2602154" cy="73152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Six topics, 60 minutes. Decisions are captured in section 06.</a:t>
            </a:r>
            <a:endParaRPr lang="en-US" sz="1200" dirty="0"/>
          </a:p>
        </p:txBody>
      </p:sp>
      <p:sp>
        <p:nvSpPr>
          <p:cNvPr id="6" name="Shape 4"/>
          <p:cNvSpPr/>
          <p:nvPr/>
        </p:nvSpPr>
        <p:spPr>
          <a:xfrm>
            <a:off x="548640" y="4206240"/>
            <a:ext cx="2602154" cy="1737360"/>
          </a:xfrm>
          <a:prstGeom prst="roundRect">
            <a:avLst>
              <a:gd name="adj" fmla="val 5263"/>
            </a:avLst>
          </a:prstGeom>
          <a:solidFill>
            <a:schemeClr val="tx1"/>
          </a:solidFill>
          <a:ln/>
        </p:spPr>
      </p:sp>
      <p:sp>
        <p:nvSpPr>
          <p:cNvPr id="7" name="Text 5"/>
          <p:cNvSpPr txBox="1"/>
          <p:nvPr/>
        </p:nvSpPr>
        <p:spPr>
          <a:xfrm>
            <a:off x="822960" y="4389120"/>
            <a:ext cx="1828800" cy="731520"/>
          </a:xfrm>
          <a:prstGeom prst="rect">
            <a:avLst/>
          </a:prstGeom>
          <a:noFill/>
          <a:ln/>
        </p:spPr>
        <p:txBody>
          <a:bodyPr wrap="square" lIns="0" tIns="0" rIns="0" bIns="0" rtlCol="0" anchor="t"/>
          <a:lstStyle/>
          <a:p>
            <a:pPr algn="l" indent="0" marL="0">
              <a:buNone/>
            </a:pPr>
            <a:r>
              <a:rPr lang="en-US" sz="4400" dirty="0">
                <a:solidFill>
                  <a:schemeClr val="accent1"/>
                </a:solidFill>
                <a:latin typeface="Manrope ExtraBold" pitchFamily="34" charset="0"/>
                <a:ea typeface="Manrope ExtraBold" pitchFamily="34" charset="-122"/>
                <a:cs typeface="Manrope ExtraBold" pitchFamily="34" charset="-120"/>
              </a:rPr>
              <a:t>60</a:t>
            </a:r>
            <a:endParaRPr lang="en-US" sz="4400" dirty="0"/>
          </a:p>
        </p:txBody>
      </p:sp>
      <p:sp>
        <p:nvSpPr>
          <p:cNvPr id="8" name="Text 6"/>
          <p:cNvSpPr txBox="1"/>
          <p:nvPr/>
        </p:nvSpPr>
        <p:spPr>
          <a:xfrm>
            <a:off x="822960" y="5166360"/>
            <a:ext cx="2053514" cy="548640"/>
          </a:xfrm>
          <a:prstGeom prst="rect">
            <a:avLst/>
          </a:prstGeom>
          <a:noFill/>
          <a:ln/>
        </p:spPr>
        <p:txBody>
          <a:bodyPr wrap="square" lIns="0" tIns="0" rIns="0" bIns="0" rtlCol="0" anchor="t"/>
          <a:lstStyle/>
          <a:p>
            <a:pPr algn="l" indent="0" marL="0">
              <a:buNone/>
            </a:pPr>
            <a:r>
              <a:rPr lang="en-US" sz="1100" dirty="0">
                <a:solidFill>
                  <a:schemeClr val="accent4"/>
                </a:solidFill>
                <a:latin typeface="Inter" pitchFamily="34" charset="0"/>
                <a:ea typeface="Inter" pitchFamily="34" charset="-122"/>
                <a:cs typeface="Inter" pitchFamily="34" charset="-120"/>
              </a:rPr>
              <a:t>minutes total, including</a:t>
            </a:r>
            <a:endParaRPr lang="en-US" sz="1100" dirty="0"/>
          </a:p>
          <a:p>
            <a:pPr algn="l" indent="0" marL="0">
              <a:buNone/>
            </a:pPr>
            <a:r>
              <a:rPr lang="en-US" sz="1100" dirty="0">
                <a:solidFill>
                  <a:schemeClr val="accent4"/>
                </a:solidFill>
                <a:latin typeface="Inter" pitchFamily="34" charset="0"/>
                <a:ea typeface="Inter" pitchFamily="34" charset="-122"/>
                <a:cs typeface="Inter" pitchFamily="34" charset="-120"/>
              </a:rPr>
              <a:t>15 minutes of Q&amp;A</a:t>
            </a:r>
            <a:endParaRPr lang="en-US" sz="1100" dirty="0"/>
          </a:p>
        </p:txBody>
      </p:sp>
      <p:sp>
        <p:nvSpPr>
          <p:cNvPr id="9" name="Text 7"/>
          <p:cNvSpPr txBox="1"/>
          <p:nvPr/>
        </p:nvSpPr>
        <p:spPr>
          <a:xfrm>
            <a:off x="5266563" y="1051560"/>
            <a:ext cx="5486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01</a:t>
            </a:r>
            <a:endParaRPr lang="en-US" sz="1800" dirty="0"/>
          </a:p>
        </p:txBody>
      </p:sp>
      <p:sp>
        <p:nvSpPr>
          <p:cNvPr id="10" name="Text 8"/>
          <p:cNvSpPr txBox="1"/>
          <p:nvPr/>
        </p:nvSpPr>
        <p:spPr>
          <a:xfrm>
            <a:off x="5998083" y="99669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Business overview</a:t>
            </a:r>
            <a:endParaRPr lang="en-US" sz="1500" dirty="0"/>
          </a:p>
        </p:txBody>
      </p:sp>
      <p:sp>
        <p:nvSpPr>
          <p:cNvPr id="11" name="Text 9"/>
          <p:cNvSpPr txBox="1"/>
          <p:nvPr/>
        </p:nvSpPr>
        <p:spPr>
          <a:xfrm>
            <a:off x="5998083" y="128930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Where we are and what changed this year</a:t>
            </a:r>
            <a:endParaRPr lang="en-US" sz="1050" dirty="0"/>
          </a:p>
        </p:txBody>
      </p:sp>
      <p:sp>
        <p:nvSpPr>
          <p:cNvPr id="12" name="Shape 10"/>
          <p:cNvSpPr/>
          <p:nvPr/>
        </p:nvSpPr>
        <p:spPr>
          <a:xfrm>
            <a:off x="9905695" y="1124712"/>
            <a:ext cx="640080" cy="274320"/>
          </a:xfrm>
          <a:prstGeom prst="roundRect">
            <a:avLst>
              <a:gd name="adj" fmla="val 50000"/>
            </a:avLst>
          </a:prstGeom>
          <a:solidFill>
            <a:schemeClr val="accent1"/>
          </a:solidFill>
          <a:ln/>
        </p:spPr>
      </p:sp>
      <p:sp>
        <p:nvSpPr>
          <p:cNvPr id="13" name="Text 11"/>
          <p:cNvSpPr txBox="1"/>
          <p:nvPr/>
        </p:nvSpPr>
        <p:spPr>
          <a:xfrm>
            <a:off x="9905695" y="1124712"/>
            <a:ext cx="6400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Now</a:t>
            </a:r>
            <a:endParaRPr lang="en-US" sz="900" dirty="0"/>
          </a:p>
        </p:txBody>
      </p:sp>
      <p:sp>
        <p:nvSpPr>
          <p:cNvPr id="14" name="Text 12"/>
          <p:cNvSpPr txBox="1"/>
          <p:nvPr/>
        </p:nvSpPr>
        <p:spPr>
          <a:xfrm>
            <a:off x="10728655" y="112471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15" name="Shape 13"/>
          <p:cNvSpPr/>
          <p:nvPr/>
        </p:nvSpPr>
        <p:spPr>
          <a:xfrm>
            <a:off x="5266563" y="1691640"/>
            <a:ext cx="6376492" cy="0"/>
          </a:xfrm>
          <a:prstGeom prst="line">
            <a:avLst/>
          </a:prstGeom>
          <a:noFill/>
          <a:ln w="9525">
            <a:solidFill>
              <a:schemeClr val="accent4"/>
            </a:solidFill>
            <a:prstDash val="solid"/>
          </a:ln>
        </p:spPr>
      </p:sp>
      <p:sp>
        <p:nvSpPr>
          <p:cNvPr id="16" name="Text 14"/>
          <p:cNvSpPr txBox="1"/>
          <p:nvPr/>
        </p:nvSpPr>
        <p:spPr>
          <a:xfrm>
            <a:off x="5266563" y="187452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02</a:t>
            </a:r>
            <a:endParaRPr lang="en-US" sz="1800" dirty="0"/>
          </a:p>
        </p:txBody>
      </p:sp>
      <p:sp>
        <p:nvSpPr>
          <p:cNvPr id="17" name="Text 15"/>
          <p:cNvSpPr txBox="1"/>
          <p:nvPr/>
        </p:nvSpPr>
        <p:spPr>
          <a:xfrm>
            <a:off x="5998083" y="181965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Market opportunity</a:t>
            </a:r>
            <a:endParaRPr lang="en-US" sz="1500" dirty="0"/>
          </a:p>
        </p:txBody>
      </p:sp>
      <p:sp>
        <p:nvSpPr>
          <p:cNvPr id="18" name="Text 16"/>
          <p:cNvSpPr txBox="1"/>
          <p:nvPr/>
        </p:nvSpPr>
        <p:spPr>
          <a:xfrm>
            <a:off x="5998083" y="211226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Size, growth and the segments we will win</a:t>
            </a:r>
            <a:endParaRPr lang="en-US" sz="1050" dirty="0"/>
          </a:p>
        </p:txBody>
      </p:sp>
      <p:sp>
        <p:nvSpPr>
          <p:cNvPr id="19" name="Text 17"/>
          <p:cNvSpPr txBox="1"/>
          <p:nvPr/>
        </p:nvSpPr>
        <p:spPr>
          <a:xfrm>
            <a:off x="10728655" y="194767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20" name="Shape 18"/>
          <p:cNvSpPr/>
          <p:nvPr/>
        </p:nvSpPr>
        <p:spPr>
          <a:xfrm>
            <a:off x="5266563" y="2514600"/>
            <a:ext cx="6376492" cy="0"/>
          </a:xfrm>
          <a:prstGeom prst="line">
            <a:avLst/>
          </a:prstGeom>
          <a:noFill/>
          <a:ln w="9525">
            <a:solidFill>
              <a:schemeClr val="accent4"/>
            </a:solidFill>
            <a:prstDash val="solid"/>
          </a:ln>
        </p:spPr>
      </p:sp>
      <p:sp>
        <p:nvSpPr>
          <p:cNvPr id="21" name="Text 19"/>
          <p:cNvSpPr txBox="1"/>
          <p:nvPr/>
        </p:nvSpPr>
        <p:spPr>
          <a:xfrm>
            <a:off x="5266563" y="269748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03</a:t>
            </a:r>
            <a:endParaRPr lang="en-US" sz="1800" dirty="0"/>
          </a:p>
        </p:txBody>
      </p:sp>
      <p:sp>
        <p:nvSpPr>
          <p:cNvPr id="22" name="Text 20"/>
          <p:cNvSpPr txBox="1"/>
          <p:nvPr/>
        </p:nvSpPr>
        <p:spPr>
          <a:xfrm>
            <a:off x="5998083" y="264261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Sales performance</a:t>
            </a:r>
            <a:endParaRPr lang="en-US" sz="1500" dirty="0"/>
          </a:p>
        </p:txBody>
      </p:sp>
      <p:sp>
        <p:nvSpPr>
          <p:cNvPr id="23" name="Text 21"/>
          <p:cNvSpPr txBox="1"/>
          <p:nvPr/>
        </p:nvSpPr>
        <p:spPr>
          <a:xfrm>
            <a:off x="5998083" y="293522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Pipeline, conversion and revenue by channel</a:t>
            </a:r>
            <a:endParaRPr lang="en-US" sz="1050" dirty="0"/>
          </a:p>
        </p:txBody>
      </p:sp>
      <p:sp>
        <p:nvSpPr>
          <p:cNvPr id="24" name="Text 22"/>
          <p:cNvSpPr txBox="1"/>
          <p:nvPr/>
        </p:nvSpPr>
        <p:spPr>
          <a:xfrm>
            <a:off x="10728655" y="277063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25" name="Shape 23"/>
          <p:cNvSpPr/>
          <p:nvPr/>
        </p:nvSpPr>
        <p:spPr>
          <a:xfrm>
            <a:off x="5266563" y="3337560"/>
            <a:ext cx="6376492" cy="0"/>
          </a:xfrm>
          <a:prstGeom prst="line">
            <a:avLst/>
          </a:prstGeom>
          <a:noFill/>
          <a:ln w="9525">
            <a:solidFill>
              <a:schemeClr val="accent4"/>
            </a:solidFill>
            <a:prstDash val="solid"/>
          </a:ln>
        </p:spPr>
      </p:sp>
      <p:sp>
        <p:nvSpPr>
          <p:cNvPr id="26" name="Text 24"/>
          <p:cNvSpPr txBox="1"/>
          <p:nvPr/>
        </p:nvSpPr>
        <p:spPr>
          <a:xfrm>
            <a:off x="5266563" y="352044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04</a:t>
            </a:r>
            <a:endParaRPr lang="en-US" sz="1800" dirty="0"/>
          </a:p>
        </p:txBody>
      </p:sp>
      <p:sp>
        <p:nvSpPr>
          <p:cNvPr id="27" name="Text 25"/>
          <p:cNvSpPr txBox="1"/>
          <p:nvPr/>
        </p:nvSpPr>
        <p:spPr>
          <a:xfrm>
            <a:off x="5998083" y="346557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Financial outlook</a:t>
            </a:r>
            <a:endParaRPr lang="en-US" sz="1500" dirty="0"/>
          </a:p>
        </p:txBody>
      </p:sp>
      <p:sp>
        <p:nvSpPr>
          <p:cNvPr id="28" name="Text 26"/>
          <p:cNvSpPr txBox="1"/>
          <p:nvPr/>
        </p:nvSpPr>
        <p:spPr>
          <a:xfrm>
            <a:off x="5998083" y="375818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Forecast, unit economics and budget</a:t>
            </a:r>
            <a:endParaRPr lang="en-US" sz="1050" dirty="0"/>
          </a:p>
        </p:txBody>
      </p:sp>
      <p:sp>
        <p:nvSpPr>
          <p:cNvPr id="29" name="Text 27"/>
          <p:cNvSpPr txBox="1"/>
          <p:nvPr/>
        </p:nvSpPr>
        <p:spPr>
          <a:xfrm>
            <a:off x="10728655" y="359359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30" name="Shape 28"/>
          <p:cNvSpPr/>
          <p:nvPr/>
        </p:nvSpPr>
        <p:spPr>
          <a:xfrm>
            <a:off x="5266563" y="4160520"/>
            <a:ext cx="6376492" cy="0"/>
          </a:xfrm>
          <a:prstGeom prst="line">
            <a:avLst/>
          </a:prstGeom>
          <a:noFill/>
          <a:ln w="9525">
            <a:solidFill>
              <a:schemeClr val="accent4"/>
            </a:solidFill>
            <a:prstDash val="solid"/>
          </a:ln>
        </p:spPr>
      </p:sp>
      <p:sp>
        <p:nvSpPr>
          <p:cNvPr id="31" name="Text 29"/>
          <p:cNvSpPr txBox="1"/>
          <p:nvPr/>
        </p:nvSpPr>
        <p:spPr>
          <a:xfrm>
            <a:off x="5266563" y="434340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05</a:t>
            </a:r>
            <a:endParaRPr lang="en-US" sz="1800" dirty="0"/>
          </a:p>
        </p:txBody>
      </p:sp>
      <p:sp>
        <p:nvSpPr>
          <p:cNvPr id="32" name="Text 30"/>
          <p:cNvSpPr txBox="1"/>
          <p:nvPr/>
        </p:nvSpPr>
        <p:spPr>
          <a:xfrm>
            <a:off x="5998083" y="428853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Strategic roadmap</a:t>
            </a:r>
            <a:endParaRPr lang="en-US" sz="1500" dirty="0"/>
          </a:p>
        </p:txBody>
      </p:sp>
      <p:sp>
        <p:nvSpPr>
          <p:cNvPr id="33" name="Text 31"/>
          <p:cNvSpPr txBox="1"/>
          <p:nvPr/>
        </p:nvSpPr>
        <p:spPr>
          <a:xfrm>
            <a:off x="5998083" y="458114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Priorities and milestones for 2027</a:t>
            </a:r>
            <a:endParaRPr lang="en-US" sz="1050" dirty="0"/>
          </a:p>
        </p:txBody>
      </p:sp>
      <p:sp>
        <p:nvSpPr>
          <p:cNvPr id="34" name="Text 32"/>
          <p:cNvSpPr txBox="1"/>
          <p:nvPr/>
        </p:nvSpPr>
        <p:spPr>
          <a:xfrm>
            <a:off x="10728655" y="441655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5 min</a:t>
            </a:r>
            <a:endParaRPr lang="en-US" sz="1000" dirty="0"/>
          </a:p>
        </p:txBody>
      </p:sp>
      <p:sp>
        <p:nvSpPr>
          <p:cNvPr id="35" name="Shape 33"/>
          <p:cNvSpPr/>
          <p:nvPr/>
        </p:nvSpPr>
        <p:spPr>
          <a:xfrm>
            <a:off x="5266563" y="4983480"/>
            <a:ext cx="6376492" cy="0"/>
          </a:xfrm>
          <a:prstGeom prst="line">
            <a:avLst/>
          </a:prstGeom>
          <a:noFill/>
          <a:ln w="9525">
            <a:solidFill>
              <a:schemeClr val="accent4"/>
            </a:solidFill>
            <a:prstDash val="solid"/>
          </a:ln>
        </p:spPr>
      </p:sp>
      <p:sp>
        <p:nvSpPr>
          <p:cNvPr id="36" name="Text 34"/>
          <p:cNvSpPr txBox="1"/>
          <p:nvPr/>
        </p:nvSpPr>
        <p:spPr>
          <a:xfrm>
            <a:off x="5266563" y="516636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06</a:t>
            </a:r>
            <a:endParaRPr lang="en-US" sz="1800" dirty="0"/>
          </a:p>
        </p:txBody>
      </p:sp>
      <p:sp>
        <p:nvSpPr>
          <p:cNvPr id="37" name="Text 35"/>
          <p:cNvSpPr txBox="1"/>
          <p:nvPr/>
        </p:nvSpPr>
        <p:spPr>
          <a:xfrm>
            <a:off x="5998083" y="511149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Decisions &amp; next steps</a:t>
            </a:r>
            <a:endParaRPr lang="en-US" sz="1500" dirty="0"/>
          </a:p>
        </p:txBody>
      </p:sp>
      <p:sp>
        <p:nvSpPr>
          <p:cNvPr id="38" name="Text 36"/>
          <p:cNvSpPr txBox="1"/>
          <p:nvPr/>
        </p:nvSpPr>
        <p:spPr>
          <a:xfrm>
            <a:off x="5998083" y="540410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What we need from this group today</a:t>
            </a:r>
            <a:endParaRPr lang="en-US" sz="1050" dirty="0"/>
          </a:p>
        </p:txBody>
      </p:sp>
      <p:sp>
        <p:nvSpPr>
          <p:cNvPr id="39" name="Text 37"/>
          <p:cNvSpPr txBox="1"/>
          <p:nvPr/>
        </p:nvSpPr>
        <p:spPr>
          <a:xfrm>
            <a:off x="10728655" y="523951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15 min</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CONTENTS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What’s inside this presentation</a:t>
            </a:r>
            <a:endParaRPr lang="en-US" sz="2800" dirty="0"/>
          </a:p>
        </p:txBody>
      </p:sp>
      <p:sp>
        <p:nvSpPr>
          <p:cNvPr id="5" name="Shape 3"/>
          <p:cNvSpPr/>
          <p:nvPr/>
        </p:nvSpPr>
        <p:spPr>
          <a:xfrm>
            <a:off x="548640" y="1874520"/>
            <a:ext cx="3545738" cy="2011680"/>
          </a:xfrm>
          <a:prstGeom prst="roundRect">
            <a:avLst>
              <a:gd name="adj" fmla="val 4545"/>
            </a:avLst>
          </a:prstGeom>
          <a:solidFill>
            <a:schemeClr val="bg1"/>
          </a:solidFill>
          <a:ln/>
        </p:spPr>
      </p:sp>
      <p:sp>
        <p:nvSpPr>
          <p:cNvPr id="6" name="Text 4"/>
          <p:cNvSpPr txBox="1"/>
          <p:nvPr/>
        </p:nvSpPr>
        <p:spPr>
          <a:xfrm>
            <a:off x="822960" y="213055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01</a:t>
            </a:r>
            <a:endParaRPr lang="en-US" sz="4000" dirty="0"/>
          </a:p>
        </p:txBody>
      </p:sp>
      <p:sp>
        <p:nvSpPr>
          <p:cNvPr id="7" name="Text 5"/>
          <p:cNvSpPr txBox="1"/>
          <p:nvPr/>
        </p:nvSpPr>
        <p:spPr>
          <a:xfrm>
            <a:off x="822960" y="297180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Company</a:t>
            </a:r>
            <a:endParaRPr lang="en-US" sz="1700" dirty="0"/>
          </a:p>
        </p:txBody>
      </p:sp>
      <p:sp>
        <p:nvSpPr>
          <p:cNvPr id="8" name="Text 6"/>
          <p:cNvSpPr txBox="1"/>
          <p:nvPr/>
        </p:nvSpPr>
        <p:spPr>
          <a:xfrm>
            <a:off x="822960" y="333756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Overview · Timeline · Model</a:t>
            </a:r>
            <a:endParaRPr lang="en-US" sz="1050" dirty="0"/>
          </a:p>
        </p:txBody>
      </p:sp>
      <p:pic>
        <p:nvPicPr>
          <p:cNvPr id="9" name="Icon PiArrowUpRight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3591458" y="2148840"/>
            <a:ext cx="237744" cy="237744"/>
          </a:xfrm>
          <a:prstGeom prst="rect">
            <a:avLst/>
          </a:prstGeom>
        </p:spPr>
      </p:pic>
      <p:sp>
        <p:nvSpPr>
          <p:cNvPr id="10" name="Shape 7"/>
          <p:cNvSpPr/>
          <p:nvPr/>
        </p:nvSpPr>
        <p:spPr>
          <a:xfrm>
            <a:off x="4322978" y="1874520"/>
            <a:ext cx="3545738" cy="2011680"/>
          </a:xfrm>
          <a:prstGeom prst="roundRect">
            <a:avLst>
              <a:gd name="adj" fmla="val 4545"/>
            </a:avLst>
          </a:prstGeom>
          <a:solidFill>
            <a:schemeClr val="tx1"/>
          </a:solidFill>
          <a:ln/>
        </p:spPr>
      </p:sp>
      <p:sp>
        <p:nvSpPr>
          <p:cNvPr id="11" name="Text 8"/>
          <p:cNvSpPr txBox="1"/>
          <p:nvPr/>
        </p:nvSpPr>
        <p:spPr>
          <a:xfrm>
            <a:off x="4597298" y="2130552"/>
            <a:ext cx="1371600" cy="685800"/>
          </a:xfrm>
          <a:prstGeom prst="rect">
            <a:avLst/>
          </a:prstGeom>
          <a:noFill/>
          <a:ln/>
        </p:spPr>
        <p:txBody>
          <a:bodyPr wrap="square" lIns="0" tIns="0" rIns="0" bIns="0" rtlCol="0" anchor="t"/>
          <a:lstStyle/>
          <a:p>
            <a:pPr algn="l" indent="0" marL="0">
              <a:buNone/>
            </a:pPr>
            <a:r>
              <a:rPr lang="en-US" sz="4000" dirty="0">
                <a:solidFill>
                  <a:schemeClr val="accent1"/>
                </a:solidFill>
                <a:latin typeface="Manrope ExtraBold" pitchFamily="34" charset="0"/>
                <a:ea typeface="Manrope ExtraBold" pitchFamily="34" charset="-122"/>
                <a:cs typeface="Manrope ExtraBold" pitchFamily="34" charset="-120"/>
              </a:rPr>
              <a:t>02</a:t>
            </a:r>
            <a:endParaRPr lang="en-US" sz="4000" dirty="0"/>
          </a:p>
        </p:txBody>
      </p:sp>
      <p:sp>
        <p:nvSpPr>
          <p:cNvPr id="12" name="Text 9"/>
          <p:cNvSpPr txBox="1"/>
          <p:nvPr/>
        </p:nvSpPr>
        <p:spPr>
          <a:xfrm>
            <a:off x="4597298" y="2971800"/>
            <a:ext cx="2997098" cy="320040"/>
          </a:xfrm>
          <a:prstGeom prst="rect">
            <a:avLst/>
          </a:prstGeom>
          <a:noFill/>
          <a:ln/>
        </p:spPr>
        <p:txBody>
          <a:bodyPr wrap="square" lIns="0" tIns="0" rIns="0" bIns="0" rtlCol="0" anchor="t"/>
          <a:lstStyle/>
          <a:p>
            <a:pPr algn="l" indent="0" marL="0">
              <a:buNone/>
            </a:pPr>
            <a:r>
              <a:rPr lang="en-US" sz="1700" b="1" dirty="0">
                <a:solidFill>
                  <a:schemeClr val="bg1"/>
                </a:solidFill>
                <a:latin typeface="Manrope" pitchFamily="34" charset="0"/>
                <a:ea typeface="Manrope" pitchFamily="34" charset="-122"/>
                <a:cs typeface="Manrope" pitchFamily="34" charset="-120"/>
              </a:rPr>
              <a:t>Market</a:t>
            </a:r>
            <a:endParaRPr lang="en-US" sz="1700" dirty="0"/>
          </a:p>
        </p:txBody>
      </p:sp>
      <p:sp>
        <p:nvSpPr>
          <p:cNvPr id="13" name="Text 10"/>
          <p:cNvSpPr txBox="1"/>
          <p:nvPr/>
        </p:nvSpPr>
        <p:spPr>
          <a:xfrm>
            <a:off x="4597298" y="3337560"/>
            <a:ext cx="2997098" cy="274320"/>
          </a:xfrm>
          <a:prstGeom prst="rect">
            <a:avLst/>
          </a:prstGeom>
          <a:noFill/>
          <a:ln/>
        </p:spPr>
        <p:txBody>
          <a:bodyPr wrap="square" lIns="0" tIns="0" rIns="0" bIns="0" rtlCol="0" anchor="t"/>
          <a:lstStyle/>
          <a:p>
            <a:pPr algn="l" indent="0" marL="0">
              <a:buNone/>
            </a:pPr>
            <a:r>
              <a:rPr lang="en-US" sz="1050" dirty="0">
                <a:solidFill>
                  <a:schemeClr val="accent4"/>
                </a:solidFill>
                <a:latin typeface="Inter" pitchFamily="34" charset="0"/>
                <a:ea typeface="Inter" pitchFamily="34" charset="-122"/>
                <a:cs typeface="Inter" pitchFamily="34" charset="-120"/>
              </a:rPr>
              <a:t>TAM/SAM/SOM · Segments · Trends</a:t>
            </a:r>
            <a:endParaRPr lang="en-US" sz="1050" dirty="0"/>
          </a:p>
        </p:txBody>
      </p:sp>
      <p:pic>
        <p:nvPicPr>
          <p:cNvPr id="14" name="Icon PiArrowUpRight C6F432"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7365797" y="2148840"/>
            <a:ext cx="237744" cy="237744"/>
          </a:xfrm>
          <a:prstGeom prst="rect">
            <a:avLst/>
          </a:prstGeom>
        </p:spPr>
      </p:pic>
      <p:sp>
        <p:nvSpPr>
          <p:cNvPr id="15" name="Shape 11"/>
          <p:cNvSpPr/>
          <p:nvPr/>
        </p:nvSpPr>
        <p:spPr>
          <a:xfrm>
            <a:off x="8097317" y="1874520"/>
            <a:ext cx="3545738" cy="2011680"/>
          </a:xfrm>
          <a:prstGeom prst="roundRect">
            <a:avLst>
              <a:gd name="adj" fmla="val 4545"/>
            </a:avLst>
          </a:prstGeom>
          <a:solidFill>
            <a:schemeClr val="bg1"/>
          </a:solidFill>
          <a:ln/>
        </p:spPr>
      </p:sp>
      <p:sp>
        <p:nvSpPr>
          <p:cNvPr id="16" name="Text 12"/>
          <p:cNvSpPr txBox="1"/>
          <p:nvPr/>
        </p:nvSpPr>
        <p:spPr>
          <a:xfrm>
            <a:off x="8371637" y="213055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03</a:t>
            </a:r>
            <a:endParaRPr lang="en-US" sz="4000" dirty="0"/>
          </a:p>
        </p:txBody>
      </p:sp>
      <p:sp>
        <p:nvSpPr>
          <p:cNvPr id="17" name="Text 13"/>
          <p:cNvSpPr txBox="1"/>
          <p:nvPr/>
        </p:nvSpPr>
        <p:spPr>
          <a:xfrm>
            <a:off x="8371637" y="297180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Product</a:t>
            </a:r>
            <a:endParaRPr lang="en-US" sz="1700" dirty="0"/>
          </a:p>
        </p:txBody>
      </p:sp>
      <p:sp>
        <p:nvSpPr>
          <p:cNvPr id="18" name="Text 14"/>
          <p:cNvSpPr txBox="1"/>
          <p:nvPr/>
        </p:nvSpPr>
        <p:spPr>
          <a:xfrm>
            <a:off x="8371637" y="333756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Features · Architecture · Roadmap</a:t>
            </a:r>
            <a:endParaRPr lang="en-US" sz="1050" dirty="0"/>
          </a:p>
        </p:txBody>
      </p:sp>
      <p:pic>
        <p:nvPicPr>
          <p:cNvPr id="19" name="Icon PiArrowUpRight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11140135" y="2148840"/>
            <a:ext cx="237744" cy="237744"/>
          </a:xfrm>
          <a:prstGeom prst="rect">
            <a:avLst/>
          </a:prstGeom>
        </p:spPr>
      </p:pic>
      <p:sp>
        <p:nvSpPr>
          <p:cNvPr id="20" name="Shape 15"/>
          <p:cNvSpPr/>
          <p:nvPr/>
        </p:nvSpPr>
        <p:spPr>
          <a:xfrm>
            <a:off x="548640" y="4114800"/>
            <a:ext cx="3545738" cy="2011680"/>
          </a:xfrm>
          <a:prstGeom prst="roundRect">
            <a:avLst>
              <a:gd name="adj" fmla="val 4545"/>
            </a:avLst>
          </a:prstGeom>
          <a:solidFill>
            <a:schemeClr val="bg1"/>
          </a:solidFill>
          <a:ln/>
        </p:spPr>
      </p:sp>
      <p:sp>
        <p:nvSpPr>
          <p:cNvPr id="21" name="Text 16"/>
          <p:cNvSpPr txBox="1"/>
          <p:nvPr/>
        </p:nvSpPr>
        <p:spPr>
          <a:xfrm>
            <a:off x="822960" y="437083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04</a:t>
            </a:r>
            <a:endParaRPr lang="en-US" sz="4000" dirty="0"/>
          </a:p>
        </p:txBody>
      </p:sp>
      <p:sp>
        <p:nvSpPr>
          <p:cNvPr id="22" name="Text 17"/>
          <p:cNvSpPr txBox="1"/>
          <p:nvPr/>
        </p:nvSpPr>
        <p:spPr>
          <a:xfrm>
            <a:off x="822960" y="521208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Sales &amp; Marketing</a:t>
            </a:r>
            <a:endParaRPr lang="en-US" sz="1700" dirty="0"/>
          </a:p>
        </p:txBody>
      </p:sp>
      <p:sp>
        <p:nvSpPr>
          <p:cNvPr id="23" name="Text 18"/>
          <p:cNvSpPr txBox="1"/>
          <p:nvPr/>
        </p:nvSpPr>
        <p:spPr>
          <a:xfrm>
            <a:off x="822960" y="557784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Funnel · Pipeline · Channels</a:t>
            </a:r>
            <a:endParaRPr lang="en-US" sz="1050" dirty="0"/>
          </a:p>
        </p:txBody>
      </p:sp>
      <p:pic>
        <p:nvPicPr>
          <p:cNvPr id="24" name="Icon PiArrowUpRight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3591458" y="4389120"/>
            <a:ext cx="237744" cy="237744"/>
          </a:xfrm>
          <a:prstGeom prst="rect">
            <a:avLst/>
          </a:prstGeom>
        </p:spPr>
      </p:pic>
      <p:sp>
        <p:nvSpPr>
          <p:cNvPr id="25" name="Shape 19"/>
          <p:cNvSpPr/>
          <p:nvPr/>
        </p:nvSpPr>
        <p:spPr>
          <a:xfrm>
            <a:off x="4322978" y="4114800"/>
            <a:ext cx="3545738" cy="2011680"/>
          </a:xfrm>
          <a:prstGeom prst="roundRect">
            <a:avLst>
              <a:gd name="adj" fmla="val 4545"/>
            </a:avLst>
          </a:prstGeom>
          <a:solidFill>
            <a:schemeClr val="bg1"/>
          </a:solidFill>
          <a:ln/>
        </p:spPr>
      </p:sp>
      <p:sp>
        <p:nvSpPr>
          <p:cNvPr id="26" name="Text 20"/>
          <p:cNvSpPr txBox="1"/>
          <p:nvPr/>
        </p:nvSpPr>
        <p:spPr>
          <a:xfrm>
            <a:off x="4597298" y="437083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05</a:t>
            </a:r>
            <a:endParaRPr lang="en-US" sz="4000" dirty="0"/>
          </a:p>
        </p:txBody>
      </p:sp>
      <p:sp>
        <p:nvSpPr>
          <p:cNvPr id="27" name="Text 21"/>
          <p:cNvSpPr txBox="1"/>
          <p:nvPr/>
        </p:nvSpPr>
        <p:spPr>
          <a:xfrm>
            <a:off x="4597298" y="521208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Finance</a:t>
            </a:r>
            <a:endParaRPr lang="en-US" sz="1700" dirty="0"/>
          </a:p>
        </p:txBody>
      </p:sp>
      <p:sp>
        <p:nvSpPr>
          <p:cNvPr id="28" name="Text 22"/>
          <p:cNvSpPr txBox="1"/>
          <p:nvPr/>
        </p:nvSpPr>
        <p:spPr>
          <a:xfrm>
            <a:off x="4597298" y="557784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Revenue · Unit economics · Forecast</a:t>
            </a:r>
            <a:endParaRPr lang="en-US" sz="1050" dirty="0"/>
          </a:p>
        </p:txBody>
      </p:sp>
      <p:pic>
        <p:nvPicPr>
          <p:cNvPr id="29" name="Icon PiArrowUpRight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7365797" y="4389120"/>
            <a:ext cx="237744" cy="237744"/>
          </a:xfrm>
          <a:prstGeom prst="rect">
            <a:avLst/>
          </a:prstGeom>
        </p:spPr>
      </p:pic>
      <p:sp>
        <p:nvSpPr>
          <p:cNvPr id="30" name="Shape 23"/>
          <p:cNvSpPr/>
          <p:nvPr/>
        </p:nvSpPr>
        <p:spPr>
          <a:xfrm>
            <a:off x="8097317" y="4114800"/>
            <a:ext cx="3545738" cy="2011680"/>
          </a:xfrm>
          <a:prstGeom prst="roundRect">
            <a:avLst>
              <a:gd name="adj" fmla="val 4545"/>
            </a:avLst>
          </a:prstGeom>
          <a:solidFill>
            <a:schemeClr val="bg1"/>
          </a:solidFill>
          <a:ln/>
        </p:spPr>
      </p:sp>
      <p:sp>
        <p:nvSpPr>
          <p:cNvPr id="31" name="Text 24"/>
          <p:cNvSpPr txBox="1"/>
          <p:nvPr/>
        </p:nvSpPr>
        <p:spPr>
          <a:xfrm>
            <a:off x="8371637" y="437083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06</a:t>
            </a:r>
            <a:endParaRPr lang="en-US" sz="4000" dirty="0"/>
          </a:p>
        </p:txBody>
      </p:sp>
      <p:sp>
        <p:nvSpPr>
          <p:cNvPr id="32" name="Text 25"/>
          <p:cNvSpPr txBox="1"/>
          <p:nvPr/>
        </p:nvSpPr>
        <p:spPr>
          <a:xfrm>
            <a:off x="8371637" y="521208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Strategy</a:t>
            </a:r>
            <a:endParaRPr lang="en-US" sz="1700" dirty="0"/>
          </a:p>
        </p:txBody>
      </p:sp>
      <p:sp>
        <p:nvSpPr>
          <p:cNvPr id="33" name="Text 26"/>
          <p:cNvSpPr txBox="1"/>
          <p:nvPr/>
        </p:nvSpPr>
        <p:spPr>
          <a:xfrm>
            <a:off x="8371637" y="557784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Priorities · SWOT · Milestones</a:t>
            </a:r>
            <a:endParaRPr lang="en-US" sz="1050" dirty="0"/>
          </a:p>
        </p:txBody>
      </p:sp>
      <p:pic>
        <p:nvPicPr>
          <p:cNvPr id="34" name="Icon PiArrowUpRight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1140135" y="4389120"/>
            <a:ext cx="237744" cy="237744"/>
          </a:xfrm>
          <a:prstGeom prst="rect">
            <a:avLst/>
          </a:prstGeom>
        </p:spPr>
      </p:pic>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75488" y="822960"/>
            <a:ext cx="5486400" cy="2377440"/>
          </a:xfrm>
          <a:prstGeom prst="rect">
            <a:avLst/>
          </a:prstGeom>
          <a:noFill/>
          <a:ln/>
        </p:spPr>
        <p:txBody>
          <a:bodyPr wrap="square" lIns="0" tIns="0" rIns="0" bIns="0" rtlCol="0" anchor="t"/>
          <a:lstStyle/>
          <a:p>
            <a:pPr algn="l" indent="0" marL="0">
              <a:buNone/>
            </a:pPr>
            <a:r>
              <a:rPr lang="en-US" sz="19000" dirty="0">
                <a:solidFill>
                  <a:schemeClr val="accent1"/>
                </a:solidFill>
                <a:latin typeface="Manrope ExtraBold" pitchFamily="34" charset="0"/>
                <a:ea typeface="Manrope ExtraBold" pitchFamily="34" charset="-122"/>
                <a:cs typeface="Manrope ExtraBold" pitchFamily="34" charset="-120"/>
              </a:rPr>
              <a:t>02</a:t>
            </a:r>
            <a:endParaRPr lang="en-US" sz="19000" dirty="0"/>
          </a:p>
        </p:txBody>
      </p:sp>
      <p:sp>
        <p:nvSpPr>
          <p:cNvPr id="3" name="Shape 1"/>
          <p:cNvSpPr/>
          <p:nvPr/>
        </p:nvSpPr>
        <p:spPr>
          <a:xfrm>
            <a:off x="548640" y="3771900"/>
            <a:ext cx="91440" cy="91440"/>
          </a:xfrm>
          <a:prstGeom prst="rect">
            <a:avLst/>
          </a:prstGeom>
          <a:solidFill>
            <a:schemeClr val="accent1"/>
          </a:solidFill>
          <a:ln/>
        </p:spPr>
      </p:sp>
      <p:sp>
        <p:nvSpPr>
          <p:cNvPr id="4" name="Text 2"/>
          <p:cNvSpPr txBox="1"/>
          <p:nvPr/>
        </p:nvSpPr>
        <p:spPr>
          <a:xfrm>
            <a:off x="731520" y="370332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SECTION TWO</a:t>
            </a:r>
            <a:endParaRPr lang="en-US" sz="950" dirty="0"/>
          </a:p>
        </p:txBody>
      </p:sp>
      <p:sp>
        <p:nvSpPr>
          <p:cNvPr id="5" name="Text 3"/>
          <p:cNvSpPr txBox="1"/>
          <p:nvPr/>
        </p:nvSpPr>
        <p:spPr>
          <a:xfrm>
            <a:off x="548640" y="4069080"/>
            <a:ext cx="7315200" cy="822960"/>
          </a:xfrm>
          <a:prstGeom prst="rect">
            <a:avLst/>
          </a:prstGeom>
          <a:noFill/>
          <a:ln/>
        </p:spPr>
        <p:txBody>
          <a:bodyPr wrap="square" lIns="0" tIns="0" rIns="0" bIns="0" rtlCol="0" anchor="t"/>
          <a:lstStyle/>
          <a:p>
            <a:pPr algn="l" indent="0" marL="0">
              <a:buNone/>
            </a:pPr>
            <a:r>
              <a:rPr lang="en-US" sz="4400" b="1" dirty="0">
                <a:solidFill>
                  <a:schemeClr val="bg1"/>
                </a:solidFill>
                <a:latin typeface="Manrope" pitchFamily="34" charset="0"/>
                <a:ea typeface="Manrope" pitchFamily="34" charset="-122"/>
                <a:cs typeface="Manrope" pitchFamily="34" charset="-120"/>
              </a:rPr>
              <a:t>Market Opportunity</a:t>
            </a:r>
            <a:endParaRPr lang="en-US" sz="4400" dirty="0"/>
          </a:p>
        </p:txBody>
      </p:sp>
      <p:sp>
        <p:nvSpPr>
          <p:cNvPr id="6" name="Text 4"/>
          <p:cNvSpPr txBox="1"/>
          <p:nvPr/>
        </p:nvSpPr>
        <p:spPr>
          <a:xfrm>
            <a:off x="548640" y="4937760"/>
            <a:ext cx="6217920" cy="731520"/>
          </a:xfrm>
          <a:prstGeom prst="rect">
            <a:avLst/>
          </a:prstGeom>
          <a:noFill/>
          <a:ln/>
        </p:spPr>
        <p:txBody>
          <a:bodyPr wrap="square" lIns="0" tIns="0" rIns="0" bIns="0" rtlCol="0" anchor="t"/>
          <a:lstStyle/>
          <a:p>
            <a:pPr algn="l" indent="0" marL="0">
              <a:lnSpc>
                <a:spcPct val="125000"/>
              </a:lnSpc>
              <a:buNone/>
            </a:pPr>
            <a:r>
              <a:rPr lang="en-US" sz="1400" dirty="0">
                <a:solidFill>
                  <a:schemeClr val="accent4"/>
                </a:solidFill>
                <a:latin typeface="Inter" pitchFamily="34" charset="0"/>
                <a:ea typeface="Inter" pitchFamily="34" charset="-122"/>
                <a:cs typeface="Inter" pitchFamily="34" charset="-120"/>
              </a:rPr>
              <a:t>A $38B market growing 19% a year — and the three segments where we have the right to win.</a:t>
            </a:r>
            <a:endParaRPr lang="en-US" sz="1400" dirty="0"/>
          </a:p>
        </p:txBody>
      </p:sp>
      <p:sp>
        <p:nvSpPr>
          <p:cNvPr id="7" name="Shape 5"/>
          <p:cNvSpPr/>
          <p:nvPr/>
        </p:nvSpPr>
        <p:spPr>
          <a:xfrm>
            <a:off x="9631375" y="3291840"/>
            <a:ext cx="2011680" cy="2011680"/>
          </a:xfrm>
          <a:prstGeom prst="pie">
            <a:avLst>
              <a:gd name="adj1" fmla="val 16200000"/>
              <a:gd name="adj2" fmla="val 21600000"/>
            </a:avLst>
          </a:prstGeom>
          <a:solidFill>
            <a:schemeClr val="accent1"/>
          </a:solidFill>
          <a:ln/>
        </p:spPr>
      </p:sp>
      <p:sp>
        <p:nvSpPr>
          <p:cNvPr id="8" name="Shape 6"/>
          <p:cNvSpPr/>
          <p:nvPr/>
        </p:nvSpPr>
        <p:spPr>
          <a:xfrm>
            <a:off x="9631375" y="4297680"/>
            <a:ext cx="1005840" cy="1005840"/>
          </a:xfrm>
          <a:prstGeom prst="rect">
            <a:avLst/>
          </a:prstGeom>
          <a:solidFill>
            <a:schemeClr val="accent5"/>
          </a:solidFill>
          <a:ln/>
        </p:spPr>
      </p:sp>
      <p:sp>
        <p:nvSpPr>
          <p:cNvPr id="9" name="Shape 7"/>
          <p:cNvSpPr/>
          <p:nvPr/>
        </p:nvSpPr>
        <p:spPr>
          <a:xfrm>
            <a:off x="10013594" y="4679899"/>
            <a:ext cx="241402" cy="241402"/>
          </a:xfrm>
          <a:prstGeom prst="ellipse">
            <a:avLst/>
          </a:prstGeom>
          <a:solidFill>
            <a:schemeClr val="accent1"/>
          </a:solidFill>
          <a:ln/>
        </p:spPr>
      </p:sp>
      <p:sp>
        <p:nvSpPr>
          <p:cNvPr id="10" name="Shape 8"/>
          <p:cNvSpPr/>
          <p:nvPr/>
        </p:nvSpPr>
        <p:spPr>
          <a:xfrm>
            <a:off x="10637215" y="4297680"/>
            <a:ext cx="1005840" cy="1005840"/>
          </a:xfrm>
          <a:prstGeom prst="rect">
            <a:avLst/>
          </a:prstGeom>
          <a:solidFill>
            <a:schemeClr val="accent1"/>
          </a:solidFill>
          <a:ln/>
        </p:spPr>
      </p:sp>
      <p:sp>
        <p:nvSpPr>
          <p:cNvPr id="11" name="Shape 9"/>
          <p:cNvSpPr/>
          <p:nvPr/>
        </p:nvSpPr>
        <p:spPr>
          <a:xfrm>
            <a:off x="8625535" y="5806440"/>
            <a:ext cx="1005840" cy="1005840"/>
          </a:xfrm>
          <a:prstGeom prst="pie">
            <a:avLst>
              <a:gd name="adj1" fmla="val 10800000"/>
              <a:gd name="adj2" fmla="val 21600000"/>
            </a:avLst>
          </a:prstGeom>
          <a:solidFill>
            <a:schemeClr val="accent5"/>
          </a:solidFill>
          <a:ln/>
        </p:spPr>
      </p:sp>
      <p:sp>
        <p:nvSpPr>
          <p:cNvPr id="12" name="Shape 10"/>
          <p:cNvSpPr/>
          <p:nvPr/>
        </p:nvSpPr>
        <p:spPr>
          <a:xfrm>
            <a:off x="9631375" y="4297680"/>
            <a:ext cx="2011680" cy="2011680"/>
          </a:xfrm>
          <a:prstGeom prst="pie">
            <a:avLst>
              <a:gd name="adj1" fmla="val 5400000"/>
              <a:gd name="adj2" fmla="val 10800000"/>
            </a:avLst>
          </a:prstGeom>
          <a:solidFill>
            <a:schemeClr val="accent1"/>
          </a:solidFill>
          <a:ln/>
        </p:spPr>
      </p:sp>
      <p:sp>
        <p:nvSpPr>
          <p:cNvPr id="13" name="Shape 11"/>
          <p:cNvSpPr/>
          <p:nvPr/>
        </p:nvSpPr>
        <p:spPr>
          <a:xfrm>
            <a:off x="10637215" y="5303520"/>
            <a:ext cx="1005840" cy="1005840"/>
          </a:xfrm>
          <a:prstGeom prst="rect">
            <a:avLst/>
          </a:prstGeom>
          <a:solidFill>
            <a:schemeClr val="accent5"/>
          </a:solidFill>
          <a:ln/>
        </p:spPr>
      </p:sp>
      <p:sp>
        <p:nvSpPr>
          <p:cNvPr id="14" name="Shape 12"/>
          <p:cNvSpPr/>
          <p:nvPr/>
        </p:nvSpPr>
        <p:spPr>
          <a:xfrm>
            <a:off x="10637215" y="5303520"/>
            <a:ext cx="1005840" cy="1005840"/>
          </a:xfrm>
          <a:prstGeom prst="ellipse">
            <a:avLst/>
          </a:prstGeom>
          <a:solidFill>
            <a:schemeClr val="accent1"/>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5037963" cy="6858000"/>
          </a:xfrm>
          <a:prstGeom prst="rect">
            <a:avLst/>
          </a:prstGeom>
          <a:solidFill>
            <a:schemeClr val="bg2"/>
          </a:solidFill>
          <a:ln/>
        </p:spPr>
      </p:sp>
      <p:sp>
        <p:nvSpPr>
          <p:cNvPr id="3" name="Text 1"/>
          <p:cNvSpPr txBox="1"/>
          <p:nvPr/>
        </p:nvSpPr>
        <p:spPr>
          <a:xfrm>
            <a:off x="548640" y="502920"/>
            <a:ext cx="2743200" cy="1188720"/>
          </a:xfrm>
          <a:prstGeom prst="rect">
            <a:avLst/>
          </a:prstGeom>
          <a:noFill/>
          <a:ln/>
        </p:spPr>
        <p:txBody>
          <a:bodyPr wrap="square" lIns="0" tIns="0" rIns="0" bIns="0" rtlCol="0" anchor="t"/>
          <a:lstStyle/>
          <a:p>
            <a:pPr algn="l" indent="0" marL="0">
              <a:buNone/>
            </a:pPr>
            <a:r>
              <a:rPr lang="en-US" sz="8000" dirty="0">
                <a:solidFill>
                  <a:schemeClr val="tx1"/>
                </a:solidFill>
                <a:latin typeface="Manrope ExtraBold" pitchFamily="34" charset="0"/>
                <a:ea typeface="Manrope ExtraBold" pitchFamily="34" charset="-122"/>
                <a:cs typeface="Manrope ExtraBold" pitchFamily="34" charset="-120"/>
              </a:rPr>
              <a:t>03</a:t>
            </a:r>
            <a:endParaRPr lang="en-US" sz="8000" dirty="0"/>
          </a:p>
        </p:txBody>
      </p:sp>
      <p:sp>
        <p:nvSpPr>
          <p:cNvPr id="4" name="Shape 2"/>
          <p:cNvSpPr/>
          <p:nvPr/>
        </p:nvSpPr>
        <p:spPr>
          <a:xfrm>
            <a:off x="548640" y="2217420"/>
            <a:ext cx="91440" cy="91440"/>
          </a:xfrm>
          <a:prstGeom prst="rect">
            <a:avLst/>
          </a:prstGeom>
          <a:solidFill>
            <a:schemeClr val="accent1"/>
          </a:solidFill>
          <a:ln/>
        </p:spPr>
      </p:sp>
      <p:sp>
        <p:nvSpPr>
          <p:cNvPr id="5" name="Text 3"/>
          <p:cNvSpPr txBox="1"/>
          <p:nvPr/>
        </p:nvSpPr>
        <p:spPr>
          <a:xfrm>
            <a:off x="731520" y="214884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CHAPTER INTRODUCTION</a:t>
            </a:r>
            <a:endParaRPr lang="en-US" sz="950" dirty="0"/>
          </a:p>
        </p:txBody>
      </p:sp>
      <p:sp>
        <p:nvSpPr>
          <p:cNvPr id="6" name="Text 4"/>
          <p:cNvSpPr txBox="1"/>
          <p:nvPr/>
        </p:nvSpPr>
        <p:spPr>
          <a:xfrm>
            <a:off x="548640" y="2514600"/>
            <a:ext cx="3271418" cy="1463040"/>
          </a:xfrm>
          <a:prstGeom prst="rect">
            <a:avLst/>
          </a:prstGeom>
          <a:noFill/>
          <a:ln/>
        </p:spPr>
        <p:txBody>
          <a:bodyPr wrap="square" lIns="0" tIns="0" rIns="0" bIns="0" rtlCol="0" anchor="t"/>
          <a:lstStyle/>
          <a:p>
            <a:pPr algn="l" indent="0" marL="0">
              <a:lnSpc>
                <a:spcPct val="100000"/>
              </a:lnSpc>
              <a:buNone/>
            </a:pPr>
            <a:r>
              <a:rPr lang="en-US" sz="3000" b="1" dirty="0">
                <a:solidFill>
                  <a:schemeClr val="tx1"/>
                </a:solidFill>
                <a:latin typeface="Manrope" pitchFamily="34" charset="0"/>
                <a:ea typeface="Manrope" pitchFamily="34" charset="-122"/>
                <a:cs typeface="Manrope" pitchFamily="34" charset="-120"/>
              </a:rPr>
              <a:t>Why the market is shifting now</a:t>
            </a:r>
            <a:endParaRPr lang="en-US" sz="3000" dirty="0"/>
          </a:p>
        </p:txBody>
      </p:sp>
      <p:sp>
        <p:nvSpPr>
          <p:cNvPr id="7" name="Text 5"/>
          <p:cNvSpPr txBox="1"/>
          <p:nvPr/>
        </p:nvSpPr>
        <p:spPr>
          <a:xfrm>
            <a:off x="548640" y="4069080"/>
            <a:ext cx="3179978" cy="1188720"/>
          </a:xfrm>
          <a:prstGeom prst="rect">
            <a:avLst/>
          </a:prstGeom>
          <a:noFill/>
          <a:ln/>
        </p:spPr>
        <p:txBody>
          <a:bodyPr wrap="square" lIns="0" tIns="0" rIns="0" bIns="0" rtlCol="0" anchor="t"/>
          <a:lstStyle/>
          <a:p>
            <a:pPr algn="l" indent="0" marL="0">
              <a:lnSpc>
                <a:spcPct val="130000"/>
              </a:lnSpc>
              <a:buNone/>
            </a:pPr>
            <a:r>
              <a:rPr lang="en-US" sz="1250" dirty="0">
                <a:solidFill>
                  <a:schemeClr val="tx2"/>
                </a:solidFill>
                <a:latin typeface="Inter" pitchFamily="34" charset="0"/>
                <a:ea typeface="Inter" pitchFamily="34" charset="-122"/>
                <a:cs typeface="Inter" pitchFamily="34" charset="-120"/>
              </a:rPr>
              <a:t>Buyers are consolidating tools, budgets are moving to measurable outcomes, and AI is resetting expectations for speed.</a:t>
            </a:r>
            <a:endParaRPr lang="en-US" sz="1250" dirty="0"/>
          </a:p>
        </p:txBody>
      </p:sp>
      <p:sp>
        <p:nvSpPr>
          <p:cNvPr id="8" name="Text 6"/>
          <p:cNvSpPr txBox="1"/>
          <p:nvPr/>
        </p:nvSpPr>
        <p:spPr>
          <a:xfrm>
            <a:off x="5358003" y="914400"/>
            <a:ext cx="45720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THIS CHAPTER ANSWERS</a:t>
            </a:r>
            <a:endParaRPr lang="en-US" sz="950" dirty="0"/>
          </a:p>
        </p:txBody>
      </p:sp>
      <p:sp>
        <p:nvSpPr>
          <p:cNvPr id="9" name="Shape 7"/>
          <p:cNvSpPr/>
          <p:nvPr/>
        </p:nvSpPr>
        <p:spPr>
          <a:xfrm>
            <a:off x="5358003" y="1463040"/>
            <a:ext cx="566928" cy="566928"/>
          </a:xfrm>
          <a:prstGeom prst="ellipse">
            <a:avLst/>
          </a:prstGeom>
          <a:solidFill>
            <a:schemeClr val="accent1"/>
          </a:solidFill>
          <a:ln/>
        </p:spPr>
      </p:sp>
      <p:pic>
        <p:nvPicPr>
          <p:cNvPr id="10" name="Icon PiMagnifyingGlass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5494066" y="1599103"/>
            <a:ext cx="294803" cy="294803"/>
          </a:xfrm>
          <a:prstGeom prst="rect">
            <a:avLst/>
          </a:prstGeom>
        </p:spPr>
      </p:pic>
      <p:sp>
        <p:nvSpPr>
          <p:cNvPr id="11" name="Text 8"/>
          <p:cNvSpPr txBox="1"/>
          <p:nvPr/>
        </p:nvSpPr>
        <p:spPr>
          <a:xfrm>
            <a:off x="6226683" y="1444752"/>
            <a:ext cx="5370652" cy="365760"/>
          </a:xfrm>
          <a:prstGeom prst="rect">
            <a:avLst/>
          </a:prstGeom>
          <a:noFill/>
          <a:ln/>
        </p:spPr>
        <p:txBody>
          <a:bodyPr wrap="square" lIns="0" tIns="0" rIns="0" bIns="0" rtlCol="0" anchor="t"/>
          <a:lstStyle/>
          <a:p>
            <a:pPr algn="l" indent="0" marL="0">
              <a:buNone/>
            </a:pPr>
            <a:r>
              <a:rPr lang="en-US" sz="1800" b="1" dirty="0">
                <a:solidFill>
                  <a:schemeClr val="tx1"/>
                </a:solidFill>
                <a:latin typeface="Manrope" pitchFamily="34" charset="0"/>
                <a:ea typeface="Manrope" pitchFamily="34" charset="-122"/>
                <a:cs typeface="Manrope" pitchFamily="34" charset="-120"/>
              </a:rPr>
              <a:t>How big is the opportunity?</a:t>
            </a:r>
            <a:endParaRPr lang="en-US" sz="1800" dirty="0"/>
          </a:p>
        </p:txBody>
      </p:sp>
      <p:sp>
        <p:nvSpPr>
          <p:cNvPr id="12" name="Text 9"/>
          <p:cNvSpPr txBox="1"/>
          <p:nvPr/>
        </p:nvSpPr>
        <p:spPr>
          <a:xfrm>
            <a:off x="6226683" y="1847088"/>
            <a:ext cx="5187772" cy="548640"/>
          </a:xfrm>
          <a:prstGeom prst="rect">
            <a:avLst/>
          </a:prstGeom>
          <a:noFill/>
          <a:ln/>
        </p:spPr>
        <p:txBody>
          <a:bodyPr wrap="square" lIns="0" tIns="0" rIns="0" bIns="0" rtlCol="0" anchor="t"/>
          <a:lstStyle/>
          <a:p>
            <a:pPr algn="l" indent="0" marL="0">
              <a:lnSpc>
                <a:spcPct val="125000"/>
              </a:lnSpc>
              <a:buNone/>
            </a:pPr>
            <a:r>
              <a:rPr lang="en-US" sz="1150" dirty="0">
                <a:solidFill>
                  <a:schemeClr val="accent3"/>
                </a:solidFill>
                <a:latin typeface="Inter" pitchFamily="34" charset="0"/>
                <a:ea typeface="Inter" pitchFamily="34" charset="-122"/>
                <a:cs typeface="Inter" pitchFamily="34" charset="-120"/>
              </a:rPr>
              <a:t>Market size, growth rate and the share we can realistically capture in three years.</a:t>
            </a:r>
            <a:endParaRPr lang="en-US" sz="1150" dirty="0"/>
          </a:p>
        </p:txBody>
      </p:sp>
      <p:sp>
        <p:nvSpPr>
          <p:cNvPr id="13" name="Shape 10"/>
          <p:cNvSpPr/>
          <p:nvPr/>
        </p:nvSpPr>
        <p:spPr>
          <a:xfrm>
            <a:off x="5358003" y="2670048"/>
            <a:ext cx="6285052" cy="0"/>
          </a:xfrm>
          <a:prstGeom prst="line">
            <a:avLst/>
          </a:prstGeom>
          <a:noFill/>
          <a:ln w="9525">
            <a:solidFill>
              <a:schemeClr val="accent4"/>
            </a:solidFill>
            <a:prstDash val="solid"/>
          </a:ln>
        </p:spPr>
      </p:sp>
      <p:sp>
        <p:nvSpPr>
          <p:cNvPr id="14" name="Shape 11"/>
          <p:cNvSpPr/>
          <p:nvPr/>
        </p:nvSpPr>
        <p:spPr>
          <a:xfrm>
            <a:off x="5358003" y="2971800"/>
            <a:ext cx="566928" cy="566928"/>
          </a:xfrm>
          <a:prstGeom prst="ellipse">
            <a:avLst/>
          </a:prstGeom>
          <a:solidFill>
            <a:schemeClr val="accent1"/>
          </a:solidFill>
          <a:ln/>
        </p:spPr>
      </p:sp>
      <p:pic>
        <p:nvPicPr>
          <p:cNvPr id="15" name="Icon PiUsersThree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5494066" y="3107863"/>
            <a:ext cx="294803" cy="294803"/>
          </a:xfrm>
          <a:prstGeom prst="rect">
            <a:avLst/>
          </a:prstGeom>
        </p:spPr>
      </p:pic>
      <p:sp>
        <p:nvSpPr>
          <p:cNvPr id="16" name="Text 12"/>
          <p:cNvSpPr txBox="1"/>
          <p:nvPr/>
        </p:nvSpPr>
        <p:spPr>
          <a:xfrm>
            <a:off x="6226683" y="2953512"/>
            <a:ext cx="5370652" cy="365760"/>
          </a:xfrm>
          <a:prstGeom prst="rect">
            <a:avLst/>
          </a:prstGeom>
          <a:noFill/>
          <a:ln/>
        </p:spPr>
        <p:txBody>
          <a:bodyPr wrap="square" lIns="0" tIns="0" rIns="0" bIns="0" rtlCol="0" anchor="t"/>
          <a:lstStyle/>
          <a:p>
            <a:pPr algn="l" indent="0" marL="0">
              <a:buNone/>
            </a:pPr>
            <a:r>
              <a:rPr lang="en-US" sz="1800" b="1" dirty="0">
                <a:solidFill>
                  <a:schemeClr val="tx1"/>
                </a:solidFill>
                <a:latin typeface="Manrope" pitchFamily="34" charset="0"/>
                <a:ea typeface="Manrope" pitchFamily="34" charset="-122"/>
                <a:cs typeface="Manrope" pitchFamily="34" charset="-120"/>
              </a:rPr>
              <a:t>Who are we selling to?</a:t>
            </a:r>
            <a:endParaRPr lang="en-US" sz="1800" dirty="0"/>
          </a:p>
        </p:txBody>
      </p:sp>
      <p:sp>
        <p:nvSpPr>
          <p:cNvPr id="17" name="Text 13"/>
          <p:cNvSpPr txBox="1"/>
          <p:nvPr/>
        </p:nvSpPr>
        <p:spPr>
          <a:xfrm>
            <a:off x="6226683" y="3355848"/>
            <a:ext cx="5187772" cy="548640"/>
          </a:xfrm>
          <a:prstGeom prst="rect">
            <a:avLst/>
          </a:prstGeom>
          <a:noFill/>
          <a:ln/>
        </p:spPr>
        <p:txBody>
          <a:bodyPr wrap="square" lIns="0" tIns="0" rIns="0" bIns="0" rtlCol="0" anchor="t"/>
          <a:lstStyle/>
          <a:p>
            <a:pPr algn="l" indent="0" marL="0">
              <a:lnSpc>
                <a:spcPct val="125000"/>
              </a:lnSpc>
              <a:buNone/>
            </a:pPr>
            <a:r>
              <a:rPr lang="en-US" sz="1150" dirty="0">
                <a:solidFill>
                  <a:schemeClr val="accent3"/>
                </a:solidFill>
                <a:latin typeface="Inter" pitchFamily="34" charset="0"/>
                <a:ea typeface="Inter" pitchFamily="34" charset="-122"/>
                <a:cs typeface="Inter" pitchFamily="34" charset="-120"/>
              </a:rPr>
              <a:t>The three customer segments with the highest lifetime value and shortest sales cycle.</a:t>
            </a:r>
            <a:endParaRPr lang="en-US" sz="1150" dirty="0"/>
          </a:p>
        </p:txBody>
      </p:sp>
      <p:sp>
        <p:nvSpPr>
          <p:cNvPr id="18" name="Shape 14"/>
          <p:cNvSpPr/>
          <p:nvPr/>
        </p:nvSpPr>
        <p:spPr>
          <a:xfrm>
            <a:off x="5358003" y="4178808"/>
            <a:ext cx="6285052" cy="0"/>
          </a:xfrm>
          <a:prstGeom prst="line">
            <a:avLst/>
          </a:prstGeom>
          <a:noFill/>
          <a:ln w="9525">
            <a:solidFill>
              <a:schemeClr val="accent4"/>
            </a:solidFill>
            <a:prstDash val="solid"/>
          </a:ln>
        </p:spPr>
      </p:sp>
      <p:sp>
        <p:nvSpPr>
          <p:cNvPr id="19" name="Shape 15"/>
          <p:cNvSpPr/>
          <p:nvPr/>
        </p:nvSpPr>
        <p:spPr>
          <a:xfrm>
            <a:off x="5358003" y="4480560"/>
            <a:ext cx="566928" cy="566928"/>
          </a:xfrm>
          <a:prstGeom prst="ellipse">
            <a:avLst/>
          </a:prstGeom>
          <a:solidFill>
            <a:schemeClr val="accent1"/>
          </a:solidFill>
          <a:ln/>
        </p:spPr>
      </p:sp>
      <p:pic>
        <p:nvPicPr>
          <p:cNvPr id="20" name="Icon PiCompass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5494066" y="4616623"/>
            <a:ext cx="294803" cy="294803"/>
          </a:xfrm>
          <a:prstGeom prst="rect">
            <a:avLst/>
          </a:prstGeom>
        </p:spPr>
      </p:pic>
      <p:sp>
        <p:nvSpPr>
          <p:cNvPr id="21" name="Text 16"/>
          <p:cNvSpPr txBox="1"/>
          <p:nvPr/>
        </p:nvSpPr>
        <p:spPr>
          <a:xfrm>
            <a:off x="6226683" y="4462272"/>
            <a:ext cx="5370652" cy="365760"/>
          </a:xfrm>
          <a:prstGeom prst="rect">
            <a:avLst/>
          </a:prstGeom>
          <a:noFill/>
          <a:ln/>
        </p:spPr>
        <p:txBody>
          <a:bodyPr wrap="square" lIns="0" tIns="0" rIns="0" bIns="0" rtlCol="0" anchor="t"/>
          <a:lstStyle/>
          <a:p>
            <a:pPr algn="l" indent="0" marL="0">
              <a:buNone/>
            </a:pPr>
            <a:r>
              <a:rPr lang="en-US" sz="1800" b="1" dirty="0">
                <a:solidFill>
                  <a:schemeClr val="tx1"/>
                </a:solidFill>
                <a:latin typeface="Manrope" pitchFamily="34" charset="0"/>
                <a:ea typeface="Manrope" pitchFamily="34" charset="-122"/>
                <a:cs typeface="Manrope" pitchFamily="34" charset="-120"/>
              </a:rPr>
              <a:t>Where do we play to win?</a:t>
            </a:r>
            <a:endParaRPr lang="en-US" sz="1800" dirty="0"/>
          </a:p>
        </p:txBody>
      </p:sp>
      <p:sp>
        <p:nvSpPr>
          <p:cNvPr id="22" name="Text 17"/>
          <p:cNvSpPr txBox="1"/>
          <p:nvPr/>
        </p:nvSpPr>
        <p:spPr>
          <a:xfrm>
            <a:off x="6226683" y="4864608"/>
            <a:ext cx="5187772" cy="548640"/>
          </a:xfrm>
          <a:prstGeom prst="rect">
            <a:avLst/>
          </a:prstGeom>
          <a:noFill/>
          <a:ln/>
        </p:spPr>
        <p:txBody>
          <a:bodyPr wrap="square" lIns="0" tIns="0" rIns="0" bIns="0" rtlCol="0" anchor="t"/>
          <a:lstStyle/>
          <a:p>
            <a:pPr algn="l" indent="0" marL="0">
              <a:lnSpc>
                <a:spcPct val="125000"/>
              </a:lnSpc>
              <a:buNone/>
            </a:pPr>
            <a:r>
              <a:rPr lang="en-US" sz="1150" dirty="0">
                <a:solidFill>
                  <a:schemeClr val="accent3"/>
                </a:solidFill>
                <a:latin typeface="Inter" pitchFamily="34" charset="0"/>
                <a:ea typeface="Inter" pitchFamily="34" charset="-122"/>
                <a:cs typeface="Inter" pitchFamily="34" charset="-120"/>
              </a:rPr>
              <a:t>Positioning against the four competitors that appear in 80% of our deals.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revenue platform trusted by 1,240 growing companies</a:t>
            </a:r>
            <a:endParaRPr lang="en-US" sz="2800" dirty="0"/>
          </a:p>
        </p:txBody>
      </p:sp>
      <p:sp>
        <p:nvSpPr>
          <p:cNvPr id="5" name="Text 3"/>
          <p:cNvSpPr txBox="1"/>
          <p:nvPr/>
        </p:nvSpPr>
        <p:spPr>
          <a:xfrm>
            <a:off x="548640" y="1874520"/>
            <a:ext cx="6376492" cy="1005840"/>
          </a:xfrm>
          <a:prstGeom prst="rect">
            <a:avLst/>
          </a:prstGeom>
          <a:noFill/>
          <a:ln/>
        </p:spPr>
        <p:txBody>
          <a:bodyPr wrap="square" lIns="0" tIns="0" rIns="0" bIns="0" rtlCol="0" anchor="t"/>
          <a:lstStyle/>
          <a:p>
            <a:pPr algn="l" indent="0" marL="0">
              <a:lnSpc>
                <a:spcPct val="120000"/>
              </a:lnSpc>
              <a:buNone/>
            </a:pPr>
            <a:r>
              <a:rPr lang="en-US" sz="1800" dirty="0">
                <a:solidFill>
                  <a:schemeClr val="tx1"/>
                </a:solidFill>
                <a:latin typeface="Manrope" pitchFamily="34" charset="0"/>
                <a:ea typeface="Manrope" pitchFamily="34" charset="-122"/>
                <a:cs typeface="Manrope" pitchFamily="34" charset="-120"/>
              </a:rPr>
              <a:t>Corvanta helps mid-market sales teams forecast accurately, prioritise the right deals and grow revenue with less manual work.</a:t>
            </a:r>
            <a:endParaRPr lang="en-US" sz="1800" dirty="0"/>
          </a:p>
        </p:txBody>
      </p:sp>
      <p:sp>
        <p:nvSpPr>
          <p:cNvPr id="6" name="Shape 4"/>
          <p:cNvSpPr/>
          <p:nvPr/>
        </p:nvSpPr>
        <p:spPr>
          <a:xfrm>
            <a:off x="548640" y="3246120"/>
            <a:ext cx="512064" cy="512064"/>
          </a:xfrm>
          <a:prstGeom prst="ellipse">
            <a:avLst/>
          </a:prstGeom>
          <a:solidFill>
            <a:schemeClr val="bg2"/>
          </a:solidFill>
          <a:ln/>
        </p:spPr>
      </p:sp>
      <p:pic>
        <p:nvPicPr>
          <p:cNvPr id="7" name="Icon PiTarget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671535" y="3369015"/>
            <a:ext cx="266273" cy="266273"/>
          </a:xfrm>
          <a:prstGeom prst="rect">
            <a:avLst/>
          </a:prstGeom>
        </p:spPr>
      </p:pic>
      <p:sp>
        <p:nvSpPr>
          <p:cNvPr id="8" name="Text 5"/>
          <p:cNvSpPr txBox="1"/>
          <p:nvPr/>
        </p:nvSpPr>
        <p:spPr>
          <a:xfrm>
            <a:off x="1280160" y="3264408"/>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Forecasting</a:t>
            </a:r>
            <a:endParaRPr lang="en-US" sz="1400" dirty="0"/>
          </a:p>
        </p:txBody>
      </p:sp>
      <p:sp>
        <p:nvSpPr>
          <p:cNvPr id="9" name="Text 6"/>
          <p:cNvSpPr txBox="1"/>
          <p:nvPr/>
        </p:nvSpPr>
        <p:spPr>
          <a:xfrm>
            <a:off x="1280160" y="353872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AI-driven revenue forecasts with 96% accuracy at quarter start.</a:t>
            </a:r>
            <a:endParaRPr lang="en-US" sz="1100" dirty="0"/>
          </a:p>
        </p:txBody>
      </p:sp>
      <p:sp>
        <p:nvSpPr>
          <p:cNvPr id="10" name="Shape 7"/>
          <p:cNvSpPr/>
          <p:nvPr/>
        </p:nvSpPr>
        <p:spPr>
          <a:xfrm>
            <a:off x="548640" y="4160520"/>
            <a:ext cx="512064" cy="512064"/>
          </a:xfrm>
          <a:prstGeom prst="ellipse">
            <a:avLst/>
          </a:prstGeom>
          <a:solidFill>
            <a:schemeClr val="bg2"/>
          </a:solidFill>
          <a:ln/>
        </p:spPr>
      </p:sp>
      <p:pic>
        <p:nvPicPr>
          <p:cNvPr id="11" name="Icon PiFunnel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671535" y="4283415"/>
            <a:ext cx="266273" cy="266273"/>
          </a:xfrm>
          <a:prstGeom prst="rect">
            <a:avLst/>
          </a:prstGeom>
        </p:spPr>
      </p:pic>
      <p:sp>
        <p:nvSpPr>
          <p:cNvPr id="12" name="Text 8"/>
          <p:cNvSpPr txBox="1"/>
          <p:nvPr/>
        </p:nvSpPr>
        <p:spPr>
          <a:xfrm>
            <a:off x="1280160" y="4178808"/>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Pipeline intelligence</a:t>
            </a:r>
            <a:endParaRPr lang="en-US" sz="1400" dirty="0"/>
          </a:p>
        </p:txBody>
      </p:sp>
      <p:sp>
        <p:nvSpPr>
          <p:cNvPr id="13" name="Text 9"/>
          <p:cNvSpPr txBox="1"/>
          <p:nvPr/>
        </p:nvSpPr>
        <p:spPr>
          <a:xfrm>
            <a:off x="1280160" y="445312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Deal scoring that surfaces risk three weeks earlier than CRM data alone.</a:t>
            </a:r>
            <a:endParaRPr lang="en-US" sz="1100" dirty="0"/>
          </a:p>
        </p:txBody>
      </p:sp>
      <p:sp>
        <p:nvSpPr>
          <p:cNvPr id="14" name="Shape 10"/>
          <p:cNvSpPr/>
          <p:nvPr/>
        </p:nvSpPr>
        <p:spPr>
          <a:xfrm>
            <a:off x="548640" y="5074920"/>
            <a:ext cx="512064" cy="512064"/>
          </a:xfrm>
          <a:prstGeom prst="ellipse">
            <a:avLst/>
          </a:prstGeom>
          <a:solidFill>
            <a:schemeClr val="bg2"/>
          </a:solidFill>
          <a:ln/>
        </p:spPr>
      </p:sp>
      <p:pic>
        <p:nvPicPr>
          <p:cNvPr id="15" name="Icon PiChartLineUp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671535" y="5197815"/>
            <a:ext cx="266273" cy="266273"/>
          </a:xfrm>
          <a:prstGeom prst="rect">
            <a:avLst/>
          </a:prstGeom>
        </p:spPr>
      </p:pic>
      <p:sp>
        <p:nvSpPr>
          <p:cNvPr id="16" name="Text 11"/>
          <p:cNvSpPr txBox="1"/>
          <p:nvPr/>
        </p:nvSpPr>
        <p:spPr>
          <a:xfrm>
            <a:off x="1280160" y="5093208"/>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Revenue analytics</a:t>
            </a:r>
            <a:endParaRPr lang="en-US" sz="1400" dirty="0"/>
          </a:p>
        </p:txBody>
      </p:sp>
      <p:sp>
        <p:nvSpPr>
          <p:cNvPr id="17" name="Text 12"/>
          <p:cNvSpPr txBox="1"/>
          <p:nvPr/>
        </p:nvSpPr>
        <p:spPr>
          <a:xfrm>
            <a:off x="1280160" y="536752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One source of truth for bookings, retention and expansion.</a:t>
            </a:r>
            <a:endParaRPr lang="en-US" sz="1100" dirty="0"/>
          </a:p>
        </p:txBody>
      </p:sp>
      <p:sp>
        <p:nvSpPr>
          <p:cNvPr id="18" name="Shape 13"/>
          <p:cNvSpPr/>
          <p:nvPr/>
        </p:nvSpPr>
        <p:spPr>
          <a:xfrm>
            <a:off x="8097317" y="1874520"/>
            <a:ext cx="3545738" cy="4160520"/>
          </a:xfrm>
          <a:prstGeom prst="roundRect">
            <a:avLst>
              <a:gd name="adj" fmla="val 2579"/>
            </a:avLst>
          </a:prstGeom>
          <a:solidFill>
            <a:schemeClr val="tx1"/>
          </a:solidFill>
          <a:ln/>
        </p:spPr>
      </p:sp>
      <p:sp>
        <p:nvSpPr>
          <p:cNvPr id="19" name="Text 14"/>
          <p:cNvSpPr txBox="1"/>
          <p:nvPr/>
        </p:nvSpPr>
        <p:spPr>
          <a:xfrm>
            <a:off x="8417357" y="2148840"/>
            <a:ext cx="2905658"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COMPANY FACTS</a:t>
            </a:r>
            <a:endParaRPr lang="en-US" sz="950" dirty="0"/>
          </a:p>
        </p:txBody>
      </p:sp>
      <p:sp>
        <p:nvSpPr>
          <p:cNvPr id="20" name="Text 15"/>
          <p:cNvSpPr txBox="1"/>
          <p:nvPr/>
        </p:nvSpPr>
        <p:spPr>
          <a:xfrm>
            <a:off x="8417357" y="256032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Founded</a:t>
            </a:r>
            <a:endParaRPr lang="en-US" sz="1100" dirty="0"/>
          </a:p>
        </p:txBody>
      </p:sp>
      <p:sp>
        <p:nvSpPr>
          <p:cNvPr id="21" name="Text 16"/>
          <p:cNvSpPr txBox="1"/>
          <p:nvPr/>
        </p:nvSpPr>
        <p:spPr>
          <a:xfrm>
            <a:off x="9834677" y="256032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2016</a:t>
            </a:r>
            <a:endParaRPr lang="en-US" sz="1400" dirty="0"/>
          </a:p>
        </p:txBody>
      </p:sp>
      <p:sp>
        <p:nvSpPr>
          <p:cNvPr id="22" name="Shape 17"/>
          <p:cNvSpPr/>
          <p:nvPr/>
        </p:nvSpPr>
        <p:spPr>
          <a:xfrm>
            <a:off x="8417357" y="3017520"/>
            <a:ext cx="2905658" cy="0"/>
          </a:xfrm>
          <a:prstGeom prst="line">
            <a:avLst/>
          </a:prstGeom>
          <a:noFill/>
          <a:ln w="12700">
            <a:solidFill>
              <a:schemeClr val="accent5"/>
            </a:solidFill>
            <a:prstDash val="solid"/>
          </a:ln>
        </p:spPr>
      </p:sp>
      <p:sp>
        <p:nvSpPr>
          <p:cNvPr id="23" name="Text 18"/>
          <p:cNvSpPr txBox="1"/>
          <p:nvPr/>
        </p:nvSpPr>
        <p:spPr>
          <a:xfrm>
            <a:off x="8417357" y="310896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Headquarters</a:t>
            </a:r>
            <a:endParaRPr lang="en-US" sz="1100" dirty="0"/>
          </a:p>
        </p:txBody>
      </p:sp>
      <p:sp>
        <p:nvSpPr>
          <p:cNvPr id="24" name="Text 19"/>
          <p:cNvSpPr txBox="1"/>
          <p:nvPr/>
        </p:nvSpPr>
        <p:spPr>
          <a:xfrm>
            <a:off x="9834677" y="310896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Amsterdam</a:t>
            </a:r>
            <a:endParaRPr lang="en-US" sz="1400" dirty="0"/>
          </a:p>
        </p:txBody>
      </p:sp>
      <p:sp>
        <p:nvSpPr>
          <p:cNvPr id="25" name="Shape 20"/>
          <p:cNvSpPr/>
          <p:nvPr/>
        </p:nvSpPr>
        <p:spPr>
          <a:xfrm>
            <a:off x="8417357" y="3566160"/>
            <a:ext cx="2905658" cy="0"/>
          </a:xfrm>
          <a:prstGeom prst="line">
            <a:avLst/>
          </a:prstGeom>
          <a:noFill/>
          <a:ln w="12700">
            <a:solidFill>
              <a:schemeClr val="accent5"/>
            </a:solidFill>
            <a:prstDash val="solid"/>
          </a:ln>
        </p:spPr>
      </p:sp>
      <p:sp>
        <p:nvSpPr>
          <p:cNvPr id="26" name="Text 21"/>
          <p:cNvSpPr txBox="1"/>
          <p:nvPr/>
        </p:nvSpPr>
        <p:spPr>
          <a:xfrm>
            <a:off x="8417357" y="365760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Employees</a:t>
            </a:r>
            <a:endParaRPr lang="en-US" sz="1100" dirty="0"/>
          </a:p>
        </p:txBody>
      </p:sp>
      <p:sp>
        <p:nvSpPr>
          <p:cNvPr id="27" name="Text 22"/>
          <p:cNvSpPr txBox="1"/>
          <p:nvPr/>
        </p:nvSpPr>
        <p:spPr>
          <a:xfrm>
            <a:off x="9834677" y="365760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320</a:t>
            </a:r>
            <a:endParaRPr lang="en-US" sz="1400" dirty="0"/>
          </a:p>
        </p:txBody>
      </p:sp>
      <p:sp>
        <p:nvSpPr>
          <p:cNvPr id="28" name="Shape 23"/>
          <p:cNvSpPr/>
          <p:nvPr/>
        </p:nvSpPr>
        <p:spPr>
          <a:xfrm>
            <a:off x="8417357" y="4114800"/>
            <a:ext cx="2905658" cy="0"/>
          </a:xfrm>
          <a:prstGeom prst="line">
            <a:avLst/>
          </a:prstGeom>
          <a:noFill/>
          <a:ln w="12700">
            <a:solidFill>
              <a:schemeClr val="accent5"/>
            </a:solidFill>
            <a:prstDash val="solid"/>
          </a:ln>
        </p:spPr>
      </p:sp>
      <p:sp>
        <p:nvSpPr>
          <p:cNvPr id="29" name="Text 24"/>
          <p:cNvSpPr txBox="1"/>
          <p:nvPr/>
        </p:nvSpPr>
        <p:spPr>
          <a:xfrm>
            <a:off x="8417357" y="420624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Offices</a:t>
            </a:r>
            <a:endParaRPr lang="en-US" sz="1100" dirty="0"/>
          </a:p>
        </p:txBody>
      </p:sp>
      <p:sp>
        <p:nvSpPr>
          <p:cNvPr id="30" name="Text 25"/>
          <p:cNvSpPr txBox="1"/>
          <p:nvPr/>
        </p:nvSpPr>
        <p:spPr>
          <a:xfrm>
            <a:off x="9834677" y="420624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6 cities</a:t>
            </a:r>
            <a:endParaRPr lang="en-US" sz="1400" dirty="0"/>
          </a:p>
        </p:txBody>
      </p:sp>
      <p:sp>
        <p:nvSpPr>
          <p:cNvPr id="31" name="Shape 26"/>
          <p:cNvSpPr/>
          <p:nvPr/>
        </p:nvSpPr>
        <p:spPr>
          <a:xfrm>
            <a:off x="8417357" y="4663440"/>
            <a:ext cx="2905658" cy="0"/>
          </a:xfrm>
          <a:prstGeom prst="line">
            <a:avLst/>
          </a:prstGeom>
          <a:noFill/>
          <a:ln w="12700">
            <a:solidFill>
              <a:schemeClr val="accent5"/>
            </a:solidFill>
            <a:prstDash val="solid"/>
          </a:ln>
        </p:spPr>
      </p:sp>
      <p:sp>
        <p:nvSpPr>
          <p:cNvPr id="32" name="Text 27"/>
          <p:cNvSpPr txBox="1"/>
          <p:nvPr/>
        </p:nvSpPr>
        <p:spPr>
          <a:xfrm>
            <a:off x="8417357" y="475488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Customers</a:t>
            </a:r>
            <a:endParaRPr lang="en-US" sz="1100" dirty="0"/>
          </a:p>
        </p:txBody>
      </p:sp>
      <p:sp>
        <p:nvSpPr>
          <p:cNvPr id="33" name="Text 28"/>
          <p:cNvSpPr txBox="1"/>
          <p:nvPr/>
        </p:nvSpPr>
        <p:spPr>
          <a:xfrm>
            <a:off x="9834677" y="4754880"/>
            <a:ext cx="1488338" cy="365760"/>
          </a:xfrm>
          <a:prstGeom prst="rect">
            <a:avLst/>
          </a:prstGeom>
          <a:noFill/>
          <a:ln/>
        </p:spPr>
        <p:txBody>
          <a:bodyPr wrap="square" lIns="0" tIns="0" rIns="0" bIns="0" rtlCol="0" anchor="ctr"/>
          <a:lstStyle/>
          <a:p>
            <a:pPr algn="r" indent="0" marL="0">
              <a:buNone/>
            </a:pPr>
            <a:r>
              <a:rPr lang="en-US" sz="1400" b="1" dirty="0">
                <a:solidFill>
                  <a:schemeClr val="accent1"/>
                </a:solidFill>
                <a:latin typeface="Manrope" pitchFamily="34" charset="0"/>
                <a:ea typeface="Manrope" pitchFamily="34" charset="-122"/>
                <a:cs typeface="Manrope" pitchFamily="34" charset="-120"/>
              </a:rPr>
              <a:t>1,240</a:t>
            </a:r>
            <a:endParaRPr lang="en-US" sz="1400" dirty="0"/>
          </a:p>
        </p:txBody>
      </p:sp>
      <p:sp>
        <p:nvSpPr>
          <p:cNvPr id="34" name="Shape 29"/>
          <p:cNvSpPr/>
          <p:nvPr/>
        </p:nvSpPr>
        <p:spPr>
          <a:xfrm>
            <a:off x="8417357" y="5212080"/>
            <a:ext cx="2905658" cy="0"/>
          </a:xfrm>
          <a:prstGeom prst="line">
            <a:avLst/>
          </a:prstGeom>
          <a:noFill/>
          <a:ln w="12700">
            <a:solidFill>
              <a:schemeClr val="accent5"/>
            </a:solidFill>
            <a:prstDash val="solid"/>
          </a:ln>
        </p:spPr>
      </p:sp>
      <p:sp>
        <p:nvSpPr>
          <p:cNvPr id="35" name="Text 30"/>
          <p:cNvSpPr txBox="1"/>
          <p:nvPr/>
        </p:nvSpPr>
        <p:spPr>
          <a:xfrm>
            <a:off x="8417357" y="530352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Markets</a:t>
            </a:r>
            <a:endParaRPr lang="en-US" sz="1100" dirty="0"/>
          </a:p>
        </p:txBody>
      </p:sp>
      <p:sp>
        <p:nvSpPr>
          <p:cNvPr id="36" name="Text 31"/>
          <p:cNvSpPr txBox="1"/>
          <p:nvPr/>
        </p:nvSpPr>
        <p:spPr>
          <a:xfrm>
            <a:off x="9834677" y="530352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14 countries</a:t>
            </a:r>
            <a:endParaRPr lang="en-US" sz="14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The business at a glance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Figures as of 30 September 2026. ARR includes contracted, not-yet-live revenue.</a:t>
            </a:r>
            <a:endParaRPr lang="en-US" sz="1150" dirty="0"/>
          </a:p>
        </p:txBody>
      </p:sp>
      <p:sp>
        <p:nvSpPr>
          <p:cNvPr id="6" name="Shape 4"/>
          <p:cNvSpPr/>
          <p:nvPr/>
        </p:nvSpPr>
        <p:spPr>
          <a:xfrm>
            <a:off x="548640" y="1874520"/>
            <a:ext cx="4489323" cy="4114800"/>
          </a:xfrm>
          <a:prstGeom prst="roundRect">
            <a:avLst>
              <a:gd name="adj" fmla="val 2222"/>
            </a:avLst>
          </a:prstGeom>
          <a:solidFill>
            <a:schemeClr val="accent1"/>
          </a:solidFill>
          <a:ln/>
        </p:spPr>
      </p:sp>
      <p:sp>
        <p:nvSpPr>
          <p:cNvPr id="7" name="Text 5"/>
          <p:cNvSpPr txBox="1"/>
          <p:nvPr/>
        </p:nvSpPr>
        <p:spPr>
          <a:xfrm>
            <a:off x="914400" y="2240280"/>
            <a:ext cx="3757803"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Annual recurring revenue</a:t>
            </a:r>
            <a:endParaRPr lang="en-US" sz="1200" dirty="0"/>
          </a:p>
        </p:txBody>
      </p:sp>
      <p:pic>
        <p:nvPicPr>
          <p:cNvPr id="8" name="Icon PiChartLineUp 0A1628" descr="preencoded.png">    </p:cNvPr>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4306443" y="2194560"/>
            <a:ext cx="365760" cy="365760"/>
          </a:xfrm>
          <a:prstGeom prst="rect">
            <a:avLst/>
          </a:prstGeom>
        </p:spPr>
      </p:pic>
      <p:sp>
        <p:nvSpPr>
          <p:cNvPr id="9" name="Text 6"/>
          <p:cNvSpPr txBox="1"/>
          <p:nvPr/>
        </p:nvSpPr>
        <p:spPr>
          <a:xfrm>
            <a:off x="914400" y="3886200"/>
            <a:ext cx="3757803" cy="1188720"/>
          </a:xfrm>
          <a:prstGeom prst="rect">
            <a:avLst/>
          </a:prstGeom>
          <a:noFill/>
          <a:ln/>
        </p:spPr>
        <p:txBody>
          <a:bodyPr wrap="square" lIns="0" tIns="0" rIns="0" bIns="0" rtlCol="0" anchor="b"/>
          <a:lstStyle/>
          <a:p>
            <a:pPr algn="l" indent="0" marL="0">
              <a:buNone/>
            </a:pPr>
            <a:r>
              <a:rPr lang="en-US" sz="7600" dirty="0">
                <a:solidFill>
                  <a:schemeClr val="tx1"/>
                </a:solidFill>
                <a:latin typeface="Manrope ExtraBold" pitchFamily="34" charset="0"/>
                <a:ea typeface="Manrope ExtraBold" pitchFamily="34" charset="-122"/>
                <a:cs typeface="Manrope ExtraBold" pitchFamily="34" charset="-120"/>
              </a:rPr>
              <a:t>$48.6M</a:t>
            </a:r>
            <a:endParaRPr lang="en-US" sz="7600" dirty="0"/>
          </a:p>
        </p:txBody>
      </p:sp>
      <p:sp>
        <p:nvSpPr>
          <p:cNvPr id="10" name="Text 7"/>
          <p:cNvSpPr txBox="1"/>
          <p:nvPr/>
        </p:nvSpPr>
        <p:spPr>
          <a:xfrm>
            <a:off x="914400" y="5212080"/>
            <a:ext cx="3757803" cy="36576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 62% year over year — fastest growth in our category.</a:t>
            </a:r>
            <a:endParaRPr lang="en-US" sz="1200" dirty="0"/>
          </a:p>
        </p:txBody>
      </p:sp>
      <p:sp>
        <p:nvSpPr>
          <p:cNvPr id="11" name="Shape 8"/>
          <p:cNvSpPr/>
          <p:nvPr/>
        </p:nvSpPr>
        <p:spPr>
          <a:xfrm>
            <a:off x="5495163" y="1874520"/>
            <a:ext cx="2959646" cy="1943100"/>
          </a:xfrm>
          <a:prstGeom prst="roundRect">
            <a:avLst>
              <a:gd name="adj" fmla="val 4706"/>
            </a:avLst>
          </a:prstGeom>
          <a:solidFill>
            <a:schemeClr val="bg1"/>
          </a:solidFill>
          <a:ln/>
        </p:spPr>
      </p:sp>
      <p:sp>
        <p:nvSpPr>
          <p:cNvPr id="12" name="Shape 9"/>
          <p:cNvSpPr/>
          <p:nvPr/>
        </p:nvSpPr>
        <p:spPr>
          <a:xfrm>
            <a:off x="5769483" y="2148840"/>
            <a:ext cx="457200" cy="457200"/>
          </a:xfrm>
          <a:prstGeom prst="ellipse">
            <a:avLst/>
          </a:prstGeom>
          <a:solidFill>
            <a:schemeClr val="bg2"/>
          </a:solidFill>
          <a:ln/>
        </p:spPr>
      </p:sp>
      <p:pic>
        <p:nvPicPr>
          <p:cNvPr id="13" name="Icon PiUsersThree 0A1628" descr="preencoded.png">    </p:cNvPr>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5879211" y="2258568"/>
            <a:ext cx="237744" cy="237744"/>
          </a:xfrm>
          <a:prstGeom prst="rect">
            <a:avLst/>
          </a:prstGeom>
        </p:spPr>
      </p:pic>
      <p:sp>
        <p:nvSpPr>
          <p:cNvPr id="14" name="Text 10"/>
          <p:cNvSpPr txBox="1"/>
          <p:nvPr/>
        </p:nvSpPr>
        <p:spPr>
          <a:xfrm>
            <a:off x="5769483" y="27432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1,240</a:t>
            </a:r>
            <a:endParaRPr lang="en-US" sz="3800" dirty="0"/>
          </a:p>
        </p:txBody>
      </p:sp>
      <p:sp>
        <p:nvSpPr>
          <p:cNvPr id="15" name="Text 11"/>
          <p:cNvSpPr txBox="1"/>
          <p:nvPr/>
        </p:nvSpPr>
        <p:spPr>
          <a:xfrm>
            <a:off x="5769483" y="33558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Customers</a:t>
            </a:r>
            <a:endParaRPr lang="en-US" sz="1100" dirty="0"/>
          </a:p>
        </p:txBody>
      </p:sp>
      <p:sp>
        <p:nvSpPr>
          <p:cNvPr id="16" name="Text 12"/>
          <p:cNvSpPr txBox="1"/>
          <p:nvPr/>
        </p:nvSpPr>
        <p:spPr>
          <a:xfrm>
            <a:off x="5769483" y="35844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+310 net new in 2026</a:t>
            </a:r>
            <a:endParaRPr lang="en-US" sz="1000" dirty="0"/>
          </a:p>
        </p:txBody>
      </p:sp>
      <p:sp>
        <p:nvSpPr>
          <p:cNvPr id="17" name="Shape 13"/>
          <p:cNvSpPr/>
          <p:nvPr/>
        </p:nvSpPr>
        <p:spPr>
          <a:xfrm>
            <a:off x="8683409" y="1874520"/>
            <a:ext cx="2959646" cy="1943100"/>
          </a:xfrm>
          <a:prstGeom prst="roundRect">
            <a:avLst>
              <a:gd name="adj" fmla="val 4706"/>
            </a:avLst>
          </a:prstGeom>
          <a:solidFill>
            <a:schemeClr val="bg1"/>
          </a:solidFill>
          <a:ln/>
        </p:spPr>
      </p:sp>
      <p:sp>
        <p:nvSpPr>
          <p:cNvPr id="18" name="Shape 14"/>
          <p:cNvSpPr/>
          <p:nvPr/>
        </p:nvSpPr>
        <p:spPr>
          <a:xfrm>
            <a:off x="8957729" y="2148840"/>
            <a:ext cx="457200" cy="457200"/>
          </a:xfrm>
          <a:prstGeom prst="ellipse">
            <a:avLst/>
          </a:prstGeom>
          <a:solidFill>
            <a:schemeClr val="bg2"/>
          </a:solidFill>
          <a:ln/>
        </p:spPr>
      </p:sp>
      <p:pic>
        <p:nvPicPr>
          <p:cNvPr id="19" name="Icon PiArrowsClockwise 0A1628" descr="preencoded.png">    </p:cNvPr>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9067457" y="2258568"/>
            <a:ext cx="237744" cy="237744"/>
          </a:xfrm>
          <a:prstGeom prst="rect">
            <a:avLst/>
          </a:prstGeom>
        </p:spPr>
      </p:pic>
      <p:sp>
        <p:nvSpPr>
          <p:cNvPr id="20" name="Text 15"/>
          <p:cNvSpPr txBox="1"/>
          <p:nvPr/>
        </p:nvSpPr>
        <p:spPr>
          <a:xfrm>
            <a:off x="8957729" y="27432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128%</a:t>
            </a:r>
            <a:endParaRPr lang="en-US" sz="3800" dirty="0"/>
          </a:p>
        </p:txBody>
      </p:sp>
      <p:sp>
        <p:nvSpPr>
          <p:cNvPr id="21" name="Text 16"/>
          <p:cNvSpPr txBox="1"/>
          <p:nvPr/>
        </p:nvSpPr>
        <p:spPr>
          <a:xfrm>
            <a:off x="8957729" y="33558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Net revenue retention</a:t>
            </a:r>
            <a:endParaRPr lang="en-US" sz="1100" dirty="0"/>
          </a:p>
        </p:txBody>
      </p:sp>
      <p:sp>
        <p:nvSpPr>
          <p:cNvPr id="22" name="Text 17"/>
          <p:cNvSpPr txBox="1"/>
          <p:nvPr/>
        </p:nvSpPr>
        <p:spPr>
          <a:xfrm>
            <a:off x="8957729" y="35844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Top quartile for B2B SaaS</a:t>
            </a:r>
            <a:endParaRPr lang="en-US" sz="1000" dirty="0"/>
          </a:p>
        </p:txBody>
      </p:sp>
      <p:sp>
        <p:nvSpPr>
          <p:cNvPr id="23" name="Shape 18"/>
          <p:cNvSpPr/>
          <p:nvPr/>
        </p:nvSpPr>
        <p:spPr>
          <a:xfrm>
            <a:off x="5495163" y="4046220"/>
            <a:ext cx="2959646" cy="1943100"/>
          </a:xfrm>
          <a:prstGeom prst="roundRect">
            <a:avLst>
              <a:gd name="adj" fmla="val 4706"/>
            </a:avLst>
          </a:prstGeom>
          <a:solidFill>
            <a:schemeClr val="bg1"/>
          </a:solidFill>
          <a:ln/>
        </p:spPr>
      </p:sp>
      <p:sp>
        <p:nvSpPr>
          <p:cNvPr id="24" name="Shape 19"/>
          <p:cNvSpPr/>
          <p:nvPr/>
        </p:nvSpPr>
        <p:spPr>
          <a:xfrm>
            <a:off x="5769483" y="4320540"/>
            <a:ext cx="457200" cy="457200"/>
          </a:xfrm>
          <a:prstGeom prst="ellipse">
            <a:avLst/>
          </a:prstGeom>
          <a:solidFill>
            <a:schemeClr val="bg2"/>
          </a:solidFill>
          <a:ln/>
        </p:spPr>
      </p:sp>
      <p:pic>
        <p:nvPicPr>
          <p:cNvPr id="25" name="Icon PiGlobeHemisphereWest 0A1628" descr="preencoded.png">    </p:cNvPr>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5879211" y="4430268"/>
            <a:ext cx="237744" cy="237744"/>
          </a:xfrm>
          <a:prstGeom prst="rect">
            <a:avLst/>
          </a:prstGeom>
        </p:spPr>
      </p:pic>
      <p:sp>
        <p:nvSpPr>
          <p:cNvPr id="26" name="Text 20"/>
          <p:cNvSpPr txBox="1"/>
          <p:nvPr/>
        </p:nvSpPr>
        <p:spPr>
          <a:xfrm>
            <a:off x="5769483" y="49149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14</a:t>
            </a:r>
            <a:endParaRPr lang="en-US" sz="3800" dirty="0"/>
          </a:p>
        </p:txBody>
      </p:sp>
      <p:sp>
        <p:nvSpPr>
          <p:cNvPr id="27" name="Text 21"/>
          <p:cNvSpPr txBox="1"/>
          <p:nvPr/>
        </p:nvSpPr>
        <p:spPr>
          <a:xfrm>
            <a:off x="5769483" y="55275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Countries served</a:t>
            </a:r>
            <a:endParaRPr lang="en-US" sz="1100" dirty="0"/>
          </a:p>
        </p:txBody>
      </p:sp>
      <p:sp>
        <p:nvSpPr>
          <p:cNvPr id="28" name="Text 22"/>
          <p:cNvSpPr txBox="1"/>
          <p:nvPr/>
        </p:nvSpPr>
        <p:spPr>
          <a:xfrm>
            <a:off x="5769483" y="57561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4 regions, 6 offices</a:t>
            </a:r>
            <a:endParaRPr lang="en-US" sz="1000" dirty="0"/>
          </a:p>
        </p:txBody>
      </p:sp>
      <p:sp>
        <p:nvSpPr>
          <p:cNvPr id="29" name="Shape 23"/>
          <p:cNvSpPr/>
          <p:nvPr/>
        </p:nvSpPr>
        <p:spPr>
          <a:xfrm>
            <a:off x="8683409" y="4046220"/>
            <a:ext cx="2959646" cy="1943100"/>
          </a:xfrm>
          <a:prstGeom prst="roundRect">
            <a:avLst>
              <a:gd name="adj" fmla="val 4706"/>
            </a:avLst>
          </a:prstGeom>
          <a:solidFill>
            <a:schemeClr val="bg1"/>
          </a:solidFill>
          <a:ln/>
        </p:spPr>
      </p:sp>
      <p:sp>
        <p:nvSpPr>
          <p:cNvPr id="30" name="Shape 24"/>
          <p:cNvSpPr/>
          <p:nvPr/>
        </p:nvSpPr>
        <p:spPr>
          <a:xfrm>
            <a:off x="8957729" y="4320540"/>
            <a:ext cx="457200" cy="457200"/>
          </a:xfrm>
          <a:prstGeom prst="ellipse">
            <a:avLst/>
          </a:prstGeom>
          <a:solidFill>
            <a:schemeClr val="bg2"/>
          </a:solidFill>
          <a:ln/>
        </p:spPr>
      </p:sp>
      <p:pic>
        <p:nvPicPr>
          <p:cNvPr id="31" name="Icon PiSealCheck 0A1628" descr="preencoded.png">    </p:cNvPr>
          <p:cNvPicPr>
            <a:picLocks noChangeAspect="1"/>
          </p:cNvPicPr>
          <p:nvPr/>
        </p:nvPicPr>
        <p:blipFill>
          <a:blip r:embed="rId5">
            <a:extLst>
              <a:ext uri="{96DAC541-7B7A-43D3-8B79-37D633B846F1}">
                <asvg:svgBlip xmlns:asvg="http://schemas.microsoft.com/office/drawing/2016/SVG/main" r:embed="rId12"/>
              </a:ext>
            </a:extLst>
          </a:blip>
          <a:stretch>
            <a:fillRect/>
          </a:stretch>
        </p:blipFill>
        <p:spPr>
          <a:xfrm>
            <a:off x="9067457" y="4430268"/>
            <a:ext cx="237744" cy="237744"/>
          </a:xfrm>
          <a:prstGeom prst="rect">
            <a:avLst/>
          </a:prstGeom>
        </p:spPr>
      </p:pic>
      <p:sp>
        <p:nvSpPr>
          <p:cNvPr id="32" name="Text 25"/>
          <p:cNvSpPr txBox="1"/>
          <p:nvPr/>
        </p:nvSpPr>
        <p:spPr>
          <a:xfrm>
            <a:off x="8957729" y="49149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72</a:t>
            </a:r>
            <a:endParaRPr lang="en-US" sz="3800" dirty="0"/>
          </a:p>
        </p:txBody>
      </p:sp>
      <p:sp>
        <p:nvSpPr>
          <p:cNvPr id="33" name="Text 26"/>
          <p:cNvSpPr txBox="1"/>
          <p:nvPr/>
        </p:nvSpPr>
        <p:spPr>
          <a:xfrm>
            <a:off x="8957729" y="55275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Net Promoter Score</a:t>
            </a:r>
            <a:endParaRPr lang="en-US" sz="1100" dirty="0"/>
          </a:p>
        </p:txBody>
      </p:sp>
      <p:sp>
        <p:nvSpPr>
          <p:cNvPr id="34" name="Text 27"/>
          <p:cNvSpPr txBox="1"/>
          <p:nvPr/>
        </p:nvSpPr>
        <p:spPr>
          <a:xfrm>
            <a:off x="8957729" y="57561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Up from 58 in 2024</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Ten years from spreadsheet add-on to category leader</a:t>
            </a:r>
            <a:endParaRPr lang="en-US" sz="2800" dirty="0"/>
          </a:p>
        </p:txBody>
      </p:sp>
      <p:sp>
        <p:nvSpPr>
          <p:cNvPr id="5" name="Shape 3"/>
          <p:cNvSpPr/>
          <p:nvPr/>
        </p:nvSpPr>
        <p:spPr>
          <a:xfrm>
            <a:off x="548640" y="3794760"/>
            <a:ext cx="11094415" cy="0"/>
          </a:xfrm>
          <a:prstGeom prst="line">
            <a:avLst/>
          </a:prstGeom>
          <a:noFill/>
          <a:ln w="19050">
            <a:solidFill>
              <a:schemeClr val="accent4"/>
            </a:solidFill>
            <a:prstDash val="solid"/>
          </a:ln>
        </p:spPr>
      </p:sp>
      <p:sp>
        <p:nvSpPr>
          <p:cNvPr id="6" name="Shape 4"/>
          <p:cNvSpPr/>
          <p:nvPr/>
        </p:nvSpPr>
        <p:spPr>
          <a:xfrm>
            <a:off x="548640" y="3703320"/>
            <a:ext cx="182880" cy="182880"/>
          </a:xfrm>
          <a:prstGeom prst="ellipse">
            <a:avLst/>
          </a:prstGeom>
          <a:solidFill>
            <a:schemeClr val="tx1"/>
          </a:solidFill>
          <a:ln/>
        </p:spPr>
      </p:sp>
      <p:sp>
        <p:nvSpPr>
          <p:cNvPr id="7" name="Shape 5"/>
          <p:cNvSpPr/>
          <p:nvPr/>
        </p:nvSpPr>
        <p:spPr>
          <a:xfrm>
            <a:off x="640080" y="3246120"/>
            <a:ext cx="0" cy="457200"/>
          </a:xfrm>
          <a:prstGeom prst="line">
            <a:avLst/>
          </a:prstGeom>
          <a:noFill/>
          <a:ln w="9525">
            <a:solidFill>
              <a:schemeClr val="accent4"/>
            </a:solidFill>
            <a:prstDash val="solid"/>
          </a:ln>
        </p:spPr>
      </p:sp>
      <p:sp>
        <p:nvSpPr>
          <p:cNvPr id="8" name="Text 6"/>
          <p:cNvSpPr txBox="1"/>
          <p:nvPr/>
        </p:nvSpPr>
        <p:spPr>
          <a:xfrm>
            <a:off x="548640" y="196596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2016</a:t>
            </a:r>
            <a:endParaRPr lang="en-US" sz="2400" dirty="0"/>
          </a:p>
        </p:txBody>
      </p:sp>
      <p:sp>
        <p:nvSpPr>
          <p:cNvPr id="9" name="Text 7"/>
          <p:cNvSpPr txBox="1"/>
          <p:nvPr/>
        </p:nvSpPr>
        <p:spPr>
          <a:xfrm>
            <a:off x="548640" y="246888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Founded</a:t>
            </a:r>
            <a:endParaRPr lang="en-US" sz="1300" dirty="0"/>
          </a:p>
        </p:txBody>
      </p:sp>
      <p:sp>
        <p:nvSpPr>
          <p:cNvPr id="10" name="Text 8"/>
          <p:cNvSpPr txBox="1"/>
          <p:nvPr/>
        </p:nvSpPr>
        <p:spPr>
          <a:xfrm>
            <a:off x="548640" y="276148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Forecasting add-on for spreadsheets, 3 founders.</a:t>
            </a:r>
            <a:endParaRPr lang="en-US" sz="1000" dirty="0"/>
          </a:p>
        </p:txBody>
      </p:sp>
      <p:sp>
        <p:nvSpPr>
          <p:cNvPr id="11" name="Shape 9"/>
          <p:cNvSpPr/>
          <p:nvPr/>
        </p:nvSpPr>
        <p:spPr>
          <a:xfrm>
            <a:off x="2397709" y="3703320"/>
            <a:ext cx="182880" cy="182880"/>
          </a:xfrm>
          <a:prstGeom prst="ellipse">
            <a:avLst/>
          </a:prstGeom>
          <a:solidFill>
            <a:schemeClr val="tx1"/>
          </a:solidFill>
          <a:ln/>
        </p:spPr>
      </p:sp>
      <p:sp>
        <p:nvSpPr>
          <p:cNvPr id="12" name="Shape 10"/>
          <p:cNvSpPr/>
          <p:nvPr/>
        </p:nvSpPr>
        <p:spPr>
          <a:xfrm>
            <a:off x="2489149" y="3977640"/>
            <a:ext cx="0" cy="274320"/>
          </a:xfrm>
          <a:prstGeom prst="line">
            <a:avLst/>
          </a:prstGeom>
          <a:noFill/>
          <a:ln w="9525">
            <a:solidFill>
              <a:schemeClr val="accent4"/>
            </a:solidFill>
            <a:prstDash val="solid"/>
          </a:ln>
        </p:spPr>
      </p:sp>
      <p:sp>
        <p:nvSpPr>
          <p:cNvPr id="13" name="Text 11"/>
          <p:cNvSpPr txBox="1"/>
          <p:nvPr/>
        </p:nvSpPr>
        <p:spPr>
          <a:xfrm>
            <a:off x="2397709" y="420624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2018</a:t>
            </a:r>
            <a:endParaRPr lang="en-US" sz="2400" dirty="0"/>
          </a:p>
        </p:txBody>
      </p:sp>
      <p:sp>
        <p:nvSpPr>
          <p:cNvPr id="14" name="Text 12"/>
          <p:cNvSpPr txBox="1"/>
          <p:nvPr/>
        </p:nvSpPr>
        <p:spPr>
          <a:xfrm>
            <a:off x="2397709" y="470916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Product–market fit</a:t>
            </a:r>
            <a:endParaRPr lang="en-US" sz="1300" dirty="0"/>
          </a:p>
        </p:txBody>
      </p:sp>
      <p:sp>
        <p:nvSpPr>
          <p:cNvPr id="15" name="Text 13"/>
          <p:cNvSpPr txBox="1"/>
          <p:nvPr/>
        </p:nvSpPr>
        <p:spPr>
          <a:xfrm>
            <a:off x="2397709" y="500176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First 100 customers and SaaS platform launch.</a:t>
            </a:r>
            <a:endParaRPr lang="en-US" sz="1000" dirty="0"/>
          </a:p>
        </p:txBody>
      </p:sp>
      <p:sp>
        <p:nvSpPr>
          <p:cNvPr id="16" name="Shape 14"/>
          <p:cNvSpPr/>
          <p:nvPr/>
        </p:nvSpPr>
        <p:spPr>
          <a:xfrm>
            <a:off x="4246778" y="3703320"/>
            <a:ext cx="182880" cy="182880"/>
          </a:xfrm>
          <a:prstGeom prst="ellipse">
            <a:avLst/>
          </a:prstGeom>
          <a:solidFill>
            <a:schemeClr val="tx1"/>
          </a:solidFill>
          <a:ln/>
        </p:spPr>
      </p:sp>
      <p:sp>
        <p:nvSpPr>
          <p:cNvPr id="17" name="Shape 15"/>
          <p:cNvSpPr/>
          <p:nvPr/>
        </p:nvSpPr>
        <p:spPr>
          <a:xfrm>
            <a:off x="4338218" y="3246120"/>
            <a:ext cx="0" cy="457200"/>
          </a:xfrm>
          <a:prstGeom prst="line">
            <a:avLst/>
          </a:prstGeom>
          <a:noFill/>
          <a:ln w="9525">
            <a:solidFill>
              <a:schemeClr val="accent4"/>
            </a:solidFill>
            <a:prstDash val="solid"/>
          </a:ln>
        </p:spPr>
      </p:sp>
      <p:sp>
        <p:nvSpPr>
          <p:cNvPr id="18" name="Text 16"/>
          <p:cNvSpPr txBox="1"/>
          <p:nvPr/>
        </p:nvSpPr>
        <p:spPr>
          <a:xfrm>
            <a:off x="4246778" y="196596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2020</a:t>
            </a:r>
            <a:endParaRPr lang="en-US" sz="2400" dirty="0"/>
          </a:p>
        </p:txBody>
      </p:sp>
      <p:sp>
        <p:nvSpPr>
          <p:cNvPr id="19" name="Text 17"/>
          <p:cNvSpPr txBox="1"/>
          <p:nvPr/>
        </p:nvSpPr>
        <p:spPr>
          <a:xfrm>
            <a:off x="4246778" y="246888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Series A · $18M</a:t>
            </a:r>
            <a:endParaRPr lang="en-US" sz="1300" dirty="0"/>
          </a:p>
        </p:txBody>
      </p:sp>
      <p:sp>
        <p:nvSpPr>
          <p:cNvPr id="20" name="Text 18"/>
          <p:cNvSpPr txBox="1"/>
          <p:nvPr/>
        </p:nvSpPr>
        <p:spPr>
          <a:xfrm>
            <a:off x="4246778" y="276148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Expansion into DACH and the Nordics.</a:t>
            </a:r>
            <a:endParaRPr lang="en-US" sz="1000" dirty="0"/>
          </a:p>
        </p:txBody>
      </p:sp>
      <p:sp>
        <p:nvSpPr>
          <p:cNvPr id="21" name="Shape 19"/>
          <p:cNvSpPr/>
          <p:nvPr/>
        </p:nvSpPr>
        <p:spPr>
          <a:xfrm>
            <a:off x="6095848" y="3703320"/>
            <a:ext cx="182880" cy="182880"/>
          </a:xfrm>
          <a:prstGeom prst="ellipse">
            <a:avLst/>
          </a:prstGeom>
          <a:solidFill>
            <a:schemeClr val="tx1"/>
          </a:solidFill>
          <a:ln/>
        </p:spPr>
      </p:sp>
      <p:sp>
        <p:nvSpPr>
          <p:cNvPr id="22" name="Shape 20"/>
          <p:cNvSpPr/>
          <p:nvPr/>
        </p:nvSpPr>
        <p:spPr>
          <a:xfrm>
            <a:off x="6187288" y="3977640"/>
            <a:ext cx="0" cy="274320"/>
          </a:xfrm>
          <a:prstGeom prst="line">
            <a:avLst/>
          </a:prstGeom>
          <a:noFill/>
          <a:ln w="9525">
            <a:solidFill>
              <a:schemeClr val="accent4"/>
            </a:solidFill>
            <a:prstDash val="solid"/>
          </a:ln>
        </p:spPr>
      </p:sp>
      <p:sp>
        <p:nvSpPr>
          <p:cNvPr id="23" name="Text 21"/>
          <p:cNvSpPr txBox="1"/>
          <p:nvPr/>
        </p:nvSpPr>
        <p:spPr>
          <a:xfrm>
            <a:off x="6095848" y="420624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2022</a:t>
            </a:r>
            <a:endParaRPr lang="en-US" sz="2400" dirty="0"/>
          </a:p>
        </p:txBody>
      </p:sp>
      <p:sp>
        <p:nvSpPr>
          <p:cNvPr id="24" name="Text 22"/>
          <p:cNvSpPr txBox="1"/>
          <p:nvPr/>
        </p:nvSpPr>
        <p:spPr>
          <a:xfrm>
            <a:off x="6095848" y="470916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AI forecasting</a:t>
            </a:r>
            <a:endParaRPr lang="en-US" sz="1300" dirty="0"/>
          </a:p>
        </p:txBody>
      </p:sp>
      <p:sp>
        <p:nvSpPr>
          <p:cNvPr id="25" name="Text 23"/>
          <p:cNvSpPr txBox="1"/>
          <p:nvPr/>
        </p:nvSpPr>
        <p:spPr>
          <a:xfrm>
            <a:off x="6095848" y="500176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Launched predictive deal scoring engine.</a:t>
            </a:r>
            <a:endParaRPr lang="en-US" sz="1000" dirty="0"/>
          </a:p>
        </p:txBody>
      </p:sp>
      <p:sp>
        <p:nvSpPr>
          <p:cNvPr id="26" name="Shape 24"/>
          <p:cNvSpPr/>
          <p:nvPr/>
        </p:nvSpPr>
        <p:spPr>
          <a:xfrm>
            <a:off x="7944917" y="3703320"/>
            <a:ext cx="182880" cy="182880"/>
          </a:xfrm>
          <a:prstGeom prst="ellipse">
            <a:avLst/>
          </a:prstGeom>
          <a:solidFill>
            <a:schemeClr val="tx1"/>
          </a:solidFill>
          <a:ln/>
        </p:spPr>
      </p:sp>
      <p:sp>
        <p:nvSpPr>
          <p:cNvPr id="27" name="Shape 25"/>
          <p:cNvSpPr/>
          <p:nvPr/>
        </p:nvSpPr>
        <p:spPr>
          <a:xfrm>
            <a:off x="8036357" y="3246120"/>
            <a:ext cx="0" cy="457200"/>
          </a:xfrm>
          <a:prstGeom prst="line">
            <a:avLst/>
          </a:prstGeom>
          <a:noFill/>
          <a:ln w="9525">
            <a:solidFill>
              <a:schemeClr val="accent4"/>
            </a:solidFill>
            <a:prstDash val="solid"/>
          </a:ln>
        </p:spPr>
      </p:sp>
      <p:sp>
        <p:nvSpPr>
          <p:cNvPr id="28" name="Text 26"/>
          <p:cNvSpPr txBox="1"/>
          <p:nvPr/>
        </p:nvSpPr>
        <p:spPr>
          <a:xfrm>
            <a:off x="7944917" y="196596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2024</a:t>
            </a:r>
            <a:endParaRPr lang="en-US" sz="2400" dirty="0"/>
          </a:p>
        </p:txBody>
      </p:sp>
      <p:sp>
        <p:nvSpPr>
          <p:cNvPr id="29" name="Text 27"/>
          <p:cNvSpPr txBox="1"/>
          <p:nvPr/>
        </p:nvSpPr>
        <p:spPr>
          <a:xfrm>
            <a:off x="7944917" y="246888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Series B · $65M</a:t>
            </a:r>
            <a:endParaRPr lang="en-US" sz="1300" dirty="0"/>
          </a:p>
        </p:txBody>
      </p:sp>
      <p:sp>
        <p:nvSpPr>
          <p:cNvPr id="30" name="Text 28"/>
          <p:cNvSpPr txBox="1"/>
          <p:nvPr/>
        </p:nvSpPr>
        <p:spPr>
          <a:xfrm>
            <a:off x="7944917" y="276148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Opened New York; crossed $25M ARR.</a:t>
            </a:r>
            <a:endParaRPr lang="en-US" sz="1000" dirty="0"/>
          </a:p>
        </p:txBody>
      </p:sp>
      <p:sp>
        <p:nvSpPr>
          <p:cNvPr id="31" name="Shape 29"/>
          <p:cNvSpPr/>
          <p:nvPr/>
        </p:nvSpPr>
        <p:spPr>
          <a:xfrm>
            <a:off x="9793986" y="3648456"/>
            <a:ext cx="292608" cy="292608"/>
          </a:xfrm>
          <a:prstGeom prst="ellipse">
            <a:avLst/>
          </a:prstGeom>
          <a:solidFill>
            <a:schemeClr val="accent1"/>
          </a:solidFill>
          <a:ln w="19050">
            <a:solidFill>
              <a:schemeClr val="tx1"/>
            </a:solidFill>
            <a:prstDash val="solid"/>
          </a:ln>
        </p:spPr>
      </p:sp>
      <p:sp>
        <p:nvSpPr>
          <p:cNvPr id="32" name="Shape 30"/>
          <p:cNvSpPr/>
          <p:nvPr/>
        </p:nvSpPr>
        <p:spPr>
          <a:xfrm>
            <a:off x="9940290" y="3977640"/>
            <a:ext cx="0" cy="274320"/>
          </a:xfrm>
          <a:prstGeom prst="line">
            <a:avLst/>
          </a:prstGeom>
          <a:noFill/>
          <a:ln w="9525">
            <a:solidFill>
              <a:schemeClr val="accent4"/>
            </a:solidFill>
            <a:prstDash val="solid"/>
          </a:ln>
        </p:spPr>
      </p:sp>
      <p:sp>
        <p:nvSpPr>
          <p:cNvPr id="33" name="Text 31"/>
          <p:cNvSpPr txBox="1"/>
          <p:nvPr/>
        </p:nvSpPr>
        <p:spPr>
          <a:xfrm>
            <a:off x="9793986" y="420624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2026</a:t>
            </a:r>
            <a:endParaRPr lang="en-US" sz="2400" dirty="0"/>
          </a:p>
        </p:txBody>
      </p:sp>
      <p:sp>
        <p:nvSpPr>
          <p:cNvPr id="34" name="Text 32"/>
          <p:cNvSpPr txBox="1"/>
          <p:nvPr/>
        </p:nvSpPr>
        <p:spPr>
          <a:xfrm>
            <a:off x="9793986" y="470916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1,240 customers</a:t>
            </a:r>
            <a:endParaRPr lang="en-US" sz="1300" dirty="0"/>
          </a:p>
        </p:txBody>
      </p:sp>
      <p:sp>
        <p:nvSpPr>
          <p:cNvPr id="35" name="Text 33"/>
          <p:cNvSpPr txBox="1"/>
          <p:nvPr/>
        </p:nvSpPr>
        <p:spPr>
          <a:xfrm>
            <a:off x="9793986" y="500176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$48.6M ARR, 14 markets, 320 people.</a:t>
            </a:r>
            <a:endParaRPr lang="en-US" sz="1000" dirty="0"/>
          </a:p>
        </p:txBody>
      </p:sp>
      <p:sp>
        <p:nvSpPr>
          <p:cNvPr id="36" name="Shape 34"/>
          <p:cNvSpPr/>
          <p:nvPr/>
        </p:nvSpPr>
        <p:spPr>
          <a:xfrm>
            <a:off x="10754106" y="4297680"/>
            <a:ext cx="666598" cy="274320"/>
          </a:xfrm>
          <a:prstGeom prst="roundRect">
            <a:avLst>
              <a:gd name="adj" fmla="val 50000"/>
            </a:avLst>
          </a:prstGeom>
          <a:solidFill>
            <a:schemeClr val="accent1"/>
          </a:solidFill>
          <a:ln/>
        </p:spPr>
      </p:sp>
      <p:sp>
        <p:nvSpPr>
          <p:cNvPr id="37" name="Text 35"/>
          <p:cNvSpPr txBox="1"/>
          <p:nvPr/>
        </p:nvSpPr>
        <p:spPr>
          <a:xfrm>
            <a:off x="10754106" y="4297680"/>
            <a:ext cx="666598"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Today</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chemeClr val="tx1"/>
          </a:solidFill>
          <a:ln/>
        </p:spPr>
      </p:sp>
      <p:sp>
        <p:nvSpPr>
          <p:cNvPr id="3" name="Shape 1"/>
          <p:cNvSpPr/>
          <p:nvPr/>
        </p:nvSpPr>
        <p:spPr>
          <a:xfrm>
            <a:off x="548640" y="617220"/>
            <a:ext cx="91440" cy="91440"/>
          </a:xfrm>
          <a:prstGeom prst="rect">
            <a:avLst/>
          </a:prstGeom>
          <a:solidFill>
            <a:schemeClr val="accent1"/>
          </a:solidFill>
          <a:ln/>
        </p:spPr>
      </p:sp>
      <p:sp>
        <p:nvSpPr>
          <p:cNvPr id="4" name="Text 2"/>
          <p:cNvSpPr txBox="1"/>
          <p:nvPr/>
        </p:nvSpPr>
        <p:spPr>
          <a:xfrm>
            <a:off x="731520" y="54864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01 · COMPANY · MISSION</a:t>
            </a:r>
            <a:endParaRPr lang="en-US" sz="950" dirty="0"/>
          </a:p>
        </p:txBody>
      </p:sp>
      <p:sp>
        <p:nvSpPr>
          <p:cNvPr id="5" name="Text 3"/>
          <p:cNvSpPr txBox="1"/>
          <p:nvPr/>
        </p:nvSpPr>
        <p:spPr>
          <a:xfrm>
            <a:off x="548640" y="1737360"/>
            <a:ext cx="4998568" cy="274320"/>
          </a:xfrm>
          <a:prstGeom prst="rect">
            <a:avLst/>
          </a:prstGeom>
          <a:noFill/>
          <a:ln/>
        </p:spPr>
        <p:txBody>
          <a:bodyPr wrap="square" lIns="0" tIns="0" rIns="0" bIns="0" rtlCol="0" anchor="t"/>
          <a:lstStyle/>
          <a:p>
            <a:pPr algn="l" indent="0" marL="0">
              <a:buNone/>
            </a:pPr>
            <a:r>
              <a:rPr lang="en-US" sz="1000" spc="200" kern="0" dirty="0">
                <a:solidFill>
                  <a:schemeClr val="accent1"/>
                </a:solidFill>
                <a:latin typeface="Inter Medium" pitchFamily="34" charset="0"/>
                <a:ea typeface="Inter Medium" pitchFamily="34" charset="-122"/>
                <a:cs typeface="Inter Medium" pitchFamily="34" charset="-120"/>
              </a:rPr>
              <a:t>OUR MISSION</a:t>
            </a:r>
            <a:endParaRPr lang="en-US" sz="1000" dirty="0"/>
          </a:p>
        </p:txBody>
      </p:sp>
      <p:sp>
        <p:nvSpPr>
          <p:cNvPr id="6" name="Text 4"/>
          <p:cNvSpPr txBox="1"/>
          <p:nvPr/>
        </p:nvSpPr>
        <p:spPr>
          <a:xfrm>
            <a:off x="548640" y="2148840"/>
            <a:ext cx="4998568" cy="2194560"/>
          </a:xfrm>
          <a:prstGeom prst="rect">
            <a:avLst/>
          </a:prstGeom>
          <a:noFill/>
          <a:ln/>
        </p:spPr>
        <p:txBody>
          <a:bodyPr wrap="square" lIns="0" tIns="0" rIns="0" bIns="0" rtlCol="0" anchor="t"/>
          <a:lstStyle/>
          <a:p>
            <a:pPr algn="l" indent="0" marL="0">
              <a:lnSpc>
                <a:spcPct val="110000"/>
              </a:lnSpc>
              <a:buNone/>
            </a:pPr>
            <a:r>
              <a:rPr lang="en-US" sz="2800" b="1" dirty="0">
                <a:solidFill>
                  <a:schemeClr val="bg1"/>
                </a:solidFill>
                <a:latin typeface="Manrope" pitchFamily="34" charset="0"/>
                <a:ea typeface="Manrope" pitchFamily="34" charset="-122"/>
                <a:cs typeface="Manrope" pitchFamily="34" charset="-120"/>
              </a:rPr>
              <a:t>Give every revenue team the clarity to make the right call — every day, on every deal.</a:t>
            </a:r>
            <a:endParaRPr lang="en-US" sz="2800" dirty="0"/>
          </a:p>
        </p:txBody>
      </p:sp>
      <p:sp>
        <p:nvSpPr>
          <p:cNvPr id="7" name="Text 5"/>
          <p:cNvSpPr txBox="1"/>
          <p:nvPr/>
        </p:nvSpPr>
        <p:spPr>
          <a:xfrm>
            <a:off x="6644488" y="1737360"/>
            <a:ext cx="4998568" cy="274320"/>
          </a:xfrm>
          <a:prstGeom prst="rect">
            <a:avLst/>
          </a:prstGeom>
          <a:noFill/>
          <a:ln/>
        </p:spPr>
        <p:txBody>
          <a:bodyPr wrap="square" lIns="0" tIns="0" rIns="0" bIns="0" rtlCol="0" anchor="t"/>
          <a:lstStyle/>
          <a:p>
            <a:pPr algn="l" indent="0" marL="0">
              <a:buNone/>
            </a:pPr>
            <a:r>
              <a:rPr lang="en-US" sz="1000" spc="200" kern="0" dirty="0">
                <a:solidFill>
                  <a:schemeClr val="accent6"/>
                </a:solidFill>
                <a:latin typeface="Inter Medium" pitchFamily="34" charset="0"/>
                <a:ea typeface="Inter Medium" pitchFamily="34" charset="-122"/>
                <a:cs typeface="Inter Medium" pitchFamily="34" charset="-120"/>
              </a:rPr>
              <a:t>OUR VISION</a:t>
            </a:r>
            <a:endParaRPr lang="en-US" sz="1000" dirty="0"/>
          </a:p>
        </p:txBody>
      </p:sp>
      <p:sp>
        <p:nvSpPr>
          <p:cNvPr id="8" name="Text 6"/>
          <p:cNvSpPr txBox="1"/>
          <p:nvPr/>
        </p:nvSpPr>
        <p:spPr>
          <a:xfrm>
            <a:off x="6644488" y="2148840"/>
            <a:ext cx="4998568" cy="1828800"/>
          </a:xfrm>
          <a:prstGeom prst="rect">
            <a:avLst/>
          </a:prstGeom>
          <a:noFill/>
          <a:ln/>
        </p:spPr>
        <p:txBody>
          <a:bodyPr wrap="square" lIns="0" tIns="0" rIns="0" bIns="0" rtlCol="0" anchor="t"/>
          <a:lstStyle/>
          <a:p>
            <a:pPr algn="l" indent="0" marL="0">
              <a:lnSpc>
                <a:spcPct val="110000"/>
              </a:lnSpc>
              <a:buNone/>
            </a:pPr>
            <a:r>
              <a:rPr lang="en-US" sz="2800" b="1" dirty="0">
                <a:solidFill>
                  <a:schemeClr val="tx1"/>
                </a:solidFill>
                <a:latin typeface="Manrope" pitchFamily="34" charset="0"/>
                <a:ea typeface="Manrope" pitchFamily="34" charset="-122"/>
                <a:cs typeface="Manrope" pitchFamily="34" charset="-120"/>
              </a:rPr>
              <a:t>A world where no forecast is a guess and no good deal is lost to bad data.</a:t>
            </a:r>
            <a:endParaRPr lang="en-US" sz="2800" dirty="0"/>
          </a:p>
        </p:txBody>
      </p:sp>
      <p:sp>
        <p:nvSpPr>
          <p:cNvPr id="9" name="Text 7"/>
          <p:cNvSpPr txBox="1"/>
          <p:nvPr/>
        </p:nvSpPr>
        <p:spPr>
          <a:xfrm>
            <a:off x="548640" y="4800600"/>
            <a:ext cx="18288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VALUES</a:t>
            </a:r>
            <a:endParaRPr lang="en-US" sz="950" dirty="0"/>
          </a:p>
        </p:txBody>
      </p:sp>
      <p:sp>
        <p:nvSpPr>
          <p:cNvPr id="10" name="Shape 8"/>
          <p:cNvSpPr/>
          <p:nvPr/>
        </p:nvSpPr>
        <p:spPr>
          <a:xfrm>
            <a:off x="548640" y="5166360"/>
            <a:ext cx="457200" cy="457200"/>
          </a:xfrm>
          <a:prstGeom prst="ellipse">
            <a:avLst/>
          </a:prstGeom>
          <a:solidFill>
            <a:schemeClr val="accent5"/>
          </a:solidFill>
          <a:ln/>
        </p:spPr>
      </p:sp>
      <p:pic>
        <p:nvPicPr>
          <p:cNvPr id="11" name="Icon PiEye C6F432"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658368" y="5276088"/>
            <a:ext cx="237744" cy="237744"/>
          </a:xfrm>
          <a:prstGeom prst="rect">
            <a:avLst/>
          </a:prstGeom>
        </p:spPr>
      </p:pic>
      <p:sp>
        <p:nvSpPr>
          <p:cNvPr id="12" name="Text 9"/>
          <p:cNvSpPr txBox="1"/>
          <p:nvPr/>
        </p:nvSpPr>
        <p:spPr>
          <a:xfrm>
            <a:off x="548640" y="5715000"/>
            <a:ext cx="1691640"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Radical clarity</a:t>
            </a:r>
            <a:endParaRPr lang="en-US" sz="1100" dirty="0"/>
          </a:p>
        </p:txBody>
      </p:sp>
      <p:sp>
        <p:nvSpPr>
          <p:cNvPr id="13" name="Shape 10"/>
          <p:cNvSpPr/>
          <p:nvPr/>
        </p:nvSpPr>
        <p:spPr>
          <a:xfrm>
            <a:off x="2331720" y="5166360"/>
            <a:ext cx="457200" cy="457200"/>
          </a:xfrm>
          <a:prstGeom prst="ellipse">
            <a:avLst/>
          </a:prstGeom>
          <a:solidFill>
            <a:schemeClr val="accent5"/>
          </a:solidFill>
          <a:ln/>
        </p:spPr>
      </p:sp>
      <p:pic>
        <p:nvPicPr>
          <p:cNvPr id="14" name="Icon PiHandshake C6F432"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2441448" y="5276088"/>
            <a:ext cx="237744" cy="237744"/>
          </a:xfrm>
          <a:prstGeom prst="rect">
            <a:avLst/>
          </a:prstGeom>
        </p:spPr>
      </p:pic>
      <p:sp>
        <p:nvSpPr>
          <p:cNvPr id="15" name="Text 11"/>
          <p:cNvSpPr txBox="1"/>
          <p:nvPr/>
        </p:nvSpPr>
        <p:spPr>
          <a:xfrm>
            <a:off x="2331720" y="5715000"/>
            <a:ext cx="1691640"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Earn trust daily</a:t>
            </a:r>
            <a:endParaRPr lang="en-US" sz="1100" dirty="0"/>
          </a:p>
        </p:txBody>
      </p:sp>
      <p:sp>
        <p:nvSpPr>
          <p:cNvPr id="16" name="Shape 12"/>
          <p:cNvSpPr/>
          <p:nvPr/>
        </p:nvSpPr>
        <p:spPr>
          <a:xfrm>
            <a:off x="4114800" y="5166360"/>
            <a:ext cx="457200" cy="457200"/>
          </a:xfrm>
          <a:prstGeom prst="ellipse">
            <a:avLst/>
          </a:prstGeom>
          <a:solidFill>
            <a:schemeClr val="accent5"/>
          </a:solidFill>
          <a:ln/>
        </p:spPr>
      </p:sp>
      <p:pic>
        <p:nvPicPr>
          <p:cNvPr id="17" name="Icon PiLightning C6F432"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4224528" y="5276088"/>
            <a:ext cx="237744" cy="237744"/>
          </a:xfrm>
          <a:prstGeom prst="rect">
            <a:avLst/>
          </a:prstGeom>
        </p:spPr>
      </p:pic>
      <p:sp>
        <p:nvSpPr>
          <p:cNvPr id="18" name="Text 13"/>
          <p:cNvSpPr txBox="1"/>
          <p:nvPr/>
        </p:nvSpPr>
        <p:spPr>
          <a:xfrm>
            <a:off x="4114800" y="5715000"/>
            <a:ext cx="1691640"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Bias for speed</a:t>
            </a:r>
            <a:endParaRPr lang="en-US" sz="1100" dirty="0"/>
          </a:p>
        </p:txBody>
      </p:sp>
      <p:sp>
        <p:nvSpPr>
          <p:cNvPr id="19" name="Text 14"/>
          <p:cNvSpPr txBox="1"/>
          <p:nvPr/>
        </p:nvSpPr>
        <p:spPr>
          <a:xfrm>
            <a:off x="6644488" y="4800600"/>
            <a:ext cx="18288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BY 2030</a:t>
            </a:r>
            <a:endParaRPr lang="en-US" sz="950" dirty="0"/>
          </a:p>
        </p:txBody>
      </p:sp>
      <p:sp>
        <p:nvSpPr>
          <p:cNvPr id="20" name="Text 15"/>
          <p:cNvSpPr txBox="1"/>
          <p:nvPr/>
        </p:nvSpPr>
        <p:spPr>
          <a:xfrm>
            <a:off x="6644488" y="5120640"/>
            <a:ext cx="169164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10K</a:t>
            </a:r>
            <a:endParaRPr lang="en-US" sz="3000" dirty="0"/>
          </a:p>
        </p:txBody>
      </p:sp>
      <p:sp>
        <p:nvSpPr>
          <p:cNvPr id="21" name="Text 16"/>
          <p:cNvSpPr txBox="1"/>
          <p:nvPr/>
        </p:nvSpPr>
        <p:spPr>
          <a:xfrm>
            <a:off x="6644488" y="5715000"/>
            <a:ext cx="1691640"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customers</a:t>
            </a:r>
            <a:endParaRPr lang="en-US" sz="1100" dirty="0"/>
          </a:p>
        </p:txBody>
      </p:sp>
      <p:sp>
        <p:nvSpPr>
          <p:cNvPr id="22" name="Text 17"/>
          <p:cNvSpPr txBox="1"/>
          <p:nvPr/>
        </p:nvSpPr>
        <p:spPr>
          <a:xfrm>
            <a:off x="8427568" y="5120640"/>
            <a:ext cx="169164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$250M</a:t>
            </a:r>
            <a:endParaRPr lang="en-US" sz="3000" dirty="0"/>
          </a:p>
        </p:txBody>
      </p:sp>
      <p:sp>
        <p:nvSpPr>
          <p:cNvPr id="23" name="Text 18"/>
          <p:cNvSpPr txBox="1"/>
          <p:nvPr/>
        </p:nvSpPr>
        <p:spPr>
          <a:xfrm>
            <a:off x="8427568" y="5715000"/>
            <a:ext cx="1691640"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ARR</a:t>
            </a:r>
            <a:endParaRPr lang="en-US" sz="1100" dirty="0"/>
          </a:p>
        </p:txBody>
      </p:sp>
      <p:sp>
        <p:nvSpPr>
          <p:cNvPr id="24" name="Text 19"/>
          <p:cNvSpPr txBox="1"/>
          <p:nvPr/>
        </p:nvSpPr>
        <p:spPr>
          <a:xfrm>
            <a:off x="10210648" y="5120640"/>
            <a:ext cx="169164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40</a:t>
            </a:r>
            <a:endParaRPr lang="en-US" sz="3000" dirty="0"/>
          </a:p>
        </p:txBody>
      </p:sp>
      <p:sp>
        <p:nvSpPr>
          <p:cNvPr id="25" name="Text 20"/>
          <p:cNvSpPr txBox="1"/>
          <p:nvPr/>
        </p:nvSpPr>
        <p:spPr>
          <a:xfrm>
            <a:off x="10210648" y="5715000"/>
            <a:ext cx="1691640"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markets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we make money: one platform, three revenue streams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Subscription is 81% of revenue; services and marketplace fees lift average contract value by 24%.</a:t>
            </a:r>
            <a:endParaRPr lang="en-US" sz="1150" dirty="0"/>
          </a:p>
        </p:txBody>
      </p:sp>
      <p:sp>
        <p:nvSpPr>
          <p:cNvPr id="6" name="Text 4"/>
          <p:cNvSpPr txBox="1"/>
          <p:nvPr/>
        </p:nvSpPr>
        <p:spPr>
          <a:xfrm>
            <a:off x="548640" y="2011680"/>
            <a:ext cx="2602154"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CUSTOMERS</a:t>
            </a:r>
            <a:endParaRPr lang="en-US" sz="950" dirty="0"/>
          </a:p>
        </p:txBody>
      </p:sp>
      <p:sp>
        <p:nvSpPr>
          <p:cNvPr id="7" name="Shape 5"/>
          <p:cNvSpPr/>
          <p:nvPr/>
        </p:nvSpPr>
        <p:spPr>
          <a:xfrm>
            <a:off x="548640" y="2423160"/>
            <a:ext cx="2602154" cy="1005840"/>
          </a:xfrm>
          <a:prstGeom prst="roundRect">
            <a:avLst>
              <a:gd name="adj" fmla="val 9091"/>
            </a:avLst>
          </a:prstGeom>
          <a:solidFill>
            <a:schemeClr val="bg2"/>
          </a:solidFill>
          <a:ln/>
        </p:spPr>
      </p:sp>
      <p:pic>
        <p:nvPicPr>
          <p:cNvPr id="8" name="Icon PiBuildings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777240" y="2697480"/>
            <a:ext cx="365760" cy="365760"/>
          </a:xfrm>
          <a:prstGeom prst="rect">
            <a:avLst/>
          </a:prstGeom>
        </p:spPr>
      </p:pic>
      <p:sp>
        <p:nvSpPr>
          <p:cNvPr id="9" name="Text 6"/>
          <p:cNvSpPr txBox="1"/>
          <p:nvPr/>
        </p:nvSpPr>
        <p:spPr>
          <a:xfrm>
            <a:off x="1325880" y="2651760"/>
            <a:ext cx="168775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Mid-market</a:t>
            </a:r>
            <a:endParaRPr lang="en-US" sz="1300" dirty="0"/>
          </a:p>
        </p:txBody>
      </p:sp>
      <p:sp>
        <p:nvSpPr>
          <p:cNvPr id="10" name="Text 7"/>
          <p:cNvSpPr txBox="1"/>
          <p:nvPr/>
        </p:nvSpPr>
        <p:spPr>
          <a:xfrm>
            <a:off x="1325880" y="2944368"/>
            <a:ext cx="16877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200–2,000 staff</a:t>
            </a:r>
            <a:endParaRPr lang="en-US" sz="1000" dirty="0"/>
          </a:p>
        </p:txBody>
      </p:sp>
      <p:sp>
        <p:nvSpPr>
          <p:cNvPr id="11" name="Shape 8"/>
          <p:cNvSpPr/>
          <p:nvPr/>
        </p:nvSpPr>
        <p:spPr>
          <a:xfrm>
            <a:off x="548640" y="3611880"/>
            <a:ext cx="2602154" cy="1005840"/>
          </a:xfrm>
          <a:prstGeom prst="roundRect">
            <a:avLst>
              <a:gd name="adj" fmla="val 9091"/>
            </a:avLst>
          </a:prstGeom>
          <a:solidFill>
            <a:schemeClr val="bg2"/>
          </a:solidFill>
          <a:ln/>
        </p:spPr>
      </p:sp>
      <p:pic>
        <p:nvPicPr>
          <p:cNvPr id="12" name="Icon PiStorefront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777240" y="3886200"/>
            <a:ext cx="365760" cy="365760"/>
          </a:xfrm>
          <a:prstGeom prst="rect">
            <a:avLst/>
          </a:prstGeom>
        </p:spPr>
      </p:pic>
      <p:sp>
        <p:nvSpPr>
          <p:cNvPr id="13" name="Text 9"/>
          <p:cNvSpPr txBox="1"/>
          <p:nvPr/>
        </p:nvSpPr>
        <p:spPr>
          <a:xfrm>
            <a:off x="1325880" y="3840480"/>
            <a:ext cx="168775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Scale-ups</a:t>
            </a:r>
            <a:endParaRPr lang="en-US" sz="1300" dirty="0"/>
          </a:p>
        </p:txBody>
      </p:sp>
      <p:sp>
        <p:nvSpPr>
          <p:cNvPr id="14" name="Text 10"/>
          <p:cNvSpPr txBox="1"/>
          <p:nvPr/>
        </p:nvSpPr>
        <p:spPr>
          <a:xfrm>
            <a:off x="1325880" y="4133088"/>
            <a:ext cx="16877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Series B–D</a:t>
            </a:r>
            <a:endParaRPr lang="en-US" sz="1000" dirty="0"/>
          </a:p>
        </p:txBody>
      </p:sp>
      <p:sp>
        <p:nvSpPr>
          <p:cNvPr id="15" name="Shape 11"/>
          <p:cNvSpPr/>
          <p:nvPr/>
        </p:nvSpPr>
        <p:spPr>
          <a:xfrm>
            <a:off x="548640" y="4800600"/>
            <a:ext cx="2602154" cy="1005840"/>
          </a:xfrm>
          <a:prstGeom prst="roundRect">
            <a:avLst>
              <a:gd name="adj" fmla="val 9091"/>
            </a:avLst>
          </a:prstGeom>
          <a:solidFill>
            <a:schemeClr val="bg2"/>
          </a:solidFill>
          <a:ln/>
        </p:spPr>
      </p:sp>
      <p:pic>
        <p:nvPicPr>
          <p:cNvPr id="16" name="Icon PiBriefcase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777240" y="5074920"/>
            <a:ext cx="365760" cy="365760"/>
          </a:xfrm>
          <a:prstGeom prst="rect">
            <a:avLst/>
          </a:prstGeom>
        </p:spPr>
      </p:pic>
      <p:sp>
        <p:nvSpPr>
          <p:cNvPr id="17" name="Text 12"/>
          <p:cNvSpPr txBox="1"/>
          <p:nvPr/>
        </p:nvSpPr>
        <p:spPr>
          <a:xfrm>
            <a:off x="1325880" y="5029200"/>
            <a:ext cx="168775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Enterprise teams</a:t>
            </a:r>
            <a:endParaRPr lang="en-US" sz="1300" dirty="0"/>
          </a:p>
        </p:txBody>
      </p:sp>
      <p:sp>
        <p:nvSpPr>
          <p:cNvPr id="18" name="Text 13"/>
          <p:cNvSpPr txBox="1"/>
          <p:nvPr/>
        </p:nvSpPr>
        <p:spPr>
          <a:xfrm>
            <a:off x="1325880" y="5321808"/>
            <a:ext cx="16877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Division buyers</a:t>
            </a:r>
            <a:endParaRPr lang="en-US" sz="1000" dirty="0"/>
          </a:p>
        </p:txBody>
      </p:sp>
      <p:sp>
        <p:nvSpPr>
          <p:cNvPr id="19" name="Text 14"/>
          <p:cNvSpPr txBox="1"/>
          <p:nvPr/>
        </p:nvSpPr>
        <p:spPr>
          <a:xfrm>
            <a:off x="4322978" y="2011680"/>
            <a:ext cx="3545738"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PLATFORM</a:t>
            </a:r>
            <a:endParaRPr lang="en-US" sz="950" dirty="0"/>
          </a:p>
        </p:txBody>
      </p:sp>
      <p:sp>
        <p:nvSpPr>
          <p:cNvPr id="20" name="Shape 15"/>
          <p:cNvSpPr/>
          <p:nvPr/>
        </p:nvSpPr>
        <p:spPr>
          <a:xfrm>
            <a:off x="4322978" y="2423160"/>
            <a:ext cx="3545738" cy="3383280"/>
          </a:xfrm>
          <a:prstGeom prst="roundRect">
            <a:avLst>
              <a:gd name="adj" fmla="val 2703"/>
            </a:avLst>
          </a:prstGeom>
          <a:solidFill>
            <a:schemeClr val="tx1"/>
          </a:solidFill>
          <a:ln/>
        </p:spPr>
      </p:sp>
      <p:sp>
        <p:nvSpPr>
          <p:cNvPr id="21" name="Text 16"/>
          <p:cNvSpPr txBox="1"/>
          <p:nvPr/>
        </p:nvSpPr>
        <p:spPr>
          <a:xfrm>
            <a:off x="4643018" y="2697480"/>
            <a:ext cx="2905658" cy="32004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Corvanta Revenue Cloud</a:t>
            </a:r>
            <a:endParaRPr lang="en-US" sz="1600" dirty="0"/>
          </a:p>
        </p:txBody>
      </p:sp>
      <p:sp>
        <p:nvSpPr>
          <p:cNvPr id="22" name="Text 17"/>
          <p:cNvSpPr txBox="1"/>
          <p:nvPr/>
        </p:nvSpPr>
        <p:spPr>
          <a:xfrm>
            <a:off x="4643018" y="3035808"/>
            <a:ext cx="290565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Per-seat subscription, billed annually</a:t>
            </a:r>
            <a:endParaRPr lang="en-US" sz="1000" dirty="0"/>
          </a:p>
        </p:txBody>
      </p:sp>
      <p:sp>
        <p:nvSpPr>
          <p:cNvPr id="23" name="Shape 18"/>
          <p:cNvSpPr/>
          <p:nvPr/>
        </p:nvSpPr>
        <p:spPr>
          <a:xfrm>
            <a:off x="4643018" y="3566160"/>
            <a:ext cx="1384249" cy="548640"/>
          </a:xfrm>
          <a:prstGeom prst="roundRect">
            <a:avLst>
              <a:gd name="adj" fmla="val 16667"/>
            </a:avLst>
          </a:prstGeom>
          <a:solidFill>
            <a:schemeClr val="accent5"/>
          </a:solidFill>
          <a:ln/>
        </p:spPr>
      </p:sp>
      <p:sp>
        <p:nvSpPr>
          <p:cNvPr id="24" name="Text 19"/>
          <p:cNvSpPr txBox="1"/>
          <p:nvPr/>
        </p:nvSpPr>
        <p:spPr>
          <a:xfrm>
            <a:off x="4643018" y="35661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Forecast</a:t>
            </a:r>
            <a:endParaRPr lang="en-US" sz="1100" dirty="0"/>
          </a:p>
        </p:txBody>
      </p:sp>
      <p:sp>
        <p:nvSpPr>
          <p:cNvPr id="25" name="Shape 20"/>
          <p:cNvSpPr/>
          <p:nvPr/>
        </p:nvSpPr>
        <p:spPr>
          <a:xfrm>
            <a:off x="6164428" y="3566160"/>
            <a:ext cx="1384249" cy="548640"/>
          </a:xfrm>
          <a:prstGeom prst="roundRect">
            <a:avLst>
              <a:gd name="adj" fmla="val 16667"/>
            </a:avLst>
          </a:prstGeom>
          <a:solidFill>
            <a:schemeClr val="accent5"/>
          </a:solidFill>
          <a:ln/>
        </p:spPr>
      </p:sp>
      <p:sp>
        <p:nvSpPr>
          <p:cNvPr id="26" name="Text 21"/>
          <p:cNvSpPr txBox="1"/>
          <p:nvPr/>
        </p:nvSpPr>
        <p:spPr>
          <a:xfrm>
            <a:off x="6164428" y="35661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Pipeline</a:t>
            </a:r>
            <a:endParaRPr lang="en-US" sz="1100" dirty="0"/>
          </a:p>
        </p:txBody>
      </p:sp>
      <p:sp>
        <p:nvSpPr>
          <p:cNvPr id="27" name="Shape 22"/>
          <p:cNvSpPr/>
          <p:nvPr/>
        </p:nvSpPr>
        <p:spPr>
          <a:xfrm>
            <a:off x="4643018" y="4251960"/>
            <a:ext cx="1384249" cy="548640"/>
          </a:xfrm>
          <a:prstGeom prst="roundRect">
            <a:avLst>
              <a:gd name="adj" fmla="val 16667"/>
            </a:avLst>
          </a:prstGeom>
          <a:solidFill>
            <a:schemeClr val="accent5"/>
          </a:solidFill>
          <a:ln/>
        </p:spPr>
      </p:sp>
      <p:sp>
        <p:nvSpPr>
          <p:cNvPr id="28" name="Text 23"/>
          <p:cNvSpPr txBox="1"/>
          <p:nvPr/>
        </p:nvSpPr>
        <p:spPr>
          <a:xfrm>
            <a:off x="4643018" y="42519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Analytics</a:t>
            </a:r>
            <a:endParaRPr lang="en-US" sz="1100" dirty="0"/>
          </a:p>
        </p:txBody>
      </p:sp>
      <p:sp>
        <p:nvSpPr>
          <p:cNvPr id="29" name="Shape 24"/>
          <p:cNvSpPr/>
          <p:nvPr/>
        </p:nvSpPr>
        <p:spPr>
          <a:xfrm>
            <a:off x="6164428" y="4251960"/>
            <a:ext cx="1384249" cy="548640"/>
          </a:xfrm>
          <a:prstGeom prst="roundRect">
            <a:avLst>
              <a:gd name="adj" fmla="val 16667"/>
            </a:avLst>
          </a:prstGeom>
          <a:solidFill>
            <a:schemeClr val="accent5"/>
          </a:solidFill>
          <a:ln/>
        </p:spPr>
      </p:sp>
      <p:sp>
        <p:nvSpPr>
          <p:cNvPr id="30" name="Text 25"/>
          <p:cNvSpPr txBox="1"/>
          <p:nvPr/>
        </p:nvSpPr>
        <p:spPr>
          <a:xfrm>
            <a:off x="6164428" y="42519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Coaching</a:t>
            </a:r>
            <a:endParaRPr lang="en-US" sz="1100" dirty="0"/>
          </a:p>
        </p:txBody>
      </p:sp>
      <p:sp>
        <p:nvSpPr>
          <p:cNvPr id="31" name="Shape 26"/>
          <p:cNvSpPr/>
          <p:nvPr/>
        </p:nvSpPr>
        <p:spPr>
          <a:xfrm>
            <a:off x="4643018" y="5120640"/>
            <a:ext cx="2421148" cy="274320"/>
          </a:xfrm>
          <a:prstGeom prst="roundRect">
            <a:avLst>
              <a:gd name="adj" fmla="val 50000"/>
            </a:avLst>
          </a:prstGeom>
          <a:solidFill>
            <a:schemeClr val="accent1"/>
          </a:solidFill>
          <a:ln/>
        </p:spPr>
      </p:sp>
      <p:sp>
        <p:nvSpPr>
          <p:cNvPr id="32" name="Text 27"/>
          <p:cNvSpPr txBox="1"/>
          <p:nvPr/>
        </p:nvSpPr>
        <p:spPr>
          <a:xfrm>
            <a:off x="4643018" y="5120640"/>
            <a:ext cx="2421148"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AI engine included in all plans</a:t>
            </a:r>
            <a:endParaRPr lang="en-US" sz="900" dirty="0"/>
          </a:p>
        </p:txBody>
      </p:sp>
      <p:sp>
        <p:nvSpPr>
          <p:cNvPr id="33" name="Text 28"/>
          <p:cNvSpPr txBox="1"/>
          <p:nvPr/>
        </p:nvSpPr>
        <p:spPr>
          <a:xfrm>
            <a:off x="9040901" y="2011680"/>
            <a:ext cx="2602154"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REVENUE STREAMS</a:t>
            </a:r>
            <a:endParaRPr lang="en-US" sz="950" dirty="0"/>
          </a:p>
        </p:txBody>
      </p:sp>
      <p:sp>
        <p:nvSpPr>
          <p:cNvPr id="34" name="Shape 29"/>
          <p:cNvSpPr/>
          <p:nvPr/>
        </p:nvSpPr>
        <p:spPr>
          <a:xfrm>
            <a:off x="9040901" y="2423160"/>
            <a:ext cx="2602154" cy="1005840"/>
          </a:xfrm>
          <a:prstGeom prst="roundRect">
            <a:avLst>
              <a:gd name="adj" fmla="val 9091"/>
            </a:avLst>
          </a:prstGeom>
          <a:solidFill>
            <a:schemeClr val="accent1"/>
          </a:solidFill>
          <a:ln/>
        </p:spPr>
      </p:sp>
      <p:sp>
        <p:nvSpPr>
          <p:cNvPr id="35" name="Text 30"/>
          <p:cNvSpPr txBox="1"/>
          <p:nvPr/>
        </p:nvSpPr>
        <p:spPr>
          <a:xfrm>
            <a:off x="9269501" y="2560320"/>
            <a:ext cx="2144954"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81%</a:t>
            </a:r>
            <a:endParaRPr lang="en-US" sz="2600" dirty="0"/>
          </a:p>
        </p:txBody>
      </p:sp>
      <p:sp>
        <p:nvSpPr>
          <p:cNvPr id="36" name="Text 31"/>
          <p:cNvSpPr txBox="1"/>
          <p:nvPr/>
        </p:nvSpPr>
        <p:spPr>
          <a:xfrm>
            <a:off x="9269501" y="3044952"/>
            <a:ext cx="2144954"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Subscriptions</a:t>
            </a:r>
            <a:endParaRPr lang="en-US" sz="1050" dirty="0"/>
          </a:p>
        </p:txBody>
      </p:sp>
      <p:sp>
        <p:nvSpPr>
          <p:cNvPr id="37" name="Shape 32"/>
          <p:cNvSpPr/>
          <p:nvPr/>
        </p:nvSpPr>
        <p:spPr>
          <a:xfrm>
            <a:off x="9040901" y="3611880"/>
            <a:ext cx="2602154" cy="1005840"/>
          </a:xfrm>
          <a:prstGeom prst="roundRect">
            <a:avLst>
              <a:gd name="adj" fmla="val 9091"/>
            </a:avLst>
          </a:prstGeom>
          <a:solidFill>
            <a:schemeClr val="bg2"/>
          </a:solidFill>
          <a:ln/>
        </p:spPr>
      </p:sp>
      <p:sp>
        <p:nvSpPr>
          <p:cNvPr id="38" name="Text 33"/>
          <p:cNvSpPr txBox="1"/>
          <p:nvPr/>
        </p:nvSpPr>
        <p:spPr>
          <a:xfrm>
            <a:off x="9269501" y="3749040"/>
            <a:ext cx="2144954"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a:t>
            </a:r>
            <a:endParaRPr lang="en-US" sz="2600" dirty="0"/>
          </a:p>
        </p:txBody>
      </p:sp>
      <p:sp>
        <p:nvSpPr>
          <p:cNvPr id="39" name="Text 34"/>
          <p:cNvSpPr txBox="1"/>
          <p:nvPr/>
        </p:nvSpPr>
        <p:spPr>
          <a:xfrm>
            <a:off x="9269501" y="4233672"/>
            <a:ext cx="2144954"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Implementation services</a:t>
            </a:r>
            <a:endParaRPr lang="en-US" sz="1050" dirty="0"/>
          </a:p>
        </p:txBody>
      </p:sp>
      <p:sp>
        <p:nvSpPr>
          <p:cNvPr id="40" name="Shape 35"/>
          <p:cNvSpPr/>
          <p:nvPr/>
        </p:nvSpPr>
        <p:spPr>
          <a:xfrm>
            <a:off x="9040901" y="4800600"/>
            <a:ext cx="2602154" cy="1005840"/>
          </a:xfrm>
          <a:prstGeom prst="roundRect">
            <a:avLst>
              <a:gd name="adj" fmla="val 9091"/>
            </a:avLst>
          </a:prstGeom>
          <a:solidFill>
            <a:schemeClr val="bg2"/>
          </a:solidFill>
          <a:ln/>
        </p:spPr>
      </p:sp>
      <p:sp>
        <p:nvSpPr>
          <p:cNvPr id="41" name="Text 36"/>
          <p:cNvSpPr txBox="1"/>
          <p:nvPr/>
        </p:nvSpPr>
        <p:spPr>
          <a:xfrm>
            <a:off x="9269501" y="4937760"/>
            <a:ext cx="2144954"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7%</a:t>
            </a:r>
            <a:endParaRPr lang="en-US" sz="2600" dirty="0"/>
          </a:p>
        </p:txBody>
      </p:sp>
      <p:sp>
        <p:nvSpPr>
          <p:cNvPr id="42" name="Text 37"/>
          <p:cNvSpPr txBox="1"/>
          <p:nvPr/>
        </p:nvSpPr>
        <p:spPr>
          <a:xfrm>
            <a:off x="9269501" y="5422392"/>
            <a:ext cx="2144954"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Marketplace fees</a:t>
            </a:r>
            <a:endParaRPr lang="en-US" sz="1050" dirty="0"/>
          </a:p>
        </p:txBody>
      </p:sp>
      <p:sp>
        <p:nvSpPr>
          <p:cNvPr id="43" name="Shape 38"/>
          <p:cNvSpPr/>
          <p:nvPr/>
        </p:nvSpPr>
        <p:spPr>
          <a:xfrm>
            <a:off x="3223946" y="4114800"/>
            <a:ext cx="1025881" cy="0"/>
          </a:xfrm>
          <a:prstGeom prst="line">
            <a:avLst/>
          </a:prstGeom>
          <a:noFill/>
          <a:ln w="19050">
            <a:solidFill>
              <a:schemeClr val="tx1"/>
            </a:solidFill>
            <a:prstDash val="solid"/>
            <a:tailEnd type="triangle"/>
          </a:ln>
        </p:spPr>
      </p:sp>
      <p:sp>
        <p:nvSpPr>
          <p:cNvPr id="44" name="Shape 39"/>
          <p:cNvSpPr/>
          <p:nvPr/>
        </p:nvSpPr>
        <p:spPr>
          <a:xfrm>
            <a:off x="7941869" y="4114800"/>
            <a:ext cx="1025881" cy="0"/>
          </a:xfrm>
          <a:prstGeom prst="line">
            <a:avLst/>
          </a:prstGeom>
          <a:noFill/>
          <a:ln w="19050">
            <a:solidFill>
              <a:schemeClr val="tx1"/>
            </a:solidFill>
            <a:prstDash val="solid"/>
            <a:tailEnd type="triangle"/>
          </a:ln>
        </p:spPr>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Present in 14 countries, with Europe still 52% of revenue</a:t>
            </a:r>
            <a:endParaRPr lang="en-US" sz="2800" dirty="0"/>
          </a:p>
        </p:txBody>
      </p:sp>
      <p:sp>
        <p:nvSpPr>
          <p:cNvPr id="5" name="Text 3"/>
          <p:cNvSpPr txBox="1"/>
          <p:nvPr/>
        </p:nvSpPr>
        <p:spPr>
          <a:xfrm>
            <a:off x="548640" y="1874520"/>
            <a:ext cx="45720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REVENUE SHARE BY REGION</a:t>
            </a:r>
            <a:endParaRPr lang="en-US" sz="950" dirty="0"/>
          </a:p>
        </p:txBody>
      </p:sp>
      <p:sp>
        <p:nvSpPr>
          <p:cNvPr id="6" name="Shape 4"/>
          <p:cNvSpPr/>
          <p:nvPr/>
        </p:nvSpPr>
        <p:spPr>
          <a:xfrm>
            <a:off x="548640" y="2240280"/>
            <a:ext cx="5697773" cy="457200"/>
          </a:xfrm>
          <a:prstGeom prst="roundRect">
            <a:avLst>
              <a:gd name="adj" fmla="val 12000"/>
            </a:avLst>
          </a:prstGeom>
          <a:solidFill>
            <a:schemeClr val="tx1"/>
          </a:solidFill>
          <a:ln/>
        </p:spPr>
      </p:sp>
      <p:sp>
        <p:nvSpPr>
          <p:cNvPr id="7" name="Text 5"/>
          <p:cNvSpPr txBox="1"/>
          <p:nvPr/>
        </p:nvSpPr>
        <p:spPr>
          <a:xfrm>
            <a:off x="658368" y="2240280"/>
            <a:ext cx="5514893" cy="457200"/>
          </a:xfrm>
          <a:prstGeom prst="rect">
            <a:avLst/>
          </a:prstGeom>
          <a:noFill/>
          <a:ln/>
        </p:spPr>
        <p:txBody>
          <a:bodyPr wrap="square" lIns="0" tIns="0" rIns="0" bIns="0" rtlCol="0" anchor="ctr"/>
          <a:lstStyle/>
          <a:p>
            <a:pPr algn="l" indent="0" marL="0">
              <a:buNone/>
            </a:pPr>
            <a:r>
              <a:rPr lang="en-US" sz="1200" b="1" dirty="0">
                <a:solidFill>
                  <a:schemeClr val="bg1"/>
                </a:solidFill>
                <a:latin typeface="Manrope" pitchFamily="34" charset="0"/>
                <a:ea typeface="Manrope" pitchFamily="34" charset="-122"/>
                <a:cs typeface="Manrope" pitchFamily="34" charset="-120"/>
              </a:rPr>
              <a:t>52%</a:t>
            </a:r>
            <a:endParaRPr lang="en-US" sz="1200" dirty="0"/>
          </a:p>
        </p:txBody>
      </p:sp>
      <p:sp>
        <p:nvSpPr>
          <p:cNvPr id="8" name="Shape 6"/>
          <p:cNvSpPr/>
          <p:nvPr/>
        </p:nvSpPr>
        <p:spPr>
          <a:xfrm>
            <a:off x="6292133" y="2240280"/>
            <a:ext cx="3396749" cy="457200"/>
          </a:xfrm>
          <a:prstGeom prst="roundRect">
            <a:avLst>
              <a:gd name="adj" fmla="val 12000"/>
            </a:avLst>
          </a:prstGeom>
          <a:solidFill>
            <a:schemeClr val="accent2"/>
          </a:solidFill>
          <a:ln/>
        </p:spPr>
      </p:sp>
      <p:sp>
        <p:nvSpPr>
          <p:cNvPr id="9" name="Text 7"/>
          <p:cNvSpPr txBox="1"/>
          <p:nvPr/>
        </p:nvSpPr>
        <p:spPr>
          <a:xfrm>
            <a:off x="6401861" y="2240280"/>
            <a:ext cx="3213869" cy="457200"/>
          </a:xfrm>
          <a:prstGeom prst="rect">
            <a:avLst/>
          </a:prstGeom>
          <a:noFill/>
          <a:ln/>
        </p:spPr>
        <p:txBody>
          <a:bodyPr wrap="square" lIns="0" tIns="0" rIns="0" bIns="0" rtlCol="0" anchor="ctr"/>
          <a:lstStyle/>
          <a:p>
            <a:pPr algn="l" indent="0" marL="0">
              <a:buNone/>
            </a:pPr>
            <a:r>
              <a:rPr lang="en-US" sz="1200" b="1" dirty="0">
                <a:solidFill>
                  <a:schemeClr val="bg1"/>
                </a:solidFill>
                <a:latin typeface="Manrope" pitchFamily="34" charset="0"/>
                <a:ea typeface="Manrope" pitchFamily="34" charset="-122"/>
                <a:cs typeface="Manrope" pitchFamily="34" charset="-120"/>
              </a:rPr>
              <a:t>31%</a:t>
            </a:r>
            <a:endParaRPr lang="en-US" sz="1200" dirty="0"/>
          </a:p>
        </p:txBody>
      </p:sp>
      <p:sp>
        <p:nvSpPr>
          <p:cNvPr id="10" name="Shape 8"/>
          <p:cNvSpPr/>
          <p:nvPr/>
        </p:nvSpPr>
        <p:spPr>
          <a:xfrm>
            <a:off x="9734602" y="2240280"/>
            <a:ext cx="1205298" cy="457200"/>
          </a:xfrm>
          <a:prstGeom prst="roundRect">
            <a:avLst>
              <a:gd name="adj" fmla="val 12000"/>
            </a:avLst>
          </a:prstGeom>
          <a:solidFill>
            <a:schemeClr val="accent1"/>
          </a:solidFill>
          <a:ln/>
        </p:spPr>
      </p:sp>
      <p:sp>
        <p:nvSpPr>
          <p:cNvPr id="11" name="Text 9"/>
          <p:cNvSpPr txBox="1"/>
          <p:nvPr/>
        </p:nvSpPr>
        <p:spPr>
          <a:xfrm>
            <a:off x="9844330" y="2240280"/>
            <a:ext cx="1022418" cy="457200"/>
          </a:xfrm>
          <a:prstGeom prst="rect">
            <a:avLst/>
          </a:prstGeom>
          <a:noFill/>
          <a:ln/>
        </p:spPr>
        <p:txBody>
          <a:bodyPr wrap="square" lIns="0" tIns="0" rIns="0" bIns="0" rtlCol="0" anchor="ctr"/>
          <a:lstStyle/>
          <a:p>
            <a:pPr algn="l" indent="0" marL="0">
              <a:buNone/>
            </a:pPr>
            <a:r>
              <a:rPr lang="en-US" sz="1200" b="1" dirty="0">
                <a:solidFill>
                  <a:schemeClr val="tx1"/>
                </a:solidFill>
                <a:latin typeface="Manrope" pitchFamily="34" charset="0"/>
                <a:ea typeface="Manrope" pitchFamily="34" charset="-122"/>
                <a:cs typeface="Manrope" pitchFamily="34" charset="-120"/>
              </a:rPr>
              <a:t>11%</a:t>
            </a:r>
            <a:endParaRPr lang="en-US" sz="1200" dirty="0"/>
          </a:p>
        </p:txBody>
      </p:sp>
      <p:sp>
        <p:nvSpPr>
          <p:cNvPr id="12" name="Shape 10"/>
          <p:cNvSpPr/>
          <p:nvPr/>
        </p:nvSpPr>
        <p:spPr>
          <a:xfrm>
            <a:off x="10985620" y="2240280"/>
            <a:ext cx="657435" cy="457200"/>
          </a:xfrm>
          <a:prstGeom prst="roundRect">
            <a:avLst>
              <a:gd name="adj" fmla="val 12000"/>
            </a:avLst>
          </a:prstGeom>
          <a:solidFill>
            <a:schemeClr val="accent4"/>
          </a:solidFill>
          <a:ln/>
        </p:spPr>
      </p:sp>
      <p:sp>
        <p:nvSpPr>
          <p:cNvPr id="13" name="Text 11"/>
          <p:cNvSpPr txBox="1"/>
          <p:nvPr/>
        </p:nvSpPr>
        <p:spPr>
          <a:xfrm>
            <a:off x="11095348" y="2240280"/>
            <a:ext cx="474555" cy="457200"/>
          </a:xfrm>
          <a:prstGeom prst="rect">
            <a:avLst/>
          </a:prstGeom>
          <a:noFill/>
          <a:ln/>
        </p:spPr>
        <p:txBody>
          <a:bodyPr wrap="square" lIns="0" tIns="0" rIns="0" bIns="0" rtlCol="0" anchor="ctr"/>
          <a:lstStyle/>
          <a:p>
            <a:pPr algn="l" indent="0" marL="0">
              <a:buNone/>
            </a:pPr>
            <a:r>
              <a:rPr lang="en-US" sz="1200" b="1" dirty="0">
                <a:solidFill>
                  <a:schemeClr val="tx1"/>
                </a:solidFill>
                <a:latin typeface="Manrope" pitchFamily="34" charset="0"/>
                <a:ea typeface="Manrope" pitchFamily="34" charset="-122"/>
                <a:cs typeface="Manrope" pitchFamily="34" charset="-120"/>
              </a:rPr>
              <a:t>6%</a:t>
            </a:r>
            <a:endParaRPr lang="en-US" sz="1200" dirty="0"/>
          </a:p>
        </p:txBody>
      </p:sp>
      <p:sp>
        <p:nvSpPr>
          <p:cNvPr id="14" name="Shape 12"/>
          <p:cNvSpPr/>
          <p:nvPr/>
        </p:nvSpPr>
        <p:spPr>
          <a:xfrm>
            <a:off x="548640" y="3108960"/>
            <a:ext cx="2602154" cy="2880360"/>
          </a:xfrm>
          <a:prstGeom prst="roundRect">
            <a:avLst>
              <a:gd name="adj" fmla="val 3514"/>
            </a:avLst>
          </a:prstGeom>
          <a:solidFill>
            <a:schemeClr val="bg2"/>
          </a:solidFill>
          <a:ln/>
        </p:spPr>
      </p:sp>
      <p:sp>
        <p:nvSpPr>
          <p:cNvPr id="15" name="Shape 13"/>
          <p:cNvSpPr/>
          <p:nvPr/>
        </p:nvSpPr>
        <p:spPr>
          <a:xfrm>
            <a:off x="822960" y="3429000"/>
            <a:ext cx="146304" cy="146304"/>
          </a:xfrm>
          <a:prstGeom prst="roundRect">
            <a:avLst>
              <a:gd name="adj" fmla="val 18750"/>
            </a:avLst>
          </a:prstGeom>
          <a:solidFill>
            <a:schemeClr val="tx1"/>
          </a:solidFill>
          <a:ln/>
        </p:spPr>
      </p:sp>
      <p:sp>
        <p:nvSpPr>
          <p:cNvPr id="16" name="Text 14"/>
          <p:cNvSpPr txBox="1"/>
          <p:nvPr/>
        </p:nvSpPr>
        <p:spPr>
          <a:xfrm>
            <a:off x="1097280"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Europe</a:t>
            </a:r>
            <a:endParaRPr lang="en-US" sz="1300" dirty="0"/>
          </a:p>
        </p:txBody>
      </p:sp>
      <p:sp>
        <p:nvSpPr>
          <p:cNvPr id="17" name="Text 15"/>
          <p:cNvSpPr txBox="1"/>
          <p:nvPr/>
        </p:nvSpPr>
        <p:spPr>
          <a:xfrm>
            <a:off x="822960"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640</a:t>
            </a:r>
            <a:endParaRPr lang="en-US" sz="3600" dirty="0"/>
          </a:p>
        </p:txBody>
      </p:sp>
      <p:sp>
        <p:nvSpPr>
          <p:cNvPr id="18" name="Text 16"/>
          <p:cNvSpPr txBox="1"/>
          <p:nvPr/>
        </p:nvSpPr>
        <p:spPr>
          <a:xfrm>
            <a:off x="822960"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19" name="Shape 17"/>
          <p:cNvSpPr/>
          <p:nvPr/>
        </p:nvSpPr>
        <p:spPr>
          <a:xfrm>
            <a:off x="822960" y="4937760"/>
            <a:ext cx="2053514" cy="0"/>
          </a:xfrm>
          <a:prstGeom prst="line">
            <a:avLst/>
          </a:prstGeom>
          <a:noFill/>
          <a:ln w="9525">
            <a:solidFill>
              <a:schemeClr val="accent4"/>
            </a:solidFill>
            <a:prstDash val="solid"/>
          </a:ln>
        </p:spPr>
      </p:sp>
      <p:pic>
        <p:nvPicPr>
          <p:cNvPr id="20" name="Icon PiMapPin 0A1628" descr="preencoded.png">    </p:cNvPr>
          <p:cNvPicPr>
            <a:picLocks noChangeAspect="1"/>
          </p:cNvPicPr>
          <p:nvPr/>
        </p:nvPicPr>
        <p:blipFill>
          <a:blip r:embed="rId1">
            <a:extLst>
              <a:ext uri="{96DAC541-7B7A-43D3-8B79-37D633B846F1}">
                <asvg:svgBlip xmlns:asvg="http://schemas.microsoft.com/office/drawing/2016/SVG/main" r:embed="rId11"/>
              </a:ext>
            </a:extLst>
          </a:blip>
          <a:stretch>
            <a:fillRect/>
          </a:stretch>
        </p:blipFill>
        <p:spPr>
          <a:xfrm>
            <a:off x="822960" y="5120640"/>
            <a:ext cx="201168" cy="201168"/>
          </a:xfrm>
          <a:prstGeom prst="rect">
            <a:avLst/>
          </a:prstGeom>
        </p:spPr>
      </p:pic>
      <p:sp>
        <p:nvSpPr>
          <p:cNvPr id="21" name="Text 18"/>
          <p:cNvSpPr txBox="1"/>
          <p:nvPr/>
        </p:nvSpPr>
        <p:spPr>
          <a:xfrm>
            <a:off x="1097280"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Amsterdam · Berlin · London</a:t>
            </a:r>
            <a:endParaRPr lang="en-US" sz="1000" dirty="0"/>
          </a:p>
        </p:txBody>
      </p:sp>
      <p:pic>
        <p:nvPicPr>
          <p:cNvPr id="22" name="Icon PiTrendUp 5B7A0C" descr="preencoded.png">    </p:cNvPr>
          <p:cNvPicPr>
            <a:picLocks noChangeAspect="1"/>
          </p:cNvPicPr>
          <p:nvPr/>
        </p:nvPicPr>
        <p:blipFill>
          <a:blip r:embed="rId2">
            <a:extLst>
              <a:ext uri="{96DAC541-7B7A-43D3-8B79-37D633B846F1}">
                <asvg:svgBlip xmlns:asvg="http://schemas.microsoft.com/office/drawing/2016/SVG/main" r:embed="rId12"/>
              </a:ext>
            </a:extLst>
          </a:blip>
          <a:stretch>
            <a:fillRect/>
          </a:stretch>
        </p:blipFill>
        <p:spPr>
          <a:xfrm>
            <a:off x="822960" y="5486400"/>
            <a:ext cx="201168" cy="201168"/>
          </a:xfrm>
          <a:prstGeom prst="rect">
            <a:avLst/>
          </a:prstGeom>
        </p:spPr>
      </p:pic>
      <p:sp>
        <p:nvSpPr>
          <p:cNvPr id="23" name="Text 19"/>
          <p:cNvSpPr txBox="1"/>
          <p:nvPr/>
        </p:nvSpPr>
        <p:spPr>
          <a:xfrm>
            <a:off x="1097280"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+48% revenue growth</a:t>
            </a:r>
            <a:endParaRPr lang="en-US" sz="1000" dirty="0"/>
          </a:p>
        </p:txBody>
      </p:sp>
      <p:sp>
        <p:nvSpPr>
          <p:cNvPr id="24" name="Shape 20"/>
          <p:cNvSpPr/>
          <p:nvPr/>
        </p:nvSpPr>
        <p:spPr>
          <a:xfrm>
            <a:off x="3379394" y="3108960"/>
            <a:ext cx="2602154" cy="2880360"/>
          </a:xfrm>
          <a:prstGeom prst="roundRect">
            <a:avLst>
              <a:gd name="adj" fmla="val 3514"/>
            </a:avLst>
          </a:prstGeom>
          <a:solidFill>
            <a:schemeClr val="bg2"/>
          </a:solidFill>
          <a:ln/>
        </p:spPr>
      </p:sp>
      <p:sp>
        <p:nvSpPr>
          <p:cNvPr id="25" name="Shape 21"/>
          <p:cNvSpPr/>
          <p:nvPr/>
        </p:nvSpPr>
        <p:spPr>
          <a:xfrm>
            <a:off x="3653714" y="3429000"/>
            <a:ext cx="146304" cy="146304"/>
          </a:xfrm>
          <a:prstGeom prst="roundRect">
            <a:avLst>
              <a:gd name="adj" fmla="val 18750"/>
            </a:avLst>
          </a:prstGeom>
          <a:solidFill>
            <a:schemeClr val="accent2"/>
          </a:solidFill>
          <a:ln/>
        </p:spPr>
      </p:sp>
      <p:sp>
        <p:nvSpPr>
          <p:cNvPr id="26" name="Text 22"/>
          <p:cNvSpPr txBox="1"/>
          <p:nvPr/>
        </p:nvSpPr>
        <p:spPr>
          <a:xfrm>
            <a:off x="3928034"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North America</a:t>
            </a:r>
            <a:endParaRPr lang="en-US" sz="1300" dirty="0"/>
          </a:p>
        </p:txBody>
      </p:sp>
      <p:sp>
        <p:nvSpPr>
          <p:cNvPr id="27" name="Text 23"/>
          <p:cNvSpPr txBox="1"/>
          <p:nvPr/>
        </p:nvSpPr>
        <p:spPr>
          <a:xfrm>
            <a:off x="3653714"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410</a:t>
            </a:r>
            <a:endParaRPr lang="en-US" sz="3600" dirty="0"/>
          </a:p>
        </p:txBody>
      </p:sp>
      <p:sp>
        <p:nvSpPr>
          <p:cNvPr id="28" name="Text 24"/>
          <p:cNvSpPr txBox="1"/>
          <p:nvPr/>
        </p:nvSpPr>
        <p:spPr>
          <a:xfrm>
            <a:off x="3653714"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29" name="Shape 25"/>
          <p:cNvSpPr/>
          <p:nvPr/>
        </p:nvSpPr>
        <p:spPr>
          <a:xfrm>
            <a:off x="3653714" y="4937760"/>
            <a:ext cx="2053514" cy="0"/>
          </a:xfrm>
          <a:prstGeom prst="line">
            <a:avLst/>
          </a:prstGeom>
          <a:noFill/>
          <a:ln w="9525">
            <a:solidFill>
              <a:schemeClr val="accent4"/>
            </a:solidFill>
            <a:prstDash val="solid"/>
          </a:ln>
        </p:spPr>
      </p:sp>
      <p:pic>
        <p:nvPicPr>
          <p:cNvPr id="30" name="Icon PiMapPin 0A1628" descr="preencoded.png">    </p:cNvPr>
          <p:cNvPicPr>
            <a:picLocks noChangeAspect="1"/>
          </p:cNvPicPr>
          <p:nvPr/>
        </p:nvPicPr>
        <p:blipFill>
          <a:blip r:embed="rId3">
            <a:extLst>
              <a:ext uri="{96DAC541-7B7A-43D3-8B79-37D633B846F1}">
                <asvg:svgBlip xmlns:asvg="http://schemas.microsoft.com/office/drawing/2016/SVG/main" r:embed="rId13"/>
              </a:ext>
            </a:extLst>
          </a:blip>
          <a:stretch>
            <a:fillRect/>
          </a:stretch>
        </p:blipFill>
        <p:spPr>
          <a:xfrm>
            <a:off x="3653714" y="5120640"/>
            <a:ext cx="201168" cy="201168"/>
          </a:xfrm>
          <a:prstGeom prst="rect">
            <a:avLst/>
          </a:prstGeom>
        </p:spPr>
      </p:pic>
      <p:sp>
        <p:nvSpPr>
          <p:cNvPr id="31" name="Text 26"/>
          <p:cNvSpPr txBox="1"/>
          <p:nvPr/>
        </p:nvSpPr>
        <p:spPr>
          <a:xfrm>
            <a:off x="3928034"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New York · Toronto</a:t>
            </a:r>
            <a:endParaRPr lang="en-US" sz="1000" dirty="0"/>
          </a:p>
        </p:txBody>
      </p:sp>
      <p:pic>
        <p:nvPicPr>
          <p:cNvPr id="32" name="Icon PiTrendUp 5B7A0C" descr="preencoded.png">    </p:cNvPr>
          <p:cNvPicPr>
            <a:picLocks noChangeAspect="1"/>
          </p:cNvPicPr>
          <p:nvPr/>
        </p:nvPicPr>
        <p:blipFill>
          <a:blip r:embed="rId4">
            <a:extLst>
              <a:ext uri="{96DAC541-7B7A-43D3-8B79-37D633B846F1}">
                <asvg:svgBlip xmlns:asvg="http://schemas.microsoft.com/office/drawing/2016/SVG/main" r:embed="rId14"/>
              </a:ext>
            </a:extLst>
          </a:blip>
          <a:stretch>
            <a:fillRect/>
          </a:stretch>
        </p:blipFill>
        <p:spPr>
          <a:xfrm>
            <a:off x="3653714" y="5486400"/>
            <a:ext cx="201168" cy="201168"/>
          </a:xfrm>
          <a:prstGeom prst="rect">
            <a:avLst/>
          </a:prstGeom>
        </p:spPr>
      </p:pic>
      <p:sp>
        <p:nvSpPr>
          <p:cNvPr id="33" name="Text 27"/>
          <p:cNvSpPr txBox="1"/>
          <p:nvPr/>
        </p:nvSpPr>
        <p:spPr>
          <a:xfrm>
            <a:off x="3928034"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+91% revenue growth</a:t>
            </a:r>
            <a:endParaRPr lang="en-US" sz="1000" dirty="0"/>
          </a:p>
        </p:txBody>
      </p:sp>
      <p:sp>
        <p:nvSpPr>
          <p:cNvPr id="34" name="Shape 28"/>
          <p:cNvSpPr/>
          <p:nvPr/>
        </p:nvSpPr>
        <p:spPr>
          <a:xfrm>
            <a:off x="6210148" y="3108960"/>
            <a:ext cx="2602154" cy="2880360"/>
          </a:xfrm>
          <a:prstGeom prst="roundRect">
            <a:avLst>
              <a:gd name="adj" fmla="val 3514"/>
            </a:avLst>
          </a:prstGeom>
          <a:solidFill>
            <a:schemeClr val="bg2"/>
          </a:solidFill>
          <a:ln/>
        </p:spPr>
      </p:sp>
      <p:sp>
        <p:nvSpPr>
          <p:cNvPr id="35" name="Shape 29"/>
          <p:cNvSpPr/>
          <p:nvPr/>
        </p:nvSpPr>
        <p:spPr>
          <a:xfrm>
            <a:off x="6484468" y="3429000"/>
            <a:ext cx="146304" cy="146304"/>
          </a:xfrm>
          <a:prstGeom prst="roundRect">
            <a:avLst>
              <a:gd name="adj" fmla="val 18750"/>
            </a:avLst>
          </a:prstGeom>
          <a:solidFill>
            <a:schemeClr val="accent1"/>
          </a:solidFill>
          <a:ln/>
        </p:spPr>
      </p:sp>
      <p:sp>
        <p:nvSpPr>
          <p:cNvPr id="36" name="Text 30"/>
          <p:cNvSpPr txBox="1"/>
          <p:nvPr/>
        </p:nvSpPr>
        <p:spPr>
          <a:xfrm>
            <a:off x="6758788"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Asia-Pacific</a:t>
            </a:r>
            <a:endParaRPr lang="en-US" sz="1300" dirty="0"/>
          </a:p>
        </p:txBody>
      </p:sp>
      <p:sp>
        <p:nvSpPr>
          <p:cNvPr id="37" name="Text 31"/>
          <p:cNvSpPr txBox="1"/>
          <p:nvPr/>
        </p:nvSpPr>
        <p:spPr>
          <a:xfrm>
            <a:off x="6484468"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140</a:t>
            </a:r>
            <a:endParaRPr lang="en-US" sz="3600" dirty="0"/>
          </a:p>
        </p:txBody>
      </p:sp>
      <p:sp>
        <p:nvSpPr>
          <p:cNvPr id="38" name="Text 32"/>
          <p:cNvSpPr txBox="1"/>
          <p:nvPr/>
        </p:nvSpPr>
        <p:spPr>
          <a:xfrm>
            <a:off x="6484468"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39" name="Shape 33"/>
          <p:cNvSpPr/>
          <p:nvPr/>
        </p:nvSpPr>
        <p:spPr>
          <a:xfrm>
            <a:off x="6484468" y="4937760"/>
            <a:ext cx="2053514" cy="0"/>
          </a:xfrm>
          <a:prstGeom prst="line">
            <a:avLst/>
          </a:prstGeom>
          <a:noFill/>
          <a:ln w="9525">
            <a:solidFill>
              <a:schemeClr val="accent4"/>
            </a:solidFill>
            <a:prstDash val="solid"/>
          </a:ln>
        </p:spPr>
      </p:sp>
      <p:pic>
        <p:nvPicPr>
          <p:cNvPr id="40" name="Icon PiMapPin 0A1628" descr="preencoded.png">    </p:cNvPr>
          <p:cNvPicPr>
            <a:picLocks noChangeAspect="1"/>
          </p:cNvPicPr>
          <p:nvPr/>
        </p:nvPicPr>
        <p:blipFill>
          <a:blip r:embed="rId5">
            <a:extLst>
              <a:ext uri="{96DAC541-7B7A-43D3-8B79-37D633B846F1}">
                <asvg:svgBlip xmlns:asvg="http://schemas.microsoft.com/office/drawing/2016/SVG/main" r:embed="rId15"/>
              </a:ext>
            </a:extLst>
          </a:blip>
          <a:stretch>
            <a:fillRect/>
          </a:stretch>
        </p:blipFill>
        <p:spPr>
          <a:xfrm>
            <a:off x="6484468" y="5120640"/>
            <a:ext cx="201168" cy="201168"/>
          </a:xfrm>
          <a:prstGeom prst="rect">
            <a:avLst/>
          </a:prstGeom>
        </p:spPr>
      </p:pic>
      <p:sp>
        <p:nvSpPr>
          <p:cNvPr id="41" name="Text 34"/>
          <p:cNvSpPr txBox="1"/>
          <p:nvPr/>
        </p:nvSpPr>
        <p:spPr>
          <a:xfrm>
            <a:off x="6758788"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Singapore</a:t>
            </a:r>
            <a:endParaRPr lang="en-US" sz="1000" dirty="0"/>
          </a:p>
        </p:txBody>
      </p:sp>
      <p:pic>
        <p:nvPicPr>
          <p:cNvPr id="42" name="Icon PiTrendUp 5B7A0C" descr="preencoded.png">    </p:cNvPr>
          <p:cNvPicPr>
            <a:picLocks noChangeAspect="1"/>
          </p:cNvPicPr>
          <p:nvPr/>
        </p:nvPicPr>
        <p:blipFill>
          <a:blip r:embed="rId6">
            <a:extLst>
              <a:ext uri="{96DAC541-7B7A-43D3-8B79-37D633B846F1}">
                <asvg:svgBlip xmlns:asvg="http://schemas.microsoft.com/office/drawing/2016/SVG/main" r:embed="rId16"/>
              </a:ext>
            </a:extLst>
          </a:blip>
          <a:stretch>
            <a:fillRect/>
          </a:stretch>
        </p:blipFill>
        <p:spPr>
          <a:xfrm>
            <a:off x="6484468" y="5486400"/>
            <a:ext cx="201168" cy="201168"/>
          </a:xfrm>
          <a:prstGeom prst="rect">
            <a:avLst/>
          </a:prstGeom>
        </p:spPr>
      </p:pic>
      <p:sp>
        <p:nvSpPr>
          <p:cNvPr id="43" name="Text 35"/>
          <p:cNvSpPr txBox="1"/>
          <p:nvPr/>
        </p:nvSpPr>
        <p:spPr>
          <a:xfrm>
            <a:off x="6758788"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+120% revenue growth</a:t>
            </a:r>
            <a:endParaRPr lang="en-US" sz="1000" dirty="0"/>
          </a:p>
        </p:txBody>
      </p:sp>
      <p:sp>
        <p:nvSpPr>
          <p:cNvPr id="44" name="Shape 36"/>
          <p:cNvSpPr/>
          <p:nvPr/>
        </p:nvSpPr>
        <p:spPr>
          <a:xfrm>
            <a:off x="9040901" y="3108960"/>
            <a:ext cx="2602154" cy="2880360"/>
          </a:xfrm>
          <a:prstGeom prst="roundRect">
            <a:avLst>
              <a:gd name="adj" fmla="val 3514"/>
            </a:avLst>
          </a:prstGeom>
          <a:solidFill>
            <a:schemeClr val="bg2"/>
          </a:solidFill>
          <a:ln/>
        </p:spPr>
      </p:sp>
      <p:sp>
        <p:nvSpPr>
          <p:cNvPr id="45" name="Shape 37"/>
          <p:cNvSpPr/>
          <p:nvPr/>
        </p:nvSpPr>
        <p:spPr>
          <a:xfrm>
            <a:off x="9315221" y="3429000"/>
            <a:ext cx="146304" cy="146304"/>
          </a:xfrm>
          <a:prstGeom prst="roundRect">
            <a:avLst>
              <a:gd name="adj" fmla="val 18750"/>
            </a:avLst>
          </a:prstGeom>
          <a:solidFill>
            <a:schemeClr val="accent4"/>
          </a:solidFill>
          <a:ln/>
        </p:spPr>
      </p:sp>
      <p:sp>
        <p:nvSpPr>
          <p:cNvPr id="46" name="Text 38"/>
          <p:cNvSpPr txBox="1"/>
          <p:nvPr/>
        </p:nvSpPr>
        <p:spPr>
          <a:xfrm>
            <a:off x="9589541"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Middle East &amp; Africa</a:t>
            </a:r>
            <a:endParaRPr lang="en-US" sz="1300" dirty="0"/>
          </a:p>
        </p:txBody>
      </p:sp>
      <p:sp>
        <p:nvSpPr>
          <p:cNvPr id="47" name="Text 39"/>
          <p:cNvSpPr txBox="1"/>
          <p:nvPr/>
        </p:nvSpPr>
        <p:spPr>
          <a:xfrm>
            <a:off x="9315221"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50</a:t>
            </a:r>
            <a:endParaRPr lang="en-US" sz="3600" dirty="0"/>
          </a:p>
        </p:txBody>
      </p:sp>
      <p:sp>
        <p:nvSpPr>
          <p:cNvPr id="48" name="Text 40"/>
          <p:cNvSpPr txBox="1"/>
          <p:nvPr/>
        </p:nvSpPr>
        <p:spPr>
          <a:xfrm>
            <a:off x="9315221"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49" name="Shape 41"/>
          <p:cNvSpPr/>
          <p:nvPr/>
        </p:nvSpPr>
        <p:spPr>
          <a:xfrm>
            <a:off x="9315221" y="4937760"/>
            <a:ext cx="2053514" cy="0"/>
          </a:xfrm>
          <a:prstGeom prst="line">
            <a:avLst/>
          </a:prstGeom>
          <a:noFill/>
          <a:ln w="9525">
            <a:solidFill>
              <a:schemeClr val="accent4"/>
            </a:solidFill>
            <a:prstDash val="solid"/>
          </a:ln>
        </p:spPr>
      </p:sp>
      <p:pic>
        <p:nvPicPr>
          <p:cNvPr id="50" name="Icon PiMapPin 0A1628" descr="preencoded.png">    </p:cNvPr>
          <p:cNvPicPr>
            <a:picLocks noChangeAspect="1"/>
          </p:cNvPicPr>
          <p:nvPr/>
        </p:nvPicPr>
        <p:blipFill>
          <a:blip r:embed="rId7">
            <a:extLst>
              <a:ext uri="{96DAC541-7B7A-43D3-8B79-37D633B846F1}">
                <asvg:svgBlip xmlns:asvg="http://schemas.microsoft.com/office/drawing/2016/SVG/main" r:embed="rId17"/>
              </a:ext>
            </a:extLst>
          </a:blip>
          <a:stretch>
            <a:fillRect/>
          </a:stretch>
        </p:blipFill>
        <p:spPr>
          <a:xfrm>
            <a:off x="9315221" y="5120640"/>
            <a:ext cx="201168" cy="201168"/>
          </a:xfrm>
          <a:prstGeom prst="rect">
            <a:avLst/>
          </a:prstGeom>
        </p:spPr>
      </p:pic>
      <p:sp>
        <p:nvSpPr>
          <p:cNvPr id="51" name="Text 42"/>
          <p:cNvSpPr txBox="1"/>
          <p:nvPr/>
        </p:nvSpPr>
        <p:spPr>
          <a:xfrm>
            <a:off x="9589541"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Partner-led</a:t>
            </a:r>
            <a:endParaRPr lang="en-US" sz="1000" dirty="0"/>
          </a:p>
        </p:txBody>
      </p:sp>
      <p:pic>
        <p:nvPicPr>
          <p:cNvPr id="52" name="Icon PiTrendUp 5B7A0C" descr="preencoded.png">    </p:cNvPr>
          <p:cNvPicPr>
            <a:picLocks noChangeAspect="1"/>
          </p:cNvPicPr>
          <p:nvPr/>
        </p:nvPicPr>
        <p:blipFill>
          <a:blip r:embed="rId8">
            <a:extLst>
              <a:ext uri="{96DAC541-7B7A-43D3-8B79-37D633B846F1}">
                <asvg:svgBlip xmlns:asvg="http://schemas.microsoft.com/office/drawing/2016/SVG/main" r:embed="rId18"/>
              </a:ext>
            </a:extLst>
          </a:blip>
          <a:stretch>
            <a:fillRect/>
          </a:stretch>
        </p:blipFill>
        <p:spPr>
          <a:xfrm>
            <a:off x="9315221" y="5486400"/>
            <a:ext cx="201168" cy="201168"/>
          </a:xfrm>
          <a:prstGeom prst="rect">
            <a:avLst/>
          </a:prstGeom>
        </p:spPr>
      </p:pic>
      <p:sp>
        <p:nvSpPr>
          <p:cNvPr id="53" name="Text 43"/>
          <p:cNvSpPr txBox="1"/>
          <p:nvPr/>
        </p:nvSpPr>
        <p:spPr>
          <a:xfrm>
            <a:off x="9589541"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+64% revenue growth</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Six capabilities that set us apart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Maturity is self-assessed against our 2027 target state (5 = best in class).</a:t>
            </a:r>
            <a:endParaRPr lang="en-US" sz="1150" dirty="0"/>
          </a:p>
        </p:txBody>
      </p:sp>
      <p:sp>
        <p:nvSpPr>
          <p:cNvPr id="6" name="Shape 4"/>
          <p:cNvSpPr/>
          <p:nvPr/>
        </p:nvSpPr>
        <p:spPr>
          <a:xfrm>
            <a:off x="548640" y="1920240"/>
            <a:ext cx="3545738" cy="1920240"/>
          </a:xfrm>
          <a:prstGeom prst="roundRect">
            <a:avLst>
              <a:gd name="adj" fmla="val 4762"/>
            </a:avLst>
          </a:prstGeom>
          <a:solidFill>
            <a:schemeClr val="bg1"/>
          </a:solidFill>
          <a:ln/>
        </p:spPr>
      </p:sp>
      <p:sp>
        <p:nvSpPr>
          <p:cNvPr id="7" name="Shape 5"/>
          <p:cNvSpPr/>
          <p:nvPr/>
        </p:nvSpPr>
        <p:spPr>
          <a:xfrm>
            <a:off x="822960" y="2194560"/>
            <a:ext cx="512064" cy="512064"/>
          </a:xfrm>
          <a:prstGeom prst="ellipse">
            <a:avLst/>
          </a:prstGeom>
          <a:solidFill>
            <a:schemeClr val="tx1"/>
          </a:solidFill>
          <a:ln/>
        </p:spPr>
      </p:sp>
      <p:pic>
        <p:nvPicPr>
          <p:cNvPr id="8" name="Icon PiCpu C6F432"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945855" y="2317455"/>
            <a:ext cx="266273" cy="266273"/>
          </a:xfrm>
          <a:prstGeom prst="rect">
            <a:avLst/>
          </a:prstGeom>
        </p:spPr>
      </p:pic>
      <p:sp>
        <p:nvSpPr>
          <p:cNvPr id="9" name="Text 6"/>
          <p:cNvSpPr txBox="1"/>
          <p:nvPr/>
        </p:nvSpPr>
        <p:spPr>
          <a:xfrm>
            <a:off x="822960"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Predictive AI</a:t>
            </a:r>
            <a:endParaRPr lang="en-US" sz="1400" dirty="0"/>
          </a:p>
        </p:txBody>
      </p:sp>
      <p:sp>
        <p:nvSpPr>
          <p:cNvPr id="10" name="Text 7"/>
          <p:cNvSpPr txBox="1"/>
          <p:nvPr/>
        </p:nvSpPr>
        <p:spPr>
          <a:xfrm>
            <a:off x="822960" y="312724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Models trained on 1.2B sales activities.</a:t>
            </a:r>
            <a:endParaRPr lang="en-US" sz="1050" dirty="0"/>
          </a:p>
        </p:txBody>
      </p:sp>
      <p:sp>
        <p:nvSpPr>
          <p:cNvPr id="11" name="Shape 8"/>
          <p:cNvSpPr/>
          <p:nvPr/>
        </p:nvSpPr>
        <p:spPr>
          <a:xfrm>
            <a:off x="2722778" y="2331720"/>
            <a:ext cx="164592" cy="164592"/>
          </a:xfrm>
          <a:prstGeom prst="roundRect">
            <a:avLst>
              <a:gd name="adj" fmla="val 22222"/>
            </a:avLst>
          </a:prstGeom>
          <a:solidFill>
            <a:schemeClr val="tx1"/>
          </a:solidFill>
          <a:ln/>
        </p:spPr>
      </p:sp>
      <p:sp>
        <p:nvSpPr>
          <p:cNvPr id="12" name="Shape 9"/>
          <p:cNvSpPr/>
          <p:nvPr/>
        </p:nvSpPr>
        <p:spPr>
          <a:xfrm>
            <a:off x="2942234" y="2331720"/>
            <a:ext cx="164592" cy="164592"/>
          </a:xfrm>
          <a:prstGeom prst="roundRect">
            <a:avLst>
              <a:gd name="adj" fmla="val 22222"/>
            </a:avLst>
          </a:prstGeom>
          <a:solidFill>
            <a:schemeClr val="tx1"/>
          </a:solidFill>
          <a:ln/>
        </p:spPr>
      </p:sp>
      <p:sp>
        <p:nvSpPr>
          <p:cNvPr id="13" name="Shape 10"/>
          <p:cNvSpPr/>
          <p:nvPr/>
        </p:nvSpPr>
        <p:spPr>
          <a:xfrm>
            <a:off x="3161690" y="2331720"/>
            <a:ext cx="164592" cy="164592"/>
          </a:xfrm>
          <a:prstGeom prst="roundRect">
            <a:avLst>
              <a:gd name="adj" fmla="val 22222"/>
            </a:avLst>
          </a:prstGeom>
          <a:solidFill>
            <a:schemeClr val="tx1"/>
          </a:solidFill>
          <a:ln/>
        </p:spPr>
      </p:sp>
      <p:sp>
        <p:nvSpPr>
          <p:cNvPr id="14" name="Shape 11"/>
          <p:cNvSpPr/>
          <p:nvPr/>
        </p:nvSpPr>
        <p:spPr>
          <a:xfrm>
            <a:off x="3381146" y="2331720"/>
            <a:ext cx="164592" cy="164592"/>
          </a:xfrm>
          <a:prstGeom prst="roundRect">
            <a:avLst>
              <a:gd name="adj" fmla="val 22222"/>
            </a:avLst>
          </a:prstGeom>
          <a:solidFill>
            <a:schemeClr val="tx1"/>
          </a:solidFill>
          <a:ln/>
        </p:spPr>
      </p:sp>
      <p:sp>
        <p:nvSpPr>
          <p:cNvPr id="15" name="Shape 12"/>
          <p:cNvSpPr/>
          <p:nvPr/>
        </p:nvSpPr>
        <p:spPr>
          <a:xfrm>
            <a:off x="3600602" y="2331720"/>
            <a:ext cx="164592" cy="164592"/>
          </a:xfrm>
          <a:prstGeom prst="roundRect">
            <a:avLst>
              <a:gd name="adj" fmla="val 22222"/>
            </a:avLst>
          </a:prstGeom>
          <a:solidFill>
            <a:schemeClr val="tx1"/>
          </a:solidFill>
          <a:ln/>
        </p:spPr>
      </p:sp>
      <p:sp>
        <p:nvSpPr>
          <p:cNvPr id="16" name="Text 13"/>
          <p:cNvSpPr txBox="1"/>
          <p:nvPr/>
        </p:nvSpPr>
        <p:spPr>
          <a:xfrm>
            <a:off x="2722778" y="256032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17" name="Shape 14"/>
          <p:cNvSpPr/>
          <p:nvPr/>
        </p:nvSpPr>
        <p:spPr>
          <a:xfrm>
            <a:off x="4322978" y="1920240"/>
            <a:ext cx="3545738" cy="1920240"/>
          </a:xfrm>
          <a:prstGeom prst="roundRect">
            <a:avLst>
              <a:gd name="adj" fmla="val 4762"/>
            </a:avLst>
          </a:prstGeom>
          <a:solidFill>
            <a:schemeClr val="bg1"/>
          </a:solidFill>
          <a:ln/>
        </p:spPr>
      </p:sp>
      <p:sp>
        <p:nvSpPr>
          <p:cNvPr id="18" name="Shape 15"/>
          <p:cNvSpPr/>
          <p:nvPr/>
        </p:nvSpPr>
        <p:spPr>
          <a:xfrm>
            <a:off x="4597298" y="2194560"/>
            <a:ext cx="512064" cy="512064"/>
          </a:xfrm>
          <a:prstGeom prst="ellipse">
            <a:avLst/>
          </a:prstGeom>
          <a:solidFill>
            <a:schemeClr val="tx1"/>
          </a:solidFill>
          <a:ln/>
        </p:spPr>
      </p:sp>
      <p:pic>
        <p:nvPicPr>
          <p:cNvPr id="19" name="Icon PiPlugs C6F432"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4720194" y="2317455"/>
            <a:ext cx="266273" cy="266273"/>
          </a:xfrm>
          <a:prstGeom prst="rect">
            <a:avLst/>
          </a:prstGeom>
        </p:spPr>
      </p:pic>
      <p:sp>
        <p:nvSpPr>
          <p:cNvPr id="20" name="Text 16"/>
          <p:cNvSpPr txBox="1"/>
          <p:nvPr/>
        </p:nvSpPr>
        <p:spPr>
          <a:xfrm>
            <a:off x="4597298"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Integrations</a:t>
            </a:r>
            <a:endParaRPr lang="en-US" sz="1400" dirty="0"/>
          </a:p>
        </p:txBody>
      </p:sp>
      <p:sp>
        <p:nvSpPr>
          <p:cNvPr id="21" name="Text 17"/>
          <p:cNvSpPr txBox="1"/>
          <p:nvPr/>
        </p:nvSpPr>
        <p:spPr>
          <a:xfrm>
            <a:off x="4597298" y="312724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140+ native connectors, 2-day setup.</a:t>
            </a:r>
            <a:endParaRPr lang="en-US" sz="1050" dirty="0"/>
          </a:p>
        </p:txBody>
      </p:sp>
      <p:sp>
        <p:nvSpPr>
          <p:cNvPr id="22" name="Shape 18"/>
          <p:cNvSpPr/>
          <p:nvPr/>
        </p:nvSpPr>
        <p:spPr>
          <a:xfrm>
            <a:off x="6497117" y="2331720"/>
            <a:ext cx="164592" cy="164592"/>
          </a:xfrm>
          <a:prstGeom prst="roundRect">
            <a:avLst>
              <a:gd name="adj" fmla="val 22222"/>
            </a:avLst>
          </a:prstGeom>
          <a:solidFill>
            <a:schemeClr val="tx1"/>
          </a:solidFill>
          <a:ln/>
        </p:spPr>
      </p:sp>
      <p:sp>
        <p:nvSpPr>
          <p:cNvPr id="23" name="Shape 19"/>
          <p:cNvSpPr/>
          <p:nvPr/>
        </p:nvSpPr>
        <p:spPr>
          <a:xfrm>
            <a:off x="6716573" y="2331720"/>
            <a:ext cx="164592" cy="164592"/>
          </a:xfrm>
          <a:prstGeom prst="roundRect">
            <a:avLst>
              <a:gd name="adj" fmla="val 22222"/>
            </a:avLst>
          </a:prstGeom>
          <a:solidFill>
            <a:schemeClr val="tx1"/>
          </a:solidFill>
          <a:ln/>
        </p:spPr>
      </p:sp>
      <p:sp>
        <p:nvSpPr>
          <p:cNvPr id="24" name="Shape 20"/>
          <p:cNvSpPr/>
          <p:nvPr/>
        </p:nvSpPr>
        <p:spPr>
          <a:xfrm>
            <a:off x="6936029" y="2331720"/>
            <a:ext cx="164592" cy="164592"/>
          </a:xfrm>
          <a:prstGeom prst="roundRect">
            <a:avLst>
              <a:gd name="adj" fmla="val 22222"/>
            </a:avLst>
          </a:prstGeom>
          <a:solidFill>
            <a:schemeClr val="tx1"/>
          </a:solidFill>
          <a:ln/>
        </p:spPr>
      </p:sp>
      <p:sp>
        <p:nvSpPr>
          <p:cNvPr id="25" name="Shape 21"/>
          <p:cNvSpPr/>
          <p:nvPr/>
        </p:nvSpPr>
        <p:spPr>
          <a:xfrm>
            <a:off x="7155485" y="2331720"/>
            <a:ext cx="164592" cy="164592"/>
          </a:xfrm>
          <a:prstGeom prst="roundRect">
            <a:avLst>
              <a:gd name="adj" fmla="val 22222"/>
            </a:avLst>
          </a:prstGeom>
          <a:solidFill>
            <a:schemeClr val="tx1"/>
          </a:solidFill>
          <a:ln/>
        </p:spPr>
      </p:sp>
      <p:sp>
        <p:nvSpPr>
          <p:cNvPr id="26" name="Shape 22"/>
          <p:cNvSpPr/>
          <p:nvPr/>
        </p:nvSpPr>
        <p:spPr>
          <a:xfrm>
            <a:off x="7374941" y="2331720"/>
            <a:ext cx="164592" cy="164592"/>
          </a:xfrm>
          <a:prstGeom prst="roundRect">
            <a:avLst>
              <a:gd name="adj" fmla="val 22222"/>
            </a:avLst>
          </a:prstGeom>
          <a:solidFill>
            <a:schemeClr val="accent4"/>
          </a:solidFill>
          <a:ln/>
        </p:spPr>
      </p:sp>
      <p:sp>
        <p:nvSpPr>
          <p:cNvPr id="27" name="Text 23"/>
          <p:cNvSpPr txBox="1"/>
          <p:nvPr/>
        </p:nvSpPr>
        <p:spPr>
          <a:xfrm>
            <a:off x="6497117" y="256032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28" name="Shape 24"/>
          <p:cNvSpPr/>
          <p:nvPr/>
        </p:nvSpPr>
        <p:spPr>
          <a:xfrm>
            <a:off x="8097317" y="1920240"/>
            <a:ext cx="3545738" cy="1920240"/>
          </a:xfrm>
          <a:prstGeom prst="roundRect">
            <a:avLst>
              <a:gd name="adj" fmla="val 4762"/>
            </a:avLst>
          </a:prstGeom>
          <a:solidFill>
            <a:schemeClr val="bg1"/>
          </a:solidFill>
          <a:ln/>
        </p:spPr>
      </p:sp>
      <p:sp>
        <p:nvSpPr>
          <p:cNvPr id="29" name="Shape 25"/>
          <p:cNvSpPr/>
          <p:nvPr/>
        </p:nvSpPr>
        <p:spPr>
          <a:xfrm>
            <a:off x="8371637" y="2194560"/>
            <a:ext cx="512064" cy="512064"/>
          </a:xfrm>
          <a:prstGeom prst="ellipse">
            <a:avLst/>
          </a:prstGeom>
          <a:solidFill>
            <a:schemeClr val="tx1"/>
          </a:solidFill>
          <a:ln/>
        </p:spPr>
      </p:sp>
      <p:pic>
        <p:nvPicPr>
          <p:cNvPr id="30" name="Icon PiShieldCheck C6F432"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8494532" y="2317455"/>
            <a:ext cx="266273" cy="266273"/>
          </a:xfrm>
          <a:prstGeom prst="rect">
            <a:avLst/>
          </a:prstGeom>
        </p:spPr>
      </p:pic>
      <p:sp>
        <p:nvSpPr>
          <p:cNvPr id="31" name="Text 26"/>
          <p:cNvSpPr txBox="1"/>
          <p:nvPr/>
        </p:nvSpPr>
        <p:spPr>
          <a:xfrm>
            <a:off x="8371637"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Security</a:t>
            </a:r>
            <a:endParaRPr lang="en-US" sz="1400" dirty="0"/>
          </a:p>
        </p:txBody>
      </p:sp>
      <p:sp>
        <p:nvSpPr>
          <p:cNvPr id="32" name="Text 27"/>
          <p:cNvSpPr txBox="1"/>
          <p:nvPr/>
        </p:nvSpPr>
        <p:spPr>
          <a:xfrm>
            <a:off x="8371637" y="312724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SOC 2 Type II, ISO 27001, GDPR-native.</a:t>
            </a:r>
            <a:endParaRPr lang="en-US" sz="1050" dirty="0"/>
          </a:p>
        </p:txBody>
      </p:sp>
      <p:sp>
        <p:nvSpPr>
          <p:cNvPr id="33" name="Shape 28"/>
          <p:cNvSpPr/>
          <p:nvPr/>
        </p:nvSpPr>
        <p:spPr>
          <a:xfrm>
            <a:off x="10271455" y="2331720"/>
            <a:ext cx="164592" cy="164592"/>
          </a:xfrm>
          <a:prstGeom prst="roundRect">
            <a:avLst>
              <a:gd name="adj" fmla="val 22222"/>
            </a:avLst>
          </a:prstGeom>
          <a:solidFill>
            <a:schemeClr val="tx1"/>
          </a:solidFill>
          <a:ln/>
        </p:spPr>
      </p:sp>
      <p:sp>
        <p:nvSpPr>
          <p:cNvPr id="34" name="Shape 29"/>
          <p:cNvSpPr/>
          <p:nvPr/>
        </p:nvSpPr>
        <p:spPr>
          <a:xfrm>
            <a:off x="10490911" y="2331720"/>
            <a:ext cx="164592" cy="164592"/>
          </a:xfrm>
          <a:prstGeom prst="roundRect">
            <a:avLst>
              <a:gd name="adj" fmla="val 22222"/>
            </a:avLst>
          </a:prstGeom>
          <a:solidFill>
            <a:schemeClr val="tx1"/>
          </a:solidFill>
          <a:ln/>
        </p:spPr>
      </p:sp>
      <p:sp>
        <p:nvSpPr>
          <p:cNvPr id="35" name="Shape 30"/>
          <p:cNvSpPr/>
          <p:nvPr/>
        </p:nvSpPr>
        <p:spPr>
          <a:xfrm>
            <a:off x="10710367" y="2331720"/>
            <a:ext cx="164592" cy="164592"/>
          </a:xfrm>
          <a:prstGeom prst="roundRect">
            <a:avLst>
              <a:gd name="adj" fmla="val 22222"/>
            </a:avLst>
          </a:prstGeom>
          <a:solidFill>
            <a:schemeClr val="tx1"/>
          </a:solidFill>
          <a:ln/>
        </p:spPr>
      </p:sp>
      <p:sp>
        <p:nvSpPr>
          <p:cNvPr id="36" name="Shape 31"/>
          <p:cNvSpPr/>
          <p:nvPr/>
        </p:nvSpPr>
        <p:spPr>
          <a:xfrm>
            <a:off x="10929823" y="2331720"/>
            <a:ext cx="164592" cy="164592"/>
          </a:xfrm>
          <a:prstGeom prst="roundRect">
            <a:avLst>
              <a:gd name="adj" fmla="val 22222"/>
            </a:avLst>
          </a:prstGeom>
          <a:solidFill>
            <a:schemeClr val="tx1"/>
          </a:solidFill>
          <a:ln/>
        </p:spPr>
      </p:sp>
      <p:sp>
        <p:nvSpPr>
          <p:cNvPr id="37" name="Shape 32"/>
          <p:cNvSpPr/>
          <p:nvPr/>
        </p:nvSpPr>
        <p:spPr>
          <a:xfrm>
            <a:off x="11149279" y="2331720"/>
            <a:ext cx="164592" cy="164592"/>
          </a:xfrm>
          <a:prstGeom prst="roundRect">
            <a:avLst>
              <a:gd name="adj" fmla="val 22222"/>
            </a:avLst>
          </a:prstGeom>
          <a:solidFill>
            <a:schemeClr val="tx1"/>
          </a:solidFill>
          <a:ln/>
        </p:spPr>
      </p:sp>
      <p:sp>
        <p:nvSpPr>
          <p:cNvPr id="38" name="Text 33"/>
          <p:cNvSpPr txBox="1"/>
          <p:nvPr/>
        </p:nvSpPr>
        <p:spPr>
          <a:xfrm>
            <a:off x="10271455" y="256032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39" name="Shape 34"/>
          <p:cNvSpPr/>
          <p:nvPr/>
        </p:nvSpPr>
        <p:spPr>
          <a:xfrm>
            <a:off x="548640" y="4069080"/>
            <a:ext cx="3545738" cy="1920240"/>
          </a:xfrm>
          <a:prstGeom prst="roundRect">
            <a:avLst>
              <a:gd name="adj" fmla="val 4762"/>
            </a:avLst>
          </a:prstGeom>
          <a:solidFill>
            <a:schemeClr val="bg1"/>
          </a:solidFill>
          <a:ln/>
        </p:spPr>
      </p:sp>
      <p:sp>
        <p:nvSpPr>
          <p:cNvPr id="40" name="Shape 35"/>
          <p:cNvSpPr/>
          <p:nvPr/>
        </p:nvSpPr>
        <p:spPr>
          <a:xfrm>
            <a:off x="822960" y="4343400"/>
            <a:ext cx="512064" cy="512064"/>
          </a:xfrm>
          <a:prstGeom prst="ellipse">
            <a:avLst/>
          </a:prstGeom>
          <a:solidFill>
            <a:schemeClr val="tx1"/>
          </a:solidFill>
          <a:ln/>
        </p:spPr>
      </p:sp>
      <p:pic>
        <p:nvPicPr>
          <p:cNvPr id="41" name="Icon PiHeadset C6F432"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945855" y="4466295"/>
            <a:ext cx="266273" cy="266273"/>
          </a:xfrm>
          <a:prstGeom prst="rect">
            <a:avLst/>
          </a:prstGeom>
        </p:spPr>
      </p:pic>
      <p:sp>
        <p:nvSpPr>
          <p:cNvPr id="42" name="Text 36"/>
          <p:cNvSpPr txBox="1"/>
          <p:nvPr/>
        </p:nvSpPr>
        <p:spPr>
          <a:xfrm>
            <a:off x="822960"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Customer success</a:t>
            </a:r>
            <a:endParaRPr lang="en-US" sz="1400" dirty="0"/>
          </a:p>
        </p:txBody>
      </p:sp>
      <p:sp>
        <p:nvSpPr>
          <p:cNvPr id="43" name="Text 37"/>
          <p:cNvSpPr txBox="1"/>
          <p:nvPr/>
        </p:nvSpPr>
        <p:spPr>
          <a:xfrm>
            <a:off x="822960" y="527608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Named CSM for every account over $50K.</a:t>
            </a:r>
            <a:endParaRPr lang="en-US" sz="1050" dirty="0"/>
          </a:p>
        </p:txBody>
      </p:sp>
      <p:sp>
        <p:nvSpPr>
          <p:cNvPr id="44" name="Shape 38"/>
          <p:cNvSpPr/>
          <p:nvPr/>
        </p:nvSpPr>
        <p:spPr>
          <a:xfrm>
            <a:off x="2722778" y="4480560"/>
            <a:ext cx="164592" cy="164592"/>
          </a:xfrm>
          <a:prstGeom prst="roundRect">
            <a:avLst>
              <a:gd name="adj" fmla="val 22222"/>
            </a:avLst>
          </a:prstGeom>
          <a:solidFill>
            <a:schemeClr val="tx1"/>
          </a:solidFill>
          <a:ln/>
        </p:spPr>
      </p:sp>
      <p:sp>
        <p:nvSpPr>
          <p:cNvPr id="45" name="Shape 39"/>
          <p:cNvSpPr/>
          <p:nvPr/>
        </p:nvSpPr>
        <p:spPr>
          <a:xfrm>
            <a:off x="2942234" y="4480560"/>
            <a:ext cx="164592" cy="164592"/>
          </a:xfrm>
          <a:prstGeom prst="roundRect">
            <a:avLst>
              <a:gd name="adj" fmla="val 22222"/>
            </a:avLst>
          </a:prstGeom>
          <a:solidFill>
            <a:schemeClr val="tx1"/>
          </a:solidFill>
          <a:ln/>
        </p:spPr>
      </p:sp>
      <p:sp>
        <p:nvSpPr>
          <p:cNvPr id="46" name="Shape 40"/>
          <p:cNvSpPr/>
          <p:nvPr/>
        </p:nvSpPr>
        <p:spPr>
          <a:xfrm>
            <a:off x="3161690" y="4480560"/>
            <a:ext cx="164592" cy="164592"/>
          </a:xfrm>
          <a:prstGeom prst="roundRect">
            <a:avLst>
              <a:gd name="adj" fmla="val 22222"/>
            </a:avLst>
          </a:prstGeom>
          <a:solidFill>
            <a:schemeClr val="tx1"/>
          </a:solidFill>
          <a:ln/>
        </p:spPr>
      </p:sp>
      <p:sp>
        <p:nvSpPr>
          <p:cNvPr id="47" name="Shape 41"/>
          <p:cNvSpPr/>
          <p:nvPr/>
        </p:nvSpPr>
        <p:spPr>
          <a:xfrm>
            <a:off x="3381146" y="4480560"/>
            <a:ext cx="164592" cy="164592"/>
          </a:xfrm>
          <a:prstGeom prst="roundRect">
            <a:avLst>
              <a:gd name="adj" fmla="val 22222"/>
            </a:avLst>
          </a:prstGeom>
          <a:solidFill>
            <a:schemeClr val="tx1"/>
          </a:solidFill>
          <a:ln/>
        </p:spPr>
      </p:sp>
      <p:sp>
        <p:nvSpPr>
          <p:cNvPr id="48" name="Shape 42"/>
          <p:cNvSpPr/>
          <p:nvPr/>
        </p:nvSpPr>
        <p:spPr>
          <a:xfrm>
            <a:off x="3600602" y="4480560"/>
            <a:ext cx="164592" cy="164592"/>
          </a:xfrm>
          <a:prstGeom prst="roundRect">
            <a:avLst>
              <a:gd name="adj" fmla="val 22222"/>
            </a:avLst>
          </a:prstGeom>
          <a:solidFill>
            <a:schemeClr val="accent4"/>
          </a:solidFill>
          <a:ln/>
        </p:spPr>
      </p:sp>
      <p:sp>
        <p:nvSpPr>
          <p:cNvPr id="49" name="Text 43"/>
          <p:cNvSpPr txBox="1"/>
          <p:nvPr/>
        </p:nvSpPr>
        <p:spPr>
          <a:xfrm>
            <a:off x="2722778" y="470916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50" name="Shape 44"/>
          <p:cNvSpPr/>
          <p:nvPr/>
        </p:nvSpPr>
        <p:spPr>
          <a:xfrm>
            <a:off x="4322978" y="4069080"/>
            <a:ext cx="3545738" cy="1920240"/>
          </a:xfrm>
          <a:prstGeom prst="roundRect">
            <a:avLst>
              <a:gd name="adj" fmla="val 4762"/>
            </a:avLst>
          </a:prstGeom>
          <a:solidFill>
            <a:schemeClr val="bg1"/>
          </a:solidFill>
          <a:ln/>
        </p:spPr>
      </p:sp>
      <p:sp>
        <p:nvSpPr>
          <p:cNvPr id="51" name="Shape 45"/>
          <p:cNvSpPr/>
          <p:nvPr/>
        </p:nvSpPr>
        <p:spPr>
          <a:xfrm>
            <a:off x="4597298" y="4343400"/>
            <a:ext cx="512064" cy="512064"/>
          </a:xfrm>
          <a:prstGeom prst="ellipse">
            <a:avLst/>
          </a:prstGeom>
          <a:solidFill>
            <a:schemeClr val="tx1"/>
          </a:solidFill>
          <a:ln/>
        </p:spPr>
      </p:sp>
      <p:pic>
        <p:nvPicPr>
          <p:cNvPr id="52" name="Icon PiChartPieSlice C6F432"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4720194" y="4466295"/>
            <a:ext cx="266273" cy="266273"/>
          </a:xfrm>
          <a:prstGeom prst="rect">
            <a:avLst/>
          </a:prstGeom>
        </p:spPr>
      </p:pic>
      <p:sp>
        <p:nvSpPr>
          <p:cNvPr id="53" name="Text 46"/>
          <p:cNvSpPr txBox="1"/>
          <p:nvPr/>
        </p:nvSpPr>
        <p:spPr>
          <a:xfrm>
            <a:off x="4597298"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Analytics</a:t>
            </a:r>
            <a:endParaRPr lang="en-US" sz="1400" dirty="0"/>
          </a:p>
        </p:txBody>
      </p:sp>
      <p:sp>
        <p:nvSpPr>
          <p:cNvPr id="54" name="Text 47"/>
          <p:cNvSpPr txBox="1"/>
          <p:nvPr/>
        </p:nvSpPr>
        <p:spPr>
          <a:xfrm>
            <a:off x="4597298" y="527608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Self-serve dashboards for every role.</a:t>
            </a:r>
            <a:endParaRPr lang="en-US" sz="1050" dirty="0"/>
          </a:p>
        </p:txBody>
      </p:sp>
      <p:sp>
        <p:nvSpPr>
          <p:cNvPr id="55" name="Shape 48"/>
          <p:cNvSpPr/>
          <p:nvPr/>
        </p:nvSpPr>
        <p:spPr>
          <a:xfrm>
            <a:off x="6497117" y="4480560"/>
            <a:ext cx="164592" cy="164592"/>
          </a:xfrm>
          <a:prstGeom prst="roundRect">
            <a:avLst>
              <a:gd name="adj" fmla="val 22222"/>
            </a:avLst>
          </a:prstGeom>
          <a:solidFill>
            <a:schemeClr val="tx1"/>
          </a:solidFill>
          <a:ln/>
        </p:spPr>
      </p:sp>
      <p:sp>
        <p:nvSpPr>
          <p:cNvPr id="56" name="Shape 49"/>
          <p:cNvSpPr/>
          <p:nvPr/>
        </p:nvSpPr>
        <p:spPr>
          <a:xfrm>
            <a:off x="6716573" y="4480560"/>
            <a:ext cx="164592" cy="164592"/>
          </a:xfrm>
          <a:prstGeom prst="roundRect">
            <a:avLst>
              <a:gd name="adj" fmla="val 22222"/>
            </a:avLst>
          </a:prstGeom>
          <a:solidFill>
            <a:schemeClr val="tx1"/>
          </a:solidFill>
          <a:ln/>
        </p:spPr>
      </p:sp>
      <p:sp>
        <p:nvSpPr>
          <p:cNvPr id="57" name="Shape 50"/>
          <p:cNvSpPr/>
          <p:nvPr/>
        </p:nvSpPr>
        <p:spPr>
          <a:xfrm>
            <a:off x="6936029" y="4480560"/>
            <a:ext cx="164592" cy="164592"/>
          </a:xfrm>
          <a:prstGeom prst="roundRect">
            <a:avLst>
              <a:gd name="adj" fmla="val 22222"/>
            </a:avLst>
          </a:prstGeom>
          <a:solidFill>
            <a:schemeClr val="tx1"/>
          </a:solidFill>
          <a:ln/>
        </p:spPr>
      </p:sp>
      <p:sp>
        <p:nvSpPr>
          <p:cNvPr id="58" name="Shape 51"/>
          <p:cNvSpPr/>
          <p:nvPr/>
        </p:nvSpPr>
        <p:spPr>
          <a:xfrm>
            <a:off x="7155485" y="4480560"/>
            <a:ext cx="164592" cy="164592"/>
          </a:xfrm>
          <a:prstGeom prst="roundRect">
            <a:avLst>
              <a:gd name="adj" fmla="val 22222"/>
            </a:avLst>
          </a:prstGeom>
          <a:solidFill>
            <a:schemeClr val="accent4"/>
          </a:solidFill>
          <a:ln/>
        </p:spPr>
      </p:sp>
      <p:sp>
        <p:nvSpPr>
          <p:cNvPr id="59" name="Shape 52"/>
          <p:cNvSpPr/>
          <p:nvPr/>
        </p:nvSpPr>
        <p:spPr>
          <a:xfrm>
            <a:off x="7374941" y="4480560"/>
            <a:ext cx="164592" cy="164592"/>
          </a:xfrm>
          <a:prstGeom prst="roundRect">
            <a:avLst>
              <a:gd name="adj" fmla="val 22222"/>
            </a:avLst>
          </a:prstGeom>
          <a:solidFill>
            <a:schemeClr val="accent4"/>
          </a:solidFill>
          <a:ln/>
        </p:spPr>
      </p:sp>
      <p:sp>
        <p:nvSpPr>
          <p:cNvPr id="60" name="Text 53"/>
          <p:cNvSpPr txBox="1"/>
          <p:nvPr/>
        </p:nvSpPr>
        <p:spPr>
          <a:xfrm>
            <a:off x="6497117" y="470916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61" name="Shape 54"/>
          <p:cNvSpPr/>
          <p:nvPr/>
        </p:nvSpPr>
        <p:spPr>
          <a:xfrm>
            <a:off x="8097317" y="4069080"/>
            <a:ext cx="3545738" cy="1920240"/>
          </a:xfrm>
          <a:prstGeom prst="roundRect">
            <a:avLst>
              <a:gd name="adj" fmla="val 4762"/>
            </a:avLst>
          </a:prstGeom>
          <a:solidFill>
            <a:schemeClr val="bg1"/>
          </a:solidFill>
          <a:ln/>
        </p:spPr>
      </p:sp>
      <p:sp>
        <p:nvSpPr>
          <p:cNvPr id="62" name="Shape 55"/>
          <p:cNvSpPr/>
          <p:nvPr/>
        </p:nvSpPr>
        <p:spPr>
          <a:xfrm>
            <a:off x="8371637" y="4343400"/>
            <a:ext cx="512064" cy="512064"/>
          </a:xfrm>
          <a:prstGeom prst="ellipse">
            <a:avLst/>
          </a:prstGeom>
          <a:solidFill>
            <a:schemeClr val="tx1"/>
          </a:solidFill>
          <a:ln/>
        </p:spPr>
      </p:sp>
      <p:pic>
        <p:nvPicPr>
          <p:cNvPr id="63" name="Icon PiGlobe C6F432"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494532" y="4466295"/>
            <a:ext cx="266273" cy="266273"/>
          </a:xfrm>
          <a:prstGeom prst="rect">
            <a:avLst/>
          </a:prstGeom>
        </p:spPr>
      </p:pic>
      <p:sp>
        <p:nvSpPr>
          <p:cNvPr id="64" name="Text 56"/>
          <p:cNvSpPr txBox="1"/>
          <p:nvPr/>
        </p:nvSpPr>
        <p:spPr>
          <a:xfrm>
            <a:off x="8371637"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Localisation</a:t>
            </a:r>
            <a:endParaRPr lang="en-US" sz="1400" dirty="0"/>
          </a:p>
        </p:txBody>
      </p:sp>
      <p:sp>
        <p:nvSpPr>
          <p:cNvPr id="65" name="Text 57"/>
          <p:cNvSpPr txBox="1"/>
          <p:nvPr/>
        </p:nvSpPr>
        <p:spPr>
          <a:xfrm>
            <a:off x="8371637" y="527608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9 languages, multi-currency, local data.</a:t>
            </a:r>
            <a:endParaRPr lang="en-US" sz="1050" dirty="0"/>
          </a:p>
        </p:txBody>
      </p:sp>
      <p:sp>
        <p:nvSpPr>
          <p:cNvPr id="66" name="Shape 58"/>
          <p:cNvSpPr/>
          <p:nvPr/>
        </p:nvSpPr>
        <p:spPr>
          <a:xfrm>
            <a:off x="10271455" y="4480560"/>
            <a:ext cx="164592" cy="164592"/>
          </a:xfrm>
          <a:prstGeom prst="roundRect">
            <a:avLst>
              <a:gd name="adj" fmla="val 22222"/>
            </a:avLst>
          </a:prstGeom>
          <a:solidFill>
            <a:schemeClr val="tx1"/>
          </a:solidFill>
          <a:ln/>
        </p:spPr>
      </p:sp>
      <p:sp>
        <p:nvSpPr>
          <p:cNvPr id="67" name="Shape 59"/>
          <p:cNvSpPr/>
          <p:nvPr/>
        </p:nvSpPr>
        <p:spPr>
          <a:xfrm>
            <a:off x="10490911" y="4480560"/>
            <a:ext cx="164592" cy="164592"/>
          </a:xfrm>
          <a:prstGeom prst="roundRect">
            <a:avLst>
              <a:gd name="adj" fmla="val 22222"/>
            </a:avLst>
          </a:prstGeom>
          <a:solidFill>
            <a:schemeClr val="tx1"/>
          </a:solidFill>
          <a:ln/>
        </p:spPr>
      </p:sp>
      <p:sp>
        <p:nvSpPr>
          <p:cNvPr id="68" name="Shape 60"/>
          <p:cNvSpPr/>
          <p:nvPr/>
        </p:nvSpPr>
        <p:spPr>
          <a:xfrm>
            <a:off x="10710367" y="4480560"/>
            <a:ext cx="164592" cy="164592"/>
          </a:xfrm>
          <a:prstGeom prst="roundRect">
            <a:avLst>
              <a:gd name="adj" fmla="val 22222"/>
            </a:avLst>
          </a:prstGeom>
          <a:solidFill>
            <a:schemeClr val="tx1"/>
          </a:solidFill>
          <a:ln/>
        </p:spPr>
      </p:sp>
      <p:sp>
        <p:nvSpPr>
          <p:cNvPr id="69" name="Shape 61"/>
          <p:cNvSpPr/>
          <p:nvPr/>
        </p:nvSpPr>
        <p:spPr>
          <a:xfrm>
            <a:off x="10929823" y="4480560"/>
            <a:ext cx="164592" cy="164592"/>
          </a:xfrm>
          <a:prstGeom prst="roundRect">
            <a:avLst>
              <a:gd name="adj" fmla="val 22222"/>
            </a:avLst>
          </a:prstGeom>
          <a:solidFill>
            <a:schemeClr val="accent4"/>
          </a:solidFill>
          <a:ln/>
        </p:spPr>
      </p:sp>
      <p:sp>
        <p:nvSpPr>
          <p:cNvPr id="70" name="Shape 62"/>
          <p:cNvSpPr/>
          <p:nvPr/>
        </p:nvSpPr>
        <p:spPr>
          <a:xfrm>
            <a:off x="11149279" y="4480560"/>
            <a:ext cx="164592" cy="164592"/>
          </a:xfrm>
          <a:prstGeom prst="roundRect">
            <a:avLst>
              <a:gd name="adj" fmla="val 22222"/>
            </a:avLst>
          </a:prstGeom>
          <a:solidFill>
            <a:schemeClr val="accent4"/>
          </a:solidFill>
          <a:ln/>
        </p:spPr>
      </p:sp>
      <p:sp>
        <p:nvSpPr>
          <p:cNvPr id="71" name="Text 63"/>
          <p:cNvSpPr txBox="1"/>
          <p:nvPr/>
        </p:nvSpPr>
        <p:spPr>
          <a:xfrm>
            <a:off x="10271455" y="470916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 · THE PROBLEM</a:t>
            </a:r>
            <a:endParaRPr lang="en-US" sz="950" dirty="0"/>
          </a:p>
        </p:txBody>
      </p:sp>
      <p:sp>
        <p:nvSpPr>
          <p:cNvPr id="4" name="Text 2"/>
          <p:cNvSpPr txBox="1"/>
          <p:nvPr/>
        </p:nvSpPr>
        <p:spPr>
          <a:xfrm>
            <a:off x="502920" y="1097280"/>
            <a:ext cx="4489323" cy="1737360"/>
          </a:xfrm>
          <a:prstGeom prst="rect">
            <a:avLst/>
          </a:prstGeom>
          <a:noFill/>
          <a:ln/>
        </p:spPr>
        <p:txBody>
          <a:bodyPr wrap="square" lIns="0" tIns="0" rIns="0" bIns="0" rtlCol="0" anchor="t"/>
          <a:lstStyle/>
          <a:p>
            <a:pPr algn="l" indent="0" marL="0">
              <a:buNone/>
            </a:pPr>
            <a:r>
              <a:rPr lang="en-US" sz="11000" dirty="0">
                <a:solidFill>
                  <a:schemeClr val="tx1"/>
                </a:solidFill>
                <a:latin typeface="Manrope ExtraBold" pitchFamily="34" charset="0"/>
                <a:ea typeface="Manrope ExtraBold" pitchFamily="34" charset="-122"/>
                <a:cs typeface="Manrope ExtraBold" pitchFamily="34" charset="-120"/>
              </a:rPr>
              <a:t>1 in 3</a:t>
            </a:r>
            <a:endParaRPr lang="en-US" sz="11000" dirty="0"/>
          </a:p>
        </p:txBody>
      </p:sp>
      <p:sp>
        <p:nvSpPr>
          <p:cNvPr id="5" name="Shape 3"/>
          <p:cNvSpPr/>
          <p:nvPr/>
        </p:nvSpPr>
        <p:spPr>
          <a:xfrm>
            <a:off x="548640" y="2926080"/>
            <a:ext cx="1097280" cy="128016"/>
          </a:xfrm>
          <a:prstGeom prst="rect">
            <a:avLst/>
          </a:prstGeom>
          <a:solidFill>
            <a:schemeClr val="accent1"/>
          </a:solidFill>
          <a:ln/>
        </p:spPr>
      </p:sp>
      <p:sp>
        <p:nvSpPr>
          <p:cNvPr id="6" name="Text 4"/>
          <p:cNvSpPr txBox="1"/>
          <p:nvPr/>
        </p:nvSpPr>
        <p:spPr>
          <a:xfrm>
            <a:off x="5449443" y="1417320"/>
            <a:ext cx="6193612" cy="1463040"/>
          </a:xfrm>
          <a:prstGeom prst="rect">
            <a:avLst/>
          </a:prstGeom>
          <a:noFill/>
          <a:ln/>
        </p:spPr>
        <p:txBody>
          <a:bodyPr wrap="square" lIns="0" tIns="0" rIns="0" bIns="0" rtlCol="0" anchor="t"/>
          <a:lstStyle/>
          <a:p>
            <a:pPr algn="l" indent="0" marL="0">
              <a:lnSpc>
                <a:spcPct val="105000"/>
              </a:lnSpc>
              <a:buNone/>
            </a:pPr>
            <a:r>
              <a:rPr lang="en-US" sz="3200" b="1" dirty="0">
                <a:solidFill>
                  <a:schemeClr val="tx1"/>
                </a:solidFill>
                <a:latin typeface="Manrope" pitchFamily="34" charset="0"/>
                <a:ea typeface="Manrope" pitchFamily="34" charset="-122"/>
                <a:cs typeface="Manrope" pitchFamily="34" charset="-120"/>
              </a:rPr>
              <a:t>qualified B2B deals is lost to poor data, not to a competitor.</a:t>
            </a:r>
            <a:endParaRPr lang="en-US" sz="3200" dirty="0"/>
          </a:p>
        </p:txBody>
      </p:sp>
      <p:sp>
        <p:nvSpPr>
          <p:cNvPr id="7" name="Shape 5"/>
          <p:cNvSpPr/>
          <p:nvPr/>
        </p:nvSpPr>
        <p:spPr>
          <a:xfrm>
            <a:off x="548640" y="4023360"/>
            <a:ext cx="3545738" cy="0"/>
          </a:xfrm>
          <a:prstGeom prst="line">
            <a:avLst/>
          </a:prstGeom>
          <a:noFill/>
          <a:ln w="19050">
            <a:solidFill>
              <a:schemeClr val="tx1"/>
            </a:solidFill>
            <a:prstDash val="solid"/>
          </a:ln>
        </p:spPr>
      </p:sp>
      <p:sp>
        <p:nvSpPr>
          <p:cNvPr id="8" name="Text 6"/>
          <p:cNvSpPr txBox="1"/>
          <p:nvPr/>
        </p:nvSpPr>
        <p:spPr>
          <a:xfrm>
            <a:off x="548640" y="4297680"/>
            <a:ext cx="3545738"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68%</a:t>
            </a:r>
            <a:endParaRPr lang="en-US" sz="4000" dirty="0"/>
          </a:p>
        </p:txBody>
      </p:sp>
      <p:sp>
        <p:nvSpPr>
          <p:cNvPr id="9" name="Text 7"/>
          <p:cNvSpPr txBox="1"/>
          <p:nvPr/>
        </p:nvSpPr>
        <p:spPr>
          <a:xfrm>
            <a:off x="548640" y="5029200"/>
            <a:ext cx="3073946" cy="548640"/>
          </a:xfrm>
          <a:prstGeom prst="rect">
            <a:avLst/>
          </a:prstGeom>
          <a:noFill/>
          <a:ln/>
        </p:spPr>
        <p:txBody>
          <a:bodyPr wrap="square" lIns="0" tIns="0" rIns="0" bIns="0" rtlCol="0" anchor="t"/>
          <a:lstStyle/>
          <a:p>
            <a:pPr algn="l" indent="0" marL="0">
              <a:lnSpc>
                <a:spcPct val="120000"/>
              </a:lnSpc>
              <a:buNone/>
            </a:pPr>
            <a:r>
              <a:rPr lang="en-US" sz="1200" dirty="0">
                <a:solidFill>
                  <a:schemeClr val="accent3"/>
                </a:solidFill>
                <a:latin typeface="Inter" pitchFamily="34" charset="0"/>
                <a:ea typeface="Inter" pitchFamily="34" charset="-122"/>
                <a:cs typeface="Inter" pitchFamily="34" charset="-120"/>
              </a:rPr>
              <a:t>of sales leaders do not trust their CRM forecast</a:t>
            </a:r>
            <a:endParaRPr lang="en-US" sz="1200" dirty="0"/>
          </a:p>
        </p:txBody>
      </p:sp>
      <p:sp>
        <p:nvSpPr>
          <p:cNvPr id="10" name="Shape 8"/>
          <p:cNvSpPr/>
          <p:nvPr/>
        </p:nvSpPr>
        <p:spPr>
          <a:xfrm>
            <a:off x="4322978" y="4023360"/>
            <a:ext cx="3545738" cy="0"/>
          </a:xfrm>
          <a:prstGeom prst="line">
            <a:avLst/>
          </a:prstGeom>
          <a:noFill/>
          <a:ln w="19050">
            <a:solidFill>
              <a:schemeClr val="tx1"/>
            </a:solidFill>
            <a:prstDash val="solid"/>
          </a:ln>
        </p:spPr>
      </p:sp>
      <p:sp>
        <p:nvSpPr>
          <p:cNvPr id="11" name="Text 9"/>
          <p:cNvSpPr txBox="1"/>
          <p:nvPr/>
        </p:nvSpPr>
        <p:spPr>
          <a:xfrm>
            <a:off x="4322978" y="4297680"/>
            <a:ext cx="3545738"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11 hrs</a:t>
            </a:r>
            <a:endParaRPr lang="en-US" sz="4000" dirty="0"/>
          </a:p>
        </p:txBody>
      </p:sp>
      <p:sp>
        <p:nvSpPr>
          <p:cNvPr id="12" name="Text 10"/>
          <p:cNvSpPr txBox="1"/>
          <p:nvPr/>
        </p:nvSpPr>
        <p:spPr>
          <a:xfrm>
            <a:off x="4322978" y="5029200"/>
            <a:ext cx="3073946" cy="548640"/>
          </a:xfrm>
          <a:prstGeom prst="rect">
            <a:avLst/>
          </a:prstGeom>
          <a:noFill/>
          <a:ln/>
        </p:spPr>
        <p:txBody>
          <a:bodyPr wrap="square" lIns="0" tIns="0" rIns="0" bIns="0" rtlCol="0" anchor="t"/>
          <a:lstStyle/>
          <a:p>
            <a:pPr algn="l" indent="0" marL="0">
              <a:lnSpc>
                <a:spcPct val="120000"/>
              </a:lnSpc>
              <a:buNone/>
            </a:pPr>
            <a:r>
              <a:rPr lang="en-US" sz="1200" dirty="0">
                <a:solidFill>
                  <a:schemeClr val="accent3"/>
                </a:solidFill>
                <a:latin typeface="Inter" pitchFamily="34" charset="0"/>
                <a:ea typeface="Inter" pitchFamily="34" charset="-122"/>
                <a:cs typeface="Inter" pitchFamily="34" charset="-120"/>
              </a:rPr>
              <a:t>per rep, per week, spent on manual data entry</a:t>
            </a:r>
            <a:endParaRPr lang="en-US" sz="1200" dirty="0"/>
          </a:p>
        </p:txBody>
      </p:sp>
      <p:sp>
        <p:nvSpPr>
          <p:cNvPr id="13" name="Shape 11"/>
          <p:cNvSpPr/>
          <p:nvPr/>
        </p:nvSpPr>
        <p:spPr>
          <a:xfrm>
            <a:off x="8097317" y="4023360"/>
            <a:ext cx="3545738" cy="0"/>
          </a:xfrm>
          <a:prstGeom prst="line">
            <a:avLst/>
          </a:prstGeom>
          <a:noFill/>
          <a:ln w="19050">
            <a:solidFill>
              <a:schemeClr val="tx1"/>
            </a:solidFill>
            <a:prstDash val="solid"/>
          </a:ln>
        </p:spPr>
      </p:sp>
      <p:sp>
        <p:nvSpPr>
          <p:cNvPr id="14" name="Text 12"/>
          <p:cNvSpPr txBox="1"/>
          <p:nvPr/>
        </p:nvSpPr>
        <p:spPr>
          <a:xfrm>
            <a:off x="8097317" y="4297680"/>
            <a:ext cx="3545738"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$2.1M</a:t>
            </a:r>
            <a:endParaRPr lang="en-US" sz="4000" dirty="0"/>
          </a:p>
        </p:txBody>
      </p:sp>
      <p:sp>
        <p:nvSpPr>
          <p:cNvPr id="15" name="Text 13"/>
          <p:cNvSpPr txBox="1"/>
          <p:nvPr/>
        </p:nvSpPr>
        <p:spPr>
          <a:xfrm>
            <a:off x="8097317" y="5029200"/>
            <a:ext cx="3073946" cy="548640"/>
          </a:xfrm>
          <a:prstGeom prst="rect">
            <a:avLst/>
          </a:prstGeom>
          <a:noFill/>
          <a:ln/>
        </p:spPr>
        <p:txBody>
          <a:bodyPr wrap="square" lIns="0" tIns="0" rIns="0" bIns="0" rtlCol="0" anchor="t"/>
          <a:lstStyle/>
          <a:p>
            <a:pPr algn="l" indent="0" marL="0">
              <a:lnSpc>
                <a:spcPct val="120000"/>
              </a:lnSpc>
              <a:buNone/>
            </a:pPr>
            <a:r>
              <a:rPr lang="en-US" sz="1200" dirty="0">
                <a:solidFill>
                  <a:schemeClr val="accent3"/>
                </a:solidFill>
                <a:latin typeface="Inter" pitchFamily="34" charset="0"/>
                <a:ea typeface="Inter" pitchFamily="34" charset="-122"/>
                <a:cs typeface="Inter" pitchFamily="34" charset="-120"/>
              </a:rPr>
              <a:t>average annual revenue leakage for a 100-seat team</a:t>
            </a:r>
            <a:endParaRPr lang="en-US" sz="1200" dirty="0"/>
          </a:p>
        </p:txBody>
      </p:sp>
      <p:sp>
        <p:nvSpPr>
          <p:cNvPr id="16" name="Text 14"/>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Source: Corvanta State of Revenue Operations survey, n = 1,050 sales leaders, 2026.</a:t>
            </a:r>
            <a:endParaRPr lang="en-US" sz="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pain points drain revenue teams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Ranked by annual cost per 100 sellers. Severity reflects frequency × impact from customer interviews.</a:t>
            </a:r>
            <a:endParaRPr lang="en-US" sz="1150" dirty="0"/>
          </a:p>
        </p:txBody>
      </p:sp>
      <p:sp>
        <p:nvSpPr>
          <p:cNvPr id="6" name="Shape 4"/>
          <p:cNvSpPr/>
          <p:nvPr/>
        </p:nvSpPr>
        <p:spPr>
          <a:xfrm>
            <a:off x="548640" y="2011680"/>
            <a:ext cx="2602154" cy="3931920"/>
          </a:xfrm>
          <a:prstGeom prst="roundRect">
            <a:avLst>
              <a:gd name="adj" fmla="val 3514"/>
            </a:avLst>
          </a:prstGeom>
          <a:solidFill>
            <a:schemeClr val="tx1"/>
          </a:solidFill>
          <a:ln/>
        </p:spPr>
      </p:sp>
      <p:sp>
        <p:nvSpPr>
          <p:cNvPr id="7" name="Text 5"/>
          <p:cNvSpPr txBox="1"/>
          <p:nvPr/>
        </p:nvSpPr>
        <p:spPr>
          <a:xfrm>
            <a:off x="822960" y="2286000"/>
            <a:ext cx="914400" cy="274320"/>
          </a:xfrm>
          <a:prstGeom prst="rect">
            <a:avLst/>
          </a:prstGeom>
          <a:noFill/>
          <a:ln/>
        </p:spPr>
        <p:txBody>
          <a:bodyPr wrap="square" lIns="0" tIns="0" rIns="0" bIns="0" rtlCol="0" anchor="t"/>
          <a:lstStyle/>
          <a:p>
            <a:pPr algn="l" indent="0" marL="0">
              <a:buNone/>
            </a:pPr>
            <a:r>
              <a:rPr lang="en-US" sz="1200" b="1" dirty="0">
                <a:solidFill>
                  <a:schemeClr val="accent1"/>
                </a:solidFill>
                <a:latin typeface="Manrope" pitchFamily="34" charset="0"/>
                <a:ea typeface="Manrope" pitchFamily="34" charset="-122"/>
                <a:cs typeface="Manrope" pitchFamily="34" charset="-120"/>
              </a:rPr>
              <a:t>01</a:t>
            </a:r>
            <a:endParaRPr lang="en-US" sz="1200" dirty="0"/>
          </a:p>
        </p:txBody>
      </p:sp>
      <p:sp>
        <p:nvSpPr>
          <p:cNvPr id="8" name="Shape 6"/>
          <p:cNvSpPr/>
          <p:nvPr/>
        </p:nvSpPr>
        <p:spPr>
          <a:xfrm>
            <a:off x="2373554" y="2240280"/>
            <a:ext cx="502920" cy="502920"/>
          </a:xfrm>
          <a:prstGeom prst="ellipse">
            <a:avLst/>
          </a:prstGeom>
          <a:solidFill>
            <a:schemeClr val="accent1"/>
          </a:solidFill>
          <a:ln/>
        </p:spPr>
      </p:sp>
      <p:pic>
        <p:nvPicPr>
          <p:cNvPr id="9" name="Icon PiWarning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2494255" y="2360981"/>
            <a:ext cx="261518" cy="261518"/>
          </a:xfrm>
          <a:prstGeom prst="rect">
            <a:avLst/>
          </a:prstGeom>
        </p:spPr>
      </p:pic>
      <p:sp>
        <p:nvSpPr>
          <p:cNvPr id="10" name="Text 7"/>
          <p:cNvSpPr txBox="1"/>
          <p:nvPr/>
        </p:nvSpPr>
        <p:spPr>
          <a:xfrm>
            <a:off x="822960" y="3063240"/>
            <a:ext cx="2053514" cy="640080"/>
          </a:xfrm>
          <a:prstGeom prst="rect">
            <a:avLst/>
          </a:prstGeom>
          <a:noFill/>
          <a:ln/>
        </p:spPr>
        <p:txBody>
          <a:bodyPr wrap="square" lIns="0" tIns="0" rIns="0" bIns="0" rtlCol="0" anchor="t"/>
          <a:lstStyle/>
          <a:p>
            <a:pPr algn="l" indent="0" marL="0">
              <a:buNone/>
            </a:pPr>
            <a:r>
              <a:rPr lang="en-US" sz="1700" b="1" dirty="0">
                <a:solidFill>
                  <a:schemeClr val="bg1"/>
                </a:solidFill>
                <a:latin typeface="Manrope" pitchFamily="34" charset="0"/>
                <a:ea typeface="Manrope" pitchFamily="34" charset="-122"/>
                <a:cs typeface="Manrope" pitchFamily="34" charset="-120"/>
              </a:rPr>
              <a:t>Unreliable forecasts</a:t>
            </a:r>
            <a:endParaRPr lang="en-US" sz="1700" dirty="0"/>
          </a:p>
        </p:txBody>
      </p:sp>
      <p:sp>
        <p:nvSpPr>
          <p:cNvPr id="11" name="Text 8"/>
          <p:cNvSpPr txBox="1"/>
          <p:nvPr/>
        </p:nvSpPr>
        <p:spPr>
          <a:xfrm>
            <a:off x="822960"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4"/>
                </a:solidFill>
                <a:latin typeface="Inter" pitchFamily="34" charset="0"/>
                <a:ea typeface="Inter" pitchFamily="34" charset="-122"/>
                <a:cs typeface="Inter" pitchFamily="34" charset="-120"/>
              </a:rPr>
              <a:t>Leaders commit numbers they cannot defend to the board.</a:t>
            </a:r>
            <a:endParaRPr lang="en-US" sz="1100" dirty="0"/>
          </a:p>
        </p:txBody>
      </p:sp>
      <p:sp>
        <p:nvSpPr>
          <p:cNvPr id="12" name="Text 9"/>
          <p:cNvSpPr txBox="1"/>
          <p:nvPr/>
        </p:nvSpPr>
        <p:spPr>
          <a:xfrm>
            <a:off x="822960" y="4617720"/>
            <a:ext cx="137160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Severity</a:t>
            </a:r>
            <a:endParaRPr lang="en-US" sz="900" dirty="0"/>
          </a:p>
        </p:txBody>
      </p:sp>
      <p:sp>
        <p:nvSpPr>
          <p:cNvPr id="13" name="Shape 10"/>
          <p:cNvSpPr/>
          <p:nvPr/>
        </p:nvSpPr>
        <p:spPr>
          <a:xfrm>
            <a:off x="822960" y="4864608"/>
            <a:ext cx="329184" cy="73152"/>
          </a:xfrm>
          <a:prstGeom prst="roundRect">
            <a:avLst>
              <a:gd name="adj" fmla="val 25000"/>
            </a:avLst>
          </a:prstGeom>
          <a:solidFill>
            <a:schemeClr val="accent1"/>
          </a:solidFill>
          <a:ln/>
        </p:spPr>
      </p:sp>
      <p:sp>
        <p:nvSpPr>
          <p:cNvPr id="14" name="Shape 11"/>
          <p:cNvSpPr/>
          <p:nvPr/>
        </p:nvSpPr>
        <p:spPr>
          <a:xfrm>
            <a:off x="1207008" y="4864608"/>
            <a:ext cx="329184" cy="73152"/>
          </a:xfrm>
          <a:prstGeom prst="roundRect">
            <a:avLst>
              <a:gd name="adj" fmla="val 25000"/>
            </a:avLst>
          </a:prstGeom>
          <a:solidFill>
            <a:schemeClr val="accent1"/>
          </a:solidFill>
          <a:ln/>
        </p:spPr>
      </p:sp>
      <p:sp>
        <p:nvSpPr>
          <p:cNvPr id="15" name="Shape 12"/>
          <p:cNvSpPr/>
          <p:nvPr/>
        </p:nvSpPr>
        <p:spPr>
          <a:xfrm>
            <a:off x="1591056" y="4864608"/>
            <a:ext cx="329184" cy="73152"/>
          </a:xfrm>
          <a:prstGeom prst="roundRect">
            <a:avLst>
              <a:gd name="adj" fmla="val 25000"/>
            </a:avLst>
          </a:prstGeom>
          <a:solidFill>
            <a:schemeClr val="accent1"/>
          </a:solidFill>
          <a:ln/>
        </p:spPr>
      </p:sp>
      <p:sp>
        <p:nvSpPr>
          <p:cNvPr id="16" name="Shape 13"/>
          <p:cNvSpPr/>
          <p:nvPr/>
        </p:nvSpPr>
        <p:spPr>
          <a:xfrm>
            <a:off x="1975104" y="4864608"/>
            <a:ext cx="329184" cy="73152"/>
          </a:xfrm>
          <a:prstGeom prst="roundRect">
            <a:avLst>
              <a:gd name="adj" fmla="val 25000"/>
            </a:avLst>
          </a:prstGeom>
          <a:solidFill>
            <a:schemeClr val="accent1"/>
          </a:solidFill>
          <a:ln/>
        </p:spPr>
      </p:sp>
      <p:sp>
        <p:nvSpPr>
          <p:cNvPr id="17" name="Shape 14"/>
          <p:cNvSpPr/>
          <p:nvPr/>
        </p:nvSpPr>
        <p:spPr>
          <a:xfrm>
            <a:off x="2359152" y="4864608"/>
            <a:ext cx="329184" cy="73152"/>
          </a:xfrm>
          <a:prstGeom prst="roundRect">
            <a:avLst>
              <a:gd name="adj" fmla="val 25000"/>
            </a:avLst>
          </a:prstGeom>
          <a:solidFill>
            <a:schemeClr val="accent1"/>
          </a:solidFill>
          <a:ln/>
        </p:spPr>
      </p:sp>
      <p:sp>
        <p:nvSpPr>
          <p:cNvPr id="18" name="Text 15"/>
          <p:cNvSpPr txBox="1"/>
          <p:nvPr/>
        </p:nvSpPr>
        <p:spPr>
          <a:xfrm>
            <a:off x="822960" y="5120640"/>
            <a:ext cx="2053514" cy="4572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$780K</a:t>
            </a:r>
            <a:endParaRPr lang="en-US" sz="2400" dirty="0"/>
          </a:p>
        </p:txBody>
      </p:sp>
      <p:sp>
        <p:nvSpPr>
          <p:cNvPr id="19" name="Text 16"/>
          <p:cNvSpPr txBox="1"/>
          <p:nvPr/>
        </p:nvSpPr>
        <p:spPr>
          <a:xfrm>
            <a:off x="822960" y="5532120"/>
            <a:ext cx="2053514"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annual cost / 100 sellers</a:t>
            </a:r>
            <a:endParaRPr lang="en-US" sz="900" dirty="0"/>
          </a:p>
        </p:txBody>
      </p:sp>
      <p:sp>
        <p:nvSpPr>
          <p:cNvPr id="20" name="Shape 17"/>
          <p:cNvSpPr/>
          <p:nvPr/>
        </p:nvSpPr>
        <p:spPr>
          <a:xfrm>
            <a:off x="3379394" y="2011680"/>
            <a:ext cx="2602154" cy="3931920"/>
          </a:xfrm>
          <a:prstGeom prst="roundRect">
            <a:avLst>
              <a:gd name="adj" fmla="val 3514"/>
            </a:avLst>
          </a:prstGeom>
          <a:solidFill>
            <a:schemeClr val="bg2"/>
          </a:solidFill>
          <a:ln/>
        </p:spPr>
      </p:sp>
      <p:sp>
        <p:nvSpPr>
          <p:cNvPr id="21" name="Text 18"/>
          <p:cNvSpPr txBox="1"/>
          <p:nvPr/>
        </p:nvSpPr>
        <p:spPr>
          <a:xfrm>
            <a:off x="3653714" y="2286000"/>
            <a:ext cx="914400" cy="274320"/>
          </a:xfrm>
          <a:prstGeom prst="rect">
            <a:avLst/>
          </a:prstGeom>
          <a:noFill/>
          <a:ln/>
        </p:spPr>
        <p:txBody>
          <a:bodyPr wrap="square" lIns="0" tIns="0" rIns="0" bIns="0" rtlCol="0" anchor="t"/>
          <a:lstStyle/>
          <a:p>
            <a:pPr algn="l" indent="0" marL="0">
              <a:buNone/>
            </a:pPr>
            <a:r>
              <a:rPr lang="en-US" sz="1200" b="1" dirty="0">
                <a:solidFill>
                  <a:schemeClr val="accent3"/>
                </a:solidFill>
                <a:latin typeface="Manrope" pitchFamily="34" charset="0"/>
                <a:ea typeface="Manrope" pitchFamily="34" charset="-122"/>
                <a:cs typeface="Manrope" pitchFamily="34" charset="-120"/>
              </a:rPr>
              <a:t>02</a:t>
            </a:r>
            <a:endParaRPr lang="en-US" sz="1200" dirty="0"/>
          </a:p>
        </p:txBody>
      </p:sp>
      <p:sp>
        <p:nvSpPr>
          <p:cNvPr id="22" name="Shape 19"/>
          <p:cNvSpPr/>
          <p:nvPr/>
        </p:nvSpPr>
        <p:spPr>
          <a:xfrm>
            <a:off x="5204308" y="2240280"/>
            <a:ext cx="502920" cy="502920"/>
          </a:xfrm>
          <a:prstGeom prst="ellipse">
            <a:avLst/>
          </a:prstGeom>
          <a:solidFill>
            <a:schemeClr val="bg1"/>
          </a:solidFill>
          <a:ln/>
        </p:spPr>
      </p:sp>
      <p:pic>
        <p:nvPicPr>
          <p:cNvPr id="23" name="Icon PiClock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5325008" y="2360981"/>
            <a:ext cx="261518" cy="261518"/>
          </a:xfrm>
          <a:prstGeom prst="rect">
            <a:avLst/>
          </a:prstGeom>
        </p:spPr>
      </p:pic>
      <p:sp>
        <p:nvSpPr>
          <p:cNvPr id="24" name="Text 20"/>
          <p:cNvSpPr txBox="1"/>
          <p:nvPr/>
        </p:nvSpPr>
        <p:spPr>
          <a:xfrm>
            <a:off x="3653714" y="3063240"/>
            <a:ext cx="2053514" cy="64008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Manual admin</a:t>
            </a:r>
            <a:endParaRPr lang="en-US" sz="1700" dirty="0"/>
          </a:p>
        </p:txBody>
      </p:sp>
      <p:sp>
        <p:nvSpPr>
          <p:cNvPr id="25" name="Text 21"/>
          <p:cNvSpPr txBox="1"/>
          <p:nvPr/>
        </p:nvSpPr>
        <p:spPr>
          <a:xfrm>
            <a:off x="3653714"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Reps update five systems before they can sell.</a:t>
            </a:r>
            <a:endParaRPr lang="en-US" sz="1100" dirty="0"/>
          </a:p>
        </p:txBody>
      </p:sp>
      <p:sp>
        <p:nvSpPr>
          <p:cNvPr id="26" name="Text 22"/>
          <p:cNvSpPr txBox="1"/>
          <p:nvPr/>
        </p:nvSpPr>
        <p:spPr>
          <a:xfrm>
            <a:off x="3653714" y="4617720"/>
            <a:ext cx="137160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Severity</a:t>
            </a:r>
            <a:endParaRPr lang="en-US" sz="900" dirty="0"/>
          </a:p>
        </p:txBody>
      </p:sp>
      <p:sp>
        <p:nvSpPr>
          <p:cNvPr id="27" name="Shape 23"/>
          <p:cNvSpPr/>
          <p:nvPr/>
        </p:nvSpPr>
        <p:spPr>
          <a:xfrm>
            <a:off x="3653714" y="4864608"/>
            <a:ext cx="329184" cy="73152"/>
          </a:xfrm>
          <a:prstGeom prst="roundRect">
            <a:avLst>
              <a:gd name="adj" fmla="val 25000"/>
            </a:avLst>
          </a:prstGeom>
          <a:solidFill>
            <a:schemeClr val="tx1"/>
          </a:solidFill>
          <a:ln/>
        </p:spPr>
      </p:sp>
      <p:sp>
        <p:nvSpPr>
          <p:cNvPr id="28" name="Shape 24"/>
          <p:cNvSpPr/>
          <p:nvPr/>
        </p:nvSpPr>
        <p:spPr>
          <a:xfrm>
            <a:off x="4037762" y="4864608"/>
            <a:ext cx="329184" cy="73152"/>
          </a:xfrm>
          <a:prstGeom prst="roundRect">
            <a:avLst>
              <a:gd name="adj" fmla="val 25000"/>
            </a:avLst>
          </a:prstGeom>
          <a:solidFill>
            <a:schemeClr val="tx1"/>
          </a:solidFill>
          <a:ln/>
        </p:spPr>
      </p:sp>
      <p:sp>
        <p:nvSpPr>
          <p:cNvPr id="29" name="Shape 25"/>
          <p:cNvSpPr/>
          <p:nvPr/>
        </p:nvSpPr>
        <p:spPr>
          <a:xfrm>
            <a:off x="4421810" y="4864608"/>
            <a:ext cx="329184" cy="73152"/>
          </a:xfrm>
          <a:prstGeom prst="roundRect">
            <a:avLst>
              <a:gd name="adj" fmla="val 25000"/>
            </a:avLst>
          </a:prstGeom>
          <a:solidFill>
            <a:schemeClr val="tx1"/>
          </a:solidFill>
          <a:ln/>
        </p:spPr>
      </p:sp>
      <p:sp>
        <p:nvSpPr>
          <p:cNvPr id="30" name="Shape 26"/>
          <p:cNvSpPr/>
          <p:nvPr/>
        </p:nvSpPr>
        <p:spPr>
          <a:xfrm>
            <a:off x="4805858" y="4864608"/>
            <a:ext cx="329184" cy="73152"/>
          </a:xfrm>
          <a:prstGeom prst="roundRect">
            <a:avLst>
              <a:gd name="adj" fmla="val 25000"/>
            </a:avLst>
          </a:prstGeom>
          <a:solidFill>
            <a:schemeClr val="tx1"/>
          </a:solidFill>
          <a:ln/>
        </p:spPr>
      </p:sp>
      <p:sp>
        <p:nvSpPr>
          <p:cNvPr id="31" name="Shape 27"/>
          <p:cNvSpPr/>
          <p:nvPr/>
        </p:nvSpPr>
        <p:spPr>
          <a:xfrm>
            <a:off x="5189906" y="4864608"/>
            <a:ext cx="329184" cy="73152"/>
          </a:xfrm>
          <a:prstGeom prst="roundRect">
            <a:avLst>
              <a:gd name="adj" fmla="val 25000"/>
            </a:avLst>
          </a:prstGeom>
          <a:solidFill>
            <a:schemeClr val="accent4"/>
          </a:solidFill>
          <a:ln/>
        </p:spPr>
      </p:sp>
      <p:sp>
        <p:nvSpPr>
          <p:cNvPr id="32" name="Text 28"/>
          <p:cNvSpPr txBox="1"/>
          <p:nvPr/>
        </p:nvSpPr>
        <p:spPr>
          <a:xfrm>
            <a:off x="3653714" y="5120640"/>
            <a:ext cx="2053514"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$620K</a:t>
            </a:r>
            <a:endParaRPr lang="en-US" sz="2400" dirty="0"/>
          </a:p>
        </p:txBody>
      </p:sp>
      <p:sp>
        <p:nvSpPr>
          <p:cNvPr id="33" name="Text 29"/>
          <p:cNvSpPr txBox="1"/>
          <p:nvPr/>
        </p:nvSpPr>
        <p:spPr>
          <a:xfrm>
            <a:off x="3653714" y="5532120"/>
            <a:ext cx="205351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annual cost / 100 sellers</a:t>
            </a:r>
            <a:endParaRPr lang="en-US" sz="900" dirty="0"/>
          </a:p>
        </p:txBody>
      </p:sp>
      <p:sp>
        <p:nvSpPr>
          <p:cNvPr id="34" name="Shape 30"/>
          <p:cNvSpPr/>
          <p:nvPr/>
        </p:nvSpPr>
        <p:spPr>
          <a:xfrm>
            <a:off x="6210148" y="2011680"/>
            <a:ext cx="2602154" cy="3931920"/>
          </a:xfrm>
          <a:prstGeom prst="roundRect">
            <a:avLst>
              <a:gd name="adj" fmla="val 3514"/>
            </a:avLst>
          </a:prstGeom>
          <a:solidFill>
            <a:schemeClr val="bg2"/>
          </a:solidFill>
          <a:ln/>
        </p:spPr>
      </p:sp>
      <p:sp>
        <p:nvSpPr>
          <p:cNvPr id="35" name="Text 31"/>
          <p:cNvSpPr txBox="1"/>
          <p:nvPr/>
        </p:nvSpPr>
        <p:spPr>
          <a:xfrm>
            <a:off x="6484468" y="2286000"/>
            <a:ext cx="914400" cy="274320"/>
          </a:xfrm>
          <a:prstGeom prst="rect">
            <a:avLst/>
          </a:prstGeom>
          <a:noFill/>
          <a:ln/>
        </p:spPr>
        <p:txBody>
          <a:bodyPr wrap="square" lIns="0" tIns="0" rIns="0" bIns="0" rtlCol="0" anchor="t"/>
          <a:lstStyle/>
          <a:p>
            <a:pPr algn="l" indent="0" marL="0">
              <a:buNone/>
            </a:pPr>
            <a:r>
              <a:rPr lang="en-US" sz="1200" b="1" dirty="0">
                <a:solidFill>
                  <a:schemeClr val="accent3"/>
                </a:solidFill>
                <a:latin typeface="Manrope" pitchFamily="34" charset="0"/>
                <a:ea typeface="Manrope" pitchFamily="34" charset="-122"/>
                <a:cs typeface="Manrope" pitchFamily="34" charset="-120"/>
              </a:rPr>
              <a:t>03</a:t>
            </a:r>
            <a:endParaRPr lang="en-US" sz="1200" dirty="0"/>
          </a:p>
        </p:txBody>
      </p:sp>
      <p:sp>
        <p:nvSpPr>
          <p:cNvPr id="36" name="Shape 32"/>
          <p:cNvSpPr/>
          <p:nvPr/>
        </p:nvSpPr>
        <p:spPr>
          <a:xfrm>
            <a:off x="8035061" y="2240280"/>
            <a:ext cx="502920" cy="502920"/>
          </a:xfrm>
          <a:prstGeom prst="ellipse">
            <a:avLst/>
          </a:prstGeom>
          <a:solidFill>
            <a:schemeClr val="bg1"/>
          </a:solidFill>
          <a:ln/>
        </p:spPr>
      </p:sp>
      <p:pic>
        <p:nvPicPr>
          <p:cNvPr id="37" name="Icon PiEy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8155762" y="2360981"/>
            <a:ext cx="261518" cy="261518"/>
          </a:xfrm>
          <a:prstGeom prst="rect">
            <a:avLst/>
          </a:prstGeom>
        </p:spPr>
      </p:pic>
      <p:sp>
        <p:nvSpPr>
          <p:cNvPr id="38" name="Text 33"/>
          <p:cNvSpPr txBox="1"/>
          <p:nvPr/>
        </p:nvSpPr>
        <p:spPr>
          <a:xfrm>
            <a:off x="6484468" y="3063240"/>
            <a:ext cx="2053514" cy="64008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Hidden deal risk</a:t>
            </a:r>
            <a:endParaRPr lang="en-US" sz="1700" dirty="0"/>
          </a:p>
        </p:txBody>
      </p:sp>
      <p:sp>
        <p:nvSpPr>
          <p:cNvPr id="39" name="Text 34"/>
          <p:cNvSpPr txBox="1"/>
          <p:nvPr/>
        </p:nvSpPr>
        <p:spPr>
          <a:xfrm>
            <a:off x="6484468"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Slipping deals surface in the last week of the quarter.</a:t>
            </a:r>
            <a:endParaRPr lang="en-US" sz="1100" dirty="0"/>
          </a:p>
        </p:txBody>
      </p:sp>
      <p:sp>
        <p:nvSpPr>
          <p:cNvPr id="40" name="Text 35"/>
          <p:cNvSpPr txBox="1"/>
          <p:nvPr/>
        </p:nvSpPr>
        <p:spPr>
          <a:xfrm>
            <a:off x="6484468" y="4617720"/>
            <a:ext cx="137160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Severity</a:t>
            </a:r>
            <a:endParaRPr lang="en-US" sz="900" dirty="0"/>
          </a:p>
        </p:txBody>
      </p:sp>
      <p:sp>
        <p:nvSpPr>
          <p:cNvPr id="41" name="Shape 36"/>
          <p:cNvSpPr/>
          <p:nvPr/>
        </p:nvSpPr>
        <p:spPr>
          <a:xfrm>
            <a:off x="6484468" y="4864608"/>
            <a:ext cx="329184" cy="73152"/>
          </a:xfrm>
          <a:prstGeom prst="roundRect">
            <a:avLst>
              <a:gd name="adj" fmla="val 25000"/>
            </a:avLst>
          </a:prstGeom>
          <a:solidFill>
            <a:schemeClr val="tx1"/>
          </a:solidFill>
          <a:ln/>
        </p:spPr>
      </p:sp>
      <p:sp>
        <p:nvSpPr>
          <p:cNvPr id="42" name="Shape 37"/>
          <p:cNvSpPr/>
          <p:nvPr/>
        </p:nvSpPr>
        <p:spPr>
          <a:xfrm>
            <a:off x="6868516" y="4864608"/>
            <a:ext cx="329184" cy="73152"/>
          </a:xfrm>
          <a:prstGeom prst="roundRect">
            <a:avLst>
              <a:gd name="adj" fmla="val 25000"/>
            </a:avLst>
          </a:prstGeom>
          <a:solidFill>
            <a:schemeClr val="tx1"/>
          </a:solidFill>
          <a:ln/>
        </p:spPr>
      </p:sp>
      <p:sp>
        <p:nvSpPr>
          <p:cNvPr id="43" name="Shape 38"/>
          <p:cNvSpPr/>
          <p:nvPr/>
        </p:nvSpPr>
        <p:spPr>
          <a:xfrm>
            <a:off x="7252564" y="4864608"/>
            <a:ext cx="329184" cy="73152"/>
          </a:xfrm>
          <a:prstGeom prst="roundRect">
            <a:avLst>
              <a:gd name="adj" fmla="val 25000"/>
            </a:avLst>
          </a:prstGeom>
          <a:solidFill>
            <a:schemeClr val="tx1"/>
          </a:solidFill>
          <a:ln/>
        </p:spPr>
      </p:sp>
      <p:sp>
        <p:nvSpPr>
          <p:cNvPr id="44" name="Shape 39"/>
          <p:cNvSpPr/>
          <p:nvPr/>
        </p:nvSpPr>
        <p:spPr>
          <a:xfrm>
            <a:off x="7636612" y="4864608"/>
            <a:ext cx="329184" cy="73152"/>
          </a:xfrm>
          <a:prstGeom prst="roundRect">
            <a:avLst>
              <a:gd name="adj" fmla="val 25000"/>
            </a:avLst>
          </a:prstGeom>
          <a:solidFill>
            <a:schemeClr val="tx1"/>
          </a:solidFill>
          <a:ln/>
        </p:spPr>
      </p:sp>
      <p:sp>
        <p:nvSpPr>
          <p:cNvPr id="45" name="Shape 40"/>
          <p:cNvSpPr/>
          <p:nvPr/>
        </p:nvSpPr>
        <p:spPr>
          <a:xfrm>
            <a:off x="8020660" y="4864608"/>
            <a:ext cx="329184" cy="73152"/>
          </a:xfrm>
          <a:prstGeom prst="roundRect">
            <a:avLst>
              <a:gd name="adj" fmla="val 25000"/>
            </a:avLst>
          </a:prstGeom>
          <a:solidFill>
            <a:schemeClr val="accent4"/>
          </a:solidFill>
          <a:ln/>
        </p:spPr>
      </p:sp>
      <p:sp>
        <p:nvSpPr>
          <p:cNvPr id="46" name="Text 41"/>
          <p:cNvSpPr txBox="1"/>
          <p:nvPr/>
        </p:nvSpPr>
        <p:spPr>
          <a:xfrm>
            <a:off x="6484468" y="5120640"/>
            <a:ext cx="2053514"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$510K</a:t>
            </a:r>
            <a:endParaRPr lang="en-US" sz="2400" dirty="0"/>
          </a:p>
        </p:txBody>
      </p:sp>
      <p:sp>
        <p:nvSpPr>
          <p:cNvPr id="47" name="Text 42"/>
          <p:cNvSpPr txBox="1"/>
          <p:nvPr/>
        </p:nvSpPr>
        <p:spPr>
          <a:xfrm>
            <a:off x="6484468" y="5532120"/>
            <a:ext cx="205351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annual cost / 100 sellers</a:t>
            </a:r>
            <a:endParaRPr lang="en-US" sz="900" dirty="0"/>
          </a:p>
        </p:txBody>
      </p:sp>
      <p:sp>
        <p:nvSpPr>
          <p:cNvPr id="48" name="Shape 43"/>
          <p:cNvSpPr/>
          <p:nvPr/>
        </p:nvSpPr>
        <p:spPr>
          <a:xfrm>
            <a:off x="9040901" y="2011680"/>
            <a:ext cx="2602154" cy="3931920"/>
          </a:xfrm>
          <a:prstGeom prst="roundRect">
            <a:avLst>
              <a:gd name="adj" fmla="val 3514"/>
            </a:avLst>
          </a:prstGeom>
          <a:solidFill>
            <a:schemeClr val="bg2"/>
          </a:solidFill>
          <a:ln/>
        </p:spPr>
      </p:sp>
      <p:sp>
        <p:nvSpPr>
          <p:cNvPr id="49" name="Text 44"/>
          <p:cNvSpPr txBox="1"/>
          <p:nvPr/>
        </p:nvSpPr>
        <p:spPr>
          <a:xfrm>
            <a:off x="9315221" y="2286000"/>
            <a:ext cx="914400" cy="274320"/>
          </a:xfrm>
          <a:prstGeom prst="rect">
            <a:avLst/>
          </a:prstGeom>
          <a:noFill/>
          <a:ln/>
        </p:spPr>
        <p:txBody>
          <a:bodyPr wrap="square" lIns="0" tIns="0" rIns="0" bIns="0" rtlCol="0" anchor="t"/>
          <a:lstStyle/>
          <a:p>
            <a:pPr algn="l" indent="0" marL="0">
              <a:buNone/>
            </a:pPr>
            <a:r>
              <a:rPr lang="en-US" sz="1200" b="1" dirty="0">
                <a:solidFill>
                  <a:schemeClr val="accent3"/>
                </a:solidFill>
                <a:latin typeface="Manrope" pitchFamily="34" charset="0"/>
                <a:ea typeface="Manrope" pitchFamily="34" charset="-122"/>
                <a:cs typeface="Manrope" pitchFamily="34" charset="-120"/>
              </a:rPr>
              <a:t>04</a:t>
            </a:r>
            <a:endParaRPr lang="en-US" sz="1200" dirty="0"/>
          </a:p>
        </p:txBody>
      </p:sp>
      <p:sp>
        <p:nvSpPr>
          <p:cNvPr id="50" name="Shape 45"/>
          <p:cNvSpPr/>
          <p:nvPr/>
        </p:nvSpPr>
        <p:spPr>
          <a:xfrm>
            <a:off x="10865815" y="2240280"/>
            <a:ext cx="502920" cy="502920"/>
          </a:xfrm>
          <a:prstGeom prst="ellipse">
            <a:avLst/>
          </a:prstGeom>
          <a:solidFill>
            <a:schemeClr val="bg1"/>
          </a:solidFill>
          <a:ln/>
        </p:spPr>
      </p:sp>
      <p:pic>
        <p:nvPicPr>
          <p:cNvPr id="51" name="Icon PiPuzzlePiece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10986516" y="2360981"/>
            <a:ext cx="261518" cy="261518"/>
          </a:xfrm>
          <a:prstGeom prst="rect">
            <a:avLst/>
          </a:prstGeom>
        </p:spPr>
      </p:pic>
      <p:sp>
        <p:nvSpPr>
          <p:cNvPr id="52" name="Text 46"/>
          <p:cNvSpPr txBox="1"/>
          <p:nvPr/>
        </p:nvSpPr>
        <p:spPr>
          <a:xfrm>
            <a:off x="9315221" y="3063240"/>
            <a:ext cx="2053514" cy="64008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Tool sprawl</a:t>
            </a:r>
            <a:endParaRPr lang="en-US" sz="1700" dirty="0"/>
          </a:p>
        </p:txBody>
      </p:sp>
      <p:sp>
        <p:nvSpPr>
          <p:cNvPr id="53" name="Text 47"/>
          <p:cNvSpPr txBox="1"/>
          <p:nvPr/>
        </p:nvSpPr>
        <p:spPr>
          <a:xfrm>
            <a:off x="9315221"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An average of 11 disconnected tools per sales team.</a:t>
            </a:r>
            <a:endParaRPr lang="en-US" sz="1100" dirty="0"/>
          </a:p>
        </p:txBody>
      </p:sp>
      <p:sp>
        <p:nvSpPr>
          <p:cNvPr id="54" name="Text 48"/>
          <p:cNvSpPr txBox="1"/>
          <p:nvPr/>
        </p:nvSpPr>
        <p:spPr>
          <a:xfrm>
            <a:off x="9315221" y="4617720"/>
            <a:ext cx="137160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Severity</a:t>
            </a:r>
            <a:endParaRPr lang="en-US" sz="900" dirty="0"/>
          </a:p>
        </p:txBody>
      </p:sp>
      <p:sp>
        <p:nvSpPr>
          <p:cNvPr id="55" name="Shape 49"/>
          <p:cNvSpPr/>
          <p:nvPr/>
        </p:nvSpPr>
        <p:spPr>
          <a:xfrm>
            <a:off x="9315221" y="4864608"/>
            <a:ext cx="329184" cy="73152"/>
          </a:xfrm>
          <a:prstGeom prst="roundRect">
            <a:avLst>
              <a:gd name="adj" fmla="val 25000"/>
            </a:avLst>
          </a:prstGeom>
          <a:solidFill>
            <a:schemeClr val="tx1"/>
          </a:solidFill>
          <a:ln/>
        </p:spPr>
      </p:sp>
      <p:sp>
        <p:nvSpPr>
          <p:cNvPr id="56" name="Shape 50"/>
          <p:cNvSpPr/>
          <p:nvPr/>
        </p:nvSpPr>
        <p:spPr>
          <a:xfrm>
            <a:off x="9699269" y="4864608"/>
            <a:ext cx="329184" cy="73152"/>
          </a:xfrm>
          <a:prstGeom prst="roundRect">
            <a:avLst>
              <a:gd name="adj" fmla="val 25000"/>
            </a:avLst>
          </a:prstGeom>
          <a:solidFill>
            <a:schemeClr val="tx1"/>
          </a:solidFill>
          <a:ln/>
        </p:spPr>
      </p:sp>
      <p:sp>
        <p:nvSpPr>
          <p:cNvPr id="57" name="Shape 51"/>
          <p:cNvSpPr/>
          <p:nvPr/>
        </p:nvSpPr>
        <p:spPr>
          <a:xfrm>
            <a:off x="10083317" y="4864608"/>
            <a:ext cx="329184" cy="73152"/>
          </a:xfrm>
          <a:prstGeom prst="roundRect">
            <a:avLst>
              <a:gd name="adj" fmla="val 25000"/>
            </a:avLst>
          </a:prstGeom>
          <a:solidFill>
            <a:schemeClr val="tx1"/>
          </a:solidFill>
          <a:ln/>
        </p:spPr>
      </p:sp>
      <p:sp>
        <p:nvSpPr>
          <p:cNvPr id="58" name="Shape 52"/>
          <p:cNvSpPr/>
          <p:nvPr/>
        </p:nvSpPr>
        <p:spPr>
          <a:xfrm>
            <a:off x="10467365" y="4864608"/>
            <a:ext cx="329184" cy="73152"/>
          </a:xfrm>
          <a:prstGeom prst="roundRect">
            <a:avLst>
              <a:gd name="adj" fmla="val 25000"/>
            </a:avLst>
          </a:prstGeom>
          <a:solidFill>
            <a:schemeClr val="accent4"/>
          </a:solidFill>
          <a:ln/>
        </p:spPr>
      </p:sp>
      <p:sp>
        <p:nvSpPr>
          <p:cNvPr id="59" name="Shape 53"/>
          <p:cNvSpPr/>
          <p:nvPr/>
        </p:nvSpPr>
        <p:spPr>
          <a:xfrm>
            <a:off x="10851413" y="4864608"/>
            <a:ext cx="329184" cy="73152"/>
          </a:xfrm>
          <a:prstGeom prst="roundRect">
            <a:avLst>
              <a:gd name="adj" fmla="val 25000"/>
            </a:avLst>
          </a:prstGeom>
          <a:solidFill>
            <a:schemeClr val="accent4"/>
          </a:solidFill>
          <a:ln/>
        </p:spPr>
      </p:sp>
      <p:sp>
        <p:nvSpPr>
          <p:cNvPr id="60" name="Text 54"/>
          <p:cNvSpPr txBox="1"/>
          <p:nvPr/>
        </p:nvSpPr>
        <p:spPr>
          <a:xfrm>
            <a:off x="9315221" y="5120640"/>
            <a:ext cx="2053514"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$190K</a:t>
            </a:r>
            <a:endParaRPr lang="en-US" sz="2400" dirty="0"/>
          </a:p>
        </p:txBody>
      </p:sp>
      <p:sp>
        <p:nvSpPr>
          <p:cNvPr id="61" name="Text 55"/>
          <p:cNvSpPr txBox="1"/>
          <p:nvPr/>
        </p:nvSpPr>
        <p:spPr>
          <a:xfrm>
            <a:off x="9315221" y="5532120"/>
            <a:ext cx="205351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annual cost / 100 sellers</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From friction to flow: what changes with Corvanta</a:t>
            </a:r>
            <a:endParaRPr lang="en-US" sz="2800" dirty="0"/>
          </a:p>
        </p:txBody>
      </p:sp>
      <p:sp>
        <p:nvSpPr>
          <p:cNvPr id="5" name="Text 3"/>
          <p:cNvSpPr txBox="1"/>
          <p:nvPr/>
        </p:nvSpPr>
        <p:spPr>
          <a:xfrm>
            <a:off x="548640" y="1828800"/>
            <a:ext cx="27432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TODAY</a:t>
            </a:r>
            <a:endParaRPr lang="en-US" sz="950" dirty="0"/>
          </a:p>
        </p:txBody>
      </p:sp>
      <p:sp>
        <p:nvSpPr>
          <p:cNvPr id="6" name="Text 4"/>
          <p:cNvSpPr txBox="1"/>
          <p:nvPr/>
        </p:nvSpPr>
        <p:spPr>
          <a:xfrm>
            <a:off x="7153732" y="1828800"/>
            <a:ext cx="2743200" cy="228600"/>
          </a:xfrm>
          <a:prstGeom prst="rect">
            <a:avLst/>
          </a:prstGeom>
          <a:noFill/>
          <a:ln/>
        </p:spPr>
        <p:txBody>
          <a:bodyPr wrap="square" lIns="0" tIns="0" rIns="0" bIns="0" rtlCol="0" anchor="t"/>
          <a:lstStyle/>
          <a:p>
            <a:pPr algn="l" indent="0" marL="0">
              <a:buNone/>
            </a:pPr>
            <a:r>
              <a:rPr lang="en-US" sz="950" spc="150" kern="0" dirty="0">
                <a:solidFill>
                  <a:schemeClr val="tx1"/>
                </a:solidFill>
                <a:latin typeface="Inter Medium" pitchFamily="34" charset="0"/>
                <a:ea typeface="Inter Medium" pitchFamily="34" charset="-122"/>
                <a:cs typeface="Inter Medium" pitchFamily="34" charset="-120"/>
              </a:rPr>
              <a:t>WITH CORVANTA</a:t>
            </a:r>
            <a:endParaRPr lang="en-US" sz="950" dirty="0"/>
          </a:p>
        </p:txBody>
      </p:sp>
      <p:sp>
        <p:nvSpPr>
          <p:cNvPr id="7" name="Shape 5"/>
          <p:cNvSpPr/>
          <p:nvPr/>
        </p:nvSpPr>
        <p:spPr>
          <a:xfrm>
            <a:off x="548640" y="2148840"/>
            <a:ext cx="4489323" cy="822960"/>
          </a:xfrm>
          <a:prstGeom prst="roundRect">
            <a:avLst>
              <a:gd name="adj" fmla="val 11111"/>
            </a:avLst>
          </a:prstGeom>
          <a:solidFill>
            <a:schemeClr val="bg2"/>
          </a:solidFill>
          <a:ln/>
        </p:spPr>
      </p:sp>
      <p:pic>
        <p:nvPicPr>
          <p:cNvPr id="8" name="Icon PiX 6B7688" descr="preencoded.png">    </p:cNvPr>
          <p:cNvPicPr>
            <a:picLocks noChangeAspect="1"/>
          </p:cNvPicPr>
          <p:nvPr/>
        </p:nvPicPr>
        <p:blipFill>
          <a:blip r:embed="rId1">
            <a:extLst>
              <a:ext uri="{96DAC541-7B7A-43D3-8B79-37D633B846F1}">
                <asvg:svgBlip xmlns:asvg="http://schemas.microsoft.com/office/drawing/2016/SVG/main" r:embed="rId15"/>
              </a:ext>
            </a:extLst>
          </a:blip>
          <a:stretch>
            <a:fillRect/>
          </a:stretch>
        </p:blipFill>
        <p:spPr>
          <a:xfrm>
            <a:off x="822960" y="2450592"/>
            <a:ext cx="219456" cy="219456"/>
          </a:xfrm>
          <a:prstGeom prst="rect">
            <a:avLst/>
          </a:prstGeom>
        </p:spPr>
      </p:pic>
      <p:sp>
        <p:nvSpPr>
          <p:cNvPr id="9" name="Text 6"/>
          <p:cNvSpPr txBox="1"/>
          <p:nvPr/>
        </p:nvSpPr>
        <p:spPr>
          <a:xfrm>
            <a:off x="1234440" y="214884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Forecasts built on gut feel and spreadsheets</a:t>
            </a:r>
            <a:endParaRPr lang="en-US" sz="1200" dirty="0"/>
          </a:p>
        </p:txBody>
      </p:sp>
      <p:sp>
        <p:nvSpPr>
          <p:cNvPr id="10" name="Shape 7"/>
          <p:cNvSpPr/>
          <p:nvPr/>
        </p:nvSpPr>
        <p:spPr>
          <a:xfrm>
            <a:off x="5867248" y="2331720"/>
            <a:ext cx="457200" cy="457200"/>
          </a:xfrm>
          <a:prstGeom prst="ellipse">
            <a:avLst/>
          </a:prstGeom>
          <a:solidFill>
            <a:schemeClr val="bg1"/>
          </a:solidFill>
          <a:ln w="9525">
            <a:solidFill>
              <a:schemeClr val="accent4"/>
            </a:solidFill>
            <a:prstDash val="solid"/>
          </a:ln>
        </p:spPr>
      </p:sp>
      <p:pic>
        <p:nvPicPr>
          <p:cNvPr id="11" name="Icon PiArrowRight 0A1628" descr="preencoded.png">    </p:cNvPr>
          <p:cNvPicPr>
            <a:picLocks noChangeAspect="1"/>
          </p:cNvPicPr>
          <p:nvPr/>
        </p:nvPicPr>
        <p:blipFill>
          <a:blip r:embed="rId2">
            <a:extLst>
              <a:ext uri="{96DAC541-7B7A-43D3-8B79-37D633B846F1}">
                <asvg:svgBlip xmlns:asvg="http://schemas.microsoft.com/office/drawing/2016/SVG/main" r:embed="rId16"/>
              </a:ext>
            </a:extLst>
          </a:blip>
          <a:stretch>
            <a:fillRect/>
          </a:stretch>
        </p:blipFill>
        <p:spPr>
          <a:xfrm>
            <a:off x="5976976" y="2441448"/>
            <a:ext cx="237744" cy="237744"/>
          </a:xfrm>
          <a:prstGeom prst="rect">
            <a:avLst/>
          </a:prstGeom>
        </p:spPr>
      </p:pic>
      <p:sp>
        <p:nvSpPr>
          <p:cNvPr id="12" name="Shape 8"/>
          <p:cNvSpPr/>
          <p:nvPr/>
        </p:nvSpPr>
        <p:spPr>
          <a:xfrm>
            <a:off x="7153732" y="2148840"/>
            <a:ext cx="4489323" cy="822960"/>
          </a:xfrm>
          <a:prstGeom prst="roundRect">
            <a:avLst>
              <a:gd name="adj" fmla="val 11111"/>
            </a:avLst>
          </a:prstGeom>
          <a:solidFill>
            <a:schemeClr val="tx1"/>
          </a:solidFill>
          <a:ln/>
        </p:spPr>
      </p:sp>
      <p:sp>
        <p:nvSpPr>
          <p:cNvPr id="13" name="Shape 9"/>
          <p:cNvSpPr/>
          <p:nvPr/>
        </p:nvSpPr>
        <p:spPr>
          <a:xfrm>
            <a:off x="7382332" y="2404872"/>
            <a:ext cx="310896" cy="310896"/>
          </a:xfrm>
          <a:prstGeom prst="ellipse">
            <a:avLst/>
          </a:prstGeom>
          <a:solidFill>
            <a:schemeClr val="accent1"/>
          </a:solidFill>
          <a:ln/>
        </p:spPr>
      </p:sp>
      <p:pic>
        <p:nvPicPr>
          <p:cNvPr id="14" name="Icon PiCheck 0A1628" descr="preencoded.png">    </p:cNvPr>
          <p:cNvPicPr>
            <a:picLocks noChangeAspect="1"/>
          </p:cNvPicPr>
          <p:nvPr/>
        </p:nvPicPr>
        <p:blipFill>
          <a:blip r:embed="rId3">
            <a:extLst>
              <a:ext uri="{96DAC541-7B7A-43D3-8B79-37D633B846F1}">
                <asvg:svgBlip xmlns:asvg="http://schemas.microsoft.com/office/drawing/2016/SVG/main" r:embed="rId17"/>
              </a:ext>
            </a:extLst>
          </a:blip>
          <a:stretch>
            <a:fillRect/>
          </a:stretch>
        </p:blipFill>
        <p:spPr>
          <a:xfrm>
            <a:off x="7444511" y="2467051"/>
            <a:ext cx="186538" cy="186538"/>
          </a:xfrm>
          <a:prstGeom prst="rect">
            <a:avLst/>
          </a:prstGeom>
        </p:spPr>
      </p:pic>
      <p:sp>
        <p:nvSpPr>
          <p:cNvPr id="15" name="Text 10"/>
          <p:cNvSpPr txBox="1"/>
          <p:nvPr/>
        </p:nvSpPr>
        <p:spPr>
          <a:xfrm>
            <a:off x="7839532" y="214884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AI forecast with confidence ranges, updated hourly</a:t>
            </a:r>
            <a:endParaRPr lang="en-US" sz="1200" dirty="0"/>
          </a:p>
        </p:txBody>
      </p:sp>
      <p:sp>
        <p:nvSpPr>
          <p:cNvPr id="16" name="Shape 11"/>
          <p:cNvSpPr/>
          <p:nvPr/>
        </p:nvSpPr>
        <p:spPr>
          <a:xfrm>
            <a:off x="548640" y="3108960"/>
            <a:ext cx="4489323" cy="822960"/>
          </a:xfrm>
          <a:prstGeom prst="roundRect">
            <a:avLst>
              <a:gd name="adj" fmla="val 11111"/>
            </a:avLst>
          </a:prstGeom>
          <a:solidFill>
            <a:schemeClr val="bg2"/>
          </a:solidFill>
          <a:ln/>
        </p:spPr>
      </p:sp>
      <p:pic>
        <p:nvPicPr>
          <p:cNvPr id="17" name="Icon PiX 6B7688" descr="preencoded.png">    </p:cNvPr>
          <p:cNvPicPr>
            <a:picLocks noChangeAspect="1"/>
          </p:cNvPicPr>
          <p:nvPr/>
        </p:nvPicPr>
        <p:blipFill>
          <a:blip r:embed="rId4">
            <a:extLst>
              <a:ext uri="{96DAC541-7B7A-43D3-8B79-37D633B846F1}">
                <asvg:svgBlip xmlns:asvg="http://schemas.microsoft.com/office/drawing/2016/SVG/main" r:embed="rId18"/>
              </a:ext>
            </a:extLst>
          </a:blip>
          <a:stretch>
            <a:fillRect/>
          </a:stretch>
        </p:blipFill>
        <p:spPr>
          <a:xfrm>
            <a:off x="822960" y="3410712"/>
            <a:ext cx="219456" cy="219456"/>
          </a:xfrm>
          <a:prstGeom prst="rect">
            <a:avLst/>
          </a:prstGeom>
        </p:spPr>
      </p:pic>
      <p:sp>
        <p:nvSpPr>
          <p:cNvPr id="18" name="Text 12"/>
          <p:cNvSpPr txBox="1"/>
          <p:nvPr/>
        </p:nvSpPr>
        <p:spPr>
          <a:xfrm>
            <a:off x="1234440" y="310896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Deal risk discovered at quarter end</a:t>
            </a:r>
            <a:endParaRPr lang="en-US" sz="1200" dirty="0"/>
          </a:p>
        </p:txBody>
      </p:sp>
      <p:sp>
        <p:nvSpPr>
          <p:cNvPr id="19" name="Shape 13"/>
          <p:cNvSpPr/>
          <p:nvPr/>
        </p:nvSpPr>
        <p:spPr>
          <a:xfrm>
            <a:off x="5867248" y="3291840"/>
            <a:ext cx="457200" cy="457200"/>
          </a:xfrm>
          <a:prstGeom prst="ellipse">
            <a:avLst/>
          </a:prstGeom>
          <a:solidFill>
            <a:schemeClr val="bg1"/>
          </a:solidFill>
          <a:ln w="9525">
            <a:solidFill>
              <a:schemeClr val="accent4"/>
            </a:solidFill>
            <a:prstDash val="solid"/>
          </a:ln>
        </p:spPr>
      </p:sp>
      <p:pic>
        <p:nvPicPr>
          <p:cNvPr id="20" name="Icon PiArrowRight 0A1628" descr="preencoded.png">    </p:cNvPr>
          <p:cNvPicPr>
            <a:picLocks noChangeAspect="1"/>
          </p:cNvPicPr>
          <p:nvPr/>
        </p:nvPicPr>
        <p:blipFill>
          <a:blip r:embed="rId5">
            <a:extLst>
              <a:ext uri="{96DAC541-7B7A-43D3-8B79-37D633B846F1}">
                <asvg:svgBlip xmlns:asvg="http://schemas.microsoft.com/office/drawing/2016/SVG/main" r:embed="rId19"/>
              </a:ext>
            </a:extLst>
          </a:blip>
          <a:stretch>
            <a:fillRect/>
          </a:stretch>
        </p:blipFill>
        <p:spPr>
          <a:xfrm>
            <a:off x="5976976" y="3401568"/>
            <a:ext cx="237744" cy="237744"/>
          </a:xfrm>
          <a:prstGeom prst="rect">
            <a:avLst/>
          </a:prstGeom>
        </p:spPr>
      </p:pic>
      <p:sp>
        <p:nvSpPr>
          <p:cNvPr id="21" name="Shape 14"/>
          <p:cNvSpPr/>
          <p:nvPr/>
        </p:nvSpPr>
        <p:spPr>
          <a:xfrm>
            <a:off x="7153732" y="3108960"/>
            <a:ext cx="4489323" cy="822960"/>
          </a:xfrm>
          <a:prstGeom prst="roundRect">
            <a:avLst>
              <a:gd name="adj" fmla="val 11111"/>
            </a:avLst>
          </a:prstGeom>
          <a:solidFill>
            <a:schemeClr val="tx1"/>
          </a:solidFill>
          <a:ln/>
        </p:spPr>
      </p:sp>
      <p:sp>
        <p:nvSpPr>
          <p:cNvPr id="22" name="Shape 15"/>
          <p:cNvSpPr/>
          <p:nvPr/>
        </p:nvSpPr>
        <p:spPr>
          <a:xfrm>
            <a:off x="7382332" y="3364992"/>
            <a:ext cx="310896" cy="310896"/>
          </a:xfrm>
          <a:prstGeom prst="ellipse">
            <a:avLst/>
          </a:prstGeom>
          <a:solidFill>
            <a:schemeClr val="accent1"/>
          </a:solidFill>
          <a:ln/>
        </p:spPr>
      </p:sp>
      <p:pic>
        <p:nvPicPr>
          <p:cNvPr id="23" name="Icon PiCheck 0A1628" descr="preencoded.png">    </p:cNvPr>
          <p:cNvPicPr>
            <a:picLocks noChangeAspect="1"/>
          </p:cNvPicPr>
          <p:nvPr/>
        </p:nvPicPr>
        <p:blipFill>
          <a:blip r:embed="rId6">
            <a:extLst>
              <a:ext uri="{96DAC541-7B7A-43D3-8B79-37D633B846F1}">
                <asvg:svgBlip xmlns:asvg="http://schemas.microsoft.com/office/drawing/2016/SVG/main" r:embed="rId20"/>
              </a:ext>
            </a:extLst>
          </a:blip>
          <a:stretch>
            <a:fillRect/>
          </a:stretch>
        </p:blipFill>
        <p:spPr>
          <a:xfrm>
            <a:off x="7444511" y="3427171"/>
            <a:ext cx="186538" cy="186538"/>
          </a:xfrm>
          <a:prstGeom prst="rect">
            <a:avLst/>
          </a:prstGeom>
        </p:spPr>
      </p:pic>
      <p:sp>
        <p:nvSpPr>
          <p:cNvPr id="24" name="Text 16"/>
          <p:cNvSpPr txBox="1"/>
          <p:nvPr/>
        </p:nvSpPr>
        <p:spPr>
          <a:xfrm>
            <a:off x="7839532" y="310896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Risk alerts three weeks earlier, with next best action</a:t>
            </a:r>
            <a:endParaRPr lang="en-US" sz="1200" dirty="0"/>
          </a:p>
        </p:txBody>
      </p:sp>
      <p:sp>
        <p:nvSpPr>
          <p:cNvPr id="25" name="Shape 17"/>
          <p:cNvSpPr/>
          <p:nvPr/>
        </p:nvSpPr>
        <p:spPr>
          <a:xfrm>
            <a:off x="548640" y="4069080"/>
            <a:ext cx="4489323" cy="822960"/>
          </a:xfrm>
          <a:prstGeom prst="roundRect">
            <a:avLst>
              <a:gd name="adj" fmla="val 11111"/>
            </a:avLst>
          </a:prstGeom>
          <a:solidFill>
            <a:schemeClr val="bg2"/>
          </a:solidFill>
          <a:ln/>
        </p:spPr>
      </p:sp>
      <p:pic>
        <p:nvPicPr>
          <p:cNvPr id="26" name="Icon PiX 6B7688" descr="preencoded.png">    </p:cNvPr>
          <p:cNvPicPr>
            <a:picLocks noChangeAspect="1"/>
          </p:cNvPicPr>
          <p:nvPr/>
        </p:nvPicPr>
        <p:blipFill>
          <a:blip r:embed="rId7">
            <a:extLst>
              <a:ext uri="{96DAC541-7B7A-43D3-8B79-37D633B846F1}">
                <asvg:svgBlip xmlns:asvg="http://schemas.microsoft.com/office/drawing/2016/SVG/main" r:embed="rId21"/>
              </a:ext>
            </a:extLst>
          </a:blip>
          <a:stretch>
            <a:fillRect/>
          </a:stretch>
        </p:blipFill>
        <p:spPr>
          <a:xfrm>
            <a:off x="822960" y="4370832"/>
            <a:ext cx="219456" cy="219456"/>
          </a:xfrm>
          <a:prstGeom prst="rect">
            <a:avLst/>
          </a:prstGeom>
        </p:spPr>
      </p:pic>
      <p:sp>
        <p:nvSpPr>
          <p:cNvPr id="27" name="Text 18"/>
          <p:cNvSpPr txBox="1"/>
          <p:nvPr/>
        </p:nvSpPr>
        <p:spPr>
          <a:xfrm>
            <a:off x="1234440" y="406908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Reps log activity in five tools</a:t>
            </a:r>
            <a:endParaRPr lang="en-US" sz="1200" dirty="0"/>
          </a:p>
        </p:txBody>
      </p:sp>
      <p:sp>
        <p:nvSpPr>
          <p:cNvPr id="28" name="Shape 19"/>
          <p:cNvSpPr/>
          <p:nvPr/>
        </p:nvSpPr>
        <p:spPr>
          <a:xfrm>
            <a:off x="5867248" y="4251960"/>
            <a:ext cx="457200" cy="457200"/>
          </a:xfrm>
          <a:prstGeom prst="ellipse">
            <a:avLst/>
          </a:prstGeom>
          <a:solidFill>
            <a:schemeClr val="bg1"/>
          </a:solidFill>
          <a:ln w="9525">
            <a:solidFill>
              <a:schemeClr val="accent4"/>
            </a:solidFill>
            <a:prstDash val="solid"/>
          </a:ln>
        </p:spPr>
      </p:sp>
      <p:pic>
        <p:nvPicPr>
          <p:cNvPr id="29" name="Icon PiArrowRight 0A1628" descr="preencoded.png">    </p:cNvPr>
          <p:cNvPicPr>
            <a:picLocks noChangeAspect="1"/>
          </p:cNvPicPr>
          <p:nvPr/>
        </p:nvPicPr>
        <p:blipFill>
          <a:blip r:embed="rId8">
            <a:extLst>
              <a:ext uri="{96DAC541-7B7A-43D3-8B79-37D633B846F1}">
                <asvg:svgBlip xmlns:asvg="http://schemas.microsoft.com/office/drawing/2016/SVG/main" r:embed="rId22"/>
              </a:ext>
            </a:extLst>
          </a:blip>
          <a:stretch>
            <a:fillRect/>
          </a:stretch>
        </p:blipFill>
        <p:spPr>
          <a:xfrm>
            <a:off x="5976976" y="4361688"/>
            <a:ext cx="237744" cy="237744"/>
          </a:xfrm>
          <a:prstGeom prst="rect">
            <a:avLst/>
          </a:prstGeom>
        </p:spPr>
      </p:pic>
      <p:sp>
        <p:nvSpPr>
          <p:cNvPr id="30" name="Shape 20"/>
          <p:cNvSpPr/>
          <p:nvPr/>
        </p:nvSpPr>
        <p:spPr>
          <a:xfrm>
            <a:off x="7153732" y="4069080"/>
            <a:ext cx="4489323" cy="822960"/>
          </a:xfrm>
          <a:prstGeom prst="roundRect">
            <a:avLst>
              <a:gd name="adj" fmla="val 11111"/>
            </a:avLst>
          </a:prstGeom>
          <a:solidFill>
            <a:schemeClr val="tx1"/>
          </a:solidFill>
          <a:ln/>
        </p:spPr>
      </p:sp>
      <p:sp>
        <p:nvSpPr>
          <p:cNvPr id="31" name="Shape 21"/>
          <p:cNvSpPr/>
          <p:nvPr/>
        </p:nvSpPr>
        <p:spPr>
          <a:xfrm>
            <a:off x="7382332" y="4325112"/>
            <a:ext cx="310896" cy="310896"/>
          </a:xfrm>
          <a:prstGeom prst="ellipse">
            <a:avLst/>
          </a:prstGeom>
          <a:solidFill>
            <a:schemeClr val="accent1"/>
          </a:solidFill>
          <a:ln/>
        </p:spPr>
      </p:sp>
      <p:pic>
        <p:nvPicPr>
          <p:cNvPr id="32" name="Icon PiCheck 0A1628" descr="preencoded.png">    </p:cNvPr>
          <p:cNvPicPr>
            <a:picLocks noChangeAspect="1"/>
          </p:cNvPicPr>
          <p:nvPr/>
        </p:nvPicPr>
        <p:blipFill>
          <a:blip r:embed="rId9">
            <a:extLst>
              <a:ext uri="{96DAC541-7B7A-43D3-8B79-37D633B846F1}">
                <asvg:svgBlip xmlns:asvg="http://schemas.microsoft.com/office/drawing/2016/SVG/main" r:embed="rId23"/>
              </a:ext>
            </a:extLst>
          </a:blip>
          <a:stretch>
            <a:fillRect/>
          </a:stretch>
        </p:blipFill>
        <p:spPr>
          <a:xfrm>
            <a:off x="7444511" y="4387291"/>
            <a:ext cx="186538" cy="186538"/>
          </a:xfrm>
          <a:prstGeom prst="rect">
            <a:avLst/>
          </a:prstGeom>
        </p:spPr>
      </p:pic>
      <p:sp>
        <p:nvSpPr>
          <p:cNvPr id="33" name="Text 22"/>
          <p:cNvSpPr txBox="1"/>
          <p:nvPr/>
        </p:nvSpPr>
        <p:spPr>
          <a:xfrm>
            <a:off x="7839532" y="406908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Activity captured automatically from email and calendar</a:t>
            </a:r>
            <a:endParaRPr lang="en-US" sz="1200" dirty="0"/>
          </a:p>
        </p:txBody>
      </p:sp>
      <p:sp>
        <p:nvSpPr>
          <p:cNvPr id="34" name="Shape 23"/>
          <p:cNvSpPr/>
          <p:nvPr/>
        </p:nvSpPr>
        <p:spPr>
          <a:xfrm>
            <a:off x="548640" y="5029200"/>
            <a:ext cx="4489323" cy="822960"/>
          </a:xfrm>
          <a:prstGeom prst="roundRect">
            <a:avLst>
              <a:gd name="adj" fmla="val 11111"/>
            </a:avLst>
          </a:prstGeom>
          <a:solidFill>
            <a:schemeClr val="bg2"/>
          </a:solidFill>
          <a:ln/>
        </p:spPr>
      </p:sp>
      <p:pic>
        <p:nvPicPr>
          <p:cNvPr id="35" name="Icon PiX 6B7688" descr="preencoded.png">    </p:cNvPr>
          <p:cNvPicPr>
            <a:picLocks noChangeAspect="1"/>
          </p:cNvPicPr>
          <p:nvPr/>
        </p:nvPicPr>
        <p:blipFill>
          <a:blip r:embed="rId10">
            <a:extLst>
              <a:ext uri="{96DAC541-7B7A-43D3-8B79-37D633B846F1}">
                <asvg:svgBlip xmlns:asvg="http://schemas.microsoft.com/office/drawing/2016/SVG/main" r:embed="rId24"/>
              </a:ext>
            </a:extLst>
          </a:blip>
          <a:stretch>
            <a:fillRect/>
          </a:stretch>
        </p:blipFill>
        <p:spPr>
          <a:xfrm>
            <a:off x="822960" y="5330952"/>
            <a:ext cx="219456" cy="219456"/>
          </a:xfrm>
          <a:prstGeom prst="rect">
            <a:avLst/>
          </a:prstGeom>
        </p:spPr>
      </p:pic>
      <p:sp>
        <p:nvSpPr>
          <p:cNvPr id="36" name="Text 24"/>
          <p:cNvSpPr txBox="1"/>
          <p:nvPr/>
        </p:nvSpPr>
        <p:spPr>
          <a:xfrm>
            <a:off x="1234440" y="502920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Managers coach from anecdotes</a:t>
            </a:r>
            <a:endParaRPr lang="en-US" sz="1200" dirty="0"/>
          </a:p>
        </p:txBody>
      </p:sp>
      <p:sp>
        <p:nvSpPr>
          <p:cNvPr id="37" name="Shape 25"/>
          <p:cNvSpPr/>
          <p:nvPr/>
        </p:nvSpPr>
        <p:spPr>
          <a:xfrm>
            <a:off x="5867248" y="5212080"/>
            <a:ext cx="457200" cy="457200"/>
          </a:xfrm>
          <a:prstGeom prst="ellipse">
            <a:avLst/>
          </a:prstGeom>
          <a:solidFill>
            <a:schemeClr val="bg1"/>
          </a:solidFill>
          <a:ln w="9525">
            <a:solidFill>
              <a:schemeClr val="accent4"/>
            </a:solidFill>
            <a:prstDash val="solid"/>
          </a:ln>
        </p:spPr>
      </p:sp>
      <p:pic>
        <p:nvPicPr>
          <p:cNvPr id="38" name="Icon PiArrowRight 0A1628" descr="preencoded.png">    </p:cNvPr>
          <p:cNvPicPr>
            <a:picLocks noChangeAspect="1"/>
          </p:cNvPicPr>
          <p:nvPr/>
        </p:nvPicPr>
        <p:blipFill>
          <a:blip r:embed="rId11">
            <a:extLst>
              <a:ext uri="{96DAC541-7B7A-43D3-8B79-37D633B846F1}">
                <asvg:svgBlip xmlns:asvg="http://schemas.microsoft.com/office/drawing/2016/SVG/main" r:embed="rId25"/>
              </a:ext>
            </a:extLst>
          </a:blip>
          <a:stretch>
            <a:fillRect/>
          </a:stretch>
        </p:blipFill>
        <p:spPr>
          <a:xfrm>
            <a:off x="5976976" y="5321808"/>
            <a:ext cx="237744" cy="237744"/>
          </a:xfrm>
          <a:prstGeom prst="rect">
            <a:avLst/>
          </a:prstGeom>
        </p:spPr>
      </p:pic>
      <p:sp>
        <p:nvSpPr>
          <p:cNvPr id="39" name="Shape 26"/>
          <p:cNvSpPr/>
          <p:nvPr/>
        </p:nvSpPr>
        <p:spPr>
          <a:xfrm>
            <a:off x="7153732" y="5029200"/>
            <a:ext cx="4489323" cy="822960"/>
          </a:xfrm>
          <a:prstGeom prst="roundRect">
            <a:avLst>
              <a:gd name="adj" fmla="val 11111"/>
            </a:avLst>
          </a:prstGeom>
          <a:solidFill>
            <a:schemeClr val="tx1"/>
          </a:solidFill>
          <a:ln/>
        </p:spPr>
      </p:sp>
      <p:sp>
        <p:nvSpPr>
          <p:cNvPr id="40" name="Shape 27"/>
          <p:cNvSpPr/>
          <p:nvPr/>
        </p:nvSpPr>
        <p:spPr>
          <a:xfrm>
            <a:off x="7382332" y="5285232"/>
            <a:ext cx="310896" cy="310896"/>
          </a:xfrm>
          <a:prstGeom prst="ellipse">
            <a:avLst/>
          </a:prstGeom>
          <a:solidFill>
            <a:schemeClr val="accent1"/>
          </a:solidFill>
          <a:ln/>
        </p:spPr>
      </p:sp>
      <p:pic>
        <p:nvPicPr>
          <p:cNvPr id="41" name="Icon PiCheck 0A1628" descr="preencoded.png">    </p:cNvPr>
          <p:cNvPicPr>
            <a:picLocks noChangeAspect="1"/>
          </p:cNvPicPr>
          <p:nvPr/>
        </p:nvPicPr>
        <p:blipFill>
          <a:blip r:embed="rId12">
            <a:extLst>
              <a:ext uri="{96DAC541-7B7A-43D3-8B79-37D633B846F1}">
                <asvg:svgBlip xmlns:asvg="http://schemas.microsoft.com/office/drawing/2016/SVG/main" r:embed="rId26"/>
              </a:ext>
            </a:extLst>
          </a:blip>
          <a:stretch>
            <a:fillRect/>
          </a:stretch>
        </p:blipFill>
        <p:spPr>
          <a:xfrm>
            <a:off x="7444511" y="5347411"/>
            <a:ext cx="186538" cy="186538"/>
          </a:xfrm>
          <a:prstGeom prst="rect">
            <a:avLst/>
          </a:prstGeom>
        </p:spPr>
      </p:pic>
      <p:sp>
        <p:nvSpPr>
          <p:cNvPr id="42" name="Text 28"/>
          <p:cNvSpPr txBox="1"/>
          <p:nvPr/>
        </p:nvSpPr>
        <p:spPr>
          <a:xfrm>
            <a:off x="7839532" y="502920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Coaching based on win-pattern data per rep</a:t>
            </a:r>
            <a:endParaRPr lang="en-US" sz="12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solution: capture, predict and act in one loop</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Each engine works on its own; together they compound — customers using all three see 2.3× the win-rate lift.</a:t>
            </a:r>
            <a:endParaRPr lang="en-US" sz="1150" dirty="0"/>
          </a:p>
        </p:txBody>
      </p:sp>
      <p:sp>
        <p:nvSpPr>
          <p:cNvPr id="6" name="Shape 4"/>
          <p:cNvSpPr/>
          <p:nvPr/>
        </p:nvSpPr>
        <p:spPr>
          <a:xfrm>
            <a:off x="548640" y="2011680"/>
            <a:ext cx="3545738" cy="3931920"/>
          </a:xfrm>
          <a:prstGeom prst="roundRect">
            <a:avLst>
              <a:gd name="adj" fmla="val 2579"/>
            </a:avLst>
          </a:prstGeom>
          <a:solidFill>
            <a:schemeClr val="bg1"/>
          </a:solidFill>
          <a:ln/>
        </p:spPr>
      </p:sp>
      <p:sp>
        <p:nvSpPr>
          <p:cNvPr id="7" name="Text 5"/>
          <p:cNvSpPr txBox="1"/>
          <p:nvPr/>
        </p:nvSpPr>
        <p:spPr>
          <a:xfrm>
            <a:off x="868680" y="2331720"/>
            <a:ext cx="914400" cy="548640"/>
          </a:xfrm>
          <a:prstGeom prst="rect">
            <a:avLst/>
          </a:prstGeom>
          <a:noFill/>
          <a:ln/>
        </p:spPr>
        <p:txBody>
          <a:bodyPr wrap="square" lIns="0" tIns="0" rIns="0" bIns="0" rtlCol="0" anchor="t"/>
          <a:lstStyle/>
          <a:p>
            <a:pPr algn="l" indent="0" marL="0">
              <a:buNone/>
            </a:pPr>
            <a:r>
              <a:rPr lang="en-US" sz="3000" dirty="0">
                <a:solidFill>
                  <a:schemeClr val="accent4"/>
                </a:solidFill>
                <a:latin typeface="Manrope ExtraBold" pitchFamily="34" charset="0"/>
                <a:ea typeface="Manrope ExtraBold" pitchFamily="34" charset="-122"/>
                <a:cs typeface="Manrope ExtraBold" pitchFamily="34" charset="-120"/>
              </a:rPr>
              <a:t>01</a:t>
            </a:r>
            <a:endParaRPr lang="en-US" sz="3000" dirty="0"/>
          </a:p>
        </p:txBody>
      </p:sp>
      <p:sp>
        <p:nvSpPr>
          <p:cNvPr id="8" name="Shape 6"/>
          <p:cNvSpPr/>
          <p:nvPr/>
        </p:nvSpPr>
        <p:spPr>
          <a:xfrm>
            <a:off x="3179978" y="2331720"/>
            <a:ext cx="594360" cy="594360"/>
          </a:xfrm>
          <a:prstGeom prst="ellipse">
            <a:avLst/>
          </a:prstGeom>
          <a:solidFill>
            <a:schemeClr val="tx1"/>
          </a:solidFill>
          <a:ln/>
        </p:spPr>
      </p:sp>
      <p:pic>
        <p:nvPicPr>
          <p:cNvPr id="9" name="Icon PiDatabase C6F432" descr="preencoded.png">    </p:cNvPr>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3322625" y="2474366"/>
            <a:ext cx="309067" cy="309067"/>
          </a:xfrm>
          <a:prstGeom prst="rect">
            <a:avLst/>
          </a:prstGeom>
        </p:spPr>
      </p:pic>
      <p:sp>
        <p:nvSpPr>
          <p:cNvPr id="10" name="Text 7"/>
          <p:cNvSpPr txBox="1"/>
          <p:nvPr/>
        </p:nvSpPr>
        <p:spPr>
          <a:xfrm>
            <a:off x="868680" y="3246120"/>
            <a:ext cx="2905658" cy="457200"/>
          </a:xfrm>
          <a:prstGeom prst="rect">
            <a:avLst/>
          </a:prstGeom>
          <a:noFill/>
          <a:ln/>
        </p:spPr>
        <p:txBody>
          <a:bodyPr wrap="square" lIns="0" tIns="0" rIns="0" bIns="0" rtlCol="0" anchor="t"/>
          <a:lstStyle/>
          <a:p>
            <a:pPr algn="l" indent="0" marL="0">
              <a:buNone/>
            </a:pPr>
            <a:r>
              <a:rPr lang="en-US" sz="2400" b="1" dirty="0">
                <a:solidFill>
                  <a:schemeClr val="tx1"/>
                </a:solidFill>
                <a:latin typeface="Manrope" pitchFamily="34" charset="0"/>
                <a:ea typeface="Manrope" pitchFamily="34" charset="-122"/>
                <a:cs typeface="Manrope" pitchFamily="34" charset="-120"/>
              </a:rPr>
              <a:t>Capture</a:t>
            </a:r>
            <a:endParaRPr lang="en-US" sz="2400" dirty="0"/>
          </a:p>
        </p:txBody>
      </p:sp>
      <p:sp>
        <p:nvSpPr>
          <p:cNvPr id="11" name="Text 8"/>
          <p:cNvSpPr txBox="1"/>
          <p:nvPr/>
        </p:nvSpPr>
        <p:spPr>
          <a:xfrm>
            <a:off x="868680" y="3794760"/>
            <a:ext cx="2905658" cy="91440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Every email, meeting and call is logged automatically and matched to the right deal.</a:t>
            </a:r>
            <a:endParaRPr lang="en-US" sz="1200" dirty="0"/>
          </a:p>
        </p:txBody>
      </p:sp>
      <p:sp>
        <p:nvSpPr>
          <p:cNvPr id="12" name="Shape 9"/>
          <p:cNvSpPr/>
          <p:nvPr/>
        </p:nvSpPr>
        <p:spPr>
          <a:xfrm>
            <a:off x="868680" y="5029200"/>
            <a:ext cx="2905658" cy="0"/>
          </a:xfrm>
          <a:prstGeom prst="line">
            <a:avLst/>
          </a:prstGeom>
          <a:noFill/>
          <a:ln w="9525">
            <a:solidFill>
              <a:schemeClr val="accent4"/>
            </a:solidFill>
            <a:prstDash val="solid"/>
          </a:ln>
        </p:spPr>
      </p:sp>
      <p:sp>
        <p:nvSpPr>
          <p:cNvPr id="13" name="Text 10"/>
          <p:cNvSpPr txBox="1"/>
          <p:nvPr/>
        </p:nvSpPr>
        <p:spPr>
          <a:xfrm>
            <a:off x="868680" y="5212080"/>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OUTCOME</a:t>
            </a:r>
            <a:endParaRPr lang="en-US" sz="850" dirty="0"/>
          </a:p>
        </p:txBody>
      </p:sp>
      <p:sp>
        <p:nvSpPr>
          <p:cNvPr id="14" name="Text 11"/>
          <p:cNvSpPr txBox="1"/>
          <p:nvPr/>
        </p:nvSpPr>
        <p:spPr>
          <a:xfrm>
            <a:off x="868680" y="5413248"/>
            <a:ext cx="2905658" cy="32004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Zero manual entry</a:t>
            </a:r>
            <a:endParaRPr lang="en-US" sz="1400" dirty="0"/>
          </a:p>
        </p:txBody>
      </p:sp>
      <p:sp>
        <p:nvSpPr>
          <p:cNvPr id="15" name="Shape 12"/>
          <p:cNvSpPr/>
          <p:nvPr/>
        </p:nvSpPr>
        <p:spPr>
          <a:xfrm>
            <a:off x="4025798" y="2441448"/>
            <a:ext cx="365760" cy="365760"/>
          </a:xfrm>
          <a:prstGeom prst="ellipse">
            <a:avLst/>
          </a:prstGeom>
          <a:solidFill>
            <a:schemeClr val="accent1"/>
          </a:solidFill>
          <a:ln/>
        </p:spPr>
      </p:sp>
      <p:pic>
        <p:nvPicPr>
          <p:cNvPr id="16" name="Icon PiArrowRight 0A1628" descr="preencoded.png">    </p:cNvPr>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4113581" y="2529230"/>
            <a:ext cx="190195" cy="190195"/>
          </a:xfrm>
          <a:prstGeom prst="rect">
            <a:avLst/>
          </a:prstGeom>
        </p:spPr>
      </p:pic>
      <p:sp>
        <p:nvSpPr>
          <p:cNvPr id="17" name="Shape 13"/>
          <p:cNvSpPr/>
          <p:nvPr/>
        </p:nvSpPr>
        <p:spPr>
          <a:xfrm>
            <a:off x="4322978" y="2011680"/>
            <a:ext cx="3545738" cy="3931920"/>
          </a:xfrm>
          <a:prstGeom prst="roundRect">
            <a:avLst>
              <a:gd name="adj" fmla="val 2579"/>
            </a:avLst>
          </a:prstGeom>
          <a:solidFill>
            <a:schemeClr val="bg1"/>
          </a:solidFill>
          <a:ln/>
        </p:spPr>
      </p:sp>
      <p:sp>
        <p:nvSpPr>
          <p:cNvPr id="18" name="Text 14"/>
          <p:cNvSpPr txBox="1"/>
          <p:nvPr/>
        </p:nvSpPr>
        <p:spPr>
          <a:xfrm>
            <a:off x="4643018" y="2331720"/>
            <a:ext cx="914400" cy="548640"/>
          </a:xfrm>
          <a:prstGeom prst="rect">
            <a:avLst/>
          </a:prstGeom>
          <a:noFill/>
          <a:ln/>
        </p:spPr>
        <p:txBody>
          <a:bodyPr wrap="square" lIns="0" tIns="0" rIns="0" bIns="0" rtlCol="0" anchor="t"/>
          <a:lstStyle/>
          <a:p>
            <a:pPr algn="l" indent="0" marL="0">
              <a:buNone/>
            </a:pPr>
            <a:r>
              <a:rPr lang="en-US" sz="3000" dirty="0">
                <a:solidFill>
                  <a:schemeClr val="accent4"/>
                </a:solidFill>
                <a:latin typeface="Manrope ExtraBold" pitchFamily="34" charset="0"/>
                <a:ea typeface="Manrope ExtraBold" pitchFamily="34" charset="-122"/>
                <a:cs typeface="Manrope ExtraBold" pitchFamily="34" charset="-120"/>
              </a:rPr>
              <a:t>02</a:t>
            </a:r>
            <a:endParaRPr lang="en-US" sz="3000" dirty="0"/>
          </a:p>
        </p:txBody>
      </p:sp>
      <p:sp>
        <p:nvSpPr>
          <p:cNvPr id="19" name="Shape 15"/>
          <p:cNvSpPr/>
          <p:nvPr/>
        </p:nvSpPr>
        <p:spPr>
          <a:xfrm>
            <a:off x="6954317" y="2331720"/>
            <a:ext cx="594360" cy="594360"/>
          </a:xfrm>
          <a:prstGeom prst="ellipse">
            <a:avLst/>
          </a:prstGeom>
          <a:solidFill>
            <a:schemeClr val="tx1"/>
          </a:solidFill>
          <a:ln/>
        </p:spPr>
      </p:sp>
      <p:pic>
        <p:nvPicPr>
          <p:cNvPr id="20" name="Icon PiCpu C6F432" descr="preencoded.png">    </p:cNvPr>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7096963" y="2474366"/>
            <a:ext cx="309067" cy="309067"/>
          </a:xfrm>
          <a:prstGeom prst="rect">
            <a:avLst/>
          </a:prstGeom>
        </p:spPr>
      </p:pic>
      <p:sp>
        <p:nvSpPr>
          <p:cNvPr id="21" name="Text 16"/>
          <p:cNvSpPr txBox="1"/>
          <p:nvPr/>
        </p:nvSpPr>
        <p:spPr>
          <a:xfrm>
            <a:off x="4643018" y="3246120"/>
            <a:ext cx="2905658" cy="457200"/>
          </a:xfrm>
          <a:prstGeom prst="rect">
            <a:avLst/>
          </a:prstGeom>
          <a:noFill/>
          <a:ln/>
        </p:spPr>
        <p:txBody>
          <a:bodyPr wrap="square" lIns="0" tIns="0" rIns="0" bIns="0" rtlCol="0" anchor="t"/>
          <a:lstStyle/>
          <a:p>
            <a:pPr algn="l" indent="0" marL="0">
              <a:buNone/>
            </a:pPr>
            <a:r>
              <a:rPr lang="en-US" sz="2400" b="1" dirty="0">
                <a:solidFill>
                  <a:schemeClr val="tx1"/>
                </a:solidFill>
                <a:latin typeface="Manrope" pitchFamily="34" charset="0"/>
                <a:ea typeface="Manrope" pitchFamily="34" charset="-122"/>
                <a:cs typeface="Manrope" pitchFamily="34" charset="-120"/>
              </a:rPr>
              <a:t>Predict</a:t>
            </a:r>
            <a:endParaRPr lang="en-US" sz="2400" dirty="0"/>
          </a:p>
        </p:txBody>
      </p:sp>
      <p:sp>
        <p:nvSpPr>
          <p:cNvPr id="22" name="Text 17"/>
          <p:cNvSpPr txBox="1"/>
          <p:nvPr/>
        </p:nvSpPr>
        <p:spPr>
          <a:xfrm>
            <a:off x="4643018" y="3794760"/>
            <a:ext cx="2905658" cy="91440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Models score each deal and roll up a forecast with a confidence range.</a:t>
            </a:r>
            <a:endParaRPr lang="en-US" sz="1200" dirty="0"/>
          </a:p>
        </p:txBody>
      </p:sp>
      <p:sp>
        <p:nvSpPr>
          <p:cNvPr id="23" name="Shape 18"/>
          <p:cNvSpPr/>
          <p:nvPr/>
        </p:nvSpPr>
        <p:spPr>
          <a:xfrm>
            <a:off x="4643018" y="5029200"/>
            <a:ext cx="2905658" cy="0"/>
          </a:xfrm>
          <a:prstGeom prst="line">
            <a:avLst/>
          </a:prstGeom>
          <a:noFill/>
          <a:ln w="9525">
            <a:solidFill>
              <a:schemeClr val="accent4"/>
            </a:solidFill>
            <a:prstDash val="solid"/>
          </a:ln>
        </p:spPr>
      </p:sp>
      <p:sp>
        <p:nvSpPr>
          <p:cNvPr id="24" name="Text 19"/>
          <p:cNvSpPr txBox="1"/>
          <p:nvPr/>
        </p:nvSpPr>
        <p:spPr>
          <a:xfrm>
            <a:off x="4643018" y="5212080"/>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OUTCOME</a:t>
            </a:r>
            <a:endParaRPr lang="en-US" sz="850" dirty="0"/>
          </a:p>
        </p:txBody>
      </p:sp>
      <p:sp>
        <p:nvSpPr>
          <p:cNvPr id="25" name="Text 20"/>
          <p:cNvSpPr txBox="1"/>
          <p:nvPr/>
        </p:nvSpPr>
        <p:spPr>
          <a:xfrm>
            <a:off x="4643018" y="5413248"/>
            <a:ext cx="2905658" cy="32004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96% forecast accuracy</a:t>
            </a:r>
            <a:endParaRPr lang="en-US" sz="1400" dirty="0"/>
          </a:p>
        </p:txBody>
      </p:sp>
      <p:sp>
        <p:nvSpPr>
          <p:cNvPr id="26" name="Shape 21"/>
          <p:cNvSpPr/>
          <p:nvPr/>
        </p:nvSpPr>
        <p:spPr>
          <a:xfrm>
            <a:off x="7800137" y="2441448"/>
            <a:ext cx="365760" cy="365760"/>
          </a:xfrm>
          <a:prstGeom prst="ellipse">
            <a:avLst/>
          </a:prstGeom>
          <a:solidFill>
            <a:schemeClr val="accent1"/>
          </a:solidFill>
          <a:ln/>
        </p:spPr>
      </p:sp>
      <p:pic>
        <p:nvPicPr>
          <p:cNvPr id="27" name="Icon PiArrowRight 0A1628" descr="preencoded.png">    </p:cNvPr>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7887919" y="2529230"/>
            <a:ext cx="190195" cy="190195"/>
          </a:xfrm>
          <a:prstGeom prst="rect">
            <a:avLst/>
          </a:prstGeom>
        </p:spPr>
      </p:pic>
      <p:sp>
        <p:nvSpPr>
          <p:cNvPr id="28" name="Shape 22"/>
          <p:cNvSpPr/>
          <p:nvPr/>
        </p:nvSpPr>
        <p:spPr>
          <a:xfrm>
            <a:off x="8097317" y="2011680"/>
            <a:ext cx="3545738" cy="3931920"/>
          </a:xfrm>
          <a:prstGeom prst="roundRect">
            <a:avLst>
              <a:gd name="adj" fmla="val 2579"/>
            </a:avLst>
          </a:prstGeom>
          <a:solidFill>
            <a:schemeClr val="bg1"/>
          </a:solidFill>
          <a:ln/>
        </p:spPr>
      </p:sp>
      <p:sp>
        <p:nvSpPr>
          <p:cNvPr id="29" name="Text 23"/>
          <p:cNvSpPr txBox="1"/>
          <p:nvPr/>
        </p:nvSpPr>
        <p:spPr>
          <a:xfrm>
            <a:off x="8417357" y="2331720"/>
            <a:ext cx="914400" cy="548640"/>
          </a:xfrm>
          <a:prstGeom prst="rect">
            <a:avLst/>
          </a:prstGeom>
          <a:noFill/>
          <a:ln/>
        </p:spPr>
        <p:txBody>
          <a:bodyPr wrap="square" lIns="0" tIns="0" rIns="0" bIns="0" rtlCol="0" anchor="t"/>
          <a:lstStyle/>
          <a:p>
            <a:pPr algn="l" indent="0" marL="0">
              <a:buNone/>
            </a:pPr>
            <a:r>
              <a:rPr lang="en-US" sz="3000" dirty="0">
                <a:solidFill>
                  <a:schemeClr val="accent4"/>
                </a:solidFill>
                <a:latin typeface="Manrope ExtraBold" pitchFamily="34" charset="0"/>
                <a:ea typeface="Manrope ExtraBold" pitchFamily="34" charset="-122"/>
                <a:cs typeface="Manrope ExtraBold" pitchFamily="34" charset="-120"/>
              </a:rPr>
              <a:t>03</a:t>
            </a:r>
            <a:endParaRPr lang="en-US" sz="3000" dirty="0"/>
          </a:p>
        </p:txBody>
      </p:sp>
      <p:sp>
        <p:nvSpPr>
          <p:cNvPr id="30" name="Shape 24"/>
          <p:cNvSpPr/>
          <p:nvPr/>
        </p:nvSpPr>
        <p:spPr>
          <a:xfrm>
            <a:off x="10728655" y="2331720"/>
            <a:ext cx="594360" cy="594360"/>
          </a:xfrm>
          <a:prstGeom prst="ellipse">
            <a:avLst/>
          </a:prstGeom>
          <a:solidFill>
            <a:schemeClr val="tx1"/>
          </a:solidFill>
          <a:ln/>
        </p:spPr>
      </p:sp>
      <p:pic>
        <p:nvPicPr>
          <p:cNvPr id="31" name="Icon PiRocketLaunch C6F432" descr="preencoded.png">    </p:cNvPr>
          <p:cNvPicPr>
            <a:picLocks noChangeAspect="1"/>
          </p:cNvPicPr>
          <p:nvPr/>
        </p:nvPicPr>
        <p:blipFill>
          <a:blip r:embed="rId5">
            <a:extLst>
              <a:ext uri="{96DAC541-7B7A-43D3-8B79-37D633B846F1}">
                <asvg:svgBlip xmlns:asvg="http://schemas.microsoft.com/office/drawing/2016/SVG/main" r:embed="rId12"/>
              </a:ext>
            </a:extLst>
          </a:blip>
          <a:stretch>
            <a:fillRect/>
          </a:stretch>
        </p:blipFill>
        <p:spPr>
          <a:xfrm>
            <a:off x="10871302" y="2474366"/>
            <a:ext cx="309067" cy="309067"/>
          </a:xfrm>
          <a:prstGeom prst="rect">
            <a:avLst/>
          </a:prstGeom>
        </p:spPr>
      </p:pic>
      <p:sp>
        <p:nvSpPr>
          <p:cNvPr id="32" name="Text 25"/>
          <p:cNvSpPr txBox="1"/>
          <p:nvPr/>
        </p:nvSpPr>
        <p:spPr>
          <a:xfrm>
            <a:off x="8417357" y="3246120"/>
            <a:ext cx="2905658" cy="457200"/>
          </a:xfrm>
          <a:prstGeom prst="rect">
            <a:avLst/>
          </a:prstGeom>
          <a:noFill/>
          <a:ln/>
        </p:spPr>
        <p:txBody>
          <a:bodyPr wrap="square" lIns="0" tIns="0" rIns="0" bIns="0" rtlCol="0" anchor="t"/>
          <a:lstStyle/>
          <a:p>
            <a:pPr algn="l" indent="0" marL="0">
              <a:buNone/>
            </a:pPr>
            <a:r>
              <a:rPr lang="en-US" sz="2400" b="1" dirty="0">
                <a:solidFill>
                  <a:schemeClr val="tx1"/>
                </a:solidFill>
                <a:latin typeface="Manrope" pitchFamily="34" charset="0"/>
                <a:ea typeface="Manrope" pitchFamily="34" charset="-122"/>
                <a:cs typeface="Manrope" pitchFamily="34" charset="-120"/>
              </a:rPr>
              <a:t>Act</a:t>
            </a:r>
            <a:endParaRPr lang="en-US" sz="2400" dirty="0"/>
          </a:p>
        </p:txBody>
      </p:sp>
      <p:sp>
        <p:nvSpPr>
          <p:cNvPr id="33" name="Text 26"/>
          <p:cNvSpPr txBox="1"/>
          <p:nvPr/>
        </p:nvSpPr>
        <p:spPr>
          <a:xfrm>
            <a:off x="8417357" y="3794760"/>
            <a:ext cx="2905658" cy="91440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Reps and managers get the next best action inside the tools they already use.</a:t>
            </a:r>
            <a:endParaRPr lang="en-US" sz="1200" dirty="0"/>
          </a:p>
        </p:txBody>
      </p:sp>
      <p:sp>
        <p:nvSpPr>
          <p:cNvPr id="34" name="Shape 27"/>
          <p:cNvSpPr/>
          <p:nvPr/>
        </p:nvSpPr>
        <p:spPr>
          <a:xfrm>
            <a:off x="8417357" y="5029200"/>
            <a:ext cx="2905658" cy="0"/>
          </a:xfrm>
          <a:prstGeom prst="line">
            <a:avLst/>
          </a:prstGeom>
          <a:noFill/>
          <a:ln w="9525">
            <a:solidFill>
              <a:schemeClr val="accent4"/>
            </a:solidFill>
            <a:prstDash val="solid"/>
          </a:ln>
        </p:spPr>
      </p:sp>
      <p:sp>
        <p:nvSpPr>
          <p:cNvPr id="35" name="Text 28"/>
          <p:cNvSpPr txBox="1"/>
          <p:nvPr/>
        </p:nvSpPr>
        <p:spPr>
          <a:xfrm>
            <a:off x="8417357" y="5212080"/>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OUTCOME</a:t>
            </a:r>
            <a:endParaRPr lang="en-US" sz="850" dirty="0"/>
          </a:p>
        </p:txBody>
      </p:sp>
      <p:sp>
        <p:nvSpPr>
          <p:cNvPr id="36" name="Text 29"/>
          <p:cNvSpPr txBox="1"/>
          <p:nvPr/>
        </p:nvSpPr>
        <p:spPr>
          <a:xfrm>
            <a:off x="8417357" y="5413248"/>
            <a:ext cx="2905658" cy="32004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+29% win rate</a:t>
            </a:r>
            <a:endParaRPr lang="en-US" sz="14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A $12.4B opportunity hiding in manual work</a:t>
            </a:r>
            <a:endParaRPr lang="en-US" sz="2800" dirty="0"/>
          </a:p>
        </p:txBody>
      </p:sp>
      <p:sp>
        <p:nvSpPr>
          <p:cNvPr id="5" name="Text 3"/>
          <p:cNvSpPr txBox="1"/>
          <p:nvPr/>
        </p:nvSpPr>
        <p:spPr>
          <a:xfrm>
            <a:off x="548640" y="2103120"/>
            <a:ext cx="4489323" cy="1188720"/>
          </a:xfrm>
          <a:prstGeom prst="rect">
            <a:avLst/>
          </a:prstGeom>
          <a:noFill/>
          <a:ln/>
        </p:spPr>
        <p:txBody>
          <a:bodyPr wrap="square" lIns="0" tIns="0" rIns="0" bIns="0" rtlCol="0" anchor="t"/>
          <a:lstStyle/>
          <a:p>
            <a:pPr algn="l" indent="0" marL="0">
              <a:buNone/>
            </a:pPr>
            <a:r>
              <a:rPr lang="en-US" sz="7200" dirty="0">
                <a:solidFill>
                  <a:schemeClr val="accent1"/>
                </a:solidFill>
                <a:latin typeface="Manrope ExtraBold" pitchFamily="34" charset="0"/>
                <a:ea typeface="Manrope ExtraBold" pitchFamily="34" charset="-122"/>
                <a:cs typeface="Manrope ExtraBold" pitchFamily="34" charset="-120"/>
              </a:rPr>
              <a:t>$12.4B</a:t>
            </a:r>
            <a:endParaRPr lang="en-US" sz="7200" dirty="0"/>
          </a:p>
        </p:txBody>
      </p:sp>
      <p:sp>
        <p:nvSpPr>
          <p:cNvPr id="6" name="Text 4"/>
          <p:cNvSpPr txBox="1"/>
          <p:nvPr/>
        </p:nvSpPr>
        <p:spPr>
          <a:xfrm>
            <a:off x="548640" y="3383280"/>
            <a:ext cx="3545738" cy="1005840"/>
          </a:xfrm>
          <a:prstGeom prst="rect">
            <a:avLst/>
          </a:prstGeom>
          <a:noFill/>
          <a:ln/>
        </p:spPr>
        <p:txBody>
          <a:bodyPr wrap="square" lIns="0" tIns="0" rIns="0" bIns="0" rtlCol="0" anchor="t"/>
          <a:lstStyle/>
          <a:p>
            <a:pPr algn="l" indent="0" marL="0">
              <a:lnSpc>
                <a:spcPct val="130000"/>
              </a:lnSpc>
              <a:buNone/>
            </a:pPr>
            <a:r>
              <a:rPr lang="en-US" sz="1300" dirty="0">
                <a:solidFill>
                  <a:schemeClr val="accent4"/>
                </a:solidFill>
                <a:latin typeface="Inter" pitchFamily="34" charset="0"/>
                <a:ea typeface="Inter" pitchFamily="34" charset="-122"/>
                <a:cs typeface="Inter" pitchFamily="34" charset="-120"/>
              </a:rPr>
              <a:t>Annual spend on revenue operations tooling by 2028 — growing 24% a year as companies replace spreadsheets.</a:t>
            </a:r>
            <a:endParaRPr lang="en-US" sz="1300" dirty="0"/>
          </a:p>
        </p:txBody>
      </p:sp>
      <p:sp>
        <p:nvSpPr>
          <p:cNvPr id="7" name="Text 5"/>
          <p:cNvSpPr txBox="1"/>
          <p:nvPr/>
        </p:nvSpPr>
        <p:spPr>
          <a:xfrm>
            <a:off x="548640" y="4754880"/>
            <a:ext cx="2011680" cy="502920"/>
          </a:xfrm>
          <a:prstGeom prst="rect">
            <a:avLst/>
          </a:prstGeom>
          <a:noFill/>
          <a:ln/>
        </p:spPr>
        <p:txBody>
          <a:bodyPr wrap="square" lIns="0" tIns="0" rIns="0" bIns="0" rtlCol="0" anchor="t"/>
          <a:lstStyle/>
          <a:p>
            <a:pPr algn="l" indent="0" marL="0">
              <a:buNone/>
            </a:pPr>
            <a:r>
              <a:rPr lang="en-US" sz="2800" dirty="0">
                <a:solidFill>
                  <a:schemeClr val="bg1"/>
                </a:solidFill>
                <a:latin typeface="Manrope ExtraBold" pitchFamily="34" charset="0"/>
                <a:ea typeface="Manrope ExtraBold" pitchFamily="34" charset="-122"/>
                <a:cs typeface="Manrope ExtraBold" pitchFamily="34" charset="-120"/>
              </a:rPr>
              <a:t>24%</a:t>
            </a:r>
            <a:endParaRPr lang="en-US" sz="2800" dirty="0"/>
          </a:p>
        </p:txBody>
      </p:sp>
      <p:sp>
        <p:nvSpPr>
          <p:cNvPr id="8" name="Text 6"/>
          <p:cNvSpPr txBox="1"/>
          <p:nvPr/>
        </p:nvSpPr>
        <p:spPr>
          <a:xfrm>
            <a:off x="548640" y="5285232"/>
            <a:ext cx="2011680" cy="36576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CAGR 2023–2028</a:t>
            </a:r>
            <a:endParaRPr lang="en-US" sz="1000" dirty="0"/>
          </a:p>
        </p:txBody>
      </p:sp>
      <p:sp>
        <p:nvSpPr>
          <p:cNvPr id="9" name="Text 7"/>
          <p:cNvSpPr txBox="1"/>
          <p:nvPr/>
        </p:nvSpPr>
        <p:spPr>
          <a:xfrm>
            <a:off x="2743200" y="4754880"/>
            <a:ext cx="2011680" cy="502920"/>
          </a:xfrm>
          <a:prstGeom prst="rect">
            <a:avLst/>
          </a:prstGeom>
          <a:noFill/>
          <a:ln/>
        </p:spPr>
        <p:txBody>
          <a:bodyPr wrap="square" lIns="0" tIns="0" rIns="0" bIns="0" rtlCol="0" anchor="t"/>
          <a:lstStyle/>
          <a:p>
            <a:pPr algn="l" indent="0" marL="0">
              <a:buNone/>
            </a:pPr>
            <a:r>
              <a:rPr lang="en-US" sz="2800" dirty="0">
                <a:solidFill>
                  <a:schemeClr val="bg1"/>
                </a:solidFill>
                <a:latin typeface="Manrope ExtraBold" pitchFamily="34" charset="0"/>
                <a:ea typeface="Manrope ExtraBold" pitchFamily="34" charset="-122"/>
                <a:cs typeface="Manrope ExtraBold" pitchFamily="34" charset="-120"/>
              </a:rPr>
              <a:t>3.1×</a:t>
            </a:r>
            <a:endParaRPr lang="en-US" sz="2800" dirty="0"/>
          </a:p>
        </p:txBody>
      </p:sp>
      <p:sp>
        <p:nvSpPr>
          <p:cNvPr id="10" name="Text 8"/>
          <p:cNvSpPr txBox="1"/>
          <p:nvPr/>
        </p:nvSpPr>
        <p:spPr>
          <a:xfrm>
            <a:off x="2743200" y="5285232"/>
            <a:ext cx="2011680" cy="36576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spend increase in five years</a:t>
            </a:r>
            <a:endParaRPr lang="en-US" sz="1000" dirty="0"/>
          </a:p>
        </p:txBody>
      </p:sp>
      <p:sp>
        <p:nvSpPr>
          <p:cNvPr id="11" name="Shape 9"/>
          <p:cNvSpPr/>
          <p:nvPr/>
        </p:nvSpPr>
        <p:spPr>
          <a:xfrm>
            <a:off x="6210148" y="1920240"/>
            <a:ext cx="5432908" cy="4114800"/>
          </a:xfrm>
          <a:prstGeom prst="roundRect">
            <a:avLst>
              <a:gd name="adj" fmla="val 2222"/>
            </a:avLst>
          </a:prstGeom>
          <a:solidFill>
            <a:schemeClr val="accent5"/>
          </a:solidFill>
          <a:ln/>
        </p:spPr>
      </p:sp>
      <p:sp>
        <p:nvSpPr>
          <p:cNvPr id="12" name="Text 10"/>
          <p:cNvSpPr txBox="1"/>
          <p:nvPr/>
        </p:nvSpPr>
        <p:spPr>
          <a:xfrm>
            <a:off x="6530188" y="2148840"/>
            <a:ext cx="3657600" cy="274320"/>
          </a:xfrm>
          <a:prstGeom prst="rect">
            <a:avLst/>
          </a:prstGeom>
          <a:noFill/>
          <a:ln/>
        </p:spPr>
        <p:txBody>
          <a:bodyPr wrap="square" lIns="0" tIns="0" rIns="0" bIns="0" rtlCol="0" anchor="t"/>
          <a:lstStyle/>
          <a:p>
            <a:pPr algn="l" indent="0" marL="0">
              <a:buNone/>
            </a:pPr>
            <a:r>
              <a:rPr lang="en-US" sz="1300" b="1" dirty="0">
                <a:solidFill>
                  <a:schemeClr val="bg1"/>
                </a:solidFill>
                <a:latin typeface="Manrope" pitchFamily="34" charset="0"/>
                <a:ea typeface="Manrope" pitchFamily="34" charset="-122"/>
                <a:cs typeface="Manrope" pitchFamily="34" charset="-120"/>
              </a:rPr>
              <a:t>RevOps tooling spend, $B</a:t>
            </a:r>
            <a:endParaRPr lang="en-US" sz="1300" dirty="0"/>
          </a:p>
        </p:txBody>
      </p:sp>
      <p:sp>
        <p:nvSpPr>
          <p:cNvPr id="13" name="Text 11"/>
          <p:cNvSpPr txBox="1"/>
          <p:nvPr/>
        </p:nvSpPr>
        <p:spPr>
          <a:xfrm>
            <a:off x="9494215" y="2167128"/>
            <a:ext cx="1828800" cy="274320"/>
          </a:xfrm>
          <a:prstGeom prst="rect">
            <a:avLst/>
          </a:prstGeom>
          <a:noFill/>
          <a:ln/>
        </p:spPr>
        <p:txBody>
          <a:bodyPr wrap="square" lIns="0" tIns="0" rIns="0" bIns="0" rtlCol="0" anchor="t"/>
          <a:lstStyle/>
          <a:p>
            <a:pPr algn="r" indent="0" marL="0">
              <a:buNone/>
            </a:pPr>
            <a:r>
              <a:rPr lang="en-US" sz="950" dirty="0">
                <a:solidFill>
                  <a:schemeClr val="accent4"/>
                </a:solidFill>
                <a:latin typeface="Inter" pitchFamily="34" charset="0"/>
                <a:ea typeface="Inter" pitchFamily="34" charset="-122"/>
                <a:cs typeface="Inter" pitchFamily="34" charset="-120"/>
              </a:rPr>
              <a:t>Forecast from 2026</a:t>
            </a:r>
            <a:endParaRPr lang="en-US" sz="950" dirty="0"/>
          </a:p>
        </p:txBody>
      </p:sp>
      <p:graphicFrame>
        <p:nvGraphicFramePr>
          <p:cNvPr id="14" name="Chart 0" descr=""/>
          <p:cNvGraphicFramePr/>
          <p:nvPr/>
        </p:nvGraphicFramePr>
        <p:xfrm>
          <a:off x="6393028" y="2560320"/>
          <a:ext cx="5067148"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 · VALUE PROPOSITION</a:t>
            </a:r>
            <a:endParaRPr lang="en-US" sz="950" dirty="0"/>
          </a:p>
        </p:txBody>
      </p:sp>
      <p:sp>
        <p:nvSpPr>
          <p:cNvPr id="4" name="Text 2"/>
          <p:cNvSpPr txBox="1"/>
          <p:nvPr/>
        </p:nvSpPr>
        <p:spPr>
          <a:xfrm>
            <a:off x="548640" y="914400"/>
            <a:ext cx="7320077" cy="1463040"/>
          </a:xfrm>
          <a:prstGeom prst="rect">
            <a:avLst/>
          </a:prstGeom>
          <a:noFill/>
          <a:ln/>
        </p:spPr>
        <p:txBody>
          <a:bodyPr wrap="square" lIns="0" tIns="0" rIns="0" bIns="0" rtlCol="0" anchor="t"/>
          <a:lstStyle/>
          <a:p>
            <a:pPr algn="l" indent="0" marL="0">
              <a:lnSpc>
                <a:spcPct val="100000"/>
              </a:lnSpc>
              <a:buNone/>
            </a:pPr>
            <a:r>
              <a:rPr lang="en-US" sz="4000" b="1" dirty="0">
                <a:solidFill>
                  <a:schemeClr val="tx1"/>
                </a:solidFill>
                <a:latin typeface="Manrope" pitchFamily="34" charset="0"/>
                <a:ea typeface="Manrope" pitchFamily="34" charset="-122"/>
                <a:cs typeface="Manrope" pitchFamily="34" charset="-120"/>
              </a:rPr>
              <a:t>Forecast with confidence.</a:t>
            </a:r>
            <a:endParaRPr lang="en-US" sz="4000" dirty="0"/>
          </a:p>
          <a:p>
            <a:pPr algn="l" indent="0" marL="0">
              <a:lnSpc>
                <a:spcPct val="100000"/>
              </a:lnSpc>
              <a:buNone/>
            </a:pPr>
            <a:r>
              <a:rPr lang="en-US" sz="4000" b="1" dirty="0">
                <a:solidFill>
                  <a:schemeClr val="tx1"/>
                </a:solidFill>
                <a:latin typeface="Manrope" pitchFamily="34" charset="0"/>
                <a:ea typeface="Manrope" pitchFamily="34" charset="-122"/>
                <a:cs typeface="Manrope" pitchFamily="34" charset="-120"/>
              </a:rPr>
              <a:t>Sell with focus.</a:t>
            </a:r>
            <a:endParaRPr lang="en-US" sz="4000" dirty="0"/>
          </a:p>
        </p:txBody>
      </p:sp>
      <p:sp>
        <p:nvSpPr>
          <p:cNvPr id="5" name="Text 3"/>
          <p:cNvSpPr txBox="1"/>
          <p:nvPr/>
        </p:nvSpPr>
        <p:spPr>
          <a:xfrm>
            <a:off x="548640" y="2560320"/>
            <a:ext cx="7320077" cy="914400"/>
          </a:xfrm>
          <a:prstGeom prst="rect">
            <a:avLst/>
          </a:prstGeom>
          <a:noFill/>
          <a:ln/>
        </p:spPr>
        <p:txBody>
          <a:bodyPr wrap="square" lIns="0" tIns="0" rIns="0" bIns="0" rtlCol="0" anchor="t"/>
          <a:lstStyle/>
          <a:p>
            <a:pPr algn="l" indent="0" marL="0">
              <a:lnSpc>
                <a:spcPct val="130000"/>
              </a:lnSpc>
              <a:buNone/>
            </a:pPr>
            <a:r>
              <a:rPr lang="en-US" sz="1300" dirty="0">
                <a:solidFill>
                  <a:schemeClr val="accent3"/>
                </a:solidFill>
                <a:latin typeface="Inter" pitchFamily="34" charset="0"/>
                <a:ea typeface="Inter" pitchFamily="34" charset="-122"/>
                <a:cs typeface="Inter" pitchFamily="34" charset="-120"/>
              </a:rPr>
              <a:t>For revenue leaders at growing B2B companies who need to hit their number, Corvanta is the revenue platform that turns activity data into decisions — unlike CRM add-ons that only report what already happened.</a:t>
            </a:r>
            <a:endParaRPr lang="en-US" sz="1300" dirty="0"/>
          </a:p>
        </p:txBody>
      </p:sp>
      <p:sp>
        <p:nvSpPr>
          <p:cNvPr id="6" name="Shape 4"/>
          <p:cNvSpPr/>
          <p:nvPr/>
        </p:nvSpPr>
        <p:spPr>
          <a:xfrm>
            <a:off x="548640" y="3886200"/>
            <a:ext cx="2602154" cy="2103120"/>
          </a:xfrm>
          <a:prstGeom prst="roundRect">
            <a:avLst>
              <a:gd name="adj" fmla="val 4348"/>
            </a:avLst>
          </a:prstGeom>
          <a:solidFill>
            <a:schemeClr val="accent1"/>
          </a:solidFill>
          <a:ln/>
        </p:spPr>
      </p:sp>
      <p:pic>
        <p:nvPicPr>
          <p:cNvPr id="7" name="Icon PiTarget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2602154" y="4160520"/>
            <a:ext cx="274320" cy="274320"/>
          </a:xfrm>
          <a:prstGeom prst="rect">
            <a:avLst/>
          </a:prstGeom>
        </p:spPr>
      </p:pic>
      <p:sp>
        <p:nvSpPr>
          <p:cNvPr id="8" name="Text 5"/>
          <p:cNvSpPr txBox="1"/>
          <p:nvPr/>
        </p:nvSpPr>
        <p:spPr>
          <a:xfrm>
            <a:off x="822960"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+29%</a:t>
            </a:r>
            <a:endParaRPr lang="en-US" sz="3800" dirty="0"/>
          </a:p>
        </p:txBody>
      </p:sp>
      <p:sp>
        <p:nvSpPr>
          <p:cNvPr id="9" name="Text 6"/>
          <p:cNvSpPr txBox="1"/>
          <p:nvPr/>
        </p:nvSpPr>
        <p:spPr>
          <a:xfrm>
            <a:off x="822960"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win rate</a:t>
            </a:r>
            <a:endParaRPr lang="en-US" sz="1300" dirty="0"/>
          </a:p>
        </p:txBody>
      </p:sp>
      <p:sp>
        <p:nvSpPr>
          <p:cNvPr id="10" name="Text 7"/>
          <p:cNvSpPr txBox="1"/>
          <p:nvPr/>
        </p:nvSpPr>
        <p:spPr>
          <a:xfrm>
            <a:off x="822960"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tx1"/>
                </a:solidFill>
                <a:latin typeface="Inter" pitchFamily="34" charset="0"/>
                <a:ea typeface="Inter" pitchFamily="34" charset="-122"/>
                <a:cs typeface="Inter" pitchFamily="34" charset="-120"/>
              </a:rPr>
              <a:t>Reps focus on deals that can close.</a:t>
            </a:r>
            <a:endParaRPr lang="en-US" sz="1050" dirty="0"/>
          </a:p>
        </p:txBody>
      </p:sp>
      <p:sp>
        <p:nvSpPr>
          <p:cNvPr id="11" name="Shape 8"/>
          <p:cNvSpPr/>
          <p:nvPr/>
        </p:nvSpPr>
        <p:spPr>
          <a:xfrm>
            <a:off x="3379394" y="3886200"/>
            <a:ext cx="2602154" cy="2103120"/>
          </a:xfrm>
          <a:prstGeom prst="roundRect">
            <a:avLst>
              <a:gd name="adj" fmla="val 4348"/>
            </a:avLst>
          </a:prstGeom>
          <a:solidFill>
            <a:schemeClr val="bg2"/>
          </a:solidFill>
          <a:ln/>
        </p:spPr>
      </p:sp>
      <p:pic>
        <p:nvPicPr>
          <p:cNvPr id="12" name="Icon PiClock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5432908" y="4160520"/>
            <a:ext cx="274320" cy="274320"/>
          </a:xfrm>
          <a:prstGeom prst="rect">
            <a:avLst/>
          </a:prstGeom>
        </p:spPr>
      </p:pic>
      <p:sp>
        <p:nvSpPr>
          <p:cNvPr id="13" name="Text 9"/>
          <p:cNvSpPr txBox="1"/>
          <p:nvPr/>
        </p:nvSpPr>
        <p:spPr>
          <a:xfrm>
            <a:off x="3653714"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−40%</a:t>
            </a:r>
            <a:endParaRPr lang="en-US" sz="3800" dirty="0"/>
          </a:p>
        </p:txBody>
      </p:sp>
      <p:sp>
        <p:nvSpPr>
          <p:cNvPr id="14" name="Text 10"/>
          <p:cNvSpPr txBox="1"/>
          <p:nvPr/>
        </p:nvSpPr>
        <p:spPr>
          <a:xfrm>
            <a:off x="3653714"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admin time</a:t>
            </a:r>
            <a:endParaRPr lang="en-US" sz="1300" dirty="0"/>
          </a:p>
        </p:txBody>
      </p:sp>
      <p:sp>
        <p:nvSpPr>
          <p:cNvPr id="15" name="Text 11"/>
          <p:cNvSpPr txBox="1"/>
          <p:nvPr/>
        </p:nvSpPr>
        <p:spPr>
          <a:xfrm>
            <a:off x="3653714"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Automatic capture replaces manual logging.</a:t>
            </a:r>
            <a:endParaRPr lang="en-US" sz="1050" dirty="0"/>
          </a:p>
        </p:txBody>
      </p:sp>
      <p:sp>
        <p:nvSpPr>
          <p:cNvPr id="16" name="Shape 12"/>
          <p:cNvSpPr/>
          <p:nvPr/>
        </p:nvSpPr>
        <p:spPr>
          <a:xfrm>
            <a:off x="6210148" y="3886200"/>
            <a:ext cx="2602154" cy="2103120"/>
          </a:xfrm>
          <a:prstGeom prst="roundRect">
            <a:avLst>
              <a:gd name="adj" fmla="val 4348"/>
            </a:avLst>
          </a:prstGeom>
          <a:solidFill>
            <a:schemeClr val="bg2"/>
          </a:solidFill>
          <a:ln/>
        </p:spPr>
      </p:sp>
      <p:pic>
        <p:nvPicPr>
          <p:cNvPr id="17" name="Icon PiChartLineUp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8263661" y="4160520"/>
            <a:ext cx="274320" cy="274320"/>
          </a:xfrm>
          <a:prstGeom prst="rect">
            <a:avLst/>
          </a:prstGeom>
        </p:spPr>
      </p:pic>
      <p:sp>
        <p:nvSpPr>
          <p:cNvPr id="18" name="Text 13"/>
          <p:cNvSpPr txBox="1"/>
          <p:nvPr/>
        </p:nvSpPr>
        <p:spPr>
          <a:xfrm>
            <a:off x="6484468"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96%</a:t>
            </a:r>
            <a:endParaRPr lang="en-US" sz="3800" dirty="0"/>
          </a:p>
        </p:txBody>
      </p:sp>
      <p:sp>
        <p:nvSpPr>
          <p:cNvPr id="19" name="Text 14"/>
          <p:cNvSpPr txBox="1"/>
          <p:nvPr/>
        </p:nvSpPr>
        <p:spPr>
          <a:xfrm>
            <a:off x="6484468"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forecast accuracy</a:t>
            </a:r>
            <a:endParaRPr lang="en-US" sz="1300" dirty="0"/>
          </a:p>
        </p:txBody>
      </p:sp>
      <p:sp>
        <p:nvSpPr>
          <p:cNvPr id="20" name="Text 15"/>
          <p:cNvSpPr txBox="1"/>
          <p:nvPr/>
        </p:nvSpPr>
        <p:spPr>
          <a:xfrm>
            <a:off x="6484468"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Board-ready numbers from week one.</a:t>
            </a:r>
            <a:endParaRPr lang="en-US" sz="1050" dirty="0"/>
          </a:p>
        </p:txBody>
      </p:sp>
      <p:sp>
        <p:nvSpPr>
          <p:cNvPr id="21" name="Shape 16"/>
          <p:cNvSpPr/>
          <p:nvPr/>
        </p:nvSpPr>
        <p:spPr>
          <a:xfrm>
            <a:off x="9040901" y="3886200"/>
            <a:ext cx="2602154" cy="2103120"/>
          </a:xfrm>
          <a:prstGeom prst="roundRect">
            <a:avLst>
              <a:gd name="adj" fmla="val 4348"/>
            </a:avLst>
          </a:prstGeom>
          <a:solidFill>
            <a:schemeClr val="bg2"/>
          </a:solidFill>
          <a:ln/>
        </p:spPr>
      </p:sp>
      <p:pic>
        <p:nvPicPr>
          <p:cNvPr id="22" name="Icon PiCoins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11094415" y="4160520"/>
            <a:ext cx="274320" cy="274320"/>
          </a:xfrm>
          <a:prstGeom prst="rect">
            <a:avLst/>
          </a:prstGeom>
        </p:spPr>
      </p:pic>
      <p:sp>
        <p:nvSpPr>
          <p:cNvPr id="23" name="Text 17"/>
          <p:cNvSpPr txBox="1"/>
          <p:nvPr/>
        </p:nvSpPr>
        <p:spPr>
          <a:xfrm>
            <a:off x="9315221"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4.8×</a:t>
            </a:r>
            <a:endParaRPr lang="en-US" sz="3800" dirty="0"/>
          </a:p>
        </p:txBody>
      </p:sp>
      <p:sp>
        <p:nvSpPr>
          <p:cNvPr id="24" name="Text 18"/>
          <p:cNvSpPr txBox="1"/>
          <p:nvPr/>
        </p:nvSpPr>
        <p:spPr>
          <a:xfrm>
            <a:off x="9315221"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return on investment</a:t>
            </a:r>
            <a:endParaRPr lang="en-US" sz="1300" dirty="0"/>
          </a:p>
        </p:txBody>
      </p:sp>
      <p:sp>
        <p:nvSpPr>
          <p:cNvPr id="25" name="Text 19"/>
          <p:cNvSpPr txBox="1"/>
          <p:nvPr/>
        </p:nvSpPr>
        <p:spPr>
          <a:xfrm>
            <a:off x="9315221"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Payback in under five months.</a:t>
            </a:r>
            <a:endParaRPr lang="en-US" sz="1050" dirty="0"/>
          </a:p>
        </p:txBody>
      </p:sp>
      <p:sp>
        <p:nvSpPr>
          <p:cNvPr id="26" name="Shape 20"/>
          <p:cNvSpPr/>
          <p:nvPr/>
        </p:nvSpPr>
        <p:spPr>
          <a:xfrm>
            <a:off x="9585655" y="1005840"/>
            <a:ext cx="1371600" cy="1371600"/>
          </a:xfrm>
          <a:prstGeom prst="pie">
            <a:avLst>
              <a:gd name="adj1" fmla="val 10800000"/>
              <a:gd name="adj2" fmla="val 16200000"/>
            </a:avLst>
          </a:prstGeom>
          <a:solidFill>
            <a:schemeClr val="accent1"/>
          </a:solidFill>
          <a:ln/>
        </p:spPr>
      </p:sp>
      <p:sp>
        <p:nvSpPr>
          <p:cNvPr id="27" name="Shape 21"/>
          <p:cNvSpPr/>
          <p:nvPr/>
        </p:nvSpPr>
        <p:spPr>
          <a:xfrm>
            <a:off x="10271455" y="1005840"/>
            <a:ext cx="685800" cy="685800"/>
          </a:xfrm>
          <a:prstGeom prst="rect">
            <a:avLst/>
          </a:prstGeom>
          <a:solidFill>
            <a:schemeClr val="tx1"/>
          </a:solidFill>
          <a:ln/>
        </p:spPr>
      </p:sp>
      <p:sp>
        <p:nvSpPr>
          <p:cNvPr id="28" name="Shape 22"/>
          <p:cNvSpPr/>
          <p:nvPr/>
        </p:nvSpPr>
        <p:spPr>
          <a:xfrm>
            <a:off x="10532059" y="1266444"/>
            <a:ext cx="164592" cy="164592"/>
          </a:xfrm>
          <a:prstGeom prst="ellipse">
            <a:avLst/>
          </a:prstGeom>
          <a:solidFill>
            <a:schemeClr val="accent1"/>
          </a:solidFill>
          <a:ln/>
        </p:spPr>
      </p:sp>
      <p:sp>
        <p:nvSpPr>
          <p:cNvPr id="29" name="Shape 23"/>
          <p:cNvSpPr/>
          <p:nvPr/>
        </p:nvSpPr>
        <p:spPr>
          <a:xfrm>
            <a:off x="10957255" y="1005840"/>
            <a:ext cx="685800" cy="685800"/>
          </a:xfrm>
          <a:prstGeom prst="ellipse">
            <a:avLst/>
          </a:prstGeom>
          <a:solidFill>
            <a:schemeClr val="bg2"/>
          </a:solidFill>
          <a:ln/>
        </p:spPr>
      </p:sp>
      <p:sp>
        <p:nvSpPr>
          <p:cNvPr id="30" name="Shape 24"/>
          <p:cNvSpPr/>
          <p:nvPr/>
        </p:nvSpPr>
        <p:spPr>
          <a:xfrm>
            <a:off x="9585655" y="1005840"/>
            <a:ext cx="1371600" cy="1371600"/>
          </a:xfrm>
          <a:prstGeom prst="pie">
            <a:avLst>
              <a:gd name="adj1" fmla="val 0"/>
              <a:gd name="adj2" fmla="val 5400000"/>
            </a:avLst>
          </a:prstGeom>
          <a:solidFill>
            <a:schemeClr val="tx1"/>
          </a:solidFill>
          <a:ln/>
        </p:spPr>
      </p:sp>
      <p:sp>
        <p:nvSpPr>
          <p:cNvPr id="31" name="Shape 25"/>
          <p:cNvSpPr/>
          <p:nvPr/>
        </p:nvSpPr>
        <p:spPr>
          <a:xfrm>
            <a:off x="10957255" y="1691640"/>
            <a:ext cx="685800" cy="685800"/>
          </a:xfrm>
          <a:prstGeom prst="rect">
            <a:avLst/>
          </a:prstGeom>
          <a:solidFill>
            <a:schemeClr val="accent1"/>
          </a:solidFill>
          <a:ln/>
        </p:spPr>
      </p:sp>
      <p:sp>
        <p:nvSpPr>
          <p:cNvPr id="32" name="Shape 26"/>
          <p:cNvSpPr/>
          <p:nvPr/>
        </p:nvSpPr>
        <p:spPr>
          <a:xfrm>
            <a:off x="10957255" y="2034540"/>
            <a:ext cx="685800" cy="685800"/>
          </a:xfrm>
          <a:prstGeom prst="pie">
            <a:avLst>
              <a:gd name="adj1" fmla="val 10800000"/>
              <a:gd name="adj2" fmla="val 21600000"/>
            </a:avLst>
          </a:prstGeom>
          <a:solidFill>
            <a:schemeClr val="tx1"/>
          </a:solidFill>
          <a:ln/>
        </p:spPr>
      </p:sp>
      <p:sp>
        <p:nvSpPr>
          <p:cNvPr id="33" name="Shape 27"/>
          <p:cNvSpPr/>
          <p:nvPr/>
        </p:nvSpPr>
        <p:spPr>
          <a:xfrm>
            <a:off x="10957255" y="1691640"/>
            <a:ext cx="1371600" cy="1371600"/>
          </a:xfrm>
          <a:prstGeom prst="pie">
            <a:avLst>
              <a:gd name="adj1" fmla="val 5400000"/>
              <a:gd name="adj2" fmla="val 10800000"/>
            </a:avLst>
          </a:prstGeom>
          <a:solidFill>
            <a:schemeClr val="bg2"/>
          </a:solidFill>
          <a:ln/>
        </p:spPr>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One workspace for the whole revenue team</a:t>
            </a:r>
            <a:endParaRPr lang="en-US" sz="2800" dirty="0"/>
          </a:p>
        </p:txBody>
      </p:sp>
      <p:sp>
        <p:nvSpPr>
          <p:cNvPr id="5" name="Shape 3"/>
          <p:cNvSpPr/>
          <p:nvPr/>
        </p:nvSpPr>
        <p:spPr>
          <a:xfrm>
            <a:off x="548640" y="1874520"/>
            <a:ext cx="6559372" cy="4160520"/>
          </a:xfrm>
          <a:prstGeom prst="roundRect">
            <a:avLst>
              <a:gd name="adj" fmla="val 2198"/>
            </a:avLst>
          </a:prstGeom>
          <a:solidFill>
            <a:schemeClr val="bg1"/>
          </a:solidFill>
          <a:ln w="9525">
            <a:solidFill>
              <a:schemeClr val="accent4"/>
            </a:solidFill>
            <a:prstDash val="solid"/>
          </a:ln>
        </p:spPr>
      </p:sp>
      <p:sp>
        <p:nvSpPr>
          <p:cNvPr id="6" name="Shape 4"/>
          <p:cNvSpPr/>
          <p:nvPr/>
        </p:nvSpPr>
        <p:spPr>
          <a:xfrm>
            <a:off x="731520" y="2029968"/>
            <a:ext cx="91440" cy="91440"/>
          </a:xfrm>
          <a:prstGeom prst="ellipse">
            <a:avLst/>
          </a:prstGeom>
          <a:solidFill>
            <a:schemeClr val="accent4"/>
          </a:solidFill>
          <a:ln/>
        </p:spPr>
      </p:sp>
      <p:sp>
        <p:nvSpPr>
          <p:cNvPr id="7" name="Shape 5"/>
          <p:cNvSpPr/>
          <p:nvPr/>
        </p:nvSpPr>
        <p:spPr>
          <a:xfrm>
            <a:off x="896112" y="2029968"/>
            <a:ext cx="91440" cy="91440"/>
          </a:xfrm>
          <a:prstGeom prst="ellipse">
            <a:avLst/>
          </a:prstGeom>
          <a:solidFill>
            <a:schemeClr val="accent4"/>
          </a:solidFill>
          <a:ln/>
        </p:spPr>
      </p:sp>
      <p:sp>
        <p:nvSpPr>
          <p:cNvPr id="8" name="Shape 6"/>
          <p:cNvSpPr/>
          <p:nvPr/>
        </p:nvSpPr>
        <p:spPr>
          <a:xfrm>
            <a:off x="1060704" y="2029968"/>
            <a:ext cx="91440" cy="91440"/>
          </a:xfrm>
          <a:prstGeom prst="ellipse">
            <a:avLst/>
          </a:prstGeom>
          <a:solidFill>
            <a:schemeClr val="accent4"/>
          </a:solidFill>
          <a:ln/>
        </p:spPr>
      </p:sp>
      <p:sp>
        <p:nvSpPr>
          <p:cNvPr id="9" name="Shape 7"/>
          <p:cNvSpPr/>
          <p:nvPr/>
        </p:nvSpPr>
        <p:spPr>
          <a:xfrm>
            <a:off x="1463040" y="1984248"/>
            <a:ext cx="2926080" cy="182880"/>
          </a:xfrm>
          <a:prstGeom prst="roundRect">
            <a:avLst>
              <a:gd name="adj" fmla="val 50000"/>
            </a:avLst>
          </a:prstGeom>
          <a:solidFill>
            <a:schemeClr val="bg2"/>
          </a:solidFill>
          <a:ln/>
        </p:spPr>
      </p:sp>
      <p:sp>
        <p:nvSpPr>
          <p:cNvPr id="10" name="Shape 8"/>
          <p:cNvSpPr/>
          <p:nvPr/>
        </p:nvSpPr>
        <p:spPr>
          <a:xfrm>
            <a:off x="548640" y="2286000"/>
            <a:ext cx="6559372" cy="0"/>
          </a:xfrm>
          <a:prstGeom prst="line">
            <a:avLst/>
          </a:prstGeom>
          <a:noFill/>
          <a:ln w="9525">
            <a:solidFill>
              <a:schemeClr val="accent4"/>
            </a:solidFill>
            <a:prstDash val="solid"/>
          </a:ln>
        </p:spPr>
      </p:sp>
      <p:sp>
        <p:nvSpPr>
          <p:cNvPr id="11" name="Shape 9"/>
          <p:cNvSpPr/>
          <p:nvPr/>
        </p:nvSpPr>
        <p:spPr>
          <a:xfrm>
            <a:off x="557784" y="2295144"/>
            <a:ext cx="1143000" cy="3730752"/>
          </a:xfrm>
          <a:prstGeom prst="rect">
            <a:avLst/>
          </a:prstGeom>
          <a:solidFill>
            <a:schemeClr val="tx1"/>
          </a:solidFill>
          <a:ln/>
        </p:spPr>
      </p:sp>
      <p:sp>
        <p:nvSpPr>
          <p:cNvPr id="12" name="Shape 10"/>
          <p:cNvSpPr/>
          <p:nvPr/>
        </p:nvSpPr>
        <p:spPr>
          <a:xfrm>
            <a:off x="685800" y="2468880"/>
            <a:ext cx="868680" cy="347472"/>
          </a:xfrm>
          <a:prstGeom prst="roundRect">
            <a:avLst>
              <a:gd name="adj" fmla="val 15789"/>
            </a:avLst>
          </a:prstGeom>
          <a:solidFill>
            <a:schemeClr val="accent5"/>
          </a:solidFill>
          <a:ln/>
        </p:spPr>
      </p:sp>
      <p:pic>
        <p:nvPicPr>
          <p:cNvPr id="13" name="Icon PiSquaresFour C6F432"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777240" y="2532888"/>
            <a:ext cx="219456" cy="219456"/>
          </a:xfrm>
          <a:prstGeom prst="rect">
            <a:avLst/>
          </a:prstGeom>
        </p:spPr>
      </p:pic>
      <p:sp>
        <p:nvSpPr>
          <p:cNvPr id="14" name="Shape 11"/>
          <p:cNvSpPr/>
          <p:nvPr/>
        </p:nvSpPr>
        <p:spPr>
          <a:xfrm>
            <a:off x="1097280" y="2606040"/>
            <a:ext cx="365760" cy="64008"/>
          </a:xfrm>
          <a:prstGeom prst="roundRect">
            <a:avLst>
              <a:gd name="adj" fmla="val 42857"/>
            </a:avLst>
          </a:prstGeom>
          <a:solidFill>
            <a:schemeClr val="bg1"/>
          </a:solidFill>
          <a:ln/>
        </p:spPr>
      </p:sp>
      <p:pic>
        <p:nvPicPr>
          <p:cNvPr id="15" name="Icon PiFunnel D5DBE3"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777240" y="2990088"/>
            <a:ext cx="219456" cy="219456"/>
          </a:xfrm>
          <a:prstGeom prst="rect">
            <a:avLst/>
          </a:prstGeom>
        </p:spPr>
      </p:pic>
      <p:sp>
        <p:nvSpPr>
          <p:cNvPr id="16" name="Shape 12"/>
          <p:cNvSpPr/>
          <p:nvPr/>
        </p:nvSpPr>
        <p:spPr>
          <a:xfrm>
            <a:off x="1097280" y="3063240"/>
            <a:ext cx="365760" cy="64008"/>
          </a:xfrm>
          <a:prstGeom prst="roundRect">
            <a:avLst>
              <a:gd name="adj" fmla="val 42857"/>
            </a:avLst>
          </a:prstGeom>
          <a:solidFill>
            <a:schemeClr val="accent2"/>
          </a:solidFill>
          <a:ln/>
        </p:spPr>
      </p:sp>
      <p:pic>
        <p:nvPicPr>
          <p:cNvPr id="17" name="Icon PiChartBar D5DBE3"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777240" y="3447288"/>
            <a:ext cx="219456" cy="219456"/>
          </a:xfrm>
          <a:prstGeom prst="rect">
            <a:avLst/>
          </a:prstGeom>
        </p:spPr>
      </p:pic>
      <p:sp>
        <p:nvSpPr>
          <p:cNvPr id="18" name="Shape 13"/>
          <p:cNvSpPr/>
          <p:nvPr/>
        </p:nvSpPr>
        <p:spPr>
          <a:xfrm>
            <a:off x="1097280" y="3520440"/>
            <a:ext cx="365760" cy="64008"/>
          </a:xfrm>
          <a:prstGeom prst="roundRect">
            <a:avLst>
              <a:gd name="adj" fmla="val 42857"/>
            </a:avLst>
          </a:prstGeom>
          <a:solidFill>
            <a:schemeClr val="accent2"/>
          </a:solidFill>
          <a:ln/>
        </p:spPr>
      </p:sp>
      <p:pic>
        <p:nvPicPr>
          <p:cNvPr id="19" name="Icon PiUsersThree D5DBE3"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777240" y="3904488"/>
            <a:ext cx="219456" cy="219456"/>
          </a:xfrm>
          <a:prstGeom prst="rect">
            <a:avLst/>
          </a:prstGeom>
        </p:spPr>
      </p:pic>
      <p:sp>
        <p:nvSpPr>
          <p:cNvPr id="20" name="Shape 14"/>
          <p:cNvSpPr/>
          <p:nvPr/>
        </p:nvSpPr>
        <p:spPr>
          <a:xfrm>
            <a:off x="1097280" y="3977640"/>
            <a:ext cx="365760" cy="64008"/>
          </a:xfrm>
          <a:prstGeom prst="roundRect">
            <a:avLst>
              <a:gd name="adj" fmla="val 42857"/>
            </a:avLst>
          </a:prstGeom>
          <a:solidFill>
            <a:schemeClr val="accent2"/>
          </a:solidFill>
          <a:ln/>
        </p:spPr>
      </p:sp>
      <p:pic>
        <p:nvPicPr>
          <p:cNvPr id="21" name="Icon PiGear D5DBE3"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777240" y="4361688"/>
            <a:ext cx="219456" cy="219456"/>
          </a:xfrm>
          <a:prstGeom prst="rect">
            <a:avLst/>
          </a:prstGeom>
        </p:spPr>
      </p:pic>
      <p:sp>
        <p:nvSpPr>
          <p:cNvPr id="22" name="Shape 15"/>
          <p:cNvSpPr/>
          <p:nvPr/>
        </p:nvSpPr>
        <p:spPr>
          <a:xfrm>
            <a:off x="1097280" y="4434840"/>
            <a:ext cx="365760" cy="64008"/>
          </a:xfrm>
          <a:prstGeom prst="roundRect">
            <a:avLst>
              <a:gd name="adj" fmla="val 42857"/>
            </a:avLst>
          </a:prstGeom>
          <a:solidFill>
            <a:schemeClr val="accent2"/>
          </a:solidFill>
          <a:ln/>
        </p:spPr>
      </p:sp>
      <p:sp>
        <p:nvSpPr>
          <p:cNvPr id="23" name="Text 16"/>
          <p:cNvSpPr txBox="1"/>
          <p:nvPr/>
        </p:nvSpPr>
        <p:spPr>
          <a:xfrm>
            <a:off x="1920240" y="2441448"/>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Q4 Forecast</a:t>
            </a:r>
            <a:endParaRPr lang="en-US" sz="1300" dirty="0"/>
          </a:p>
        </p:txBody>
      </p:sp>
      <p:sp>
        <p:nvSpPr>
          <p:cNvPr id="24" name="Shape 17"/>
          <p:cNvSpPr/>
          <p:nvPr/>
        </p:nvSpPr>
        <p:spPr>
          <a:xfrm>
            <a:off x="5873572" y="2441448"/>
            <a:ext cx="1005840" cy="237744"/>
          </a:xfrm>
          <a:prstGeom prst="roundRect">
            <a:avLst>
              <a:gd name="adj" fmla="val 50000"/>
            </a:avLst>
          </a:prstGeom>
          <a:solidFill>
            <a:schemeClr val="accent1"/>
          </a:solidFill>
          <a:ln/>
        </p:spPr>
      </p:sp>
      <p:sp>
        <p:nvSpPr>
          <p:cNvPr id="25" name="Text 18"/>
          <p:cNvSpPr txBox="1"/>
          <p:nvPr/>
        </p:nvSpPr>
        <p:spPr>
          <a:xfrm>
            <a:off x="5873572" y="2441448"/>
            <a:ext cx="1005840" cy="237744"/>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Live</a:t>
            </a:r>
            <a:endParaRPr lang="en-US" sz="850" dirty="0"/>
          </a:p>
        </p:txBody>
      </p:sp>
      <p:sp>
        <p:nvSpPr>
          <p:cNvPr id="26" name="Shape 19"/>
          <p:cNvSpPr/>
          <p:nvPr/>
        </p:nvSpPr>
        <p:spPr>
          <a:xfrm>
            <a:off x="1920240" y="2834640"/>
            <a:ext cx="1561617" cy="777240"/>
          </a:xfrm>
          <a:prstGeom prst="roundRect">
            <a:avLst>
              <a:gd name="adj" fmla="val 9412"/>
            </a:avLst>
          </a:prstGeom>
          <a:solidFill>
            <a:schemeClr val="bg2"/>
          </a:solidFill>
          <a:ln/>
        </p:spPr>
      </p:sp>
      <p:sp>
        <p:nvSpPr>
          <p:cNvPr id="27" name="Text 20"/>
          <p:cNvSpPr txBox="1"/>
          <p:nvPr/>
        </p:nvSpPr>
        <p:spPr>
          <a:xfrm>
            <a:off x="2057400" y="2916936"/>
            <a:ext cx="1287297"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Commit</a:t>
            </a:r>
            <a:endParaRPr lang="en-US" sz="850" dirty="0"/>
          </a:p>
        </p:txBody>
      </p:sp>
      <p:sp>
        <p:nvSpPr>
          <p:cNvPr id="28" name="Text 21"/>
          <p:cNvSpPr txBox="1"/>
          <p:nvPr/>
        </p:nvSpPr>
        <p:spPr>
          <a:xfrm>
            <a:off x="2057400" y="3136392"/>
            <a:ext cx="1287297"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$14.2M</a:t>
            </a:r>
            <a:endParaRPr lang="en-US" sz="1800" dirty="0"/>
          </a:p>
        </p:txBody>
      </p:sp>
      <p:sp>
        <p:nvSpPr>
          <p:cNvPr id="29" name="Shape 22"/>
          <p:cNvSpPr/>
          <p:nvPr/>
        </p:nvSpPr>
        <p:spPr>
          <a:xfrm>
            <a:off x="3619017" y="2834640"/>
            <a:ext cx="1561617" cy="777240"/>
          </a:xfrm>
          <a:prstGeom prst="roundRect">
            <a:avLst>
              <a:gd name="adj" fmla="val 9412"/>
            </a:avLst>
          </a:prstGeom>
          <a:solidFill>
            <a:schemeClr val="bg2"/>
          </a:solidFill>
          <a:ln/>
        </p:spPr>
      </p:sp>
      <p:sp>
        <p:nvSpPr>
          <p:cNvPr id="30" name="Text 23"/>
          <p:cNvSpPr txBox="1"/>
          <p:nvPr/>
        </p:nvSpPr>
        <p:spPr>
          <a:xfrm>
            <a:off x="3756177" y="2916936"/>
            <a:ext cx="1287297"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Best case</a:t>
            </a:r>
            <a:endParaRPr lang="en-US" sz="850" dirty="0"/>
          </a:p>
        </p:txBody>
      </p:sp>
      <p:sp>
        <p:nvSpPr>
          <p:cNvPr id="31" name="Text 24"/>
          <p:cNvSpPr txBox="1"/>
          <p:nvPr/>
        </p:nvSpPr>
        <p:spPr>
          <a:xfrm>
            <a:off x="3756177" y="3136392"/>
            <a:ext cx="1287297"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$16.8M</a:t>
            </a:r>
            <a:endParaRPr lang="en-US" sz="1800" dirty="0"/>
          </a:p>
        </p:txBody>
      </p:sp>
      <p:sp>
        <p:nvSpPr>
          <p:cNvPr id="32" name="Shape 25"/>
          <p:cNvSpPr/>
          <p:nvPr/>
        </p:nvSpPr>
        <p:spPr>
          <a:xfrm>
            <a:off x="5317795" y="2834640"/>
            <a:ext cx="1561617" cy="777240"/>
          </a:xfrm>
          <a:prstGeom prst="roundRect">
            <a:avLst>
              <a:gd name="adj" fmla="val 9412"/>
            </a:avLst>
          </a:prstGeom>
          <a:solidFill>
            <a:schemeClr val="bg2"/>
          </a:solidFill>
          <a:ln/>
        </p:spPr>
      </p:sp>
      <p:sp>
        <p:nvSpPr>
          <p:cNvPr id="33" name="Text 26"/>
          <p:cNvSpPr txBox="1"/>
          <p:nvPr/>
        </p:nvSpPr>
        <p:spPr>
          <a:xfrm>
            <a:off x="5454955" y="2916936"/>
            <a:ext cx="1287297"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Coverage</a:t>
            </a:r>
            <a:endParaRPr lang="en-US" sz="850" dirty="0"/>
          </a:p>
        </p:txBody>
      </p:sp>
      <p:sp>
        <p:nvSpPr>
          <p:cNvPr id="34" name="Text 27"/>
          <p:cNvSpPr txBox="1"/>
          <p:nvPr/>
        </p:nvSpPr>
        <p:spPr>
          <a:xfrm>
            <a:off x="5454955" y="3136392"/>
            <a:ext cx="1287297"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3.4×</a:t>
            </a:r>
            <a:endParaRPr lang="en-US" sz="1800" dirty="0"/>
          </a:p>
        </p:txBody>
      </p:sp>
      <p:graphicFrame>
        <p:nvGraphicFramePr>
          <p:cNvPr id="35" name="Chart 0" descr=""/>
          <p:cNvGraphicFramePr/>
          <p:nvPr/>
        </p:nvGraphicFramePr>
        <p:xfrm>
          <a:off x="1828800" y="3749040"/>
          <a:ext cx="5096332" cy="2148840"/>
        </p:xfrm>
        <a:graphic xmlns:a="http://schemas.openxmlformats.org/drawingml/2006/main">
          <a:graphicData uri="http://schemas.openxmlformats.org/drawingml/2006/chart">
            <c:chart xmlns:c="http://schemas.openxmlformats.org/drawingml/2006/chart" r:id="rId6"/>
          </a:graphicData>
        </a:graphic>
      </p:graphicFrame>
      <p:sp>
        <p:nvSpPr>
          <p:cNvPr id="36" name="Shape 28"/>
          <p:cNvSpPr/>
          <p:nvPr/>
        </p:nvSpPr>
        <p:spPr>
          <a:xfrm>
            <a:off x="1508760" y="2404872"/>
            <a:ext cx="274320" cy="274320"/>
          </a:xfrm>
          <a:prstGeom prst="ellipse">
            <a:avLst/>
          </a:prstGeom>
          <a:solidFill>
            <a:schemeClr val="accent1"/>
          </a:solidFill>
          <a:ln w="12700">
            <a:solidFill>
              <a:schemeClr val="tx1"/>
            </a:solidFill>
            <a:prstDash val="solid"/>
          </a:ln>
        </p:spPr>
      </p:sp>
      <p:sp>
        <p:nvSpPr>
          <p:cNvPr id="37" name="Text 29"/>
          <p:cNvSpPr txBox="1"/>
          <p:nvPr/>
        </p:nvSpPr>
        <p:spPr>
          <a:xfrm>
            <a:off x="1508760" y="2404872"/>
            <a:ext cx="274320"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Manrope" pitchFamily="34" charset="0"/>
                <a:ea typeface="Manrope" pitchFamily="34" charset="-122"/>
                <a:cs typeface="Manrope" pitchFamily="34" charset="-120"/>
              </a:rPr>
              <a:t>1</a:t>
            </a:r>
            <a:endParaRPr lang="en-US" sz="1000" dirty="0"/>
          </a:p>
        </p:txBody>
      </p:sp>
      <p:sp>
        <p:nvSpPr>
          <p:cNvPr id="38" name="Shape 30"/>
          <p:cNvSpPr/>
          <p:nvPr/>
        </p:nvSpPr>
        <p:spPr>
          <a:xfrm>
            <a:off x="8188757" y="2011680"/>
            <a:ext cx="365760" cy="365760"/>
          </a:xfrm>
          <a:prstGeom prst="ellipse">
            <a:avLst/>
          </a:prstGeom>
          <a:solidFill>
            <a:schemeClr val="tx1"/>
          </a:solidFill>
          <a:ln/>
        </p:spPr>
      </p:sp>
      <p:sp>
        <p:nvSpPr>
          <p:cNvPr id="39" name="Text 31"/>
          <p:cNvSpPr txBox="1"/>
          <p:nvPr/>
        </p:nvSpPr>
        <p:spPr>
          <a:xfrm>
            <a:off x="8188757" y="2011680"/>
            <a:ext cx="365760" cy="365760"/>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1</a:t>
            </a:r>
            <a:endParaRPr lang="en-US" sz="1200" dirty="0"/>
          </a:p>
        </p:txBody>
      </p:sp>
      <p:sp>
        <p:nvSpPr>
          <p:cNvPr id="40" name="Text 32"/>
          <p:cNvSpPr txBox="1"/>
          <p:nvPr/>
        </p:nvSpPr>
        <p:spPr>
          <a:xfrm>
            <a:off x="8737397" y="2039112"/>
            <a:ext cx="29056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Navigation</a:t>
            </a:r>
            <a:endParaRPr lang="en-US" sz="1400" dirty="0"/>
          </a:p>
        </p:txBody>
      </p:sp>
      <p:sp>
        <p:nvSpPr>
          <p:cNvPr id="41" name="Text 33"/>
          <p:cNvSpPr txBox="1"/>
          <p:nvPr/>
        </p:nvSpPr>
        <p:spPr>
          <a:xfrm>
            <a:off x="8737397" y="2359152"/>
            <a:ext cx="290565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Every workflow one click away — forecast, pipeline, analytics and coaching.</a:t>
            </a:r>
            <a:endParaRPr lang="en-US" sz="1100" dirty="0"/>
          </a:p>
        </p:txBody>
      </p:sp>
      <p:sp>
        <p:nvSpPr>
          <p:cNvPr id="42" name="Shape 34"/>
          <p:cNvSpPr/>
          <p:nvPr/>
        </p:nvSpPr>
        <p:spPr>
          <a:xfrm>
            <a:off x="3298977" y="2697480"/>
            <a:ext cx="274320" cy="274320"/>
          </a:xfrm>
          <a:prstGeom prst="ellipse">
            <a:avLst/>
          </a:prstGeom>
          <a:solidFill>
            <a:schemeClr val="accent1"/>
          </a:solidFill>
          <a:ln w="12700">
            <a:solidFill>
              <a:schemeClr val="tx1"/>
            </a:solidFill>
            <a:prstDash val="solid"/>
          </a:ln>
        </p:spPr>
      </p:sp>
      <p:sp>
        <p:nvSpPr>
          <p:cNvPr id="43" name="Text 35"/>
          <p:cNvSpPr txBox="1"/>
          <p:nvPr/>
        </p:nvSpPr>
        <p:spPr>
          <a:xfrm>
            <a:off x="3298977" y="2697480"/>
            <a:ext cx="274320"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Manrope" pitchFamily="34" charset="0"/>
                <a:ea typeface="Manrope" pitchFamily="34" charset="-122"/>
                <a:cs typeface="Manrope" pitchFamily="34" charset="-120"/>
              </a:rPr>
              <a:t>2</a:t>
            </a:r>
            <a:endParaRPr lang="en-US" sz="1000" dirty="0"/>
          </a:p>
        </p:txBody>
      </p:sp>
      <p:sp>
        <p:nvSpPr>
          <p:cNvPr id="44" name="Shape 36"/>
          <p:cNvSpPr/>
          <p:nvPr/>
        </p:nvSpPr>
        <p:spPr>
          <a:xfrm>
            <a:off x="8188757" y="3337560"/>
            <a:ext cx="365760" cy="365760"/>
          </a:xfrm>
          <a:prstGeom prst="ellipse">
            <a:avLst/>
          </a:prstGeom>
          <a:solidFill>
            <a:schemeClr val="tx1"/>
          </a:solidFill>
          <a:ln/>
        </p:spPr>
      </p:sp>
      <p:sp>
        <p:nvSpPr>
          <p:cNvPr id="45" name="Text 37"/>
          <p:cNvSpPr txBox="1"/>
          <p:nvPr/>
        </p:nvSpPr>
        <p:spPr>
          <a:xfrm>
            <a:off x="8188757" y="3337560"/>
            <a:ext cx="365760" cy="365760"/>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2</a:t>
            </a:r>
            <a:endParaRPr lang="en-US" sz="1200" dirty="0"/>
          </a:p>
        </p:txBody>
      </p:sp>
      <p:sp>
        <p:nvSpPr>
          <p:cNvPr id="46" name="Text 38"/>
          <p:cNvSpPr txBox="1"/>
          <p:nvPr/>
        </p:nvSpPr>
        <p:spPr>
          <a:xfrm>
            <a:off x="8737397" y="3364992"/>
            <a:ext cx="29056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Live KPIs</a:t>
            </a:r>
            <a:endParaRPr lang="en-US" sz="1400" dirty="0"/>
          </a:p>
        </p:txBody>
      </p:sp>
      <p:sp>
        <p:nvSpPr>
          <p:cNvPr id="47" name="Text 39"/>
          <p:cNvSpPr txBox="1"/>
          <p:nvPr/>
        </p:nvSpPr>
        <p:spPr>
          <a:xfrm>
            <a:off x="8737397" y="3685032"/>
            <a:ext cx="290565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Commit, best case and coverage update hourly from CRM and inbox data.</a:t>
            </a:r>
            <a:endParaRPr lang="en-US" sz="1100" dirty="0"/>
          </a:p>
        </p:txBody>
      </p:sp>
      <p:sp>
        <p:nvSpPr>
          <p:cNvPr id="48" name="Shape 40"/>
          <p:cNvSpPr/>
          <p:nvPr/>
        </p:nvSpPr>
        <p:spPr>
          <a:xfrm>
            <a:off x="4895743" y="4069080"/>
            <a:ext cx="274320" cy="274320"/>
          </a:xfrm>
          <a:prstGeom prst="ellipse">
            <a:avLst/>
          </a:prstGeom>
          <a:solidFill>
            <a:schemeClr val="accent1"/>
          </a:solidFill>
          <a:ln w="12700">
            <a:solidFill>
              <a:schemeClr val="tx1"/>
            </a:solidFill>
            <a:prstDash val="solid"/>
          </a:ln>
        </p:spPr>
      </p:sp>
      <p:sp>
        <p:nvSpPr>
          <p:cNvPr id="49" name="Text 41"/>
          <p:cNvSpPr txBox="1"/>
          <p:nvPr/>
        </p:nvSpPr>
        <p:spPr>
          <a:xfrm>
            <a:off x="4895743" y="4069080"/>
            <a:ext cx="274320"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Manrope" pitchFamily="34" charset="0"/>
                <a:ea typeface="Manrope" pitchFamily="34" charset="-122"/>
                <a:cs typeface="Manrope" pitchFamily="34" charset="-120"/>
              </a:rPr>
              <a:t>3</a:t>
            </a:r>
            <a:endParaRPr lang="en-US" sz="1000" dirty="0"/>
          </a:p>
        </p:txBody>
      </p:sp>
      <p:sp>
        <p:nvSpPr>
          <p:cNvPr id="50" name="Shape 42"/>
          <p:cNvSpPr/>
          <p:nvPr/>
        </p:nvSpPr>
        <p:spPr>
          <a:xfrm>
            <a:off x="8188757" y="4663440"/>
            <a:ext cx="365760" cy="365760"/>
          </a:xfrm>
          <a:prstGeom prst="ellipse">
            <a:avLst/>
          </a:prstGeom>
          <a:solidFill>
            <a:schemeClr val="tx1"/>
          </a:solidFill>
          <a:ln/>
        </p:spPr>
      </p:sp>
      <p:sp>
        <p:nvSpPr>
          <p:cNvPr id="51" name="Text 43"/>
          <p:cNvSpPr txBox="1"/>
          <p:nvPr/>
        </p:nvSpPr>
        <p:spPr>
          <a:xfrm>
            <a:off x="8188757" y="4663440"/>
            <a:ext cx="365760" cy="365760"/>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3</a:t>
            </a:r>
            <a:endParaRPr lang="en-US" sz="1200" dirty="0"/>
          </a:p>
        </p:txBody>
      </p:sp>
      <p:sp>
        <p:nvSpPr>
          <p:cNvPr id="52" name="Text 44"/>
          <p:cNvSpPr txBox="1"/>
          <p:nvPr/>
        </p:nvSpPr>
        <p:spPr>
          <a:xfrm>
            <a:off x="8737397" y="4690872"/>
            <a:ext cx="29056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Forecast trend</a:t>
            </a:r>
            <a:endParaRPr lang="en-US" sz="1400" dirty="0"/>
          </a:p>
        </p:txBody>
      </p:sp>
      <p:sp>
        <p:nvSpPr>
          <p:cNvPr id="53" name="Text 45"/>
          <p:cNvSpPr txBox="1"/>
          <p:nvPr/>
        </p:nvSpPr>
        <p:spPr>
          <a:xfrm>
            <a:off x="8737397" y="5010912"/>
            <a:ext cx="290565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Track the call against target week by week, with confidence bands.</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Features built around how revenue teams actually work</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All features are included in the Growth plan and above.</a:t>
            </a:r>
            <a:endParaRPr lang="en-US" sz="1150" dirty="0"/>
          </a:p>
        </p:txBody>
      </p:sp>
      <p:sp>
        <p:nvSpPr>
          <p:cNvPr id="6" name="Shape 4"/>
          <p:cNvSpPr/>
          <p:nvPr/>
        </p:nvSpPr>
        <p:spPr>
          <a:xfrm>
            <a:off x="548640" y="2011680"/>
            <a:ext cx="3545738" cy="0"/>
          </a:xfrm>
          <a:prstGeom prst="line">
            <a:avLst/>
          </a:prstGeom>
          <a:noFill/>
          <a:ln w="19050">
            <a:solidFill>
              <a:schemeClr val="tx1"/>
            </a:solidFill>
            <a:prstDash val="solid"/>
          </a:ln>
        </p:spPr>
      </p:sp>
      <p:pic>
        <p:nvPicPr>
          <p:cNvPr id="7" name="Icon PiSparkle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548640" y="2331720"/>
            <a:ext cx="384048" cy="384048"/>
          </a:xfrm>
          <a:prstGeom prst="rect">
            <a:avLst/>
          </a:prstGeom>
        </p:spPr>
      </p:pic>
      <p:sp>
        <p:nvSpPr>
          <p:cNvPr id="8" name="Text 5"/>
          <p:cNvSpPr txBox="1"/>
          <p:nvPr/>
        </p:nvSpPr>
        <p:spPr>
          <a:xfrm>
            <a:off x="548640" y="292608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AI deal scoring</a:t>
            </a:r>
            <a:endParaRPr lang="en-US" sz="1500" dirty="0"/>
          </a:p>
        </p:txBody>
      </p:sp>
      <p:sp>
        <p:nvSpPr>
          <p:cNvPr id="9" name="Text 6"/>
          <p:cNvSpPr txBox="1"/>
          <p:nvPr/>
        </p:nvSpPr>
        <p:spPr>
          <a:xfrm>
            <a:off x="548640" y="327355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Scores every opportunity daily using 300+ buying signals.</a:t>
            </a:r>
            <a:endParaRPr lang="en-US" sz="1100" dirty="0"/>
          </a:p>
        </p:txBody>
      </p:sp>
      <p:sp>
        <p:nvSpPr>
          <p:cNvPr id="10" name="Shape 7"/>
          <p:cNvSpPr/>
          <p:nvPr/>
        </p:nvSpPr>
        <p:spPr>
          <a:xfrm>
            <a:off x="3225698" y="2377440"/>
            <a:ext cx="640080" cy="274320"/>
          </a:xfrm>
          <a:prstGeom prst="roundRect">
            <a:avLst>
              <a:gd name="adj" fmla="val 50000"/>
            </a:avLst>
          </a:prstGeom>
          <a:solidFill>
            <a:schemeClr val="accent1"/>
          </a:solidFill>
          <a:ln/>
        </p:spPr>
      </p:sp>
      <p:sp>
        <p:nvSpPr>
          <p:cNvPr id="11" name="Text 8"/>
          <p:cNvSpPr txBox="1"/>
          <p:nvPr/>
        </p:nvSpPr>
        <p:spPr>
          <a:xfrm>
            <a:off x="3225698" y="2377440"/>
            <a:ext cx="6400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New</a:t>
            </a:r>
            <a:endParaRPr lang="en-US" sz="900" dirty="0"/>
          </a:p>
        </p:txBody>
      </p:sp>
      <p:sp>
        <p:nvSpPr>
          <p:cNvPr id="12" name="Shape 9"/>
          <p:cNvSpPr/>
          <p:nvPr/>
        </p:nvSpPr>
        <p:spPr>
          <a:xfrm>
            <a:off x="4322978" y="2011680"/>
            <a:ext cx="3545738" cy="0"/>
          </a:xfrm>
          <a:prstGeom prst="line">
            <a:avLst/>
          </a:prstGeom>
          <a:noFill/>
          <a:ln w="19050">
            <a:solidFill>
              <a:schemeClr val="tx1"/>
            </a:solidFill>
            <a:prstDash val="solid"/>
          </a:ln>
        </p:spPr>
      </p:sp>
      <p:pic>
        <p:nvPicPr>
          <p:cNvPr id="13" name="Icon PiEnvelopeSimple 0A1628"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4322978" y="2331720"/>
            <a:ext cx="384048" cy="384048"/>
          </a:xfrm>
          <a:prstGeom prst="rect">
            <a:avLst/>
          </a:prstGeom>
        </p:spPr>
      </p:pic>
      <p:sp>
        <p:nvSpPr>
          <p:cNvPr id="14" name="Text 10"/>
          <p:cNvSpPr txBox="1"/>
          <p:nvPr/>
        </p:nvSpPr>
        <p:spPr>
          <a:xfrm>
            <a:off x="4322978" y="292608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Automatic capture</a:t>
            </a:r>
            <a:endParaRPr lang="en-US" sz="1500" dirty="0"/>
          </a:p>
        </p:txBody>
      </p:sp>
      <p:sp>
        <p:nvSpPr>
          <p:cNvPr id="15" name="Text 11"/>
          <p:cNvSpPr txBox="1"/>
          <p:nvPr/>
        </p:nvSpPr>
        <p:spPr>
          <a:xfrm>
            <a:off x="4322978" y="327355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Syncs email, calendar and calls without browser plug-ins.</a:t>
            </a:r>
            <a:endParaRPr lang="en-US" sz="1100" dirty="0"/>
          </a:p>
        </p:txBody>
      </p:sp>
      <p:sp>
        <p:nvSpPr>
          <p:cNvPr id="16" name="Shape 12"/>
          <p:cNvSpPr/>
          <p:nvPr/>
        </p:nvSpPr>
        <p:spPr>
          <a:xfrm>
            <a:off x="8097317" y="2011680"/>
            <a:ext cx="3545738" cy="0"/>
          </a:xfrm>
          <a:prstGeom prst="line">
            <a:avLst/>
          </a:prstGeom>
          <a:noFill/>
          <a:ln w="19050">
            <a:solidFill>
              <a:schemeClr val="tx1"/>
            </a:solidFill>
            <a:prstDash val="solid"/>
          </a:ln>
        </p:spPr>
      </p:sp>
      <p:pic>
        <p:nvPicPr>
          <p:cNvPr id="17" name="Icon PiPresentationChart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8097317" y="2331720"/>
            <a:ext cx="384048" cy="384048"/>
          </a:xfrm>
          <a:prstGeom prst="rect">
            <a:avLst/>
          </a:prstGeom>
        </p:spPr>
      </p:pic>
      <p:sp>
        <p:nvSpPr>
          <p:cNvPr id="18" name="Text 13"/>
          <p:cNvSpPr txBox="1"/>
          <p:nvPr/>
        </p:nvSpPr>
        <p:spPr>
          <a:xfrm>
            <a:off x="8097317" y="292608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Forecast roll-ups</a:t>
            </a:r>
            <a:endParaRPr lang="en-US" sz="1500" dirty="0"/>
          </a:p>
        </p:txBody>
      </p:sp>
      <p:sp>
        <p:nvSpPr>
          <p:cNvPr id="19" name="Text 14"/>
          <p:cNvSpPr txBox="1"/>
          <p:nvPr/>
        </p:nvSpPr>
        <p:spPr>
          <a:xfrm>
            <a:off x="8097317" y="327355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Rep, manager and board views that reconcile automatically.</a:t>
            </a:r>
            <a:endParaRPr lang="en-US" sz="1100" dirty="0"/>
          </a:p>
        </p:txBody>
      </p:sp>
      <p:sp>
        <p:nvSpPr>
          <p:cNvPr id="20" name="Shape 15"/>
          <p:cNvSpPr/>
          <p:nvPr/>
        </p:nvSpPr>
        <p:spPr>
          <a:xfrm>
            <a:off x="548640" y="4023360"/>
            <a:ext cx="3545738" cy="0"/>
          </a:xfrm>
          <a:prstGeom prst="line">
            <a:avLst/>
          </a:prstGeom>
          <a:noFill/>
          <a:ln w="9525">
            <a:solidFill>
              <a:schemeClr val="accent4"/>
            </a:solidFill>
            <a:prstDash val="solid"/>
          </a:ln>
        </p:spPr>
      </p:sp>
      <p:pic>
        <p:nvPicPr>
          <p:cNvPr id="21" name="Icon PiChatCircle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548640" y="4343400"/>
            <a:ext cx="384048" cy="384048"/>
          </a:xfrm>
          <a:prstGeom prst="rect">
            <a:avLst/>
          </a:prstGeom>
        </p:spPr>
      </p:pic>
      <p:sp>
        <p:nvSpPr>
          <p:cNvPr id="22" name="Text 16"/>
          <p:cNvSpPr txBox="1"/>
          <p:nvPr/>
        </p:nvSpPr>
        <p:spPr>
          <a:xfrm>
            <a:off x="548640" y="493776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Guided coaching</a:t>
            </a:r>
            <a:endParaRPr lang="en-US" sz="1500" dirty="0"/>
          </a:p>
        </p:txBody>
      </p:sp>
      <p:sp>
        <p:nvSpPr>
          <p:cNvPr id="23" name="Text 17"/>
          <p:cNvSpPr txBox="1"/>
          <p:nvPr/>
        </p:nvSpPr>
        <p:spPr>
          <a:xfrm>
            <a:off x="548640" y="528523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Talk-track insights from the conversations that win.</a:t>
            </a:r>
            <a:endParaRPr lang="en-US" sz="1100" dirty="0"/>
          </a:p>
        </p:txBody>
      </p:sp>
      <p:sp>
        <p:nvSpPr>
          <p:cNvPr id="24" name="Shape 18"/>
          <p:cNvSpPr/>
          <p:nvPr/>
        </p:nvSpPr>
        <p:spPr>
          <a:xfrm>
            <a:off x="4322978" y="4023360"/>
            <a:ext cx="3545738" cy="0"/>
          </a:xfrm>
          <a:prstGeom prst="line">
            <a:avLst/>
          </a:prstGeom>
          <a:noFill/>
          <a:ln w="9525">
            <a:solidFill>
              <a:schemeClr val="accent4"/>
            </a:solidFill>
            <a:prstDash val="solid"/>
          </a:ln>
        </p:spPr>
      </p:sp>
      <p:pic>
        <p:nvPicPr>
          <p:cNvPr id="25" name="Icon PiLockKey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4322978" y="4343400"/>
            <a:ext cx="384048" cy="384048"/>
          </a:xfrm>
          <a:prstGeom prst="rect">
            <a:avLst/>
          </a:prstGeom>
        </p:spPr>
      </p:pic>
      <p:sp>
        <p:nvSpPr>
          <p:cNvPr id="26" name="Text 19"/>
          <p:cNvSpPr txBox="1"/>
          <p:nvPr/>
        </p:nvSpPr>
        <p:spPr>
          <a:xfrm>
            <a:off x="4322978" y="493776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Enterprise security</a:t>
            </a:r>
            <a:endParaRPr lang="en-US" sz="1500" dirty="0"/>
          </a:p>
        </p:txBody>
      </p:sp>
      <p:sp>
        <p:nvSpPr>
          <p:cNvPr id="27" name="Text 20"/>
          <p:cNvSpPr txBox="1"/>
          <p:nvPr/>
        </p:nvSpPr>
        <p:spPr>
          <a:xfrm>
            <a:off x="4322978" y="528523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SSO, SCIM, role-based access and full audit trail.</a:t>
            </a:r>
            <a:endParaRPr lang="en-US" sz="1100" dirty="0"/>
          </a:p>
        </p:txBody>
      </p:sp>
      <p:sp>
        <p:nvSpPr>
          <p:cNvPr id="28" name="Shape 21"/>
          <p:cNvSpPr/>
          <p:nvPr/>
        </p:nvSpPr>
        <p:spPr>
          <a:xfrm>
            <a:off x="8097317" y="4023360"/>
            <a:ext cx="3545738" cy="0"/>
          </a:xfrm>
          <a:prstGeom prst="line">
            <a:avLst/>
          </a:prstGeom>
          <a:noFill/>
          <a:ln w="9525">
            <a:solidFill>
              <a:schemeClr val="accent4"/>
            </a:solidFill>
            <a:prstDash val="solid"/>
          </a:ln>
        </p:spPr>
      </p:sp>
      <p:pic>
        <p:nvPicPr>
          <p:cNvPr id="29" name="Icon PiPlugs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097317" y="4343400"/>
            <a:ext cx="384048" cy="384048"/>
          </a:xfrm>
          <a:prstGeom prst="rect">
            <a:avLst/>
          </a:prstGeom>
        </p:spPr>
      </p:pic>
      <p:sp>
        <p:nvSpPr>
          <p:cNvPr id="30" name="Text 22"/>
          <p:cNvSpPr txBox="1"/>
          <p:nvPr/>
        </p:nvSpPr>
        <p:spPr>
          <a:xfrm>
            <a:off x="8097317" y="493776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140+ integrations</a:t>
            </a:r>
            <a:endParaRPr lang="en-US" sz="1500" dirty="0"/>
          </a:p>
        </p:txBody>
      </p:sp>
      <p:sp>
        <p:nvSpPr>
          <p:cNvPr id="31" name="Text 23"/>
          <p:cNvSpPr txBox="1"/>
          <p:nvPr/>
        </p:nvSpPr>
        <p:spPr>
          <a:xfrm>
            <a:off x="8097317" y="528523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Salesforce, HubSpot, Slack, Snowflake and more.</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layered architecture that scales with the customer</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Every layer is API-first; customers can plug in at any level.</a:t>
            </a:r>
            <a:endParaRPr lang="en-US" sz="1150" dirty="0"/>
          </a:p>
        </p:txBody>
      </p:sp>
      <p:sp>
        <p:nvSpPr>
          <p:cNvPr id="6" name="Shape 4"/>
          <p:cNvSpPr/>
          <p:nvPr/>
        </p:nvSpPr>
        <p:spPr>
          <a:xfrm>
            <a:off x="548640" y="1920240"/>
            <a:ext cx="9207246" cy="914400"/>
          </a:xfrm>
          <a:prstGeom prst="roundRect">
            <a:avLst>
              <a:gd name="adj" fmla="val 10000"/>
            </a:avLst>
          </a:prstGeom>
          <a:solidFill>
            <a:schemeClr val="bg2"/>
          </a:solidFill>
          <a:ln/>
        </p:spPr>
      </p:sp>
      <p:sp>
        <p:nvSpPr>
          <p:cNvPr id="7" name="Text 5"/>
          <p:cNvSpPr txBox="1"/>
          <p:nvPr/>
        </p:nvSpPr>
        <p:spPr>
          <a:xfrm>
            <a:off x="822960" y="2121408"/>
            <a:ext cx="201168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Experience</a:t>
            </a:r>
            <a:endParaRPr lang="en-US" sz="1400" dirty="0"/>
          </a:p>
        </p:txBody>
      </p:sp>
      <p:sp>
        <p:nvSpPr>
          <p:cNvPr id="8" name="Text 6"/>
          <p:cNvSpPr txBox="1"/>
          <p:nvPr/>
        </p:nvSpPr>
        <p:spPr>
          <a:xfrm>
            <a:off x="822960" y="2404872"/>
            <a:ext cx="201168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Where users work</a:t>
            </a:r>
            <a:endParaRPr lang="en-US" sz="950" dirty="0"/>
          </a:p>
        </p:txBody>
      </p:sp>
      <p:sp>
        <p:nvSpPr>
          <p:cNvPr id="9" name="Shape 7"/>
          <p:cNvSpPr/>
          <p:nvPr/>
        </p:nvSpPr>
        <p:spPr>
          <a:xfrm>
            <a:off x="3017520" y="2103120"/>
            <a:ext cx="1524572" cy="548640"/>
          </a:xfrm>
          <a:prstGeom prst="roundRect">
            <a:avLst>
              <a:gd name="adj" fmla="val 10000"/>
            </a:avLst>
          </a:prstGeom>
          <a:solidFill>
            <a:schemeClr val="bg1"/>
          </a:solidFill>
          <a:ln w="9525">
            <a:solidFill>
              <a:schemeClr val="accent4"/>
            </a:solidFill>
            <a:prstDash val="solid"/>
          </a:ln>
        </p:spPr>
      </p:sp>
      <p:sp>
        <p:nvSpPr>
          <p:cNvPr id="10" name="Text 8"/>
          <p:cNvSpPr txBox="1"/>
          <p:nvPr/>
        </p:nvSpPr>
        <p:spPr>
          <a:xfrm>
            <a:off x="3017520"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Web app</a:t>
            </a:r>
            <a:endParaRPr lang="en-US" sz="1050" dirty="0"/>
          </a:p>
        </p:txBody>
      </p:sp>
      <p:sp>
        <p:nvSpPr>
          <p:cNvPr id="11" name="Shape 9"/>
          <p:cNvSpPr/>
          <p:nvPr/>
        </p:nvSpPr>
        <p:spPr>
          <a:xfrm>
            <a:off x="4679252" y="2103120"/>
            <a:ext cx="1524572" cy="548640"/>
          </a:xfrm>
          <a:prstGeom prst="roundRect">
            <a:avLst>
              <a:gd name="adj" fmla="val 10000"/>
            </a:avLst>
          </a:prstGeom>
          <a:solidFill>
            <a:schemeClr val="bg1"/>
          </a:solidFill>
          <a:ln w="9525">
            <a:solidFill>
              <a:schemeClr val="accent4"/>
            </a:solidFill>
            <a:prstDash val="solid"/>
          </a:ln>
        </p:spPr>
      </p:sp>
      <p:sp>
        <p:nvSpPr>
          <p:cNvPr id="12" name="Text 10"/>
          <p:cNvSpPr txBox="1"/>
          <p:nvPr/>
        </p:nvSpPr>
        <p:spPr>
          <a:xfrm>
            <a:off x="4679252"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Mobile</a:t>
            </a:r>
            <a:endParaRPr lang="en-US" sz="1050" dirty="0"/>
          </a:p>
        </p:txBody>
      </p:sp>
      <p:sp>
        <p:nvSpPr>
          <p:cNvPr id="13" name="Shape 11"/>
          <p:cNvSpPr/>
          <p:nvPr/>
        </p:nvSpPr>
        <p:spPr>
          <a:xfrm>
            <a:off x="6340983" y="2103120"/>
            <a:ext cx="1524572" cy="548640"/>
          </a:xfrm>
          <a:prstGeom prst="roundRect">
            <a:avLst>
              <a:gd name="adj" fmla="val 10000"/>
            </a:avLst>
          </a:prstGeom>
          <a:solidFill>
            <a:schemeClr val="bg1"/>
          </a:solidFill>
          <a:ln w="9525">
            <a:solidFill>
              <a:schemeClr val="accent4"/>
            </a:solidFill>
            <a:prstDash val="solid"/>
          </a:ln>
        </p:spPr>
      </p:sp>
      <p:sp>
        <p:nvSpPr>
          <p:cNvPr id="14" name="Text 12"/>
          <p:cNvSpPr txBox="1"/>
          <p:nvPr/>
        </p:nvSpPr>
        <p:spPr>
          <a:xfrm>
            <a:off x="6340983"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Slack &amp; Teams</a:t>
            </a:r>
            <a:endParaRPr lang="en-US" sz="1050" dirty="0"/>
          </a:p>
        </p:txBody>
      </p:sp>
      <p:sp>
        <p:nvSpPr>
          <p:cNvPr id="15" name="Shape 13"/>
          <p:cNvSpPr/>
          <p:nvPr/>
        </p:nvSpPr>
        <p:spPr>
          <a:xfrm>
            <a:off x="8002715" y="2103120"/>
            <a:ext cx="1524572" cy="548640"/>
          </a:xfrm>
          <a:prstGeom prst="roundRect">
            <a:avLst>
              <a:gd name="adj" fmla="val 10000"/>
            </a:avLst>
          </a:prstGeom>
          <a:solidFill>
            <a:schemeClr val="bg1"/>
          </a:solidFill>
          <a:ln w="9525">
            <a:solidFill>
              <a:schemeClr val="accent4"/>
            </a:solidFill>
            <a:prstDash val="solid"/>
          </a:ln>
        </p:spPr>
      </p:sp>
      <p:sp>
        <p:nvSpPr>
          <p:cNvPr id="16" name="Text 14"/>
          <p:cNvSpPr txBox="1"/>
          <p:nvPr/>
        </p:nvSpPr>
        <p:spPr>
          <a:xfrm>
            <a:off x="8002715"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Browser sidebar</a:t>
            </a:r>
            <a:endParaRPr lang="en-US" sz="1050" dirty="0"/>
          </a:p>
        </p:txBody>
      </p:sp>
      <p:sp>
        <p:nvSpPr>
          <p:cNvPr id="17" name="Shape 15"/>
          <p:cNvSpPr/>
          <p:nvPr/>
        </p:nvSpPr>
        <p:spPr>
          <a:xfrm>
            <a:off x="548640" y="2971800"/>
            <a:ext cx="9207246" cy="914400"/>
          </a:xfrm>
          <a:prstGeom prst="roundRect">
            <a:avLst>
              <a:gd name="adj" fmla="val 10000"/>
            </a:avLst>
          </a:prstGeom>
          <a:solidFill>
            <a:schemeClr val="tx1"/>
          </a:solidFill>
          <a:ln/>
        </p:spPr>
      </p:sp>
      <p:sp>
        <p:nvSpPr>
          <p:cNvPr id="18" name="Text 16"/>
          <p:cNvSpPr txBox="1"/>
          <p:nvPr/>
        </p:nvSpPr>
        <p:spPr>
          <a:xfrm>
            <a:off x="822960" y="3172968"/>
            <a:ext cx="2011680"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Intelligence</a:t>
            </a:r>
            <a:endParaRPr lang="en-US" sz="1400" dirty="0"/>
          </a:p>
        </p:txBody>
      </p:sp>
      <p:sp>
        <p:nvSpPr>
          <p:cNvPr id="19" name="Text 17"/>
          <p:cNvSpPr txBox="1"/>
          <p:nvPr/>
        </p:nvSpPr>
        <p:spPr>
          <a:xfrm>
            <a:off x="822960" y="3456432"/>
            <a:ext cx="2011680" cy="22860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Where decisions are made</a:t>
            </a:r>
            <a:endParaRPr lang="en-US" sz="950" dirty="0"/>
          </a:p>
        </p:txBody>
      </p:sp>
      <p:sp>
        <p:nvSpPr>
          <p:cNvPr id="20" name="Shape 18"/>
          <p:cNvSpPr/>
          <p:nvPr/>
        </p:nvSpPr>
        <p:spPr>
          <a:xfrm>
            <a:off x="3017520" y="3154680"/>
            <a:ext cx="1524572" cy="548640"/>
          </a:xfrm>
          <a:prstGeom prst="roundRect">
            <a:avLst>
              <a:gd name="adj" fmla="val 10000"/>
            </a:avLst>
          </a:prstGeom>
          <a:solidFill>
            <a:schemeClr val="accent1"/>
          </a:solidFill>
          <a:ln/>
        </p:spPr>
      </p:sp>
      <p:sp>
        <p:nvSpPr>
          <p:cNvPr id="21" name="Text 19"/>
          <p:cNvSpPr txBox="1"/>
          <p:nvPr/>
        </p:nvSpPr>
        <p:spPr>
          <a:xfrm>
            <a:off x="3017520"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Deal scoring</a:t>
            </a:r>
            <a:endParaRPr lang="en-US" sz="1050" dirty="0"/>
          </a:p>
        </p:txBody>
      </p:sp>
      <p:sp>
        <p:nvSpPr>
          <p:cNvPr id="22" name="Shape 20"/>
          <p:cNvSpPr/>
          <p:nvPr/>
        </p:nvSpPr>
        <p:spPr>
          <a:xfrm>
            <a:off x="4679252" y="3154680"/>
            <a:ext cx="1524572" cy="548640"/>
          </a:xfrm>
          <a:prstGeom prst="roundRect">
            <a:avLst>
              <a:gd name="adj" fmla="val 10000"/>
            </a:avLst>
          </a:prstGeom>
          <a:solidFill>
            <a:schemeClr val="accent1"/>
          </a:solidFill>
          <a:ln/>
        </p:spPr>
      </p:sp>
      <p:sp>
        <p:nvSpPr>
          <p:cNvPr id="23" name="Text 21"/>
          <p:cNvSpPr txBox="1"/>
          <p:nvPr/>
        </p:nvSpPr>
        <p:spPr>
          <a:xfrm>
            <a:off x="4679252"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Forecast engine</a:t>
            </a:r>
            <a:endParaRPr lang="en-US" sz="1050" dirty="0"/>
          </a:p>
        </p:txBody>
      </p:sp>
      <p:sp>
        <p:nvSpPr>
          <p:cNvPr id="24" name="Shape 22"/>
          <p:cNvSpPr/>
          <p:nvPr/>
        </p:nvSpPr>
        <p:spPr>
          <a:xfrm>
            <a:off x="6340983" y="3154680"/>
            <a:ext cx="1524572" cy="548640"/>
          </a:xfrm>
          <a:prstGeom prst="roundRect">
            <a:avLst>
              <a:gd name="adj" fmla="val 10000"/>
            </a:avLst>
          </a:prstGeom>
          <a:solidFill>
            <a:schemeClr val="accent1"/>
          </a:solidFill>
          <a:ln/>
        </p:spPr>
      </p:sp>
      <p:sp>
        <p:nvSpPr>
          <p:cNvPr id="25" name="Text 23"/>
          <p:cNvSpPr txBox="1"/>
          <p:nvPr/>
        </p:nvSpPr>
        <p:spPr>
          <a:xfrm>
            <a:off x="6340983"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Next best action</a:t>
            </a:r>
            <a:endParaRPr lang="en-US" sz="1050" dirty="0"/>
          </a:p>
        </p:txBody>
      </p:sp>
      <p:sp>
        <p:nvSpPr>
          <p:cNvPr id="26" name="Shape 24"/>
          <p:cNvSpPr/>
          <p:nvPr/>
        </p:nvSpPr>
        <p:spPr>
          <a:xfrm>
            <a:off x="8002715" y="3154680"/>
            <a:ext cx="1524572" cy="548640"/>
          </a:xfrm>
          <a:prstGeom prst="roundRect">
            <a:avLst>
              <a:gd name="adj" fmla="val 10000"/>
            </a:avLst>
          </a:prstGeom>
          <a:solidFill>
            <a:schemeClr val="accent1"/>
          </a:solidFill>
          <a:ln/>
        </p:spPr>
      </p:sp>
      <p:sp>
        <p:nvSpPr>
          <p:cNvPr id="27" name="Text 25"/>
          <p:cNvSpPr txBox="1"/>
          <p:nvPr/>
        </p:nvSpPr>
        <p:spPr>
          <a:xfrm>
            <a:off x="8002715"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Anomaly alerts</a:t>
            </a:r>
            <a:endParaRPr lang="en-US" sz="1050" dirty="0"/>
          </a:p>
        </p:txBody>
      </p:sp>
      <p:sp>
        <p:nvSpPr>
          <p:cNvPr id="28" name="Shape 26"/>
          <p:cNvSpPr/>
          <p:nvPr/>
        </p:nvSpPr>
        <p:spPr>
          <a:xfrm>
            <a:off x="548640" y="4023360"/>
            <a:ext cx="9207246" cy="914400"/>
          </a:xfrm>
          <a:prstGeom prst="roundRect">
            <a:avLst>
              <a:gd name="adj" fmla="val 10000"/>
            </a:avLst>
          </a:prstGeom>
          <a:solidFill>
            <a:schemeClr val="bg2"/>
          </a:solidFill>
          <a:ln/>
        </p:spPr>
      </p:sp>
      <p:sp>
        <p:nvSpPr>
          <p:cNvPr id="29" name="Text 27"/>
          <p:cNvSpPr txBox="1"/>
          <p:nvPr/>
        </p:nvSpPr>
        <p:spPr>
          <a:xfrm>
            <a:off x="822960" y="4224528"/>
            <a:ext cx="201168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Data</a:t>
            </a:r>
            <a:endParaRPr lang="en-US" sz="1400" dirty="0"/>
          </a:p>
        </p:txBody>
      </p:sp>
      <p:sp>
        <p:nvSpPr>
          <p:cNvPr id="30" name="Text 28"/>
          <p:cNvSpPr txBox="1"/>
          <p:nvPr/>
        </p:nvSpPr>
        <p:spPr>
          <a:xfrm>
            <a:off x="822960" y="4507992"/>
            <a:ext cx="201168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Where signals are unified</a:t>
            </a:r>
            <a:endParaRPr lang="en-US" sz="950" dirty="0"/>
          </a:p>
        </p:txBody>
      </p:sp>
      <p:sp>
        <p:nvSpPr>
          <p:cNvPr id="31" name="Shape 29"/>
          <p:cNvSpPr/>
          <p:nvPr/>
        </p:nvSpPr>
        <p:spPr>
          <a:xfrm>
            <a:off x="3017520" y="4206240"/>
            <a:ext cx="1524572" cy="548640"/>
          </a:xfrm>
          <a:prstGeom prst="roundRect">
            <a:avLst>
              <a:gd name="adj" fmla="val 10000"/>
            </a:avLst>
          </a:prstGeom>
          <a:solidFill>
            <a:schemeClr val="bg1"/>
          </a:solidFill>
          <a:ln w="9525">
            <a:solidFill>
              <a:schemeClr val="accent4"/>
            </a:solidFill>
            <a:prstDash val="solid"/>
          </a:ln>
        </p:spPr>
      </p:sp>
      <p:sp>
        <p:nvSpPr>
          <p:cNvPr id="32" name="Text 30"/>
          <p:cNvSpPr txBox="1"/>
          <p:nvPr/>
        </p:nvSpPr>
        <p:spPr>
          <a:xfrm>
            <a:off x="3017520"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Activity graph</a:t>
            </a:r>
            <a:endParaRPr lang="en-US" sz="1050" dirty="0"/>
          </a:p>
        </p:txBody>
      </p:sp>
      <p:sp>
        <p:nvSpPr>
          <p:cNvPr id="33" name="Shape 31"/>
          <p:cNvSpPr/>
          <p:nvPr/>
        </p:nvSpPr>
        <p:spPr>
          <a:xfrm>
            <a:off x="4679252" y="4206240"/>
            <a:ext cx="1524572" cy="548640"/>
          </a:xfrm>
          <a:prstGeom prst="roundRect">
            <a:avLst>
              <a:gd name="adj" fmla="val 10000"/>
            </a:avLst>
          </a:prstGeom>
          <a:solidFill>
            <a:schemeClr val="bg1"/>
          </a:solidFill>
          <a:ln w="9525">
            <a:solidFill>
              <a:schemeClr val="accent4"/>
            </a:solidFill>
            <a:prstDash val="solid"/>
          </a:ln>
        </p:spPr>
      </p:sp>
      <p:sp>
        <p:nvSpPr>
          <p:cNvPr id="34" name="Text 32"/>
          <p:cNvSpPr txBox="1"/>
          <p:nvPr/>
        </p:nvSpPr>
        <p:spPr>
          <a:xfrm>
            <a:off x="4679252"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CRM sync</a:t>
            </a:r>
            <a:endParaRPr lang="en-US" sz="1050" dirty="0"/>
          </a:p>
        </p:txBody>
      </p:sp>
      <p:sp>
        <p:nvSpPr>
          <p:cNvPr id="35" name="Shape 33"/>
          <p:cNvSpPr/>
          <p:nvPr/>
        </p:nvSpPr>
        <p:spPr>
          <a:xfrm>
            <a:off x="6340983" y="4206240"/>
            <a:ext cx="1524572" cy="548640"/>
          </a:xfrm>
          <a:prstGeom prst="roundRect">
            <a:avLst>
              <a:gd name="adj" fmla="val 10000"/>
            </a:avLst>
          </a:prstGeom>
          <a:solidFill>
            <a:schemeClr val="bg1"/>
          </a:solidFill>
          <a:ln w="9525">
            <a:solidFill>
              <a:schemeClr val="accent4"/>
            </a:solidFill>
            <a:prstDash val="solid"/>
          </a:ln>
        </p:spPr>
      </p:sp>
      <p:sp>
        <p:nvSpPr>
          <p:cNvPr id="36" name="Text 34"/>
          <p:cNvSpPr txBox="1"/>
          <p:nvPr/>
        </p:nvSpPr>
        <p:spPr>
          <a:xfrm>
            <a:off x="6340983"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Warehouse sync</a:t>
            </a:r>
            <a:endParaRPr lang="en-US" sz="1050" dirty="0"/>
          </a:p>
        </p:txBody>
      </p:sp>
      <p:sp>
        <p:nvSpPr>
          <p:cNvPr id="37" name="Shape 35"/>
          <p:cNvSpPr/>
          <p:nvPr/>
        </p:nvSpPr>
        <p:spPr>
          <a:xfrm>
            <a:off x="8002715" y="4206240"/>
            <a:ext cx="1524572" cy="548640"/>
          </a:xfrm>
          <a:prstGeom prst="roundRect">
            <a:avLst>
              <a:gd name="adj" fmla="val 10000"/>
            </a:avLst>
          </a:prstGeom>
          <a:solidFill>
            <a:schemeClr val="bg1"/>
          </a:solidFill>
          <a:ln w="9525">
            <a:solidFill>
              <a:schemeClr val="accent4"/>
            </a:solidFill>
            <a:prstDash val="solid"/>
          </a:ln>
        </p:spPr>
      </p:sp>
      <p:sp>
        <p:nvSpPr>
          <p:cNvPr id="38" name="Text 36"/>
          <p:cNvSpPr txBox="1"/>
          <p:nvPr/>
        </p:nvSpPr>
        <p:spPr>
          <a:xfrm>
            <a:off x="8002715"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Identity resolution</a:t>
            </a:r>
            <a:endParaRPr lang="en-US" sz="1050" dirty="0"/>
          </a:p>
        </p:txBody>
      </p:sp>
      <p:sp>
        <p:nvSpPr>
          <p:cNvPr id="39" name="Shape 37"/>
          <p:cNvSpPr/>
          <p:nvPr/>
        </p:nvSpPr>
        <p:spPr>
          <a:xfrm>
            <a:off x="548640" y="5074920"/>
            <a:ext cx="9207246" cy="914400"/>
          </a:xfrm>
          <a:prstGeom prst="roundRect">
            <a:avLst>
              <a:gd name="adj" fmla="val 10000"/>
            </a:avLst>
          </a:prstGeom>
          <a:solidFill>
            <a:schemeClr val="bg2"/>
          </a:solidFill>
          <a:ln/>
        </p:spPr>
      </p:sp>
      <p:sp>
        <p:nvSpPr>
          <p:cNvPr id="40" name="Text 38"/>
          <p:cNvSpPr txBox="1"/>
          <p:nvPr/>
        </p:nvSpPr>
        <p:spPr>
          <a:xfrm>
            <a:off x="822960" y="5276088"/>
            <a:ext cx="201168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Infrastructure</a:t>
            </a:r>
            <a:endParaRPr lang="en-US" sz="1400" dirty="0"/>
          </a:p>
        </p:txBody>
      </p:sp>
      <p:sp>
        <p:nvSpPr>
          <p:cNvPr id="41" name="Text 39"/>
          <p:cNvSpPr txBox="1"/>
          <p:nvPr/>
        </p:nvSpPr>
        <p:spPr>
          <a:xfrm>
            <a:off x="822960" y="5559552"/>
            <a:ext cx="201168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Where it runs</a:t>
            </a:r>
            <a:endParaRPr lang="en-US" sz="950" dirty="0"/>
          </a:p>
        </p:txBody>
      </p:sp>
      <p:sp>
        <p:nvSpPr>
          <p:cNvPr id="42" name="Shape 40"/>
          <p:cNvSpPr/>
          <p:nvPr/>
        </p:nvSpPr>
        <p:spPr>
          <a:xfrm>
            <a:off x="3017520" y="5257800"/>
            <a:ext cx="1524572" cy="548640"/>
          </a:xfrm>
          <a:prstGeom prst="roundRect">
            <a:avLst>
              <a:gd name="adj" fmla="val 10000"/>
            </a:avLst>
          </a:prstGeom>
          <a:solidFill>
            <a:schemeClr val="bg1"/>
          </a:solidFill>
          <a:ln w="9525">
            <a:solidFill>
              <a:schemeClr val="accent4"/>
            </a:solidFill>
            <a:prstDash val="solid"/>
          </a:ln>
        </p:spPr>
      </p:sp>
      <p:sp>
        <p:nvSpPr>
          <p:cNvPr id="43" name="Text 41"/>
          <p:cNvSpPr txBox="1"/>
          <p:nvPr/>
        </p:nvSpPr>
        <p:spPr>
          <a:xfrm>
            <a:off x="3017520"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Multi-region cloud</a:t>
            </a:r>
            <a:endParaRPr lang="en-US" sz="1050" dirty="0"/>
          </a:p>
        </p:txBody>
      </p:sp>
      <p:sp>
        <p:nvSpPr>
          <p:cNvPr id="44" name="Shape 42"/>
          <p:cNvSpPr/>
          <p:nvPr/>
        </p:nvSpPr>
        <p:spPr>
          <a:xfrm>
            <a:off x="4679252" y="5257800"/>
            <a:ext cx="1524572" cy="548640"/>
          </a:xfrm>
          <a:prstGeom prst="roundRect">
            <a:avLst>
              <a:gd name="adj" fmla="val 10000"/>
            </a:avLst>
          </a:prstGeom>
          <a:solidFill>
            <a:schemeClr val="bg1"/>
          </a:solidFill>
          <a:ln w="9525">
            <a:solidFill>
              <a:schemeClr val="accent4"/>
            </a:solidFill>
            <a:prstDash val="solid"/>
          </a:ln>
        </p:spPr>
      </p:sp>
      <p:sp>
        <p:nvSpPr>
          <p:cNvPr id="45" name="Text 43"/>
          <p:cNvSpPr txBox="1"/>
          <p:nvPr/>
        </p:nvSpPr>
        <p:spPr>
          <a:xfrm>
            <a:off x="4679252"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Encryption</a:t>
            </a:r>
            <a:endParaRPr lang="en-US" sz="1050" dirty="0"/>
          </a:p>
        </p:txBody>
      </p:sp>
      <p:sp>
        <p:nvSpPr>
          <p:cNvPr id="46" name="Shape 44"/>
          <p:cNvSpPr/>
          <p:nvPr/>
        </p:nvSpPr>
        <p:spPr>
          <a:xfrm>
            <a:off x="6340983" y="5257800"/>
            <a:ext cx="1524572" cy="548640"/>
          </a:xfrm>
          <a:prstGeom prst="roundRect">
            <a:avLst>
              <a:gd name="adj" fmla="val 10000"/>
            </a:avLst>
          </a:prstGeom>
          <a:solidFill>
            <a:schemeClr val="bg1"/>
          </a:solidFill>
          <a:ln w="9525">
            <a:solidFill>
              <a:schemeClr val="accent4"/>
            </a:solidFill>
            <a:prstDash val="solid"/>
          </a:ln>
        </p:spPr>
      </p:sp>
      <p:sp>
        <p:nvSpPr>
          <p:cNvPr id="47" name="Text 45"/>
          <p:cNvSpPr txBox="1"/>
          <p:nvPr/>
        </p:nvSpPr>
        <p:spPr>
          <a:xfrm>
            <a:off x="6340983"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Observability</a:t>
            </a:r>
            <a:endParaRPr lang="en-US" sz="1050" dirty="0"/>
          </a:p>
        </p:txBody>
      </p:sp>
      <p:sp>
        <p:nvSpPr>
          <p:cNvPr id="48" name="Shape 46"/>
          <p:cNvSpPr/>
          <p:nvPr/>
        </p:nvSpPr>
        <p:spPr>
          <a:xfrm>
            <a:off x="8002715" y="5257800"/>
            <a:ext cx="1524572" cy="548640"/>
          </a:xfrm>
          <a:prstGeom prst="roundRect">
            <a:avLst>
              <a:gd name="adj" fmla="val 10000"/>
            </a:avLst>
          </a:prstGeom>
          <a:solidFill>
            <a:schemeClr val="bg1"/>
          </a:solidFill>
          <a:ln w="9525">
            <a:solidFill>
              <a:schemeClr val="accent4"/>
            </a:solidFill>
            <a:prstDash val="solid"/>
          </a:ln>
        </p:spPr>
      </p:sp>
      <p:sp>
        <p:nvSpPr>
          <p:cNvPr id="49" name="Text 47"/>
          <p:cNvSpPr txBox="1"/>
          <p:nvPr/>
        </p:nvSpPr>
        <p:spPr>
          <a:xfrm>
            <a:off x="8002715"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99.95% SLA</a:t>
            </a:r>
            <a:endParaRPr lang="en-US" sz="1050" dirty="0"/>
          </a:p>
        </p:txBody>
      </p:sp>
      <p:sp>
        <p:nvSpPr>
          <p:cNvPr id="50" name="Shape 48"/>
          <p:cNvSpPr/>
          <p:nvPr/>
        </p:nvSpPr>
        <p:spPr>
          <a:xfrm>
            <a:off x="10030206" y="1920240"/>
            <a:ext cx="1612849" cy="4069080"/>
          </a:xfrm>
          <a:prstGeom prst="roundRect">
            <a:avLst>
              <a:gd name="adj" fmla="val 5669"/>
            </a:avLst>
          </a:prstGeom>
          <a:solidFill>
            <a:schemeClr val="bg1"/>
          </a:solidFill>
          <a:ln w="9525">
            <a:solidFill>
              <a:schemeClr val="tx1"/>
            </a:solidFill>
            <a:prstDash val="solid"/>
          </a:ln>
        </p:spPr>
      </p:sp>
      <p:pic>
        <p:nvPicPr>
          <p:cNvPr id="51" name="Icon PiShieldCheck 0A1628"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0608031" y="2286000"/>
            <a:ext cx="457200" cy="457200"/>
          </a:xfrm>
          <a:prstGeom prst="rect">
            <a:avLst/>
          </a:prstGeom>
        </p:spPr>
      </p:pic>
      <p:sp>
        <p:nvSpPr>
          <p:cNvPr id="52" name="Text 49"/>
          <p:cNvSpPr txBox="1"/>
          <p:nvPr/>
        </p:nvSpPr>
        <p:spPr>
          <a:xfrm>
            <a:off x="10167366" y="2926080"/>
            <a:ext cx="1338529" cy="548640"/>
          </a:xfrm>
          <a:prstGeom prst="rect">
            <a:avLst/>
          </a:prstGeom>
          <a:noFill/>
          <a:ln/>
        </p:spPr>
        <p:txBody>
          <a:bodyPr wrap="square" lIns="0" tIns="0" rIns="0" bIns="0" rtlCol="0" anchor="t"/>
          <a:lstStyle/>
          <a:p>
            <a:pPr algn="ctr" indent="0" marL="0">
              <a:buNone/>
            </a:pPr>
            <a:r>
              <a:rPr lang="en-US" sz="1300" b="1" dirty="0">
                <a:solidFill>
                  <a:schemeClr val="tx1"/>
                </a:solidFill>
                <a:latin typeface="Manrope" pitchFamily="34" charset="0"/>
                <a:ea typeface="Manrope" pitchFamily="34" charset="-122"/>
                <a:cs typeface="Manrope" pitchFamily="34" charset="-120"/>
              </a:rPr>
              <a:t>Security &amp; governance</a:t>
            </a:r>
            <a:endParaRPr lang="en-US" sz="1300" dirty="0"/>
          </a:p>
        </p:txBody>
      </p:sp>
      <p:sp>
        <p:nvSpPr>
          <p:cNvPr id="53" name="Text 50"/>
          <p:cNvSpPr txBox="1"/>
          <p:nvPr/>
        </p:nvSpPr>
        <p:spPr>
          <a:xfrm>
            <a:off x="10167366" y="370332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SOC 2 Type II</a:t>
            </a:r>
            <a:endParaRPr lang="en-US" sz="1000" dirty="0"/>
          </a:p>
        </p:txBody>
      </p:sp>
      <p:sp>
        <p:nvSpPr>
          <p:cNvPr id="54" name="Text 51"/>
          <p:cNvSpPr txBox="1"/>
          <p:nvPr/>
        </p:nvSpPr>
        <p:spPr>
          <a:xfrm>
            <a:off x="10167366" y="406908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ISO 27001</a:t>
            </a:r>
            <a:endParaRPr lang="en-US" sz="1000" dirty="0"/>
          </a:p>
        </p:txBody>
      </p:sp>
      <p:sp>
        <p:nvSpPr>
          <p:cNvPr id="55" name="Text 52"/>
          <p:cNvSpPr txBox="1"/>
          <p:nvPr/>
        </p:nvSpPr>
        <p:spPr>
          <a:xfrm>
            <a:off x="10167366" y="443484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GDPR</a:t>
            </a:r>
            <a:endParaRPr lang="en-US" sz="1000" dirty="0"/>
          </a:p>
        </p:txBody>
      </p:sp>
      <p:sp>
        <p:nvSpPr>
          <p:cNvPr id="56" name="Text 53"/>
          <p:cNvSpPr txBox="1"/>
          <p:nvPr/>
        </p:nvSpPr>
        <p:spPr>
          <a:xfrm>
            <a:off x="10167366" y="480060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SSO / SCIM</a:t>
            </a:r>
            <a:endParaRPr lang="en-US" sz="1000" dirty="0"/>
          </a:p>
        </p:txBody>
      </p:sp>
      <p:sp>
        <p:nvSpPr>
          <p:cNvPr id="57" name="Text 54"/>
          <p:cNvSpPr txBox="1"/>
          <p:nvPr/>
        </p:nvSpPr>
        <p:spPr>
          <a:xfrm>
            <a:off x="10167366" y="516636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Audit log</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Services wrap the platform across the customer lifecycle</a:t>
            </a:r>
            <a:endParaRPr lang="en-US" sz="2800" dirty="0"/>
          </a:p>
        </p:txBody>
      </p:sp>
      <p:sp>
        <p:nvSpPr>
          <p:cNvPr id="5" name="Shape 3"/>
          <p:cNvSpPr/>
          <p:nvPr/>
        </p:nvSpPr>
        <p:spPr>
          <a:xfrm>
            <a:off x="4541368" y="1874520"/>
            <a:ext cx="3108960" cy="731520"/>
          </a:xfrm>
          <a:prstGeom prst="roundRect">
            <a:avLst>
              <a:gd name="adj" fmla="val 12500"/>
            </a:avLst>
          </a:prstGeom>
          <a:solidFill>
            <a:schemeClr val="tx1"/>
          </a:solidFill>
          <a:ln/>
        </p:spPr>
      </p:sp>
      <p:pic>
        <p:nvPicPr>
          <p:cNvPr id="6" name="Icon PiHeadset C6F432"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4815688" y="2075688"/>
            <a:ext cx="329184" cy="329184"/>
          </a:xfrm>
          <a:prstGeom prst="rect">
            <a:avLst/>
          </a:prstGeom>
        </p:spPr>
      </p:pic>
      <p:sp>
        <p:nvSpPr>
          <p:cNvPr id="7" name="Text 4"/>
          <p:cNvSpPr txBox="1"/>
          <p:nvPr/>
        </p:nvSpPr>
        <p:spPr>
          <a:xfrm>
            <a:off x="5272888" y="1874520"/>
            <a:ext cx="2286000" cy="731520"/>
          </a:xfrm>
          <a:prstGeom prst="rect">
            <a:avLst/>
          </a:prstGeom>
          <a:noFill/>
          <a:ln/>
        </p:spPr>
        <p:txBody>
          <a:bodyPr wrap="square" lIns="0" tIns="0" rIns="0" bIns="0" rtlCol="0" anchor="ctr"/>
          <a:lstStyle/>
          <a:p>
            <a:pPr algn="l" indent="0" marL="0">
              <a:buNone/>
            </a:pPr>
            <a:r>
              <a:rPr lang="en-US" sz="1400" b="1" dirty="0">
                <a:solidFill>
                  <a:schemeClr val="bg1"/>
                </a:solidFill>
                <a:latin typeface="Manrope" pitchFamily="34" charset="0"/>
                <a:ea typeface="Manrope" pitchFamily="34" charset="-122"/>
                <a:cs typeface="Manrope" pitchFamily="34" charset="-120"/>
              </a:rPr>
              <a:t>Customer Success Office</a:t>
            </a:r>
            <a:endParaRPr lang="en-US" sz="1400" dirty="0"/>
          </a:p>
        </p:txBody>
      </p:sp>
      <p:sp>
        <p:nvSpPr>
          <p:cNvPr id="8" name="Shape 5"/>
          <p:cNvSpPr/>
          <p:nvPr/>
        </p:nvSpPr>
        <p:spPr>
          <a:xfrm>
            <a:off x="2321509" y="2926080"/>
            <a:ext cx="7548677" cy="0"/>
          </a:xfrm>
          <a:prstGeom prst="line">
            <a:avLst/>
          </a:prstGeom>
          <a:noFill/>
          <a:ln w="15875">
            <a:solidFill>
              <a:schemeClr val="tx1"/>
            </a:solidFill>
            <a:prstDash val="solid"/>
          </a:ln>
        </p:spPr>
      </p:sp>
      <p:sp>
        <p:nvSpPr>
          <p:cNvPr id="9" name="Shape 6"/>
          <p:cNvSpPr/>
          <p:nvPr/>
        </p:nvSpPr>
        <p:spPr>
          <a:xfrm>
            <a:off x="6095848" y="2606040"/>
            <a:ext cx="0" cy="320040"/>
          </a:xfrm>
          <a:prstGeom prst="line">
            <a:avLst/>
          </a:prstGeom>
          <a:noFill/>
          <a:ln w="15875">
            <a:solidFill>
              <a:schemeClr val="tx1"/>
            </a:solidFill>
            <a:prstDash val="solid"/>
          </a:ln>
        </p:spPr>
      </p:sp>
      <p:sp>
        <p:nvSpPr>
          <p:cNvPr id="10" name="Shape 7"/>
          <p:cNvSpPr/>
          <p:nvPr/>
        </p:nvSpPr>
        <p:spPr>
          <a:xfrm>
            <a:off x="2321509" y="2926080"/>
            <a:ext cx="0" cy="320040"/>
          </a:xfrm>
          <a:prstGeom prst="line">
            <a:avLst/>
          </a:prstGeom>
          <a:noFill/>
          <a:ln w="15875">
            <a:solidFill>
              <a:schemeClr val="tx1"/>
            </a:solidFill>
            <a:prstDash val="solid"/>
          </a:ln>
        </p:spPr>
      </p:sp>
      <p:sp>
        <p:nvSpPr>
          <p:cNvPr id="11" name="Shape 8"/>
          <p:cNvSpPr/>
          <p:nvPr/>
        </p:nvSpPr>
        <p:spPr>
          <a:xfrm>
            <a:off x="548640" y="3246120"/>
            <a:ext cx="3545738" cy="685800"/>
          </a:xfrm>
          <a:prstGeom prst="roundRect">
            <a:avLst>
              <a:gd name="adj" fmla="val 13333"/>
            </a:avLst>
          </a:prstGeom>
          <a:solidFill>
            <a:schemeClr val="bg1"/>
          </a:solidFill>
          <a:ln w="9525">
            <a:solidFill>
              <a:schemeClr val="tx1"/>
            </a:solidFill>
            <a:prstDash val="solid"/>
          </a:ln>
        </p:spPr>
      </p:sp>
      <p:sp>
        <p:nvSpPr>
          <p:cNvPr id="12" name="Text 9"/>
          <p:cNvSpPr txBox="1"/>
          <p:nvPr/>
        </p:nvSpPr>
        <p:spPr>
          <a:xfrm>
            <a:off x="777240" y="3246120"/>
            <a:ext cx="1828800" cy="68580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Onboard</a:t>
            </a:r>
            <a:endParaRPr lang="en-US" sz="1500" dirty="0"/>
          </a:p>
        </p:txBody>
      </p:sp>
      <p:sp>
        <p:nvSpPr>
          <p:cNvPr id="13" name="Text 10"/>
          <p:cNvSpPr txBox="1"/>
          <p:nvPr/>
        </p:nvSpPr>
        <p:spPr>
          <a:xfrm>
            <a:off x="2402738" y="3246120"/>
            <a:ext cx="1463040" cy="685800"/>
          </a:xfrm>
          <a:prstGeom prst="rect">
            <a:avLst/>
          </a:prstGeom>
          <a:noFill/>
          <a:ln/>
        </p:spPr>
        <p:txBody>
          <a:bodyPr wrap="square" lIns="0" tIns="0" rIns="0" bIns="0" rtlCol="0" anchor="ctr"/>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Days 0–60</a:t>
            </a:r>
            <a:endParaRPr lang="en-US" sz="1000" dirty="0"/>
          </a:p>
        </p:txBody>
      </p:sp>
      <p:sp>
        <p:nvSpPr>
          <p:cNvPr id="14" name="Shape 11"/>
          <p:cNvSpPr/>
          <p:nvPr/>
        </p:nvSpPr>
        <p:spPr>
          <a:xfrm>
            <a:off x="822960" y="3931920"/>
            <a:ext cx="0" cy="457200"/>
          </a:xfrm>
          <a:prstGeom prst="line">
            <a:avLst/>
          </a:prstGeom>
          <a:noFill/>
          <a:ln w="9525">
            <a:solidFill>
              <a:schemeClr val="accent4"/>
            </a:solidFill>
            <a:prstDash val="solid"/>
          </a:ln>
        </p:spPr>
      </p:sp>
      <p:sp>
        <p:nvSpPr>
          <p:cNvPr id="15" name="Shape 12"/>
          <p:cNvSpPr/>
          <p:nvPr/>
        </p:nvSpPr>
        <p:spPr>
          <a:xfrm>
            <a:off x="822960" y="4389120"/>
            <a:ext cx="228600" cy="0"/>
          </a:xfrm>
          <a:prstGeom prst="line">
            <a:avLst/>
          </a:prstGeom>
          <a:noFill/>
          <a:ln w="9525">
            <a:solidFill>
              <a:schemeClr val="accent4"/>
            </a:solidFill>
            <a:prstDash val="solid"/>
          </a:ln>
        </p:spPr>
      </p:sp>
      <p:sp>
        <p:nvSpPr>
          <p:cNvPr id="16" name="Shape 13"/>
          <p:cNvSpPr/>
          <p:nvPr/>
        </p:nvSpPr>
        <p:spPr>
          <a:xfrm>
            <a:off x="1051560" y="4160520"/>
            <a:ext cx="3042818" cy="457200"/>
          </a:xfrm>
          <a:prstGeom prst="roundRect">
            <a:avLst>
              <a:gd name="adj" fmla="val 12000"/>
            </a:avLst>
          </a:prstGeom>
          <a:solidFill>
            <a:schemeClr val="bg1"/>
          </a:solidFill>
          <a:ln/>
        </p:spPr>
      </p:sp>
      <p:sp>
        <p:nvSpPr>
          <p:cNvPr id="17" name="Text 14"/>
          <p:cNvSpPr txBox="1"/>
          <p:nvPr/>
        </p:nvSpPr>
        <p:spPr>
          <a:xfrm>
            <a:off x="1234440" y="4160520"/>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Implementation</a:t>
            </a:r>
            <a:endParaRPr lang="en-US" sz="1100" dirty="0"/>
          </a:p>
        </p:txBody>
      </p:sp>
      <p:sp>
        <p:nvSpPr>
          <p:cNvPr id="18" name="Shape 15"/>
          <p:cNvSpPr/>
          <p:nvPr/>
        </p:nvSpPr>
        <p:spPr>
          <a:xfrm>
            <a:off x="822960" y="3931920"/>
            <a:ext cx="0" cy="1024128"/>
          </a:xfrm>
          <a:prstGeom prst="line">
            <a:avLst/>
          </a:prstGeom>
          <a:noFill/>
          <a:ln w="9525">
            <a:solidFill>
              <a:schemeClr val="accent4"/>
            </a:solidFill>
            <a:prstDash val="solid"/>
          </a:ln>
        </p:spPr>
      </p:sp>
      <p:sp>
        <p:nvSpPr>
          <p:cNvPr id="19" name="Shape 16"/>
          <p:cNvSpPr/>
          <p:nvPr/>
        </p:nvSpPr>
        <p:spPr>
          <a:xfrm>
            <a:off x="822960" y="4956048"/>
            <a:ext cx="228600" cy="0"/>
          </a:xfrm>
          <a:prstGeom prst="line">
            <a:avLst/>
          </a:prstGeom>
          <a:noFill/>
          <a:ln w="9525">
            <a:solidFill>
              <a:schemeClr val="accent4"/>
            </a:solidFill>
            <a:prstDash val="solid"/>
          </a:ln>
        </p:spPr>
      </p:sp>
      <p:sp>
        <p:nvSpPr>
          <p:cNvPr id="20" name="Shape 17"/>
          <p:cNvSpPr/>
          <p:nvPr/>
        </p:nvSpPr>
        <p:spPr>
          <a:xfrm>
            <a:off x="1051560" y="4727448"/>
            <a:ext cx="3042818" cy="457200"/>
          </a:xfrm>
          <a:prstGeom prst="roundRect">
            <a:avLst>
              <a:gd name="adj" fmla="val 12000"/>
            </a:avLst>
          </a:prstGeom>
          <a:solidFill>
            <a:schemeClr val="bg1"/>
          </a:solidFill>
          <a:ln/>
        </p:spPr>
      </p:sp>
      <p:sp>
        <p:nvSpPr>
          <p:cNvPr id="21" name="Text 18"/>
          <p:cNvSpPr txBox="1"/>
          <p:nvPr/>
        </p:nvSpPr>
        <p:spPr>
          <a:xfrm>
            <a:off x="1234440" y="4727448"/>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Data migration</a:t>
            </a:r>
            <a:endParaRPr lang="en-US" sz="1100" dirty="0"/>
          </a:p>
        </p:txBody>
      </p:sp>
      <p:sp>
        <p:nvSpPr>
          <p:cNvPr id="22" name="Shape 19"/>
          <p:cNvSpPr/>
          <p:nvPr/>
        </p:nvSpPr>
        <p:spPr>
          <a:xfrm>
            <a:off x="822960" y="3931920"/>
            <a:ext cx="0" cy="1591056"/>
          </a:xfrm>
          <a:prstGeom prst="line">
            <a:avLst/>
          </a:prstGeom>
          <a:noFill/>
          <a:ln w="9525">
            <a:solidFill>
              <a:schemeClr val="accent4"/>
            </a:solidFill>
            <a:prstDash val="solid"/>
          </a:ln>
        </p:spPr>
      </p:sp>
      <p:sp>
        <p:nvSpPr>
          <p:cNvPr id="23" name="Shape 20"/>
          <p:cNvSpPr/>
          <p:nvPr/>
        </p:nvSpPr>
        <p:spPr>
          <a:xfrm>
            <a:off x="822960" y="5522976"/>
            <a:ext cx="228600" cy="0"/>
          </a:xfrm>
          <a:prstGeom prst="line">
            <a:avLst/>
          </a:prstGeom>
          <a:noFill/>
          <a:ln w="9525">
            <a:solidFill>
              <a:schemeClr val="accent4"/>
            </a:solidFill>
            <a:prstDash val="solid"/>
          </a:ln>
        </p:spPr>
      </p:sp>
      <p:sp>
        <p:nvSpPr>
          <p:cNvPr id="24" name="Shape 21"/>
          <p:cNvSpPr/>
          <p:nvPr/>
        </p:nvSpPr>
        <p:spPr>
          <a:xfrm>
            <a:off x="1051560" y="5294376"/>
            <a:ext cx="3042818" cy="457200"/>
          </a:xfrm>
          <a:prstGeom prst="roundRect">
            <a:avLst>
              <a:gd name="adj" fmla="val 12000"/>
            </a:avLst>
          </a:prstGeom>
          <a:solidFill>
            <a:schemeClr val="bg1"/>
          </a:solidFill>
          <a:ln/>
        </p:spPr>
      </p:sp>
      <p:sp>
        <p:nvSpPr>
          <p:cNvPr id="25" name="Text 22"/>
          <p:cNvSpPr txBox="1"/>
          <p:nvPr/>
        </p:nvSpPr>
        <p:spPr>
          <a:xfrm>
            <a:off x="1234440" y="5294376"/>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Admin training</a:t>
            </a:r>
            <a:endParaRPr lang="en-US" sz="1100" dirty="0"/>
          </a:p>
        </p:txBody>
      </p:sp>
      <p:sp>
        <p:nvSpPr>
          <p:cNvPr id="26" name="Shape 23"/>
          <p:cNvSpPr/>
          <p:nvPr/>
        </p:nvSpPr>
        <p:spPr>
          <a:xfrm>
            <a:off x="6095848" y="2926080"/>
            <a:ext cx="0" cy="320040"/>
          </a:xfrm>
          <a:prstGeom prst="line">
            <a:avLst/>
          </a:prstGeom>
          <a:noFill/>
          <a:ln w="15875">
            <a:solidFill>
              <a:schemeClr val="tx1"/>
            </a:solidFill>
            <a:prstDash val="solid"/>
          </a:ln>
        </p:spPr>
      </p:sp>
      <p:sp>
        <p:nvSpPr>
          <p:cNvPr id="27" name="Shape 24"/>
          <p:cNvSpPr/>
          <p:nvPr/>
        </p:nvSpPr>
        <p:spPr>
          <a:xfrm>
            <a:off x="4322978" y="3246120"/>
            <a:ext cx="3545738" cy="685800"/>
          </a:xfrm>
          <a:prstGeom prst="roundRect">
            <a:avLst>
              <a:gd name="adj" fmla="val 13333"/>
            </a:avLst>
          </a:prstGeom>
          <a:solidFill>
            <a:schemeClr val="accent1"/>
          </a:solidFill>
          <a:ln w="9525">
            <a:solidFill>
              <a:schemeClr val="tx1"/>
            </a:solidFill>
            <a:prstDash val="solid"/>
          </a:ln>
        </p:spPr>
      </p:sp>
      <p:sp>
        <p:nvSpPr>
          <p:cNvPr id="28" name="Text 25"/>
          <p:cNvSpPr txBox="1"/>
          <p:nvPr/>
        </p:nvSpPr>
        <p:spPr>
          <a:xfrm>
            <a:off x="4551578" y="3246120"/>
            <a:ext cx="1828800" cy="68580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Adopt</a:t>
            </a:r>
            <a:endParaRPr lang="en-US" sz="1500" dirty="0"/>
          </a:p>
        </p:txBody>
      </p:sp>
      <p:sp>
        <p:nvSpPr>
          <p:cNvPr id="29" name="Text 26"/>
          <p:cNvSpPr txBox="1"/>
          <p:nvPr/>
        </p:nvSpPr>
        <p:spPr>
          <a:xfrm>
            <a:off x="6177077" y="3246120"/>
            <a:ext cx="1463040" cy="685800"/>
          </a:xfrm>
          <a:prstGeom prst="rect">
            <a:avLst/>
          </a:prstGeom>
          <a:noFill/>
          <a:ln/>
        </p:spPr>
        <p:txBody>
          <a:bodyPr wrap="square" lIns="0" tIns="0" rIns="0" bIns="0" rtlCol="0" anchor="ctr"/>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Days 60–180</a:t>
            </a:r>
            <a:endParaRPr lang="en-US" sz="1000" dirty="0"/>
          </a:p>
        </p:txBody>
      </p:sp>
      <p:sp>
        <p:nvSpPr>
          <p:cNvPr id="30" name="Shape 27"/>
          <p:cNvSpPr/>
          <p:nvPr/>
        </p:nvSpPr>
        <p:spPr>
          <a:xfrm>
            <a:off x="4597298" y="3931920"/>
            <a:ext cx="0" cy="457200"/>
          </a:xfrm>
          <a:prstGeom prst="line">
            <a:avLst/>
          </a:prstGeom>
          <a:noFill/>
          <a:ln w="9525">
            <a:solidFill>
              <a:schemeClr val="accent4"/>
            </a:solidFill>
            <a:prstDash val="solid"/>
          </a:ln>
        </p:spPr>
      </p:sp>
      <p:sp>
        <p:nvSpPr>
          <p:cNvPr id="31" name="Shape 28"/>
          <p:cNvSpPr/>
          <p:nvPr/>
        </p:nvSpPr>
        <p:spPr>
          <a:xfrm>
            <a:off x="4597298" y="4389120"/>
            <a:ext cx="228600" cy="0"/>
          </a:xfrm>
          <a:prstGeom prst="line">
            <a:avLst/>
          </a:prstGeom>
          <a:noFill/>
          <a:ln w="9525">
            <a:solidFill>
              <a:schemeClr val="accent4"/>
            </a:solidFill>
            <a:prstDash val="solid"/>
          </a:ln>
        </p:spPr>
      </p:sp>
      <p:sp>
        <p:nvSpPr>
          <p:cNvPr id="32" name="Shape 29"/>
          <p:cNvSpPr/>
          <p:nvPr/>
        </p:nvSpPr>
        <p:spPr>
          <a:xfrm>
            <a:off x="4825898" y="4160520"/>
            <a:ext cx="3042818" cy="457200"/>
          </a:xfrm>
          <a:prstGeom prst="roundRect">
            <a:avLst>
              <a:gd name="adj" fmla="val 12000"/>
            </a:avLst>
          </a:prstGeom>
          <a:solidFill>
            <a:schemeClr val="bg1"/>
          </a:solidFill>
          <a:ln/>
        </p:spPr>
      </p:sp>
      <p:sp>
        <p:nvSpPr>
          <p:cNvPr id="33" name="Text 30"/>
          <p:cNvSpPr txBox="1"/>
          <p:nvPr/>
        </p:nvSpPr>
        <p:spPr>
          <a:xfrm>
            <a:off x="5008778" y="4160520"/>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Enablement workshops</a:t>
            </a:r>
            <a:endParaRPr lang="en-US" sz="1100" dirty="0"/>
          </a:p>
        </p:txBody>
      </p:sp>
      <p:sp>
        <p:nvSpPr>
          <p:cNvPr id="34" name="Shape 31"/>
          <p:cNvSpPr/>
          <p:nvPr/>
        </p:nvSpPr>
        <p:spPr>
          <a:xfrm>
            <a:off x="4597298" y="3931920"/>
            <a:ext cx="0" cy="1024128"/>
          </a:xfrm>
          <a:prstGeom prst="line">
            <a:avLst/>
          </a:prstGeom>
          <a:noFill/>
          <a:ln w="9525">
            <a:solidFill>
              <a:schemeClr val="accent4"/>
            </a:solidFill>
            <a:prstDash val="solid"/>
          </a:ln>
        </p:spPr>
      </p:sp>
      <p:sp>
        <p:nvSpPr>
          <p:cNvPr id="35" name="Shape 32"/>
          <p:cNvSpPr/>
          <p:nvPr/>
        </p:nvSpPr>
        <p:spPr>
          <a:xfrm>
            <a:off x="4597298" y="4956048"/>
            <a:ext cx="228600" cy="0"/>
          </a:xfrm>
          <a:prstGeom prst="line">
            <a:avLst/>
          </a:prstGeom>
          <a:noFill/>
          <a:ln w="9525">
            <a:solidFill>
              <a:schemeClr val="accent4"/>
            </a:solidFill>
            <a:prstDash val="solid"/>
          </a:ln>
        </p:spPr>
      </p:sp>
      <p:sp>
        <p:nvSpPr>
          <p:cNvPr id="36" name="Shape 33"/>
          <p:cNvSpPr/>
          <p:nvPr/>
        </p:nvSpPr>
        <p:spPr>
          <a:xfrm>
            <a:off x="4825898" y="4727448"/>
            <a:ext cx="3042818" cy="457200"/>
          </a:xfrm>
          <a:prstGeom prst="roundRect">
            <a:avLst>
              <a:gd name="adj" fmla="val 12000"/>
            </a:avLst>
          </a:prstGeom>
          <a:solidFill>
            <a:schemeClr val="bg1"/>
          </a:solidFill>
          <a:ln/>
        </p:spPr>
      </p:sp>
      <p:sp>
        <p:nvSpPr>
          <p:cNvPr id="37" name="Text 34"/>
          <p:cNvSpPr txBox="1"/>
          <p:nvPr/>
        </p:nvSpPr>
        <p:spPr>
          <a:xfrm>
            <a:off x="5008778" y="4727448"/>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Health monitoring</a:t>
            </a:r>
            <a:endParaRPr lang="en-US" sz="1100" dirty="0"/>
          </a:p>
        </p:txBody>
      </p:sp>
      <p:sp>
        <p:nvSpPr>
          <p:cNvPr id="38" name="Shape 35"/>
          <p:cNvSpPr/>
          <p:nvPr/>
        </p:nvSpPr>
        <p:spPr>
          <a:xfrm>
            <a:off x="4597298" y="3931920"/>
            <a:ext cx="0" cy="1591056"/>
          </a:xfrm>
          <a:prstGeom prst="line">
            <a:avLst/>
          </a:prstGeom>
          <a:noFill/>
          <a:ln w="9525">
            <a:solidFill>
              <a:schemeClr val="accent4"/>
            </a:solidFill>
            <a:prstDash val="solid"/>
          </a:ln>
        </p:spPr>
      </p:sp>
      <p:sp>
        <p:nvSpPr>
          <p:cNvPr id="39" name="Shape 36"/>
          <p:cNvSpPr/>
          <p:nvPr/>
        </p:nvSpPr>
        <p:spPr>
          <a:xfrm>
            <a:off x="4597298" y="5522976"/>
            <a:ext cx="228600" cy="0"/>
          </a:xfrm>
          <a:prstGeom prst="line">
            <a:avLst/>
          </a:prstGeom>
          <a:noFill/>
          <a:ln w="9525">
            <a:solidFill>
              <a:schemeClr val="accent4"/>
            </a:solidFill>
            <a:prstDash val="solid"/>
          </a:ln>
        </p:spPr>
      </p:sp>
      <p:sp>
        <p:nvSpPr>
          <p:cNvPr id="40" name="Shape 37"/>
          <p:cNvSpPr/>
          <p:nvPr/>
        </p:nvSpPr>
        <p:spPr>
          <a:xfrm>
            <a:off x="4825898" y="5294376"/>
            <a:ext cx="3042818" cy="457200"/>
          </a:xfrm>
          <a:prstGeom prst="roundRect">
            <a:avLst>
              <a:gd name="adj" fmla="val 12000"/>
            </a:avLst>
          </a:prstGeom>
          <a:solidFill>
            <a:schemeClr val="bg1"/>
          </a:solidFill>
          <a:ln/>
        </p:spPr>
      </p:sp>
      <p:sp>
        <p:nvSpPr>
          <p:cNvPr id="41" name="Text 38"/>
          <p:cNvSpPr txBox="1"/>
          <p:nvPr/>
        </p:nvSpPr>
        <p:spPr>
          <a:xfrm>
            <a:off x="5008778" y="5294376"/>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Playbook design</a:t>
            </a:r>
            <a:endParaRPr lang="en-US" sz="1100" dirty="0"/>
          </a:p>
        </p:txBody>
      </p:sp>
      <p:sp>
        <p:nvSpPr>
          <p:cNvPr id="42" name="Shape 39"/>
          <p:cNvSpPr/>
          <p:nvPr/>
        </p:nvSpPr>
        <p:spPr>
          <a:xfrm>
            <a:off x="9870186" y="2926080"/>
            <a:ext cx="0" cy="320040"/>
          </a:xfrm>
          <a:prstGeom prst="line">
            <a:avLst/>
          </a:prstGeom>
          <a:noFill/>
          <a:ln w="15875">
            <a:solidFill>
              <a:schemeClr val="tx1"/>
            </a:solidFill>
            <a:prstDash val="solid"/>
          </a:ln>
        </p:spPr>
      </p:sp>
      <p:sp>
        <p:nvSpPr>
          <p:cNvPr id="43" name="Shape 40"/>
          <p:cNvSpPr/>
          <p:nvPr/>
        </p:nvSpPr>
        <p:spPr>
          <a:xfrm>
            <a:off x="8097317" y="3246120"/>
            <a:ext cx="3545738" cy="685800"/>
          </a:xfrm>
          <a:prstGeom prst="roundRect">
            <a:avLst>
              <a:gd name="adj" fmla="val 13333"/>
            </a:avLst>
          </a:prstGeom>
          <a:solidFill>
            <a:schemeClr val="bg1"/>
          </a:solidFill>
          <a:ln w="9525">
            <a:solidFill>
              <a:schemeClr val="tx1"/>
            </a:solidFill>
            <a:prstDash val="solid"/>
          </a:ln>
        </p:spPr>
      </p:sp>
      <p:sp>
        <p:nvSpPr>
          <p:cNvPr id="44" name="Text 41"/>
          <p:cNvSpPr txBox="1"/>
          <p:nvPr/>
        </p:nvSpPr>
        <p:spPr>
          <a:xfrm>
            <a:off x="8325917" y="3246120"/>
            <a:ext cx="1828800" cy="68580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Expand</a:t>
            </a:r>
            <a:endParaRPr lang="en-US" sz="1500" dirty="0"/>
          </a:p>
        </p:txBody>
      </p:sp>
      <p:sp>
        <p:nvSpPr>
          <p:cNvPr id="45" name="Text 42"/>
          <p:cNvSpPr txBox="1"/>
          <p:nvPr/>
        </p:nvSpPr>
        <p:spPr>
          <a:xfrm>
            <a:off x="9951415" y="3246120"/>
            <a:ext cx="1463040" cy="685800"/>
          </a:xfrm>
          <a:prstGeom prst="rect">
            <a:avLst/>
          </a:prstGeom>
          <a:noFill/>
          <a:ln/>
        </p:spPr>
        <p:txBody>
          <a:bodyPr wrap="square" lIns="0" tIns="0" rIns="0" bIns="0" rtlCol="0" anchor="ctr"/>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Day 180+</a:t>
            </a:r>
            <a:endParaRPr lang="en-US" sz="1000" dirty="0"/>
          </a:p>
        </p:txBody>
      </p:sp>
      <p:sp>
        <p:nvSpPr>
          <p:cNvPr id="46" name="Shape 43"/>
          <p:cNvSpPr/>
          <p:nvPr/>
        </p:nvSpPr>
        <p:spPr>
          <a:xfrm>
            <a:off x="8371637" y="3931920"/>
            <a:ext cx="0" cy="457200"/>
          </a:xfrm>
          <a:prstGeom prst="line">
            <a:avLst/>
          </a:prstGeom>
          <a:noFill/>
          <a:ln w="9525">
            <a:solidFill>
              <a:schemeClr val="accent4"/>
            </a:solidFill>
            <a:prstDash val="solid"/>
          </a:ln>
        </p:spPr>
      </p:sp>
      <p:sp>
        <p:nvSpPr>
          <p:cNvPr id="47" name="Shape 44"/>
          <p:cNvSpPr/>
          <p:nvPr/>
        </p:nvSpPr>
        <p:spPr>
          <a:xfrm>
            <a:off x="8371637" y="4389120"/>
            <a:ext cx="228600" cy="0"/>
          </a:xfrm>
          <a:prstGeom prst="line">
            <a:avLst/>
          </a:prstGeom>
          <a:noFill/>
          <a:ln w="9525">
            <a:solidFill>
              <a:schemeClr val="accent4"/>
            </a:solidFill>
            <a:prstDash val="solid"/>
          </a:ln>
        </p:spPr>
      </p:sp>
      <p:sp>
        <p:nvSpPr>
          <p:cNvPr id="48" name="Shape 45"/>
          <p:cNvSpPr/>
          <p:nvPr/>
        </p:nvSpPr>
        <p:spPr>
          <a:xfrm>
            <a:off x="8600237" y="4160520"/>
            <a:ext cx="3042818" cy="457200"/>
          </a:xfrm>
          <a:prstGeom prst="roundRect">
            <a:avLst>
              <a:gd name="adj" fmla="val 12000"/>
            </a:avLst>
          </a:prstGeom>
          <a:solidFill>
            <a:schemeClr val="bg1"/>
          </a:solidFill>
          <a:ln/>
        </p:spPr>
      </p:sp>
      <p:sp>
        <p:nvSpPr>
          <p:cNvPr id="49" name="Text 46"/>
          <p:cNvSpPr txBox="1"/>
          <p:nvPr/>
        </p:nvSpPr>
        <p:spPr>
          <a:xfrm>
            <a:off x="8783117" y="4160520"/>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Business reviews</a:t>
            </a:r>
            <a:endParaRPr lang="en-US" sz="1100" dirty="0"/>
          </a:p>
        </p:txBody>
      </p:sp>
      <p:sp>
        <p:nvSpPr>
          <p:cNvPr id="50" name="Shape 47"/>
          <p:cNvSpPr/>
          <p:nvPr/>
        </p:nvSpPr>
        <p:spPr>
          <a:xfrm>
            <a:off x="8371637" y="3931920"/>
            <a:ext cx="0" cy="1024128"/>
          </a:xfrm>
          <a:prstGeom prst="line">
            <a:avLst/>
          </a:prstGeom>
          <a:noFill/>
          <a:ln w="9525">
            <a:solidFill>
              <a:schemeClr val="accent4"/>
            </a:solidFill>
            <a:prstDash val="solid"/>
          </a:ln>
        </p:spPr>
      </p:sp>
      <p:sp>
        <p:nvSpPr>
          <p:cNvPr id="51" name="Shape 48"/>
          <p:cNvSpPr/>
          <p:nvPr/>
        </p:nvSpPr>
        <p:spPr>
          <a:xfrm>
            <a:off x="8371637" y="4956048"/>
            <a:ext cx="228600" cy="0"/>
          </a:xfrm>
          <a:prstGeom prst="line">
            <a:avLst/>
          </a:prstGeom>
          <a:noFill/>
          <a:ln w="9525">
            <a:solidFill>
              <a:schemeClr val="accent4"/>
            </a:solidFill>
            <a:prstDash val="solid"/>
          </a:ln>
        </p:spPr>
      </p:sp>
      <p:sp>
        <p:nvSpPr>
          <p:cNvPr id="52" name="Shape 49"/>
          <p:cNvSpPr/>
          <p:nvPr/>
        </p:nvSpPr>
        <p:spPr>
          <a:xfrm>
            <a:off x="8600237" y="4727448"/>
            <a:ext cx="3042818" cy="457200"/>
          </a:xfrm>
          <a:prstGeom prst="roundRect">
            <a:avLst>
              <a:gd name="adj" fmla="val 12000"/>
            </a:avLst>
          </a:prstGeom>
          <a:solidFill>
            <a:schemeClr val="bg1"/>
          </a:solidFill>
          <a:ln/>
        </p:spPr>
      </p:sp>
      <p:sp>
        <p:nvSpPr>
          <p:cNvPr id="53" name="Text 50"/>
          <p:cNvSpPr txBox="1"/>
          <p:nvPr/>
        </p:nvSpPr>
        <p:spPr>
          <a:xfrm>
            <a:off x="8783117" y="4727448"/>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Advisory services</a:t>
            </a:r>
            <a:endParaRPr lang="en-US" sz="1100" dirty="0"/>
          </a:p>
        </p:txBody>
      </p:sp>
      <p:sp>
        <p:nvSpPr>
          <p:cNvPr id="54" name="Shape 51"/>
          <p:cNvSpPr/>
          <p:nvPr/>
        </p:nvSpPr>
        <p:spPr>
          <a:xfrm>
            <a:off x="8371637" y="3931920"/>
            <a:ext cx="0" cy="1591056"/>
          </a:xfrm>
          <a:prstGeom prst="line">
            <a:avLst/>
          </a:prstGeom>
          <a:noFill/>
          <a:ln w="9525">
            <a:solidFill>
              <a:schemeClr val="accent4"/>
            </a:solidFill>
            <a:prstDash val="solid"/>
          </a:ln>
        </p:spPr>
      </p:sp>
      <p:sp>
        <p:nvSpPr>
          <p:cNvPr id="55" name="Shape 52"/>
          <p:cNvSpPr/>
          <p:nvPr/>
        </p:nvSpPr>
        <p:spPr>
          <a:xfrm>
            <a:off x="8371637" y="5522976"/>
            <a:ext cx="228600" cy="0"/>
          </a:xfrm>
          <a:prstGeom prst="line">
            <a:avLst/>
          </a:prstGeom>
          <a:noFill/>
          <a:ln w="9525">
            <a:solidFill>
              <a:schemeClr val="accent4"/>
            </a:solidFill>
            <a:prstDash val="solid"/>
          </a:ln>
        </p:spPr>
      </p:sp>
      <p:sp>
        <p:nvSpPr>
          <p:cNvPr id="56" name="Shape 53"/>
          <p:cNvSpPr/>
          <p:nvPr/>
        </p:nvSpPr>
        <p:spPr>
          <a:xfrm>
            <a:off x="8600237" y="5294376"/>
            <a:ext cx="3042818" cy="457200"/>
          </a:xfrm>
          <a:prstGeom prst="roundRect">
            <a:avLst>
              <a:gd name="adj" fmla="val 12000"/>
            </a:avLst>
          </a:prstGeom>
          <a:solidFill>
            <a:schemeClr val="bg1"/>
          </a:solidFill>
          <a:ln/>
        </p:spPr>
      </p:sp>
      <p:sp>
        <p:nvSpPr>
          <p:cNvPr id="57" name="Text 54"/>
          <p:cNvSpPr txBox="1"/>
          <p:nvPr/>
        </p:nvSpPr>
        <p:spPr>
          <a:xfrm>
            <a:off x="8783117" y="5294376"/>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Premium support</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Product roadmap: now, next and later</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Themes: Intelligence (navy), Platform (outline), Ecosystem (lime).</a:t>
            </a:r>
            <a:endParaRPr lang="en-US" sz="1150" dirty="0"/>
          </a:p>
        </p:txBody>
      </p:sp>
      <p:sp>
        <p:nvSpPr>
          <p:cNvPr id="6" name="Shape 4"/>
          <p:cNvSpPr/>
          <p:nvPr/>
        </p:nvSpPr>
        <p:spPr>
          <a:xfrm>
            <a:off x="548640" y="1920240"/>
            <a:ext cx="3545738" cy="4069080"/>
          </a:xfrm>
          <a:prstGeom prst="roundRect">
            <a:avLst>
              <a:gd name="adj" fmla="val 2579"/>
            </a:avLst>
          </a:prstGeom>
          <a:solidFill>
            <a:schemeClr val="tx1"/>
          </a:solidFill>
          <a:ln/>
        </p:spPr>
      </p:sp>
      <p:sp>
        <p:nvSpPr>
          <p:cNvPr id="7" name="Text 5"/>
          <p:cNvSpPr txBox="1"/>
          <p:nvPr/>
        </p:nvSpPr>
        <p:spPr>
          <a:xfrm>
            <a:off x="822960" y="2148840"/>
            <a:ext cx="1828800" cy="411480"/>
          </a:xfrm>
          <a:prstGeom prst="rect">
            <a:avLst/>
          </a:prstGeom>
          <a:noFill/>
          <a:ln/>
        </p:spPr>
        <p:txBody>
          <a:bodyPr wrap="square" lIns="0" tIns="0" rIns="0" bIns="0" rtlCol="0" anchor="t"/>
          <a:lstStyle/>
          <a:p>
            <a:pPr algn="l" indent="0" marL="0">
              <a:buNone/>
            </a:pPr>
            <a:r>
              <a:rPr lang="en-US" sz="2400" dirty="0">
                <a:solidFill>
                  <a:schemeClr val="accent1"/>
                </a:solidFill>
                <a:latin typeface="Manrope ExtraBold" pitchFamily="34" charset="0"/>
                <a:ea typeface="Manrope ExtraBold" pitchFamily="34" charset="-122"/>
                <a:cs typeface="Manrope ExtraBold" pitchFamily="34" charset="-120"/>
              </a:rPr>
              <a:t>Now</a:t>
            </a:r>
            <a:endParaRPr lang="en-US" sz="2400" dirty="0"/>
          </a:p>
        </p:txBody>
      </p:sp>
      <p:sp>
        <p:nvSpPr>
          <p:cNvPr id="8" name="Text 6"/>
          <p:cNvSpPr txBox="1"/>
          <p:nvPr/>
        </p:nvSpPr>
        <p:spPr>
          <a:xfrm>
            <a:off x="2448458" y="2194560"/>
            <a:ext cx="1371600" cy="320040"/>
          </a:xfrm>
          <a:prstGeom prst="rect">
            <a:avLst/>
          </a:prstGeom>
          <a:noFill/>
          <a:ln/>
        </p:spPr>
        <p:txBody>
          <a:bodyPr wrap="square" lIns="0" tIns="0" rIns="0" bIns="0" rtlCol="0" anchor="ctr"/>
          <a:lstStyle/>
          <a:p>
            <a:pPr algn="r" indent="0" marL="0">
              <a:buNone/>
            </a:pPr>
            <a:r>
              <a:rPr lang="en-US" sz="1000" dirty="0">
                <a:solidFill>
                  <a:schemeClr val="accent4"/>
                </a:solidFill>
                <a:latin typeface="Inter Medium" pitchFamily="34" charset="0"/>
                <a:ea typeface="Inter Medium" pitchFamily="34" charset="-122"/>
                <a:cs typeface="Inter Medium" pitchFamily="34" charset="-120"/>
              </a:rPr>
              <a:t>Q4 2026</a:t>
            </a:r>
            <a:endParaRPr lang="en-US" sz="1000" dirty="0"/>
          </a:p>
        </p:txBody>
      </p:sp>
      <p:sp>
        <p:nvSpPr>
          <p:cNvPr id="9" name="Shape 7"/>
          <p:cNvSpPr/>
          <p:nvPr/>
        </p:nvSpPr>
        <p:spPr>
          <a:xfrm>
            <a:off x="777240" y="2788920"/>
            <a:ext cx="3088538" cy="640080"/>
          </a:xfrm>
          <a:prstGeom prst="roundRect">
            <a:avLst>
              <a:gd name="adj" fmla="val 11429"/>
            </a:avLst>
          </a:prstGeom>
          <a:solidFill>
            <a:schemeClr val="accent5"/>
          </a:solidFill>
          <a:ln/>
        </p:spPr>
      </p:sp>
      <p:sp>
        <p:nvSpPr>
          <p:cNvPr id="10" name="Text 8"/>
          <p:cNvSpPr txBox="1"/>
          <p:nvPr/>
        </p:nvSpPr>
        <p:spPr>
          <a:xfrm>
            <a:off x="960120" y="2788920"/>
            <a:ext cx="1625498" cy="640080"/>
          </a:xfrm>
          <a:prstGeom prst="rect">
            <a:avLst/>
          </a:prstGeom>
          <a:noFill/>
          <a:ln/>
        </p:spPr>
        <p:txBody>
          <a:bodyPr wrap="square" lIns="0" tIns="0" rIns="0" bIns="0" rtlCol="0" anchor="ctr"/>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Forecast scenarios</a:t>
            </a:r>
            <a:endParaRPr lang="en-US" sz="1100" dirty="0"/>
          </a:p>
        </p:txBody>
      </p:sp>
      <p:sp>
        <p:nvSpPr>
          <p:cNvPr id="11" name="Shape 9"/>
          <p:cNvSpPr/>
          <p:nvPr/>
        </p:nvSpPr>
        <p:spPr>
          <a:xfrm>
            <a:off x="2631338" y="2980944"/>
            <a:ext cx="1051560" cy="256032"/>
          </a:xfrm>
          <a:prstGeom prst="roundRect">
            <a:avLst>
              <a:gd name="adj" fmla="val 50000"/>
            </a:avLst>
          </a:prstGeom>
          <a:solidFill>
            <a:schemeClr val="tx1"/>
          </a:solidFill>
          <a:ln/>
        </p:spPr>
      </p:sp>
      <p:sp>
        <p:nvSpPr>
          <p:cNvPr id="12" name="Text 10"/>
          <p:cNvSpPr txBox="1"/>
          <p:nvPr/>
        </p:nvSpPr>
        <p:spPr>
          <a:xfrm>
            <a:off x="2631338" y="298094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13" name="Shape 11"/>
          <p:cNvSpPr/>
          <p:nvPr/>
        </p:nvSpPr>
        <p:spPr>
          <a:xfrm>
            <a:off x="777240" y="3566160"/>
            <a:ext cx="3088538" cy="640080"/>
          </a:xfrm>
          <a:prstGeom prst="roundRect">
            <a:avLst>
              <a:gd name="adj" fmla="val 11429"/>
            </a:avLst>
          </a:prstGeom>
          <a:solidFill>
            <a:schemeClr val="accent5"/>
          </a:solidFill>
          <a:ln/>
        </p:spPr>
      </p:sp>
      <p:sp>
        <p:nvSpPr>
          <p:cNvPr id="14" name="Text 12"/>
          <p:cNvSpPr txBox="1"/>
          <p:nvPr/>
        </p:nvSpPr>
        <p:spPr>
          <a:xfrm>
            <a:off x="960120" y="3566160"/>
            <a:ext cx="1625498" cy="640080"/>
          </a:xfrm>
          <a:prstGeom prst="rect">
            <a:avLst/>
          </a:prstGeom>
          <a:noFill/>
          <a:ln/>
        </p:spPr>
        <p:txBody>
          <a:bodyPr wrap="square" lIns="0" tIns="0" rIns="0" bIns="0" rtlCol="0" anchor="ctr"/>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Mobile deal rooms</a:t>
            </a:r>
            <a:endParaRPr lang="en-US" sz="1100" dirty="0"/>
          </a:p>
        </p:txBody>
      </p:sp>
      <p:sp>
        <p:nvSpPr>
          <p:cNvPr id="15" name="Shape 13"/>
          <p:cNvSpPr/>
          <p:nvPr/>
        </p:nvSpPr>
        <p:spPr>
          <a:xfrm>
            <a:off x="2631338" y="3758184"/>
            <a:ext cx="1051560" cy="256032"/>
          </a:xfrm>
          <a:prstGeom prst="roundRect">
            <a:avLst>
              <a:gd name="adj" fmla="val 50000"/>
            </a:avLst>
          </a:prstGeom>
          <a:ln w="9525">
            <a:solidFill>
              <a:schemeClr val="accent3"/>
            </a:solidFill>
            <a:prstDash val="solid"/>
          </a:ln>
        </p:spPr>
      </p:sp>
      <p:sp>
        <p:nvSpPr>
          <p:cNvPr id="16" name="Text 14"/>
          <p:cNvSpPr txBox="1"/>
          <p:nvPr/>
        </p:nvSpPr>
        <p:spPr>
          <a:xfrm>
            <a:off x="2631338" y="3758184"/>
            <a:ext cx="1051560" cy="256032"/>
          </a:xfrm>
          <a:prstGeom prst="rect">
            <a:avLst/>
          </a:prstGeom>
          <a:noFill/>
          <a:ln/>
        </p:spPr>
        <p:txBody>
          <a:bodyPr wrap="square" lIns="0" tIns="0" rIns="0" bIns="0" rtlCol="0" anchor="ctr"/>
          <a:lstStyle/>
          <a:p>
            <a:pPr algn="ctr" indent="0" marL="0">
              <a:buNone/>
            </a:pPr>
            <a:r>
              <a:rPr lang="en-US" sz="800" dirty="0">
                <a:solidFill>
                  <a:schemeClr val="accent4"/>
                </a:solidFill>
                <a:latin typeface="Inter Medium" pitchFamily="34" charset="0"/>
                <a:ea typeface="Inter Medium" pitchFamily="34" charset="-122"/>
                <a:cs typeface="Inter Medium" pitchFamily="34" charset="-120"/>
              </a:rPr>
              <a:t>Platform</a:t>
            </a:r>
            <a:endParaRPr lang="en-US" sz="800" dirty="0"/>
          </a:p>
        </p:txBody>
      </p:sp>
      <p:sp>
        <p:nvSpPr>
          <p:cNvPr id="17" name="Shape 15"/>
          <p:cNvSpPr/>
          <p:nvPr/>
        </p:nvSpPr>
        <p:spPr>
          <a:xfrm>
            <a:off x="777240" y="4343400"/>
            <a:ext cx="3088538" cy="640080"/>
          </a:xfrm>
          <a:prstGeom prst="roundRect">
            <a:avLst>
              <a:gd name="adj" fmla="val 11429"/>
            </a:avLst>
          </a:prstGeom>
          <a:solidFill>
            <a:schemeClr val="accent5"/>
          </a:solidFill>
          <a:ln/>
        </p:spPr>
      </p:sp>
      <p:sp>
        <p:nvSpPr>
          <p:cNvPr id="18" name="Text 16"/>
          <p:cNvSpPr txBox="1"/>
          <p:nvPr/>
        </p:nvSpPr>
        <p:spPr>
          <a:xfrm>
            <a:off x="960120" y="4343400"/>
            <a:ext cx="1625498" cy="640080"/>
          </a:xfrm>
          <a:prstGeom prst="rect">
            <a:avLst/>
          </a:prstGeom>
          <a:noFill/>
          <a:ln/>
        </p:spPr>
        <p:txBody>
          <a:bodyPr wrap="square" lIns="0" tIns="0" rIns="0" bIns="0" rtlCol="0" anchor="ctr"/>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HubSpot 2-way sync</a:t>
            </a:r>
            <a:endParaRPr lang="en-US" sz="1100" dirty="0"/>
          </a:p>
        </p:txBody>
      </p:sp>
      <p:sp>
        <p:nvSpPr>
          <p:cNvPr id="19" name="Shape 17"/>
          <p:cNvSpPr/>
          <p:nvPr/>
        </p:nvSpPr>
        <p:spPr>
          <a:xfrm>
            <a:off x="2631338" y="4535424"/>
            <a:ext cx="1051560" cy="256032"/>
          </a:xfrm>
          <a:prstGeom prst="roundRect">
            <a:avLst>
              <a:gd name="adj" fmla="val 50000"/>
            </a:avLst>
          </a:prstGeom>
          <a:solidFill>
            <a:schemeClr val="accent1"/>
          </a:solidFill>
          <a:ln/>
        </p:spPr>
      </p:sp>
      <p:sp>
        <p:nvSpPr>
          <p:cNvPr id="20" name="Text 18"/>
          <p:cNvSpPr txBox="1"/>
          <p:nvPr/>
        </p:nvSpPr>
        <p:spPr>
          <a:xfrm>
            <a:off x="2631338" y="4535424"/>
            <a:ext cx="1051560" cy="256032"/>
          </a:xfrm>
          <a:prstGeom prst="rect">
            <a:avLst/>
          </a:prstGeom>
          <a:noFill/>
          <a:ln/>
        </p:spPr>
        <p:txBody>
          <a:bodyPr wrap="square" lIns="0" tIns="0" rIns="0" bIns="0" rtlCol="0" anchor="ctr"/>
          <a:lstStyle/>
          <a:p>
            <a:pPr algn="ctr" indent="0" marL="0">
              <a:buNone/>
            </a:pPr>
            <a:r>
              <a:rPr lang="en-US" sz="800" dirty="0">
                <a:solidFill>
                  <a:schemeClr val="tx1"/>
                </a:solidFill>
                <a:latin typeface="Inter Medium" pitchFamily="34" charset="0"/>
                <a:ea typeface="Inter Medium" pitchFamily="34" charset="-122"/>
                <a:cs typeface="Inter Medium" pitchFamily="34" charset="-120"/>
              </a:rPr>
              <a:t>Ecosystem</a:t>
            </a:r>
            <a:endParaRPr lang="en-US" sz="800" dirty="0"/>
          </a:p>
        </p:txBody>
      </p:sp>
      <p:sp>
        <p:nvSpPr>
          <p:cNvPr id="21" name="Shape 19"/>
          <p:cNvSpPr/>
          <p:nvPr/>
        </p:nvSpPr>
        <p:spPr>
          <a:xfrm>
            <a:off x="4322978" y="1920240"/>
            <a:ext cx="3545738" cy="4069080"/>
          </a:xfrm>
          <a:prstGeom prst="roundRect">
            <a:avLst>
              <a:gd name="adj" fmla="val 2579"/>
            </a:avLst>
          </a:prstGeom>
          <a:solidFill>
            <a:schemeClr val="bg2"/>
          </a:solidFill>
          <a:ln/>
        </p:spPr>
      </p:sp>
      <p:sp>
        <p:nvSpPr>
          <p:cNvPr id="22" name="Text 20"/>
          <p:cNvSpPr txBox="1"/>
          <p:nvPr/>
        </p:nvSpPr>
        <p:spPr>
          <a:xfrm>
            <a:off x="4597298" y="2148840"/>
            <a:ext cx="1828800" cy="41148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Next</a:t>
            </a:r>
            <a:endParaRPr lang="en-US" sz="2400" dirty="0"/>
          </a:p>
        </p:txBody>
      </p:sp>
      <p:sp>
        <p:nvSpPr>
          <p:cNvPr id="23" name="Text 21"/>
          <p:cNvSpPr txBox="1"/>
          <p:nvPr/>
        </p:nvSpPr>
        <p:spPr>
          <a:xfrm>
            <a:off x="6222797" y="2194560"/>
            <a:ext cx="1371600" cy="320040"/>
          </a:xfrm>
          <a:prstGeom prst="rect">
            <a:avLst/>
          </a:prstGeom>
          <a:noFill/>
          <a:ln/>
        </p:spPr>
        <p:txBody>
          <a:bodyPr wrap="square" lIns="0" tIns="0" rIns="0" bIns="0" rtlCol="0" anchor="ctr"/>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H1 2027</a:t>
            </a:r>
            <a:endParaRPr lang="en-US" sz="1000" dirty="0"/>
          </a:p>
        </p:txBody>
      </p:sp>
      <p:sp>
        <p:nvSpPr>
          <p:cNvPr id="24" name="Shape 22"/>
          <p:cNvSpPr/>
          <p:nvPr/>
        </p:nvSpPr>
        <p:spPr>
          <a:xfrm>
            <a:off x="4551578" y="2788920"/>
            <a:ext cx="3088538" cy="640080"/>
          </a:xfrm>
          <a:prstGeom prst="roundRect">
            <a:avLst>
              <a:gd name="adj" fmla="val 11429"/>
            </a:avLst>
          </a:prstGeom>
          <a:solidFill>
            <a:schemeClr val="bg1"/>
          </a:solidFill>
          <a:ln/>
        </p:spPr>
      </p:sp>
      <p:sp>
        <p:nvSpPr>
          <p:cNvPr id="25" name="Text 23"/>
          <p:cNvSpPr txBox="1"/>
          <p:nvPr/>
        </p:nvSpPr>
        <p:spPr>
          <a:xfrm>
            <a:off x="4734458" y="278892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AI call summaries</a:t>
            </a:r>
            <a:endParaRPr lang="en-US" sz="1100" dirty="0"/>
          </a:p>
        </p:txBody>
      </p:sp>
      <p:sp>
        <p:nvSpPr>
          <p:cNvPr id="26" name="Shape 24"/>
          <p:cNvSpPr/>
          <p:nvPr/>
        </p:nvSpPr>
        <p:spPr>
          <a:xfrm>
            <a:off x="6405677" y="2980944"/>
            <a:ext cx="1051560" cy="256032"/>
          </a:xfrm>
          <a:prstGeom prst="roundRect">
            <a:avLst>
              <a:gd name="adj" fmla="val 50000"/>
            </a:avLst>
          </a:prstGeom>
          <a:solidFill>
            <a:schemeClr val="tx1"/>
          </a:solidFill>
          <a:ln/>
        </p:spPr>
      </p:sp>
      <p:sp>
        <p:nvSpPr>
          <p:cNvPr id="27" name="Text 25"/>
          <p:cNvSpPr txBox="1"/>
          <p:nvPr/>
        </p:nvSpPr>
        <p:spPr>
          <a:xfrm>
            <a:off x="6405677" y="298094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28" name="Shape 26"/>
          <p:cNvSpPr/>
          <p:nvPr/>
        </p:nvSpPr>
        <p:spPr>
          <a:xfrm>
            <a:off x="4551578" y="3566160"/>
            <a:ext cx="3088538" cy="640080"/>
          </a:xfrm>
          <a:prstGeom prst="roundRect">
            <a:avLst>
              <a:gd name="adj" fmla="val 11429"/>
            </a:avLst>
          </a:prstGeom>
          <a:solidFill>
            <a:schemeClr val="bg1"/>
          </a:solidFill>
          <a:ln/>
        </p:spPr>
      </p:sp>
      <p:sp>
        <p:nvSpPr>
          <p:cNvPr id="29" name="Text 27"/>
          <p:cNvSpPr txBox="1"/>
          <p:nvPr/>
        </p:nvSpPr>
        <p:spPr>
          <a:xfrm>
            <a:off x="4734458" y="356616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Custom objects</a:t>
            </a:r>
            <a:endParaRPr lang="en-US" sz="1100" dirty="0"/>
          </a:p>
        </p:txBody>
      </p:sp>
      <p:sp>
        <p:nvSpPr>
          <p:cNvPr id="30" name="Shape 28"/>
          <p:cNvSpPr/>
          <p:nvPr/>
        </p:nvSpPr>
        <p:spPr>
          <a:xfrm>
            <a:off x="6405677" y="3758184"/>
            <a:ext cx="1051560" cy="256032"/>
          </a:xfrm>
          <a:prstGeom prst="roundRect">
            <a:avLst>
              <a:gd name="adj" fmla="val 50000"/>
            </a:avLst>
          </a:prstGeom>
          <a:ln w="9525">
            <a:solidFill>
              <a:schemeClr val="accent4"/>
            </a:solidFill>
            <a:prstDash val="solid"/>
          </a:ln>
        </p:spPr>
      </p:sp>
      <p:sp>
        <p:nvSpPr>
          <p:cNvPr id="31" name="Text 29"/>
          <p:cNvSpPr txBox="1"/>
          <p:nvPr/>
        </p:nvSpPr>
        <p:spPr>
          <a:xfrm>
            <a:off x="6405677" y="3758184"/>
            <a:ext cx="1051560" cy="256032"/>
          </a:xfrm>
          <a:prstGeom prst="rect">
            <a:avLst/>
          </a:prstGeom>
          <a:noFill/>
          <a:ln/>
        </p:spPr>
        <p:txBody>
          <a:bodyPr wrap="square" lIns="0" tIns="0" rIns="0" bIns="0" rtlCol="0" anchor="ctr"/>
          <a:lstStyle/>
          <a:p>
            <a:pPr algn="ctr" indent="0" marL="0">
              <a:buNone/>
            </a:pPr>
            <a:r>
              <a:rPr lang="en-US" sz="800" dirty="0">
                <a:solidFill>
                  <a:schemeClr val="tx2"/>
                </a:solidFill>
                <a:latin typeface="Inter Medium" pitchFamily="34" charset="0"/>
                <a:ea typeface="Inter Medium" pitchFamily="34" charset="-122"/>
                <a:cs typeface="Inter Medium" pitchFamily="34" charset="-120"/>
              </a:rPr>
              <a:t>Platform</a:t>
            </a:r>
            <a:endParaRPr lang="en-US" sz="800" dirty="0"/>
          </a:p>
        </p:txBody>
      </p:sp>
      <p:sp>
        <p:nvSpPr>
          <p:cNvPr id="32" name="Shape 30"/>
          <p:cNvSpPr/>
          <p:nvPr/>
        </p:nvSpPr>
        <p:spPr>
          <a:xfrm>
            <a:off x="4551578" y="4343400"/>
            <a:ext cx="3088538" cy="640080"/>
          </a:xfrm>
          <a:prstGeom prst="roundRect">
            <a:avLst>
              <a:gd name="adj" fmla="val 11429"/>
            </a:avLst>
          </a:prstGeom>
          <a:solidFill>
            <a:schemeClr val="bg1"/>
          </a:solidFill>
          <a:ln/>
        </p:spPr>
      </p:sp>
      <p:sp>
        <p:nvSpPr>
          <p:cNvPr id="33" name="Text 31"/>
          <p:cNvSpPr txBox="1"/>
          <p:nvPr/>
        </p:nvSpPr>
        <p:spPr>
          <a:xfrm>
            <a:off x="4734458" y="434340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Partner marketplace</a:t>
            </a:r>
            <a:endParaRPr lang="en-US" sz="1100" dirty="0"/>
          </a:p>
        </p:txBody>
      </p:sp>
      <p:sp>
        <p:nvSpPr>
          <p:cNvPr id="34" name="Shape 32"/>
          <p:cNvSpPr/>
          <p:nvPr/>
        </p:nvSpPr>
        <p:spPr>
          <a:xfrm>
            <a:off x="6405677" y="4535424"/>
            <a:ext cx="1051560" cy="256032"/>
          </a:xfrm>
          <a:prstGeom prst="roundRect">
            <a:avLst>
              <a:gd name="adj" fmla="val 50000"/>
            </a:avLst>
          </a:prstGeom>
          <a:solidFill>
            <a:schemeClr val="accent1"/>
          </a:solidFill>
          <a:ln/>
        </p:spPr>
      </p:sp>
      <p:sp>
        <p:nvSpPr>
          <p:cNvPr id="35" name="Text 33"/>
          <p:cNvSpPr txBox="1"/>
          <p:nvPr/>
        </p:nvSpPr>
        <p:spPr>
          <a:xfrm>
            <a:off x="6405677" y="4535424"/>
            <a:ext cx="1051560" cy="256032"/>
          </a:xfrm>
          <a:prstGeom prst="rect">
            <a:avLst/>
          </a:prstGeom>
          <a:noFill/>
          <a:ln/>
        </p:spPr>
        <p:txBody>
          <a:bodyPr wrap="square" lIns="0" tIns="0" rIns="0" bIns="0" rtlCol="0" anchor="ctr"/>
          <a:lstStyle/>
          <a:p>
            <a:pPr algn="ctr" indent="0" marL="0">
              <a:buNone/>
            </a:pPr>
            <a:r>
              <a:rPr lang="en-US" sz="800" dirty="0">
                <a:solidFill>
                  <a:schemeClr val="tx1"/>
                </a:solidFill>
                <a:latin typeface="Inter Medium" pitchFamily="34" charset="0"/>
                <a:ea typeface="Inter Medium" pitchFamily="34" charset="-122"/>
                <a:cs typeface="Inter Medium" pitchFamily="34" charset="-120"/>
              </a:rPr>
              <a:t>Ecosystem</a:t>
            </a:r>
            <a:endParaRPr lang="en-US" sz="800" dirty="0"/>
          </a:p>
        </p:txBody>
      </p:sp>
      <p:sp>
        <p:nvSpPr>
          <p:cNvPr id="36" name="Shape 34"/>
          <p:cNvSpPr/>
          <p:nvPr/>
        </p:nvSpPr>
        <p:spPr>
          <a:xfrm>
            <a:off x="4551578" y="5120640"/>
            <a:ext cx="3088538" cy="640080"/>
          </a:xfrm>
          <a:prstGeom prst="roundRect">
            <a:avLst>
              <a:gd name="adj" fmla="val 11429"/>
            </a:avLst>
          </a:prstGeom>
          <a:solidFill>
            <a:schemeClr val="bg1"/>
          </a:solidFill>
          <a:ln/>
        </p:spPr>
      </p:sp>
      <p:sp>
        <p:nvSpPr>
          <p:cNvPr id="37" name="Text 35"/>
          <p:cNvSpPr txBox="1"/>
          <p:nvPr/>
        </p:nvSpPr>
        <p:spPr>
          <a:xfrm>
            <a:off x="4734458" y="512064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Territory planning</a:t>
            </a:r>
            <a:endParaRPr lang="en-US" sz="1100" dirty="0"/>
          </a:p>
        </p:txBody>
      </p:sp>
      <p:sp>
        <p:nvSpPr>
          <p:cNvPr id="38" name="Shape 36"/>
          <p:cNvSpPr/>
          <p:nvPr/>
        </p:nvSpPr>
        <p:spPr>
          <a:xfrm>
            <a:off x="6405677" y="5312664"/>
            <a:ext cx="1051560" cy="256032"/>
          </a:xfrm>
          <a:prstGeom prst="roundRect">
            <a:avLst>
              <a:gd name="adj" fmla="val 50000"/>
            </a:avLst>
          </a:prstGeom>
          <a:solidFill>
            <a:schemeClr val="tx1"/>
          </a:solidFill>
          <a:ln/>
        </p:spPr>
      </p:sp>
      <p:sp>
        <p:nvSpPr>
          <p:cNvPr id="39" name="Text 37"/>
          <p:cNvSpPr txBox="1"/>
          <p:nvPr/>
        </p:nvSpPr>
        <p:spPr>
          <a:xfrm>
            <a:off x="6405677" y="531266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40" name="Shape 38"/>
          <p:cNvSpPr/>
          <p:nvPr/>
        </p:nvSpPr>
        <p:spPr>
          <a:xfrm>
            <a:off x="8097317" y="1920240"/>
            <a:ext cx="3545738" cy="4069080"/>
          </a:xfrm>
          <a:prstGeom prst="roundRect">
            <a:avLst>
              <a:gd name="adj" fmla="val 2579"/>
            </a:avLst>
          </a:prstGeom>
          <a:solidFill>
            <a:schemeClr val="bg2"/>
          </a:solidFill>
          <a:ln/>
        </p:spPr>
      </p:sp>
      <p:sp>
        <p:nvSpPr>
          <p:cNvPr id="41" name="Text 39"/>
          <p:cNvSpPr txBox="1"/>
          <p:nvPr/>
        </p:nvSpPr>
        <p:spPr>
          <a:xfrm>
            <a:off x="8371637" y="2148840"/>
            <a:ext cx="1828800" cy="41148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Later</a:t>
            </a:r>
            <a:endParaRPr lang="en-US" sz="2400" dirty="0"/>
          </a:p>
        </p:txBody>
      </p:sp>
      <p:sp>
        <p:nvSpPr>
          <p:cNvPr id="42" name="Text 40"/>
          <p:cNvSpPr txBox="1"/>
          <p:nvPr/>
        </p:nvSpPr>
        <p:spPr>
          <a:xfrm>
            <a:off x="9997135" y="2194560"/>
            <a:ext cx="1371600" cy="320040"/>
          </a:xfrm>
          <a:prstGeom prst="rect">
            <a:avLst/>
          </a:prstGeom>
          <a:noFill/>
          <a:ln/>
        </p:spPr>
        <p:txBody>
          <a:bodyPr wrap="square" lIns="0" tIns="0" rIns="0" bIns="0" rtlCol="0" anchor="ctr"/>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H2 2027+</a:t>
            </a:r>
            <a:endParaRPr lang="en-US" sz="1000" dirty="0"/>
          </a:p>
        </p:txBody>
      </p:sp>
      <p:sp>
        <p:nvSpPr>
          <p:cNvPr id="43" name="Shape 41"/>
          <p:cNvSpPr/>
          <p:nvPr/>
        </p:nvSpPr>
        <p:spPr>
          <a:xfrm>
            <a:off x="8325917" y="2788920"/>
            <a:ext cx="3088538" cy="640080"/>
          </a:xfrm>
          <a:prstGeom prst="roundRect">
            <a:avLst>
              <a:gd name="adj" fmla="val 11429"/>
            </a:avLst>
          </a:prstGeom>
          <a:solidFill>
            <a:schemeClr val="bg1"/>
          </a:solidFill>
          <a:ln/>
        </p:spPr>
      </p:sp>
      <p:sp>
        <p:nvSpPr>
          <p:cNvPr id="44" name="Text 42"/>
          <p:cNvSpPr txBox="1"/>
          <p:nvPr/>
        </p:nvSpPr>
        <p:spPr>
          <a:xfrm>
            <a:off x="8508797" y="278892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Autonomous forecasting</a:t>
            </a:r>
            <a:endParaRPr lang="en-US" sz="1100" dirty="0"/>
          </a:p>
        </p:txBody>
      </p:sp>
      <p:sp>
        <p:nvSpPr>
          <p:cNvPr id="45" name="Shape 43"/>
          <p:cNvSpPr/>
          <p:nvPr/>
        </p:nvSpPr>
        <p:spPr>
          <a:xfrm>
            <a:off x="10180015" y="2980944"/>
            <a:ext cx="1051560" cy="256032"/>
          </a:xfrm>
          <a:prstGeom prst="roundRect">
            <a:avLst>
              <a:gd name="adj" fmla="val 50000"/>
            </a:avLst>
          </a:prstGeom>
          <a:solidFill>
            <a:schemeClr val="tx1"/>
          </a:solidFill>
          <a:ln/>
        </p:spPr>
      </p:sp>
      <p:sp>
        <p:nvSpPr>
          <p:cNvPr id="46" name="Text 44"/>
          <p:cNvSpPr txBox="1"/>
          <p:nvPr/>
        </p:nvSpPr>
        <p:spPr>
          <a:xfrm>
            <a:off x="10180015" y="298094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47" name="Shape 45"/>
          <p:cNvSpPr/>
          <p:nvPr/>
        </p:nvSpPr>
        <p:spPr>
          <a:xfrm>
            <a:off x="8325917" y="3566160"/>
            <a:ext cx="3088538" cy="640080"/>
          </a:xfrm>
          <a:prstGeom prst="roundRect">
            <a:avLst>
              <a:gd name="adj" fmla="val 11429"/>
            </a:avLst>
          </a:prstGeom>
          <a:solidFill>
            <a:schemeClr val="bg1"/>
          </a:solidFill>
          <a:ln/>
        </p:spPr>
      </p:sp>
      <p:sp>
        <p:nvSpPr>
          <p:cNvPr id="48" name="Text 46"/>
          <p:cNvSpPr txBox="1"/>
          <p:nvPr/>
        </p:nvSpPr>
        <p:spPr>
          <a:xfrm>
            <a:off x="8508797" y="356616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Data residency (APAC)</a:t>
            </a:r>
            <a:endParaRPr lang="en-US" sz="1100" dirty="0"/>
          </a:p>
        </p:txBody>
      </p:sp>
      <p:sp>
        <p:nvSpPr>
          <p:cNvPr id="49" name="Shape 47"/>
          <p:cNvSpPr/>
          <p:nvPr/>
        </p:nvSpPr>
        <p:spPr>
          <a:xfrm>
            <a:off x="10180015" y="3758184"/>
            <a:ext cx="1051560" cy="256032"/>
          </a:xfrm>
          <a:prstGeom prst="roundRect">
            <a:avLst>
              <a:gd name="adj" fmla="val 50000"/>
            </a:avLst>
          </a:prstGeom>
          <a:ln w="9525">
            <a:solidFill>
              <a:schemeClr val="accent4"/>
            </a:solidFill>
            <a:prstDash val="solid"/>
          </a:ln>
        </p:spPr>
      </p:sp>
      <p:sp>
        <p:nvSpPr>
          <p:cNvPr id="50" name="Text 48"/>
          <p:cNvSpPr txBox="1"/>
          <p:nvPr/>
        </p:nvSpPr>
        <p:spPr>
          <a:xfrm>
            <a:off x="10180015" y="3758184"/>
            <a:ext cx="1051560" cy="256032"/>
          </a:xfrm>
          <a:prstGeom prst="rect">
            <a:avLst/>
          </a:prstGeom>
          <a:noFill/>
          <a:ln/>
        </p:spPr>
        <p:txBody>
          <a:bodyPr wrap="square" lIns="0" tIns="0" rIns="0" bIns="0" rtlCol="0" anchor="ctr"/>
          <a:lstStyle/>
          <a:p>
            <a:pPr algn="ctr" indent="0" marL="0">
              <a:buNone/>
            </a:pPr>
            <a:r>
              <a:rPr lang="en-US" sz="800" dirty="0">
                <a:solidFill>
                  <a:schemeClr val="tx2"/>
                </a:solidFill>
                <a:latin typeface="Inter Medium" pitchFamily="34" charset="0"/>
                <a:ea typeface="Inter Medium" pitchFamily="34" charset="-122"/>
                <a:cs typeface="Inter Medium" pitchFamily="34" charset="-120"/>
              </a:rPr>
              <a:t>Platform</a:t>
            </a:r>
            <a:endParaRPr lang="en-US" sz="800" dirty="0"/>
          </a:p>
        </p:txBody>
      </p:sp>
      <p:sp>
        <p:nvSpPr>
          <p:cNvPr id="51" name="Shape 49"/>
          <p:cNvSpPr/>
          <p:nvPr/>
        </p:nvSpPr>
        <p:spPr>
          <a:xfrm>
            <a:off x="8325917" y="4343400"/>
            <a:ext cx="3088538" cy="640080"/>
          </a:xfrm>
          <a:prstGeom prst="roundRect">
            <a:avLst>
              <a:gd name="adj" fmla="val 11429"/>
            </a:avLst>
          </a:prstGeom>
          <a:solidFill>
            <a:schemeClr val="bg1"/>
          </a:solidFill>
          <a:ln/>
        </p:spPr>
      </p:sp>
      <p:sp>
        <p:nvSpPr>
          <p:cNvPr id="52" name="Text 50"/>
          <p:cNvSpPr txBox="1"/>
          <p:nvPr/>
        </p:nvSpPr>
        <p:spPr>
          <a:xfrm>
            <a:off x="8508797" y="434340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Revenue data network</a:t>
            </a:r>
            <a:endParaRPr lang="en-US" sz="1100" dirty="0"/>
          </a:p>
        </p:txBody>
      </p:sp>
      <p:sp>
        <p:nvSpPr>
          <p:cNvPr id="53" name="Shape 51"/>
          <p:cNvSpPr/>
          <p:nvPr/>
        </p:nvSpPr>
        <p:spPr>
          <a:xfrm>
            <a:off x="10180015" y="4535424"/>
            <a:ext cx="1051560" cy="256032"/>
          </a:xfrm>
          <a:prstGeom prst="roundRect">
            <a:avLst>
              <a:gd name="adj" fmla="val 50000"/>
            </a:avLst>
          </a:prstGeom>
          <a:solidFill>
            <a:schemeClr val="accent1"/>
          </a:solidFill>
          <a:ln/>
        </p:spPr>
      </p:sp>
      <p:sp>
        <p:nvSpPr>
          <p:cNvPr id="54" name="Text 52"/>
          <p:cNvSpPr txBox="1"/>
          <p:nvPr/>
        </p:nvSpPr>
        <p:spPr>
          <a:xfrm>
            <a:off x="10180015" y="4535424"/>
            <a:ext cx="1051560" cy="256032"/>
          </a:xfrm>
          <a:prstGeom prst="rect">
            <a:avLst/>
          </a:prstGeom>
          <a:noFill/>
          <a:ln/>
        </p:spPr>
        <p:txBody>
          <a:bodyPr wrap="square" lIns="0" tIns="0" rIns="0" bIns="0" rtlCol="0" anchor="ctr"/>
          <a:lstStyle/>
          <a:p>
            <a:pPr algn="ctr" indent="0" marL="0">
              <a:buNone/>
            </a:pPr>
            <a:r>
              <a:rPr lang="en-US" sz="800" dirty="0">
                <a:solidFill>
                  <a:schemeClr val="tx1"/>
                </a:solidFill>
                <a:latin typeface="Inter Medium" pitchFamily="34" charset="0"/>
                <a:ea typeface="Inter Medium" pitchFamily="34" charset="-122"/>
                <a:cs typeface="Inter Medium" pitchFamily="34" charset="-120"/>
              </a:rPr>
              <a:t>Ecosystem</a:t>
            </a:r>
            <a:endParaRPr lang="en-US" sz="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At the centre of the revenue tech stack</a:t>
            </a:r>
            <a:endParaRPr lang="en-US" sz="2800" dirty="0"/>
          </a:p>
        </p:txBody>
      </p:sp>
      <p:sp>
        <p:nvSpPr>
          <p:cNvPr id="5" name="Text 3"/>
          <p:cNvSpPr txBox="1"/>
          <p:nvPr/>
        </p:nvSpPr>
        <p:spPr>
          <a:xfrm>
            <a:off x="548640" y="1920240"/>
            <a:ext cx="3545738" cy="1097280"/>
          </a:xfrm>
          <a:prstGeom prst="rect">
            <a:avLst/>
          </a:prstGeom>
          <a:noFill/>
          <a:ln/>
        </p:spPr>
        <p:txBody>
          <a:bodyPr wrap="square" lIns="0" tIns="0" rIns="0" bIns="0" rtlCol="0" anchor="t"/>
          <a:lstStyle/>
          <a:p>
            <a:pPr algn="l" indent="0" marL="0">
              <a:lnSpc>
                <a:spcPct val="130000"/>
              </a:lnSpc>
              <a:buNone/>
            </a:pPr>
            <a:r>
              <a:rPr lang="en-US" sz="1300" dirty="0">
                <a:solidFill>
                  <a:schemeClr val="accent4"/>
                </a:solidFill>
                <a:latin typeface="Inter" pitchFamily="34" charset="0"/>
                <a:ea typeface="Inter" pitchFamily="34" charset="-122"/>
                <a:cs typeface="Inter" pitchFamily="34" charset="-120"/>
              </a:rPr>
              <a:t>140+ native integrations mean Corvanta fits into existing workflows on day one — no rip-and-replace.</a:t>
            </a:r>
            <a:endParaRPr lang="en-US" sz="1300" dirty="0"/>
          </a:p>
        </p:txBody>
      </p:sp>
      <p:sp>
        <p:nvSpPr>
          <p:cNvPr id="6" name="Text 4"/>
          <p:cNvSpPr txBox="1"/>
          <p:nvPr/>
        </p:nvSpPr>
        <p:spPr>
          <a:xfrm>
            <a:off x="548640" y="3246120"/>
            <a:ext cx="2011680" cy="457200"/>
          </a:xfrm>
          <a:prstGeom prst="rect">
            <a:avLst/>
          </a:prstGeom>
          <a:noFill/>
          <a:ln/>
        </p:spPr>
        <p:txBody>
          <a:bodyPr wrap="square" lIns="0" tIns="0" rIns="0" bIns="0" rtlCol="0" anchor="t"/>
          <a:lstStyle/>
          <a:p>
            <a:pPr algn="l" indent="0" marL="0">
              <a:buNone/>
            </a:pPr>
            <a:r>
              <a:rPr lang="en-US" sz="2600" dirty="0">
                <a:solidFill>
                  <a:schemeClr val="accent1"/>
                </a:solidFill>
                <a:latin typeface="Manrope ExtraBold" pitchFamily="34" charset="0"/>
                <a:ea typeface="Manrope ExtraBold" pitchFamily="34" charset="-122"/>
                <a:cs typeface="Manrope ExtraBold" pitchFamily="34" charset="-120"/>
              </a:rPr>
              <a:t>140+</a:t>
            </a:r>
            <a:endParaRPr lang="en-US" sz="2600" dirty="0"/>
          </a:p>
        </p:txBody>
      </p:sp>
      <p:sp>
        <p:nvSpPr>
          <p:cNvPr id="7" name="Text 5"/>
          <p:cNvSpPr txBox="1"/>
          <p:nvPr/>
        </p:nvSpPr>
        <p:spPr>
          <a:xfrm>
            <a:off x="2560320" y="3337560"/>
            <a:ext cx="2194560" cy="32004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integrations</a:t>
            </a:r>
            <a:endParaRPr lang="en-US" sz="1100" dirty="0"/>
          </a:p>
        </p:txBody>
      </p:sp>
      <p:sp>
        <p:nvSpPr>
          <p:cNvPr id="8" name="Text 6"/>
          <p:cNvSpPr txBox="1"/>
          <p:nvPr/>
        </p:nvSpPr>
        <p:spPr>
          <a:xfrm>
            <a:off x="548640" y="4114800"/>
            <a:ext cx="2011680" cy="45720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2 days</a:t>
            </a:r>
            <a:endParaRPr lang="en-US" sz="2600" dirty="0"/>
          </a:p>
        </p:txBody>
      </p:sp>
      <p:sp>
        <p:nvSpPr>
          <p:cNvPr id="9" name="Text 7"/>
          <p:cNvSpPr txBox="1"/>
          <p:nvPr/>
        </p:nvSpPr>
        <p:spPr>
          <a:xfrm>
            <a:off x="2560320" y="4206240"/>
            <a:ext cx="2194560" cy="32004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median setup time</a:t>
            </a:r>
            <a:endParaRPr lang="en-US" sz="1100" dirty="0"/>
          </a:p>
        </p:txBody>
      </p:sp>
      <p:sp>
        <p:nvSpPr>
          <p:cNvPr id="10" name="Text 8"/>
          <p:cNvSpPr txBox="1"/>
          <p:nvPr/>
        </p:nvSpPr>
        <p:spPr>
          <a:xfrm>
            <a:off x="548640" y="4983480"/>
            <a:ext cx="2011680" cy="45720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38%</a:t>
            </a:r>
            <a:endParaRPr lang="en-US" sz="2600" dirty="0"/>
          </a:p>
        </p:txBody>
      </p:sp>
      <p:sp>
        <p:nvSpPr>
          <p:cNvPr id="11" name="Text 9"/>
          <p:cNvSpPr txBox="1"/>
          <p:nvPr/>
        </p:nvSpPr>
        <p:spPr>
          <a:xfrm>
            <a:off x="2560320" y="5074920"/>
            <a:ext cx="2194560" cy="32004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of pipeline flows via partners</a:t>
            </a:r>
            <a:endParaRPr lang="en-US" sz="1100" dirty="0"/>
          </a:p>
        </p:txBody>
      </p:sp>
      <p:sp>
        <p:nvSpPr>
          <p:cNvPr id="12" name="Shape 10"/>
          <p:cNvSpPr/>
          <p:nvPr/>
        </p:nvSpPr>
        <p:spPr>
          <a:xfrm>
            <a:off x="8097317" y="2057400"/>
            <a:ext cx="914" cy="1828800"/>
          </a:xfrm>
          <a:prstGeom prst="line">
            <a:avLst/>
          </a:prstGeom>
          <a:noFill/>
          <a:ln w="12700">
            <a:solidFill>
              <a:schemeClr val="accent2"/>
            </a:solidFill>
            <a:prstDash val="dash"/>
          </a:ln>
        </p:spPr>
      </p:sp>
      <p:sp>
        <p:nvSpPr>
          <p:cNvPr id="13" name="Shape 11"/>
          <p:cNvSpPr/>
          <p:nvPr/>
        </p:nvSpPr>
        <p:spPr>
          <a:xfrm>
            <a:off x="7768133" y="1728216"/>
            <a:ext cx="658368" cy="658368"/>
          </a:xfrm>
          <a:prstGeom prst="ellipse">
            <a:avLst/>
          </a:prstGeom>
          <a:solidFill>
            <a:schemeClr val="accent5"/>
          </a:solidFill>
          <a:ln w="12700">
            <a:solidFill>
              <a:schemeClr val="accent2"/>
            </a:solidFill>
            <a:prstDash val="solid"/>
          </a:ln>
        </p:spPr>
      </p:sp>
      <p:pic>
        <p:nvPicPr>
          <p:cNvPr id="14" name="Icon PiDatabase FFFFFF" descr="preencoded.png">    </p:cNvPr>
          <p:cNvPicPr>
            <a:picLocks noChangeAspect="1"/>
          </p:cNvPicPr>
          <p:nvPr/>
        </p:nvPicPr>
        <p:blipFill>
          <a:blip r:embed="rId1">
            <a:extLst>
              <a:ext uri="{96DAC541-7B7A-43D3-8B79-37D633B846F1}">
                <asvg:svgBlip xmlns:asvg="http://schemas.microsoft.com/office/drawing/2016/SVG/main" r:embed="rId11"/>
              </a:ext>
            </a:extLst>
          </a:blip>
          <a:stretch>
            <a:fillRect/>
          </a:stretch>
        </p:blipFill>
        <p:spPr>
          <a:xfrm>
            <a:off x="7941869" y="1901952"/>
            <a:ext cx="310896" cy="310896"/>
          </a:xfrm>
          <a:prstGeom prst="rect">
            <a:avLst/>
          </a:prstGeom>
        </p:spPr>
      </p:pic>
      <p:sp>
        <p:nvSpPr>
          <p:cNvPr id="15" name="Text 12"/>
          <p:cNvSpPr txBox="1"/>
          <p:nvPr/>
        </p:nvSpPr>
        <p:spPr>
          <a:xfrm>
            <a:off x="7365797" y="1453896"/>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CRM</a:t>
            </a:r>
            <a:endParaRPr lang="en-US" sz="950" dirty="0"/>
          </a:p>
        </p:txBody>
      </p:sp>
      <p:sp>
        <p:nvSpPr>
          <p:cNvPr id="16" name="Shape 13"/>
          <p:cNvSpPr/>
          <p:nvPr/>
        </p:nvSpPr>
        <p:spPr>
          <a:xfrm flipV="1">
            <a:off x="8097317" y="2593043"/>
            <a:ext cx="1293157" cy="1293157"/>
          </a:xfrm>
          <a:prstGeom prst="line">
            <a:avLst/>
          </a:prstGeom>
          <a:noFill/>
          <a:ln w="12700">
            <a:solidFill>
              <a:schemeClr val="accent2"/>
            </a:solidFill>
            <a:prstDash val="dash"/>
          </a:ln>
        </p:spPr>
      </p:sp>
      <p:sp>
        <p:nvSpPr>
          <p:cNvPr id="17" name="Shape 14"/>
          <p:cNvSpPr/>
          <p:nvPr/>
        </p:nvSpPr>
        <p:spPr>
          <a:xfrm>
            <a:off x="9061290" y="2263859"/>
            <a:ext cx="658368" cy="658368"/>
          </a:xfrm>
          <a:prstGeom prst="ellipse">
            <a:avLst/>
          </a:prstGeom>
          <a:solidFill>
            <a:schemeClr val="accent5"/>
          </a:solidFill>
          <a:ln w="12700">
            <a:solidFill>
              <a:schemeClr val="accent2"/>
            </a:solidFill>
            <a:prstDash val="solid"/>
          </a:ln>
        </p:spPr>
      </p:sp>
      <p:pic>
        <p:nvPicPr>
          <p:cNvPr id="18" name="Icon PiEnvelopeSimple FFFFFF" descr="preencoded.png">    </p:cNvPr>
          <p:cNvPicPr>
            <a:picLocks noChangeAspect="1"/>
          </p:cNvPicPr>
          <p:nvPr/>
        </p:nvPicPr>
        <p:blipFill>
          <a:blip r:embed="rId2">
            <a:extLst>
              <a:ext uri="{96DAC541-7B7A-43D3-8B79-37D633B846F1}">
                <asvg:svgBlip xmlns:asvg="http://schemas.microsoft.com/office/drawing/2016/SVG/main" r:embed="rId12"/>
              </a:ext>
            </a:extLst>
          </a:blip>
          <a:stretch>
            <a:fillRect/>
          </a:stretch>
        </p:blipFill>
        <p:spPr>
          <a:xfrm>
            <a:off x="9235026" y="2437595"/>
            <a:ext cx="310896" cy="310896"/>
          </a:xfrm>
          <a:prstGeom prst="rect">
            <a:avLst/>
          </a:prstGeom>
        </p:spPr>
      </p:pic>
      <p:sp>
        <p:nvSpPr>
          <p:cNvPr id="19" name="Text 15"/>
          <p:cNvSpPr txBox="1"/>
          <p:nvPr/>
        </p:nvSpPr>
        <p:spPr>
          <a:xfrm>
            <a:off x="8658954" y="1989539"/>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Email</a:t>
            </a:r>
            <a:endParaRPr lang="en-US" sz="950" dirty="0"/>
          </a:p>
        </p:txBody>
      </p:sp>
      <p:sp>
        <p:nvSpPr>
          <p:cNvPr id="20" name="Shape 16"/>
          <p:cNvSpPr/>
          <p:nvPr/>
        </p:nvSpPr>
        <p:spPr>
          <a:xfrm>
            <a:off x="8097317" y="3886200"/>
            <a:ext cx="1828800" cy="914"/>
          </a:xfrm>
          <a:prstGeom prst="line">
            <a:avLst/>
          </a:prstGeom>
          <a:noFill/>
          <a:ln w="12700">
            <a:solidFill>
              <a:schemeClr val="accent2"/>
            </a:solidFill>
            <a:prstDash val="dash"/>
          </a:ln>
        </p:spPr>
      </p:sp>
      <p:sp>
        <p:nvSpPr>
          <p:cNvPr id="21" name="Shape 17"/>
          <p:cNvSpPr/>
          <p:nvPr/>
        </p:nvSpPr>
        <p:spPr>
          <a:xfrm>
            <a:off x="9596933" y="3557016"/>
            <a:ext cx="658368" cy="658368"/>
          </a:xfrm>
          <a:prstGeom prst="ellipse">
            <a:avLst/>
          </a:prstGeom>
          <a:solidFill>
            <a:schemeClr val="accent5"/>
          </a:solidFill>
          <a:ln w="12700">
            <a:solidFill>
              <a:schemeClr val="accent2"/>
            </a:solidFill>
            <a:prstDash val="solid"/>
          </a:ln>
        </p:spPr>
      </p:sp>
      <p:pic>
        <p:nvPicPr>
          <p:cNvPr id="22" name="Icon PiCalendarBlank FFFFFF" descr="preencoded.png">    </p:cNvPr>
          <p:cNvPicPr>
            <a:picLocks noChangeAspect="1"/>
          </p:cNvPicPr>
          <p:nvPr/>
        </p:nvPicPr>
        <p:blipFill>
          <a:blip r:embed="rId3">
            <a:extLst>
              <a:ext uri="{96DAC541-7B7A-43D3-8B79-37D633B846F1}">
                <asvg:svgBlip xmlns:asvg="http://schemas.microsoft.com/office/drawing/2016/SVG/main" r:embed="rId13"/>
              </a:ext>
            </a:extLst>
          </a:blip>
          <a:stretch>
            <a:fillRect/>
          </a:stretch>
        </p:blipFill>
        <p:spPr>
          <a:xfrm>
            <a:off x="9770669" y="3730752"/>
            <a:ext cx="310896" cy="310896"/>
          </a:xfrm>
          <a:prstGeom prst="rect">
            <a:avLst/>
          </a:prstGeom>
        </p:spPr>
      </p:pic>
      <p:sp>
        <p:nvSpPr>
          <p:cNvPr id="23" name="Text 18"/>
          <p:cNvSpPr txBox="1"/>
          <p:nvPr/>
        </p:nvSpPr>
        <p:spPr>
          <a:xfrm>
            <a:off x="9194597" y="4261104"/>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Calendar</a:t>
            </a:r>
            <a:endParaRPr lang="en-US" sz="950" dirty="0"/>
          </a:p>
        </p:txBody>
      </p:sp>
      <p:sp>
        <p:nvSpPr>
          <p:cNvPr id="24" name="Shape 19"/>
          <p:cNvSpPr/>
          <p:nvPr/>
        </p:nvSpPr>
        <p:spPr>
          <a:xfrm>
            <a:off x="8097317" y="3886200"/>
            <a:ext cx="1293157" cy="1293157"/>
          </a:xfrm>
          <a:prstGeom prst="line">
            <a:avLst/>
          </a:prstGeom>
          <a:noFill/>
          <a:ln w="12700">
            <a:solidFill>
              <a:schemeClr val="accent2"/>
            </a:solidFill>
            <a:prstDash val="dash"/>
          </a:ln>
        </p:spPr>
      </p:sp>
      <p:sp>
        <p:nvSpPr>
          <p:cNvPr id="25" name="Shape 20"/>
          <p:cNvSpPr/>
          <p:nvPr/>
        </p:nvSpPr>
        <p:spPr>
          <a:xfrm>
            <a:off x="9061290" y="4850173"/>
            <a:ext cx="658368" cy="658368"/>
          </a:xfrm>
          <a:prstGeom prst="ellipse">
            <a:avLst/>
          </a:prstGeom>
          <a:solidFill>
            <a:schemeClr val="accent5"/>
          </a:solidFill>
          <a:ln w="12700">
            <a:solidFill>
              <a:schemeClr val="accent2"/>
            </a:solidFill>
            <a:prstDash val="solid"/>
          </a:ln>
        </p:spPr>
      </p:sp>
      <p:pic>
        <p:nvPicPr>
          <p:cNvPr id="26" name="Icon PiPhone FFFFFF" descr="preencoded.png">    </p:cNvPr>
          <p:cNvPicPr>
            <a:picLocks noChangeAspect="1"/>
          </p:cNvPicPr>
          <p:nvPr/>
        </p:nvPicPr>
        <p:blipFill>
          <a:blip r:embed="rId4">
            <a:extLst>
              <a:ext uri="{96DAC541-7B7A-43D3-8B79-37D633B846F1}">
                <asvg:svgBlip xmlns:asvg="http://schemas.microsoft.com/office/drawing/2016/SVG/main" r:embed="rId14"/>
              </a:ext>
            </a:extLst>
          </a:blip>
          <a:stretch>
            <a:fillRect/>
          </a:stretch>
        </p:blipFill>
        <p:spPr>
          <a:xfrm>
            <a:off x="9235026" y="5023909"/>
            <a:ext cx="310896" cy="310896"/>
          </a:xfrm>
          <a:prstGeom prst="rect">
            <a:avLst/>
          </a:prstGeom>
        </p:spPr>
      </p:pic>
      <p:sp>
        <p:nvSpPr>
          <p:cNvPr id="27" name="Text 21"/>
          <p:cNvSpPr txBox="1"/>
          <p:nvPr/>
        </p:nvSpPr>
        <p:spPr>
          <a:xfrm>
            <a:off x="8658954" y="5554261"/>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Telephony</a:t>
            </a:r>
            <a:endParaRPr lang="en-US" sz="950" dirty="0"/>
          </a:p>
        </p:txBody>
      </p:sp>
      <p:sp>
        <p:nvSpPr>
          <p:cNvPr id="28" name="Shape 22"/>
          <p:cNvSpPr/>
          <p:nvPr/>
        </p:nvSpPr>
        <p:spPr>
          <a:xfrm>
            <a:off x="8097317" y="3886200"/>
            <a:ext cx="914" cy="1828800"/>
          </a:xfrm>
          <a:prstGeom prst="line">
            <a:avLst/>
          </a:prstGeom>
          <a:noFill/>
          <a:ln w="12700">
            <a:solidFill>
              <a:schemeClr val="accent2"/>
            </a:solidFill>
            <a:prstDash val="dash"/>
          </a:ln>
        </p:spPr>
      </p:sp>
      <p:sp>
        <p:nvSpPr>
          <p:cNvPr id="29" name="Shape 23"/>
          <p:cNvSpPr/>
          <p:nvPr/>
        </p:nvSpPr>
        <p:spPr>
          <a:xfrm>
            <a:off x="7768133" y="5385816"/>
            <a:ext cx="658368" cy="658368"/>
          </a:xfrm>
          <a:prstGeom prst="ellipse">
            <a:avLst/>
          </a:prstGeom>
          <a:solidFill>
            <a:schemeClr val="accent5"/>
          </a:solidFill>
          <a:ln w="12700">
            <a:solidFill>
              <a:schemeClr val="accent2"/>
            </a:solidFill>
            <a:prstDash val="solid"/>
          </a:ln>
        </p:spPr>
      </p:sp>
      <p:pic>
        <p:nvPicPr>
          <p:cNvPr id="30" name="Icon PiChartBar FFFFFF" descr="preencoded.png">    </p:cNvPr>
          <p:cNvPicPr>
            <a:picLocks noChangeAspect="1"/>
          </p:cNvPicPr>
          <p:nvPr/>
        </p:nvPicPr>
        <p:blipFill>
          <a:blip r:embed="rId5">
            <a:extLst>
              <a:ext uri="{96DAC541-7B7A-43D3-8B79-37D633B846F1}">
                <asvg:svgBlip xmlns:asvg="http://schemas.microsoft.com/office/drawing/2016/SVG/main" r:embed="rId15"/>
              </a:ext>
            </a:extLst>
          </a:blip>
          <a:stretch>
            <a:fillRect/>
          </a:stretch>
        </p:blipFill>
        <p:spPr>
          <a:xfrm>
            <a:off x="7941869" y="5559552"/>
            <a:ext cx="310896" cy="310896"/>
          </a:xfrm>
          <a:prstGeom prst="rect">
            <a:avLst/>
          </a:prstGeom>
        </p:spPr>
      </p:pic>
      <p:sp>
        <p:nvSpPr>
          <p:cNvPr id="31" name="Text 24"/>
          <p:cNvSpPr txBox="1"/>
          <p:nvPr/>
        </p:nvSpPr>
        <p:spPr>
          <a:xfrm>
            <a:off x="7365797" y="6089904"/>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BI tools</a:t>
            </a:r>
            <a:endParaRPr lang="en-US" sz="950" dirty="0"/>
          </a:p>
        </p:txBody>
      </p:sp>
      <p:sp>
        <p:nvSpPr>
          <p:cNvPr id="32" name="Shape 25"/>
          <p:cNvSpPr/>
          <p:nvPr/>
        </p:nvSpPr>
        <p:spPr>
          <a:xfrm flipV="1">
            <a:off x="6804160" y="3886200"/>
            <a:ext cx="1293157" cy="1293157"/>
          </a:xfrm>
          <a:prstGeom prst="line">
            <a:avLst/>
          </a:prstGeom>
          <a:noFill/>
          <a:ln w="12700">
            <a:solidFill>
              <a:schemeClr val="accent2"/>
            </a:solidFill>
            <a:prstDash val="dash"/>
          </a:ln>
        </p:spPr>
      </p:sp>
      <p:sp>
        <p:nvSpPr>
          <p:cNvPr id="33" name="Shape 26"/>
          <p:cNvSpPr/>
          <p:nvPr/>
        </p:nvSpPr>
        <p:spPr>
          <a:xfrm>
            <a:off x="6474976" y="4850173"/>
            <a:ext cx="658368" cy="658368"/>
          </a:xfrm>
          <a:prstGeom prst="ellipse">
            <a:avLst/>
          </a:prstGeom>
          <a:solidFill>
            <a:schemeClr val="accent5"/>
          </a:solidFill>
          <a:ln w="12700">
            <a:solidFill>
              <a:schemeClr val="accent2"/>
            </a:solidFill>
            <a:prstDash val="solid"/>
          </a:ln>
        </p:spPr>
      </p:sp>
      <p:pic>
        <p:nvPicPr>
          <p:cNvPr id="34" name="Icon PiCloud FFFFFF" descr="preencoded.png">    </p:cNvPr>
          <p:cNvPicPr>
            <a:picLocks noChangeAspect="1"/>
          </p:cNvPicPr>
          <p:nvPr/>
        </p:nvPicPr>
        <p:blipFill>
          <a:blip r:embed="rId6">
            <a:extLst>
              <a:ext uri="{96DAC541-7B7A-43D3-8B79-37D633B846F1}">
                <asvg:svgBlip xmlns:asvg="http://schemas.microsoft.com/office/drawing/2016/SVG/main" r:embed="rId16"/>
              </a:ext>
            </a:extLst>
          </a:blip>
          <a:stretch>
            <a:fillRect/>
          </a:stretch>
        </p:blipFill>
        <p:spPr>
          <a:xfrm>
            <a:off x="6648712" y="5023909"/>
            <a:ext cx="310896" cy="310896"/>
          </a:xfrm>
          <a:prstGeom prst="rect">
            <a:avLst/>
          </a:prstGeom>
        </p:spPr>
      </p:pic>
      <p:sp>
        <p:nvSpPr>
          <p:cNvPr id="35" name="Text 27"/>
          <p:cNvSpPr txBox="1"/>
          <p:nvPr/>
        </p:nvSpPr>
        <p:spPr>
          <a:xfrm>
            <a:off x="6072640" y="5554261"/>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Data warehouse</a:t>
            </a:r>
            <a:endParaRPr lang="en-US" sz="950" dirty="0"/>
          </a:p>
        </p:txBody>
      </p:sp>
      <p:sp>
        <p:nvSpPr>
          <p:cNvPr id="36" name="Shape 28"/>
          <p:cNvSpPr/>
          <p:nvPr/>
        </p:nvSpPr>
        <p:spPr>
          <a:xfrm>
            <a:off x="6268517" y="3886200"/>
            <a:ext cx="1828800" cy="914"/>
          </a:xfrm>
          <a:prstGeom prst="line">
            <a:avLst/>
          </a:prstGeom>
          <a:noFill/>
          <a:ln w="12700">
            <a:solidFill>
              <a:schemeClr val="accent2"/>
            </a:solidFill>
            <a:prstDash val="dash"/>
          </a:ln>
        </p:spPr>
      </p:sp>
      <p:sp>
        <p:nvSpPr>
          <p:cNvPr id="37" name="Shape 29"/>
          <p:cNvSpPr/>
          <p:nvPr/>
        </p:nvSpPr>
        <p:spPr>
          <a:xfrm>
            <a:off x="5939333" y="3557016"/>
            <a:ext cx="658368" cy="658368"/>
          </a:xfrm>
          <a:prstGeom prst="ellipse">
            <a:avLst/>
          </a:prstGeom>
          <a:solidFill>
            <a:schemeClr val="accent5"/>
          </a:solidFill>
          <a:ln w="12700">
            <a:solidFill>
              <a:schemeClr val="accent2"/>
            </a:solidFill>
            <a:prstDash val="solid"/>
          </a:ln>
        </p:spPr>
      </p:sp>
      <p:pic>
        <p:nvPicPr>
          <p:cNvPr id="38" name="Icon PiReceipt FFFFFF" descr="preencoded.png">    </p:cNvPr>
          <p:cNvPicPr>
            <a:picLocks noChangeAspect="1"/>
          </p:cNvPicPr>
          <p:nvPr/>
        </p:nvPicPr>
        <p:blipFill>
          <a:blip r:embed="rId7">
            <a:extLst>
              <a:ext uri="{96DAC541-7B7A-43D3-8B79-37D633B846F1}">
                <asvg:svgBlip xmlns:asvg="http://schemas.microsoft.com/office/drawing/2016/SVG/main" r:embed="rId17"/>
              </a:ext>
            </a:extLst>
          </a:blip>
          <a:stretch>
            <a:fillRect/>
          </a:stretch>
        </p:blipFill>
        <p:spPr>
          <a:xfrm>
            <a:off x="6113069" y="3730752"/>
            <a:ext cx="310896" cy="310896"/>
          </a:xfrm>
          <a:prstGeom prst="rect">
            <a:avLst/>
          </a:prstGeom>
        </p:spPr>
      </p:pic>
      <p:sp>
        <p:nvSpPr>
          <p:cNvPr id="39" name="Text 30"/>
          <p:cNvSpPr txBox="1"/>
          <p:nvPr/>
        </p:nvSpPr>
        <p:spPr>
          <a:xfrm>
            <a:off x="5536997" y="4261104"/>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Billing</a:t>
            </a:r>
            <a:endParaRPr lang="en-US" sz="950" dirty="0"/>
          </a:p>
        </p:txBody>
      </p:sp>
      <p:sp>
        <p:nvSpPr>
          <p:cNvPr id="40" name="Shape 31"/>
          <p:cNvSpPr/>
          <p:nvPr/>
        </p:nvSpPr>
        <p:spPr>
          <a:xfrm>
            <a:off x="6804160" y="2593043"/>
            <a:ext cx="1293157" cy="1293157"/>
          </a:xfrm>
          <a:prstGeom prst="line">
            <a:avLst/>
          </a:prstGeom>
          <a:noFill/>
          <a:ln w="12700">
            <a:solidFill>
              <a:schemeClr val="accent2"/>
            </a:solidFill>
            <a:prstDash val="dash"/>
          </a:ln>
        </p:spPr>
      </p:sp>
      <p:sp>
        <p:nvSpPr>
          <p:cNvPr id="41" name="Shape 32"/>
          <p:cNvSpPr/>
          <p:nvPr/>
        </p:nvSpPr>
        <p:spPr>
          <a:xfrm>
            <a:off x="6474976" y="2263859"/>
            <a:ext cx="658368" cy="658368"/>
          </a:xfrm>
          <a:prstGeom prst="ellipse">
            <a:avLst/>
          </a:prstGeom>
          <a:solidFill>
            <a:schemeClr val="accent5"/>
          </a:solidFill>
          <a:ln w="12700">
            <a:solidFill>
              <a:schemeClr val="accent2"/>
            </a:solidFill>
            <a:prstDash val="solid"/>
          </a:ln>
        </p:spPr>
      </p:sp>
      <p:pic>
        <p:nvPicPr>
          <p:cNvPr id="42" name="Icon PiChatCircle FFFFFF" descr="preencoded.png">    </p:cNvPr>
          <p:cNvPicPr>
            <a:picLocks noChangeAspect="1"/>
          </p:cNvPicPr>
          <p:nvPr/>
        </p:nvPicPr>
        <p:blipFill>
          <a:blip r:embed="rId8">
            <a:extLst>
              <a:ext uri="{96DAC541-7B7A-43D3-8B79-37D633B846F1}">
                <asvg:svgBlip xmlns:asvg="http://schemas.microsoft.com/office/drawing/2016/SVG/main" r:embed="rId18"/>
              </a:ext>
            </a:extLst>
          </a:blip>
          <a:stretch>
            <a:fillRect/>
          </a:stretch>
        </p:blipFill>
        <p:spPr>
          <a:xfrm>
            <a:off x="6648712" y="2437595"/>
            <a:ext cx="310896" cy="310896"/>
          </a:xfrm>
          <a:prstGeom prst="rect">
            <a:avLst/>
          </a:prstGeom>
        </p:spPr>
      </p:pic>
      <p:sp>
        <p:nvSpPr>
          <p:cNvPr id="43" name="Text 33"/>
          <p:cNvSpPr txBox="1"/>
          <p:nvPr/>
        </p:nvSpPr>
        <p:spPr>
          <a:xfrm>
            <a:off x="6072640" y="1989539"/>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Messaging</a:t>
            </a:r>
            <a:endParaRPr lang="en-US" sz="950" dirty="0"/>
          </a:p>
        </p:txBody>
      </p:sp>
      <p:sp>
        <p:nvSpPr>
          <p:cNvPr id="44" name="Shape 34"/>
          <p:cNvSpPr/>
          <p:nvPr/>
        </p:nvSpPr>
        <p:spPr>
          <a:xfrm>
            <a:off x="7411517" y="3200400"/>
            <a:ext cx="1371600" cy="1371600"/>
          </a:xfrm>
          <a:prstGeom prst="ellipse">
            <a:avLst/>
          </a:prstGeom>
          <a:solidFill>
            <a:schemeClr val="accent1"/>
          </a:solidFill>
          <a:ln/>
        </p:spPr>
      </p:sp>
      <p:sp>
        <p:nvSpPr>
          <p:cNvPr id="45" name="Text 35"/>
          <p:cNvSpPr txBox="1"/>
          <p:nvPr/>
        </p:nvSpPr>
        <p:spPr>
          <a:xfrm>
            <a:off x="7411517" y="3200400"/>
            <a:ext cx="1371600" cy="1371600"/>
          </a:xfrm>
          <a:prstGeom prst="rect">
            <a:avLst/>
          </a:prstGeom>
          <a:noFill/>
          <a:ln/>
        </p:spPr>
        <p:txBody>
          <a:bodyPr wrap="square" lIns="0" tIns="0" rIns="0" bIns="0" rtlCol="0" anchor="ctr"/>
          <a:lstStyle/>
          <a:p>
            <a:pPr algn="ctr" indent="0" marL="0">
              <a:buNone/>
            </a:pPr>
            <a:r>
              <a:rPr lang="en-US" sz="1400" b="1" dirty="0">
                <a:solidFill>
                  <a:schemeClr val="tx1"/>
                </a:solidFill>
                <a:latin typeface="Manrope" pitchFamily="34" charset="0"/>
                <a:ea typeface="Manrope" pitchFamily="34" charset="-122"/>
                <a:cs typeface="Manrope" pitchFamily="34" charset="-120"/>
              </a:rPr>
              <a:t>Corvanta</a:t>
            </a:r>
            <a:endParaRPr lang="en-US" sz="1400" dirty="0"/>
          </a:p>
          <a:p>
            <a:pPr algn="ctr" indent="0" marL="0">
              <a:buNone/>
            </a:pPr>
            <a:r>
              <a:rPr lang="en-US" sz="1400" b="1" dirty="0">
                <a:solidFill>
                  <a:schemeClr val="tx1"/>
                </a:solidFill>
                <a:latin typeface="Manrope" pitchFamily="34" charset="0"/>
                <a:ea typeface="Manrope" pitchFamily="34" charset="-122"/>
                <a:cs typeface="Manrope" pitchFamily="34" charset="-120"/>
              </a:rPr>
              <a:t>Core</a:t>
            </a:r>
            <a:endParaRPr lang="en-US" sz="14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$38B market growing 19% a year through 2030</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Global spend on revenue intelligence and sales analytics software.</a:t>
            </a:r>
            <a:endParaRPr lang="en-US" sz="1150" dirty="0"/>
          </a:p>
        </p:txBody>
      </p:sp>
      <p:sp>
        <p:nvSpPr>
          <p:cNvPr id="6" name="Shape 4"/>
          <p:cNvSpPr/>
          <p:nvPr/>
        </p:nvSpPr>
        <p:spPr>
          <a:xfrm>
            <a:off x="548640" y="1874520"/>
            <a:ext cx="3545738" cy="1261872"/>
          </a:xfrm>
          <a:prstGeom prst="roundRect">
            <a:avLst>
              <a:gd name="adj" fmla="val 7246"/>
            </a:avLst>
          </a:prstGeom>
          <a:solidFill>
            <a:schemeClr val="tx1"/>
          </a:solidFill>
          <a:ln/>
        </p:spPr>
      </p:sp>
      <p:sp>
        <p:nvSpPr>
          <p:cNvPr id="7" name="Text 5"/>
          <p:cNvSpPr txBox="1"/>
          <p:nvPr/>
        </p:nvSpPr>
        <p:spPr>
          <a:xfrm>
            <a:off x="749808" y="2075688"/>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Market size 2026</a:t>
            </a:r>
            <a:endParaRPr lang="en-US" sz="1000" dirty="0"/>
          </a:p>
        </p:txBody>
      </p:sp>
      <p:pic>
        <p:nvPicPr>
          <p:cNvPr id="8" name="Icon PiGlobe C6F432"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3618890" y="2048256"/>
            <a:ext cx="274320" cy="274320"/>
          </a:xfrm>
          <a:prstGeom prst="rect">
            <a:avLst/>
          </a:prstGeom>
        </p:spPr>
      </p:pic>
      <p:sp>
        <p:nvSpPr>
          <p:cNvPr id="9" name="Text 6"/>
          <p:cNvSpPr txBox="1"/>
          <p:nvPr/>
        </p:nvSpPr>
        <p:spPr>
          <a:xfrm>
            <a:off x="749808" y="2322576"/>
            <a:ext cx="3143402" cy="3810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$38B</a:t>
            </a:r>
            <a:endParaRPr lang="en-US" sz="2400" dirty="0"/>
          </a:p>
        </p:txBody>
      </p:sp>
      <p:sp>
        <p:nvSpPr>
          <p:cNvPr id="10" name="Text 7"/>
          <p:cNvSpPr txBox="1"/>
          <p:nvPr/>
        </p:nvSpPr>
        <p:spPr>
          <a:xfrm>
            <a:off x="749808" y="2734056"/>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19% CAGR</a:t>
            </a:r>
            <a:pPr algn="l" indent="0" marL="0">
              <a:buNone/>
            </a:pPr>
            <a:r>
              <a:rPr lang="en-US" sz="950" dirty="0">
                <a:solidFill>
                  <a:schemeClr val="accent4"/>
                </a:solidFill>
                <a:latin typeface="Inter" pitchFamily="34" charset="0"/>
                <a:ea typeface="Inter" pitchFamily="34" charset="-122"/>
                <a:cs typeface="Inter" pitchFamily="34" charset="-120"/>
              </a:rPr>
              <a:t>  2024–2030</a:t>
            </a:r>
            <a:endParaRPr lang="en-US" sz="950" dirty="0"/>
          </a:p>
        </p:txBody>
      </p:sp>
      <p:sp>
        <p:nvSpPr>
          <p:cNvPr id="11" name="Shape 8"/>
          <p:cNvSpPr/>
          <p:nvPr/>
        </p:nvSpPr>
        <p:spPr>
          <a:xfrm>
            <a:off x="548640" y="3273552"/>
            <a:ext cx="3545738" cy="1261872"/>
          </a:xfrm>
          <a:prstGeom prst="roundRect">
            <a:avLst>
              <a:gd name="adj" fmla="val 7246"/>
            </a:avLst>
          </a:prstGeom>
          <a:solidFill>
            <a:schemeClr val="bg2"/>
          </a:solidFill>
          <a:ln/>
        </p:spPr>
      </p:sp>
      <p:sp>
        <p:nvSpPr>
          <p:cNvPr id="12" name="Text 9"/>
          <p:cNvSpPr txBox="1"/>
          <p:nvPr/>
        </p:nvSpPr>
        <p:spPr>
          <a:xfrm>
            <a:off x="749808" y="3474720"/>
            <a:ext cx="3143402"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Addressable buyers</a:t>
            </a:r>
            <a:endParaRPr lang="en-US" sz="1000" dirty="0"/>
          </a:p>
        </p:txBody>
      </p:sp>
      <p:pic>
        <p:nvPicPr>
          <p:cNvPr id="13" name="Icon PiBuildings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618890" y="3447288"/>
            <a:ext cx="274320" cy="274320"/>
          </a:xfrm>
          <a:prstGeom prst="rect">
            <a:avLst/>
          </a:prstGeom>
        </p:spPr>
      </p:pic>
      <p:sp>
        <p:nvSpPr>
          <p:cNvPr id="14" name="Text 10"/>
          <p:cNvSpPr txBox="1"/>
          <p:nvPr/>
        </p:nvSpPr>
        <p:spPr>
          <a:xfrm>
            <a:off x="749808" y="3721608"/>
            <a:ext cx="3143402"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210K</a:t>
            </a:r>
            <a:endParaRPr lang="en-US" sz="2400" dirty="0"/>
          </a:p>
        </p:txBody>
      </p:sp>
      <p:sp>
        <p:nvSpPr>
          <p:cNvPr id="15" name="Text 11"/>
          <p:cNvSpPr txBox="1"/>
          <p:nvPr/>
        </p:nvSpPr>
        <p:spPr>
          <a:xfrm>
            <a:off x="749808" y="4133088"/>
            <a:ext cx="3143402"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8%</a:t>
            </a:r>
            <a:pPr algn="l" indent="0" marL="0">
              <a:buNone/>
            </a:pPr>
            <a:r>
              <a:rPr lang="en-US" sz="950" dirty="0">
                <a:solidFill>
                  <a:schemeClr val="accent3"/>
                </a:solidFill>
                <a:latin typeface="Inter" pitchFamily="34" charset="0"/>
                <a:ea typeface="Inter" pitchFamily="34" charset="-122"/>
                <a:cs typeface="Inter" pitchFamily="34" charset="-120"/>
              </a:rPr>
              <a:t>  new companies / yr</a:t>
            </a:r>
            <a:endParaRPr lang="en-US" sz="950" dirty="0"/>
          </a:p>
        </p:txBody>
      </p:sp>
      <p:sp>
        <p:nvSpPr>
          <p:cNvPr id="16" name="Shape 12"/>
          <p:cNvSpPr/>
          <p:nvPr/>
        </p:nvSpPr>
        <p:spPr>
          <a:xfrm>
            <a:off x="548640" y="4672584"/>
            <a:ext cx="3545738" cy="1261872"/>
          </a:xfrm>
          <a:prstGeom prst="roundRect">
            <a:avLst>
              <a:gd name="adj" fmla="val 7246"/>
            </a:avLst>
          </a:prstGeom>
          <a:solidFill>
            <a:schemeClr val="bg2"/>
          </a:solidFill>
          <a:ln/>
        </p:spPr>
      </p:sp>
      <p:sp>
        <p:nvSpPr>
          <p:cNvPr id="17" name="Text 13"/>
          <p:cNvSpPr txBox="1"/>
          <p:nvPr/>
        </p:nvSpPr>
        <p:spPr>
          <a:xfrm>
            <a:off x="749808" y="4873752"/>
            <a:ext cx="3143402"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Software share of spend</a:t>
            </a:r>
            <a:endParaRPr lang="en-US" sz="1000" dirty="0"/>
          </a:p>
        </p:txBody>
      </p:sp>
      <p:pic>
        <p:nvPicPr>
          <p:cNvPr id="18" name="Icon PiChartPieSlic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3618890" y="4846320"/>
            <a:ext cx="274320" cy="274320"/>
          </a:xfrm>
          <a:prstGeom prst="rect">
            <a:avLst/>
          </a:prstGeom>
        </p:spPr>
      </p:pic>
      <p:sp>
        <p:nvSpPr>
          <p:cNvPr id="19" name="Text 14"/>
          <p:cNvSpPr txBox="1"/>
          <p:nvPr/>
        </p:nvSpPr>
        <p:spPr>
          <a:xfrm>
            <a:off x="749808" y="5120640"/>
            <a:ext cx="3143402"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34%</a:t>
            </a:r>
            <a:endParaRPr lang="en-US" sz="2400" dirty="0"/>
          </a:p>
        </p:txBody>
      </p:sp>
      <p:sp>
        <p:nvSpPr>
          <p:cNvPr id="20" name="Text 15"/>
          <p:cNvSpPr txBox="1"/>
          <p:nvPr/>
        </p:nvSpPr>
        <p:spPr>
          <a:xfrm>
            <a:off x="749808" y="5532120"/>
            <a:ext cx="3143402"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9 pts</a:t>
            </a:r>
            <a:pPr algn="l" indent="0" marL="0">
              <a:buNone/>
            </a:pPr>
            <a:r>
              <a:rPr lang="en-US" sz="950" dirty="0">
                <a:solidFill>
                  <a:schemeClr val="accent3"/>
                </a:solidFill>
                <a:latin typeface="Inter" pitchFamily="34" charset="0"/>
                <a:ea typeface="Inter" pitchFamily="34" charset="-122"/>
                <a:cs typeface="Inter" pitchFamily="34" charset="-120"/>
              </a:rPr>
              <a:t>  since 2022</a:t>
            </a:r>
            <a:endParaRPr lang="en-US" sz="950" dirty="0"/>
          </a:p>
        </p:txBody>
      </p:sp>
      <p:sp>
        <p:nvSpPr>
          <p:cNvPr id="21" name="Text 16"/>
          <p:cNvSpPr txBox="1"/>
          <p:nvPr/>
        </p:nvSpPr>
        <p:spPr>
          <a:xfrm>
            <a:off x="4322978" y="1874520"/>
            <a:ext cx="36576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Market size, $B</a:t>
            </a:r>
            <a:endParaRPr lang="en-US" sz="1300" dirty="0"/>
          </a:p>
        </p:txBody>
      </p:sp>
      <p:sp>
        <p:nvSpPr>
          <p:cNvPr id="22" name="Shape 17"/>
          <p:cNvSpPr/>
          <p:nvPr/>
        </p:nvSpPr>
        <p:spPr>
          <a:xfrm>
            <a:off x="8899855" y="1938528"/>
            <a:ext cx="274320" cy="36576"/>
          </a:xfrm>
          <a:prstGeom prst="rect">
            <a:avLst/>
          </a:prstGeom>
          <a:solidFill>
            <a:schemeClr val="tx1"/>
          </a:solidFill>
          <a:ln/>
        </p:spPr>
      </p:sp>
      <p:sp>
        <p:nvSpPr>
          <p:cNvPr id="23" name="Text 18"/>
          <p:cNvSpPr txBox="1"/>
          <p:nvPr/>
        </p:nvSpPr>
        <p:spPr>
          <a:xfrm>
            <a:off x="9247327" y="1856232"/>
            <a:ext cx="73152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Actual</a:t>
            </a:r>
            <a:endParaRPr lang="en-US" sz="950" dirty="0"/>
          </a:p>
        </p:txBody>
      </p:sp>
      <p:sp>
        <p:nvSpPr>
          <p:cNvPr id="24" name="Shape 19"/>
          <p:cNvSpPr/>
          <p:nvPr/>
        </p:nvSpPr>
        <p:spPr>
          <a:xfrm>
            <a:off x="10088575" y="1938528"/>
            <a:ext cx="274320" cy="36576"/>
          </a:xfrm>
          <a:prstGeom prst="rect">
            <a:avLst/>
          </a:prstGeom>
          <a:solidFill>
            <a:schemeClr val="accent3"/>
          </a:solidFill>
          <a:ln/>
        </p:spPr>
      </p:sp>
      <p:sp>
        <p:nvSpPr>
          <p:cNvPr id="25" name="Text 20"/>
          <p:cNvSpPr txBox="1"/>
          <p:nvPr/>
        </p:nvSpPr>
        <p:spPr>
          <a:xfrm>
            <a:off x="10436047" y="1856232"/>
            <a:ext cx="118872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Forecast</a:t>
            </a:r>
            <a:endParaRPr lang="en-US" sz="950" dirty="0"/>
          </a:p>
        </p:txBody>
      </p:sp>
      <p:graphicFrame>
        <p:nvGraphicFramePr>
          <p:cNvPr id="26" name="Chart 0" descr=""/>
          <p:cNvGraphicFramePr/>
          <p:nvPr/>
        </p:nvGraphicFramePr>
        <p:xfrm>
          <a:off x="4231538" y="2240280"/>
          <a:ext cx="7411517" cy="3794760"/>
        </p:xfrm>
        <a:graphic xmlns:a="http://schemas.openxmlformats.org/drawingml/2006/main">
          <a:graphicData uri="http://schemas.openxmlformats.org/drawingml/2006/chart">
            <c:chart xmlns:c="http://schemas.openxmlformats.org/drawingml/2006/chart" r:id="rId4"/>
          </a:graphicData>
        </a:graphic>
      </p:graphicFrame>
      <p:sp>
        <p:nvSpPr>
          <p:cNvPr id="27" name="Text 21"/>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Source: industry analyst consensus; Corvanta analysis. Forecast values are illustrative.</a:t>
            </a:r>
            <a:endParaRPr lang="en-US" sz="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can reach a $2.1B serviceable market by 2029</a:t>
            </a:r>
            <a:endParaRPr lang="en-US" sz="2800" dirty="0"/>
          </a:p>
        </p:txBody>
      </p:sp>
      <p:sp>
        <p:nvSpPr>
          <p:cNvPr id="5" name="Shape 3"/>
          <p:cNvSpPr/>
          <p:nvPr/>
        </p:nvSpPr>
        <p:spPr>
          <a:xfrm>
            <a:off x="731520" y="1965960"/>
            <a:ext cx="4023360" cy="4023360"/>
          </a:xfrm>
          <a:prstGeom prst="ellipse">
            <a:avLst/>
          </a:prstGeom>
          <a:solidFill>
            <a:schemeClr val="bg2"/>
          </a:solidFill>
          <a:ln/>
        </p:spPr>
      </p:sp>
      <p:sp>
        <p:nvSpPr>
          <p:cNvPr id="6" name="Shape 4"/>
          <p:cNvSpPr/>
          <p:nvPr/>
        </p:nvSpPr>
        <p:spPr>
          <a:xfrm>
            <a:off x="1417320" y="3337560"/>
            <a:ext cx="2651760" cy="2651760"/>
          </a:xfrm>
          <a:prstGeom prst="ellipse">
            <a:avLst/>
          </a:prstGeom>
          <a:solidFill>
            <a:schemeClr val="tx1"/>
          </a:solidFill>
          <a:ln/>
        </p:spPr>
      </p:sp>
      <p:sp>
        <p:nvSpPr>
          <p:cNvPr id="7" name="Shape 5"/>
          <p:cNvSpPr/>
          <p:nvPr/>
        </p:nvSpPr>
        <p:spPr>
          <a:xfrm>
            <a:off x="2057400" y="4617720"/>
            <a:ext cx="1371600" cy="1371600"/>
          </a:xfrm>
          <a:prstGeom prst="ellipse">
            <a:avLst/>
          </a:prstGeom>
          <a:solidFill>
            <a:schemeClr val="accent1"/>
          </a:solidFill>
          <a:ln/>
        </p:spPr>
      </p:sp>
      <p:sp>
        <p:nvSpPr>
          <p:cNvPr id="8" name="Text 6"/>
          <p:cNvSpPr txBox="1"/>
          <p:nvPr/>
        </p:nvSpPr>
        <p:spPr>
          <a:xfrm>
            <a:off x="731520" y="2286000"/>
            <a:ext cx="402336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Manrope" pitchFamily="34" charset="0"/>
                <a:ea typeface="Manrope" pitchFamily="34" charset="-122"/>
                <a:cs typeface="Manrope" pitchFamily="34" charset="-120"/>
              </a:rPr>
              <a:t>TAM</a:t>
            </a:r>
            <a:endParaRPr lang="en-US" sz="1200" dirty="0"/>
          </a:p>
        </p:txBody>
      </p:sp>
      <p:sp>
        <p:nvSpPr>
          <p:cNvPr id="9" name="Text 7"/>
          <p:cNvSpPr txBox="1"/>
          <p:nvPr/>
        </p:nvSpPr>
        <p:spPr>
          <a:xfrm>
            <a:off x="731520" y="3611880"/>
            <a:ext cx="4023360" cy="274320"/>
          </a:xfrm>
          <a:prstGeom prst="rect">
            <a:avLst/>
          </a:prstGeom>
          <a:noFill/>
          <a:ln/>
        </p:spPr>
        <p:txBody>
          <a:bodyPr wrap="square" lIns="0" tIns="0" rIns="0" bIns="0" rtlCol="0" anchor="t"/>
          <a:lstStyle/>
          <a:p>
            <a:pPr algn="ctr" indent="0" marL="0">
              <a:buNone/>
            </a:pPr>
            <a:r>
              <a:rPr lang="en-US" sz="1200" b="1" dirty="0">
                <a:solidFill>
                  <a:schemeClr val="bg1"/>
                </a:solidFill>
                <a:latin typeface="Manrope" pitchFamily="34" charset="0"/>
                <a:ea typeface="Manrope" pitchFamily="34" charset="-122"/>
                <a:cs typeface="Manrope" pitchFamily="34" charset="-120"/>
              </a:rPr>
              <a:t>SAM</a:t>
            </a:r>
            <a:endParaRPr lang="en-US" sz="1200" dirty="0"/>
          </a:p>
        </p:txBody>
      </p:sp>
      <p:sp>
        <p:nvSpPr>
          <p:cNvPr id="10" name="Text 8"/>
          <p:cNvSpPr txBox="1"/>
          <p:nvPr/>
        </p:nvSpPr>
        <p:spPr>
          <a:xfrm>
            <a:off x="731520" y="5120640"/>
            <a:ext cx="402336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Manrope" pitchFamily="34" charset="0"/>
                <a:ea typeface="Manrope" pitchFamily="34" charset="-122"/>
                <a:cs typeface="Manrope" pitchFamily="34" charset="-120"/>
              </a:rPr>
              <a:t>SOM</a:t>
            </a:r>
            <a:endParaRPr lang="en-US" sz="1200" dirty="0"/>
          </a:p>
        </p:txBody>
      </p:sp>
      <p:sp>
        <p:nvSpPr>
          <p:cNvPr id="11" name="Text 9"/>
          <p:cNvSpPr txBox="1"/>
          <p:nvPr/>
        </p:nvSpPr>
        <p:spPr>
          <a:xfrm>
            <a:off x="5540883" y="1965960"/>
            <a:ext cx="9144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Inter Medium" pitchFamily="34" charset="0"/>
                <a:ea typeface="Inter Medium" pitchFamily="34" charset="-122"/>
                <a:cs typeface="Inter Medium" pitchFamily="34" charset="-120"/>
              </a:rPr>
              <a:t>TAM</a:t>
            </a:r>
            <a:endParaRPr lang="en-US" sz="1000" dirty="0"/>
          </a:p>
        </p:txBody>
      </p:sp>
      <p:sp>
        <p:nvSpPr>
          <p:cNvPr id="12" name="Text 10"/>
          <p:cNvSpPr txBox="1"/>
          <p:nvPr/>
        </p:nvSpPr>
        <p:spPr>
          <a:xfrm>
            <a:off x="5540883" y="2221992"/>
            <a:ext cx="237744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$38.0B</a:t>
            </a:r>
            <a:endParaRPr lang="en-US" sz="4000" dirty="0"/>
          </a:p>
        </p:txBody>
      </p:sp>
      <p:sp>
        <p:nvSpPr>
          <p:cNvPr id="13" name="Text 11"/>
          <p:cNvSpPr txBox="1"/>
          <p:nvPr/>
        </p:nvSpPr>
        <p:spPr>
          <a:xfrm>
            <a:off x="8192643" y="2258568"/>
            <a:ext cx="3450412"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Total addressable market</a:t>
            </a:r>
            <a:endParaRPr lang="en-US" sz="1400" dirty="0"/>
          </a:p>
        </p:txBody>
      </p:sp>
      <p:sp>
        <p:nvSpPr>
          <p:cNvPr id="14" name="Text 12"/>
          <p:cNvSpPr txBox="1"/>
          <p:nvPr/>
        </p:nvSpPr>
        <p:spPr>
          <a:xfrm>
            <a:off x="8192643" y="2551176"/>
            <a:ext cx="3450412"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All companies globally buying revenue intelligence and sales analytics software.</a:t>
            </a:r>
            <a:endParaRPr lang="en-US" sz="1100" dirty="0"/>
          </a:p>
        </p:txBody>
      </p:sp>
      <p:sp>
        <p:nvSpPr>
          <p:cNvPr id="15" name="Shape 13"/>
          <p:cNvSpPr/>
          <p:nvPr/>
        </p:nvSpPr>
        <p:spPr>
          <a:xfrm>
            <a:off x="5540883" y="3200400"/>
            <a:ext cx="6102172" cy="0"/>
          </a:xfrm>
          <a:prstGeom prst="line">
            <a:avLst/>
          </a:prstGeom>
          <a:noFill/>
          <a:ln w="9525">
            <a:solidFill>
              <a:schemeClr val="accent4"/>
            </a:solidFill>
            <a:prstDash val="solid"/>
          </a:ln>
        </p:spPr>
      </p:sp>
      <p:sp>
        <p:nvSpPr>
          <p:cNvPr id="16" name="Text 14"/>
          <p:cNvSpPr txBox="1"/>
          <p:nvPr/>
        </p:nvSpPr>
        <p:spPr>
          <a:xfrm>
            <a:off x="5540883" y="3337560"/>
            <a:ext cx="9144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Inter Medium" pitchFamily="34" charset="0"/>
                <a:ea typeface="Inter Medium" pitchFamily="34" charset="-122"/>
                <a:cs typeface="Inter Medium" pitchFamily="34" charset="-120"/>
              </a:rPr>
              <a:t>SAM</a:t>
            </a:r>
            <a:endParaRPr lang="en-US" sz="1000" dirty="0"/>
          </a:p>
        </p:txBody>
      </p:sp>
      <p:sp>
        <p:nvSpPr>
          <p:cNvPr id="17" name="Text 15"/>
          <p:cNvSpPr txBox="1"/>
          <p:nvPr/>
        </p:nvSpPr>
        <p:spPr>
          <a:xfrm>
            <a:off x="5540883" y="3593592"/>
            <a:ext cx="237744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$9.4B</a:t>
            </a:r>
            <a:endParaRPr lang="en-US" sz="4000" dirty="0"/>
          </a:p>
        </p:txBody>
      </p:sp>
      <p:sp>
        <p:nvSpPr>
          <p:cNvPr id="18" name="Text 16"/>
          <p:cNvSpPr txBox="1"/>
          <p:nvPr/>
        </p:nvSpPr>
        <p:spPr>
          <a:xfrm>
            <a:off x="8192643" y="3630168"/>
            <a:ext cx="3450412"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Serviceable available market</a:t>
            </a:r>
            <a:endParaRPr lang="en-US" sz="1400" dirty="0"/>
          </a:p>
        </p:txBody>
      </p:sp>
      <p:sp>
        <p:nvSpPr>
          <p:cNvPr id="19" name="Text 17"/>
          <p:cNvSpPr txBox="1"/>
          <p:nvPr/>
        </p:nvSpPr>
        <p:spPr>
          <a:xfrm>
            <a:off x="8192643" y="3922776"/>
            <a:ext cx="3450412"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Mid-market B2B companies (200–2,000 staff) in our 14 active countries.</a:t>
            </a:r>
            <a:endParaRPr lang="en-US" sz="1100" dirty="0"/>
          </a:p>
        </p:txBody>
      </p:sp>
      <p:sp>
        <p:nvSpPr>
          <p:cNvPr id="20" name="Shape 18"/>
          <p:cNvSpPr/>
          <p:nvPr/>
        </p:nvSpPr>
        <p:spPr>
          <a:xfrm>
            <a:off x="5540883" y="4572000"/>
            <a:ext cx="6102172" cy="0"/>
          </a:xfrm>
          <a:prstGeom prst="line">
            <a:avLst/>
          </a:prstGeom>
          <a:noFill/>
          <a:ln w="9525">
            <a:solidFill>
              <a:schemeClr val="accent4"/>
            </a:solidFill>
            <a:prstDash val="solid"/>
          </a:ln>
        </p:spPr>
      </p:sp>
      <p:sp>
        <p:nvSpPr>
          <p:cNvPr id="21" name="Text 19"/>
          <p:cNvSpPr txBox="1"/>
          <p:nvPr/>
        </p:nvSpPr>
        <p:spPr>
          <a:xfrm>
            <a:off x="5540883" y="4709160"/>
            <a:ext cx="9144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Inter Medium" pitchFamily="34" charset="0"/>
                <a:ea typeface="Inter Medium" pitchFamily="34" charset="-122"/>
                <a:cs typeface="Inter Medium" pitchFamily="34" charset="-120"/>
              </a:rPr>
              <a:t>SOM</a:t>
            </a:r>
            <a:endParaRPr lang="en-US" sz="1000" dirty="0"/>
          </a:p>
        </p:txBody>
      </p:sp>
      <p:sp>
        <p:nvSpPr>
          <p:cNvPr id="22" name="Text 20"/>
          <p:cNvSpPr txBox="1"/>
          <p:nvPr/>
        </p:nvSpPr>
        <p:spPr>
          <a:xfrm>
            <a:off x="5540883" y="4965192"/>
            <a:ext cx="237744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$2.1B</a:t>
            </a:r>
            <a:endParaRPr lang="en-US" sz="4000" dirty="0"/>
          </a:p>
        </p:txBody>
      </p:sp>
      <p:sp>
        <p:nvSpPr>
          <p:cNvPr id="23" name="Text 21"/>
          <p:cNvSpPr txBox="1"/>
          <p:nvPr/>
        </p:nvSpPr>
        <p:spPr>
          <a:xfrm>
            <a:off x="8192643" y="5001768"/>
            <a:ext cx="3450412"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Serviceable obtainable market</a:t>
            </a:r>
            <a:endParaRPr lang="en-US" sz="1400" dirty="0"/>
          </a:p>
        </p:txBody>
      </p:sp>
      <p:sp>
        <p:nvSpPr>
          <p:cNvPr id="24" name="Text 22"/>
          <p:cNvSpPr txBox="1"/>
          <p:nvPr/>
        </p:nvSpPr>
        <p:spPr>
          <a:xfrm>
            <a:off x="8192643" y="5294376"/>
            <a:ext cx="3450412"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Share we can win by 2029 at our current sales capacity and win rate.</a:t>
            </a:r>
            <a:endParaRPr lang="en-US" sz="1100" dirty="0"/>
          </a:p>
        </p:txBody>
      </p:sp>
      <p:sp>
        <p:nvSpPr>
          <p:cNvPr id="25" name="Shape 23"/>
          <p:cNvSpPr/>
          <p:nvPr/>
        </p:nvSpPr>
        <p:spPr>
          <a:xfrm>
            <a:off x="5540883" y="5806440"/>
            <a:ext cx="1476390" cy="274320"/>
          </a:xfrm>
          <a:prstGeom prst="roundRect">
            <a:avLst>
              <a:gd name="adj" fmla="val 50000"/>
            </a:avLst>
          </a:prstGeom>
          <a:solidFill>
            <a:schemeClr val="accent1"/>
          </a:solidFill>
          <a:ln/>
        </p:spPr>
      </p:sp>
      <p:sp>
        <p:nvSpPr>
          <p:cNvPr id="26" name="Text 24"/>
          <p:cNvSpPr txBox="1"/>
          <p:nvPr/>
        </p:nvSpPr>
        <p:spPr>
          <a:xfrm>
            <a:off x="5540883" y="5806440"/>
            <a:ext cx="147639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SOM = 5.5% of TAM</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Mid-market is the largest and fastest-growing segment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Share of market spend by company size, by region, 2026.</a:t>
            </a:r>
            <a:endParaRPr lang="en-US" sz="1150" dirty="0"/>
          </a:p>
        </p:txBody>
      </p:sp>
      <p:sp>
        <p:nvSpPr>
          <p:cNvPr id="6" name="Shape 4"/>
          <p:cNvSpPr/>
          <p:nvPr/>
        </p:nvSpPr>
        <p:spPr>
          <a:xfrm>
            <a:off x="548640" y="1874520"/>
            <a:ext cx="7320077" cy="4160520"/>
          </a:xfrm>
          <a:prstGeom prst="roundRect">
            <a:avLst>
              <a:gd name="adj" fmla="val 2198"/>
            </a:avLst>
          </a:prstGeom>
          <a:solidFill>
            <a:schemeClr val="bg1"/>
          </a:solidFill>
          <a:ln/>
        </p:spPr>
      </p:sp>
      <p:graphicFrame>
        <p:nvGraphicFramePr>
          <p:cNvPr id="7" name="Chart 0" descr=""/>
          <p:cNvGraphicFramePr/>
          <p:nvPr/>
        </p:nvGraphicFramePr>
        <p:xfrm>
          <a:off x="731520" y="2011680"/>
          <a:ext cx="6954317" cy="39319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188757" y="2020824"/>
            <a:ext cx="182880" cy="182880"/>
          </a:xfrm>
          <a:prstGeom prst="roundRect">
            <a:avLst>
              <a:gd name="adj" fmla="val 20000"/>
            </a:avLst>
          </a:prstGeom>
          <a:solidFill>
            <a:schemeClr val="accent2"/>
          </a:solidFill>
          <a:ln/>
        </p:spPr>
      </p:sp>
      <p:sp>
        <p:nvSpPr>
          <p:cNvPr id="9" name="Text 6"/>
          <p:cNvSpPr txBox="1"/>
          <p:nvPr/>
        </p:nvSpPr>
        <p:spPr>
          <a:xfrm>
            <a:off x="8508797" y="1965960"/>
            <a:ext cx="313425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Enterprise</a:t>
            </a:r>
            <a:endParaRPr lang="en-US" sz="1300" dirty="0"/>
          </a:p>
        </p:txBody>
      </p:sp>
      <p:sp>
        <p:nvSpPr>
          <p:cNvPr id="10" name="Text 7"/>
          <p:cNvSpPr txBox="1"/>
          <p:nvPr/>
        </p:nvSpPr>
        <p:spPr>
          <a:xfrm>
            <a:off x="8508797" y="2258568"/>
            <a:ext cx="3134258" cy="4572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2,000+ staff · long cycles, large ACV</a:t>
            </a:r>
            <a:endParaRPr lang="en-US" sz="1050" dirty="0"/>
          </a:p>
        </p:txBody>
      </p:sp>
      <p:sp>
        <p:nvSpPr>
          <p:cNvPr id="11" name="Shape 8"/>
          <p:cNvSpPr/>
          <p:nvPr/>
        </p:nvSpPr>
        <p:spPr>
          <a:xfrm>
            <a:off x="8188757" y="2980944"/>
            <a:ext cx="182880" cy="182880"/>
          </a:xfrm>
          <a:prstGeom prst="roundRect">
            <a:avLst>
              <a:gd name="adj" fmla="val 20000"/>
            </a:avLst>
          </a:prstGeom>
          <a:solidFill>
            <a:schemeClr val="tx1"/>
          </a:solidFill>
          <a:ln/>
        </p:spPr>
      </p:sp>
      <p:sp>
        <p:nvSpPr>
          <p:cNvPr id="12" name="Text 9"/>
          <p:cNvSpPr txBox="1"/>
          <p:nvPr/>
        </p:nvSpPr>
        <p:spPr>
          <a:xfrm>
            <a:off x="8508797" y="2926080"/>
            <a:ext cx="313425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Mid-market</a:t>
            </a:r>
            <a:endParaRPr lang="en-US" sz="1300" dirty="0"/>
          </a:p>
        </p:txBody>
      </p:sp>
      <p:sp>
        <p:nvSpPr>
          <p:cNvPr id="13" name="Text 10"/>
          <p:cNvSpPr txBox="1"/>
          <p:nvPr/>
        </p:nvSpPr>
        <p:spPr>
          <a:xfrm>
            <a:off x="8508797" y="3218688"/>
            <a:ext cx="3134258" cy="4572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200–2,000 staff · our core focus</a:t>
            </a:r>
            <a:endParaRPr lang="en-US" sz="1050" dirty="0"/>
          </a:p>
        </p:txBody>
      </p:sp>
      <p:sp>
        <p:nvSpPr>
          <p:cNvPr id="14" name="Shape 11"/>
          <p:cNvSpPr/>
          <p:nvPr/>
        </p:nvSpPr>
        <p:spPr>
          <a:xfrm>
            <a:off x="8188757" y="3941064"/>
            <a:ext cx="182880" cy="182880"/>
          </a:xfrm>
          <a:prstGeom prst="roundRect">
            <a:avLst>
              <a:gd name="adj" fmla="val 20000"/>
            </a:avLst>
          </a:prstGeom>
          <a:solidFill>
            <a:schemeClr val="accent3"/>
          </a:solidFill>
          <a:ln/>
        </p:spPr>
      </p:sp>
      <p:sp>
        <p:nvSpPr>
          <p:cNvPr id="15" name="Text 12"/>
          <p:cNvSpPr txBox="1"/>
          <p:nvPr/>
        </p:nvSpPr>
        <p:spPr>
          <a:xfrm>
            <a:off x="8508797" y="3886200"/>
            <a:ext cx="313425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Small business</a:t>
            </a:r>
            <a:endParaRPr lang="en-US" sz="1300" dirty="0"/>
          </a:p>
        </p:txBody>
      </p:sp>
      <p:sp>
        <p:nvSpPr>
          <p:cNvPr id="16" name="Text 13"/>
          <p:cNvSpPr txBox="1"/>
          <p:nvPr/>
        </p:nvSpPr>
        <p:spPr>
          <a:xfrm>
            <a:off x="8508797" y="4178808"/>
            <a:ext cx="3134258" cy="4572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&lt;200 staff · self-serve, price-led</a:t>
            </a:r>
            <a:endParaRPr lang="en-US" sz="1050" dirty="0"/>
          </a:p>
        </p:txBody>
      </p:sp>
      <p:sp>
        <p:nvSpPr>
          <p:cNvPr id="17" name="Shape 14"/>
          <p:cNvSpPr/>
          <p:nvPr/>
        </p:nvSpPr>
        <p:spPr>
          <a:xfrm>
            <a:off x="8188757" y="4892040"/>
            <a:ext cx="3454298" cy="1143000"/>
          </a:xfrm>
          <a:prstGeom prst="roundRect">
            <a:avLst>
              <a:gd name="adj" fmla="val 8000"/>
            </a:avLst>
          </a:prstGeom>
          <a:solidFill>
            <a:schemeClr val="accent1"/>
          </a:solidFill>
          <a:ln/>
        </p:spPr>
      </p:sp>
      <p:sp>
        <p:nvSpPr>
          <p:cNvPr id="18" name="Text 15"/>
          <p:cNvSpPr txBox="1"/>
          <p:nvPr/>
        </p:nvSpPr>
        <p:spPr>
          <a:xfrm>
            <a:off x="8417357" y="4983480"/>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41%</a:t>
            </a:r>
            <a:endParaRPr lang="en-US" sz="3000" dirty="0"/>
          </a:p>
        </p:txBody>
      </p:sp>
      <p:sp>
        <p:nvSpPr>
          <p:cNvPr id="19" name="Text 16"/>
          <p:cNvSpPr txBox="1"/>
          <p:nvPr/>
        </p:nvSpPr>
        <p:spPr>
          <a:xfrm>
            <a:off x="8417357" y="5532120"/>
            <a:ext cx="2997098" cy="36576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average mid-market share across regions</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Spend will more than double by 2030</a:t>
            </a:r>
            <a:endParaRPr lang="en-US" sz="2800" dirty="0"/>
          </a:p>
        </p:txBody>
      </p:sp>
      <p:graphicFrame>
        <p:nvGraphicFramePr>
          <p:cNvPr id="5" name="Chart 0" descr=""/>
          <p:cNvGraphicFramePr/>
          <p:nvPr/>
        </p:nvGraphicFramePr>
        <p:xfrm>
          <a:off x="548640" y="2651760"/>
          <a:ext cx="8263661"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845744" y="1920240"/>
            <a:ext cx="1188720" cy="329184"/>
          </a:xfrm>
          <a:prstGeom prst="roundRect">
            <a:avLst>
              <a:gd name="adj" fmla="val 50000"/>
            </a:avLst>
          </a:prstGeom>
          <a:solidFill>
            <a:schemeClr val="accent1"/>
          </a:solidFill>
          <a:ln/>
        </p:spPr>
      </p:sp>
      <p:sp>
        <p:nvSpPr>
          <p:cNvPr id="7" name="Text 4"/>
          <p:cNvSpPr txBox="1"/>
          <p:nvPr/>
        </p:nvSpPr>
        <p:spPr>
          <a:xfrm>
            <a:off x="4845744" y="1920240"/>
            <a:ext cx="1188720" cy="32918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CAGR 19%</a:t>
            </a:r>
            <a:endParaRPr lang="en-US" sz="1100" dirty="0"/>
          </a:p>
        </p:txBody>
      </p:sp>
      <p:sp>
        <p:nvSpPr>
          <p:cNvPr id="8" name="Shape 5"/>
          <p:cNvSpPr/>
          <p:nvPr/>
        </p:nvSpPr>
        <p:spPr>
          <a:xfrm>
            <a:off x="1371600" y="2084832"/>
            <a:ext cx="3382704" cy="0"/>
          </a:xfrm>
          <a:prstGeom prst="line">
            <a:avLst/>
          </a:prstGeom>
          <a:noFill/>
          <a:ln w="12700">
            <a:solidFill>
              <a:schemeClr val="tx1"/>
            </a:solidFill>
            <a:prstDash val="dash"/>
          </a:ln>
        </p:spPr>
      </p:sp>
      <p:sp>
        <p:nvSpPr>
          <p:cNvPr id="9" name="Shape 6"/>
          <p:cNvSpPr/>
          <p:nvPr/>
        </p:nvSpPr>
        <p:spPr>
          <a:xfrm>
            <a:off x="6125904" y="2084832"/>
            <a:ext cx="2229197" cy="0"/>
          </a:xfrm>
          <a:prstGeom prst="line">
            <a:avLst/>
          </a:prstGeom>
          <a:noFill/>
          <a:ln w="12700">
            <a:solidFill>
              <a:schemeClr val="tx1"/>
            </a:solidFill>
            <a:prstDash val="dash"/>
            <a:tailEnd type="triangle"/>
          </a:ln>
        </p:spPr>
      </p:sp>
      <p:sp>
        <p:nvSpPr>
          <p:cNvPr id="10" name="Text 7"/>
          <p:cNvSpPr txBox="1"/>
          <p:nvPr/>
        </p:nvSpPr>
        <p:spPr>
          <a:xfrm>
            <a:off x="9223781" y="1920240"/>
            <a:ext cx="2419274" cy="822960"/>
          </a:xfrm>
          <a:prstGeom prst="rect">
            <a:avLst/>
          </a:prstGeom>
          <a:noFill/>
          <a:ln/>
        </p:spPr>
        <p:txBody>
          <a:bodyPr wrap="square" lIns="0" tIns="0" rIns="0" bIns="0" rtlCol="0" anchor="t"/>
          <a:lstStyle/>
          <a:p>
            <a:pPr algn="l" indent="0" marL="0">
              <a:buNone/>
            </a:pPr>
            <a:r>
              <a:rPr lang="en-US" sz="5400" dirty="0">
                <a:solidFill>
                  <a:schemeClr val="tx1"/>
                </a:solidFill>
                <a:latin typeface="Manrope ExtraBold" pitchFamily="34" charset="0"/>
                <a:ea typeface="Manrope ExtraBold" pitchFamily="34" charset="-122"/>
                <a:cs typeface="Manrope ExtraBold" pitchFamily="34" charset="-120"/>
              </a:rPr>
              <a:t>2.0×</a:t>
            </a:r>
            <a:endParaRPr lang="en-US" sz="5400" dirty="0"/>
          </a:p>
        </p:txBody>
      </p:sp>
      <p:sp>
        <p:nvSpPr>
          <p:cNvPr id="11" name="Text 8"/>
          <p:cNvSpPr txBox="1"/>
          <p:nvPr/>
        </p:nvSpPr>
        <p:spPr>
          <a:xfrm>
            <a:off x="9223781" y="2743200"/>
            <a:ext cx="2419274"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growth 2026–2030</a:t>
            </a:r>
            <a:endParaRPr lang="en-US" sz="1100" dirty="0"/>
          </a:p>
        </p:txBody>
      </p:sp>
      <p:sp>
        <p:nvSpPr>
          <p:cNvPr id="12" name="Shape 9"/>
          <p:cNvSpPr/>
          <p:nvPr/>
        </p:nvSpPr>
        <p:spPr>
          <a:xfrm>
            <a:off x="9223781" y="3246120"/>
            <a:ext cx="2419274" cy="0"/>
          </a:xfrm>
          <a:prstGeom prst="line">
            <a:avLst/>
          </a:prstGeom>
          <a:noFill/>
          <a:ln w="9525">
            <a:solidFill>
              <a:schemeClr val="accent4"/>
            </a:solidFill>
            <a:prstDash val="solid"/>
          </a:ln>
        </p:spPr>
      </p:sp>
      <p:sp>
        <p:nvSpPr>
          <p:cNvPr id="13" name="Text 10"/>
          <p:cNvSpPr txBox="1"/>
          <p:nvPr/>
        </p:nvSpPr>
        <p:spPr>
          <a:xfrm>
            <a:off x="9223781" y="3429000"/>
            <a:ext cx="241927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Growth drivers</a:t>
            </a:r>
            <a:endParaRPr lang="en-US" sz="1300" dirty="0"/>
          </a:p>
        </p:txBody>
      </p:sp>
      <p:sp>
        <p:nvSpPr>
          <p:cNvPr id="14" name="Text 11"/>
          <p:cNvSpPr txBox="1"/>
          <p:nvPr/>
        </p:nvSpPr>
        <p:spPr>
          <a:xfrm>
            <a:off x="9223781" y="3794760"/>
            <a:ext cx="2419274" cy="1463040"/>
          </a:xfrm>
          <a:prstGeom prst="rect">
            <a:avLst/>
          </a:prstGeom>
          <a:noFill/>
          <a:ln/>
        </p:spPr>
        <p:txBody>
          <a:bodyPr wrap="square" lIns="0" tIns="0" rIns="0" bIns="0" rtlCol="0" anchor="t"/>
          <a:lstStyle/>
          <a:p>
            <a:pPr algn="l" marL="152400" indent="-152400">
              <a:spcAft>
                <a:spcPts val="600"/>
              </a:spcAft>
              <a:buSzPct val="100000"/>
              <a:buChar char="•"/>
            </a:pPr>
            <a:r>
              <a:rPr lang="en-US" sz="1100" dirty="0">
                <a:solidFill>
                  <a:schemeClr val="tx2"/>
                </a:solidFill>
                <a:latin typeface="Inter" pitchFamily="34" charset="0"/>
                <a:ea typeface="Inter" pitchFamily="34" charset="-122"/>
                <a:cs typeface="Inter" pitchFamily="34" charset="-120"/>
              </a:rPr>
              <a:t>AI budgets moving from pilots to production</a:t>
            </a:r>
            <a:endParaRPr lang="en-US" sz="1100" dirty="0"/>
          </a:p>
          <a:p>
            <a:pPr algn="l" marL="152400" indent="-152400">
              <a:spcAft>
                <a:spcPts val="600"/>
              </a:spcAft>
              <a:buSzPct val="100000"/>
              <a:buChar char="•"/>
            </a:pPr>
            <a:r>
              <a:rPr lang="en-US" sz="1100" dirty="0">
                <a:solidFill>
                  <a:schemeClr val="tx2"/>
                </a:solidFill>
                <a:latin typeface="Inter" pitchFamily="34" charset="0"/>
                <a:ea typeface="Inter" pitchFamily="34" charset="-122"/>
                <a:cs typeface="Inter" pitchFamily="34" charset="-120"/>
              </a:rPr>
              <a:t>CRM consolidation in the mid-market</a:t>
            </a:r>
            <a:endParaRPr lang="en-US" sz="1100" dirty="0"/>
          </a:p>
          <a:p>
            <a:pPr algn="l" marL="152400" indent="-152400">
              <a:spcAft>
                <a:spcPts val="600"/>
              </a:spcAft>
              <a:buSzPct val="100000"/>
              <a:buChar char="•"/>
            </a:pPr>
            <a:r>
              <a:rPr lang="en-US" sz="1100" dirty="0">
                <a:solidFill>
                  <a:schemeClr val="tx2"/>
                </a:solidFill>
                <a:latin typeface="Inter" pitchFamily="34" charset="0"/>
                <a:ea typeface="Inter" pitchFamily="34" charset="-122"/>
                <a:cs typeface="Inter" pitchFamily="34" charset="-120"/>
              </a:rPr>
              <a:t>CFO demand for forecast accuracy</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trends are reshaping how B2B companies sell</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Adoption = share of mid-market companies already acting on the trend.</a:t>
            </a:r>
            <a:endParaRPr lang="en-US" sz="1150" dirty="0"/>
          </a:p>
        </p:txBody>
      </p:sp>
      <p:sp>
        <p:nvSpPr>
          <p:cNvPr id="6" name="Text 4"/>
          <p:cNvSpPr txBox="1"/>
          <p:nvPr/>
        </p:nvSpPr>
        <p:spPr>
          <a:xfrm>
            <a:off x="1280160" y="192024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TREND</a:t>
            </a:r>
            <a:endParaRPr lang="en-US" sz="900" dirty="0"/>
          </a:p>
        </p:txBody>
      </p:sp>
      <p:sp>
        <p:nvSpPr>
          <p:cNvPr id="7" name="Text 5"/>
          <p:cNvSpPr txBox="1"/>
          <p:nvPr/>
        </p:nvSpPr>
        <p:spPr>
          <a:xfrm>
            <a:off x="7153732" y="192024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ADOPTION</a:t>
            </a:r>
            <a:endParaRPr lang="en-US" sz="900" dirty="0"/>
          </a:p>
        </p:txBody>
      </p:sp>
      <p:sp>
        <p:nvSpPr>
          <p:cNvPr id="8" name="Text 6"/>
          <p:cNvSpPr txBox="1"/>
          <p:nvPr/>
        </p:nvSpPr>
        <p:spPr>
          <a:xfrm>
            <a:off x="10258806" y="192024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IMPACT ON US</a:t>
            </a:r>
            <a:endParaRPr lang="en-US" sz="900" dirty="0"/>
          </a:p>
        </p:txBody>
      </p:sp>
      <p:sp>
        <p:nvSpPr>
          <p:cNvPr id="9" name="Shape 7"/>
          <p:cNvSpPr/>
          <p:nvPr/>
        </p:nvSpPr>
        <p:spPr>
          <a:xfrm>
            <a:off x="548640" y="2286000"/>
            <a:ext cx="11094415" cy="0"/>
          </a:xfrm>
          <a:prstGeom prst="line">
            <a:avLst/>
          </a:prstGeom>
          <a:noFill/>
          <a:ln w="15875">
            <a:solidFill>
              <a:schemeClr val="tx1"/>
            </a:solidFill>
            <a:prstDash val="solid"/>
          </a:ln>
        </p:spPr>
      </p:sp>
      <p:pic>
        <p:nvPicPr>
          <p:cNvPr id="10" name="Icon PiSparkle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548640" y="2560320"/>
            <a:ext cx="347472" cy="347472"/>
          </a:xfrm>
          <a:prstGeom prst="rect">
            <a:avLst/>
          </a:prstGeom>
        </p:spPr>
      </p:pic>
      <p:sp>
        <p:nvSpPr>
          <p:cNvPr id="11" name="Text 8"/>
          <p:cNvSpPr txBox="1"/>
          <p:nvPr/>
        </p:nvSpPr>
        <p:spPr>
          <a:xfrm>
            <a:off x="1280160" y="246888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AI copilots for sellers</a:t>
            </a:r>
            <a:endParaRPr lang="en-US" sz="1400" dirty="0"/>
          </a:p>
        </p:txBody>
      </p:sp>
      <p:sp>
        <p:nvSpPr>
          <p:cNvPr id="12" name="Text 9"/>
          <p:cNvSpPr txBox="1"/>
          <p:nvPr/>
        </p:nvSpPr>
        <p:spPr>
          <a:xfrm>
            <a:off x="1280160" y="276148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Assistants draft emails, summarise calls and update CRM automatically.</a:t>
            </a:r>
            <a:endParaRPr lang="en-US" sz="1050" dirty="0"/>
          </a:p>
        </p:txBody>
      </p:sp>
      <p:sp>
        <p:nvSpPr>
          <p:cNvPr id="13" name="Shape 10"/>
          <p:cNvSpPr/>
          <p:nvPr/>
        </p:nvSpPr>
        <p:spPr>
          <a:xfrm>
            <a:off x="7153732" y="2697480"/>
            <a:ext cx="2419274" cy="128016"/>
          </a:xfrm>
          <a:prstGeom prst="roundRect">
            <a:avLst>
              <a:gd name="adj" fmla="val 50000"/>
            </a:avLst>
          </a:prstGeom>
          <a:solidFill>
            <a:schemeClr val="bg2"/>
          </a:solidFill>
          <a:ln/>
        </p:spPr>
      </p:sp>
      <p:sp>
        <p:nvSpPr>
          <p:cNvPr id="14" name="Shape 11"/>
          <p:cNvSpPr/>
          <p:nvPr/>
        </p:nvSpPr>
        <p:spPr>
          <a:xfrm>
            <a:off x="7153732" y="2697480"/>
            <a:ext cx="1112866" cy="128016"/>
          </a:xfrm>
          <a:prstGeom prst="roundRect">
            <a:avLst>
              <a:gd name="adj" fmla="val 50000"/>
            </a:avLst>
          </a:prstGeom>
          <a:solidFill>
            <a:schemeClr val="tx1"/>
          </a:solidFill>
          <a:ln/>
        </p:spPr>
      </p:sp>
      <p:sp>
        <p:nvSpPr>
          <p:cNvPr id="15" name="Text 12"/>
          <p:cNvSpPr txBox="1"/>
          <p:nvPr/>
        </p:nvSpPr>
        <p:spPr>
          <a:xfrm>
            <a:off x="7153732" y="239572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46%</a:t>
            </a:r>
            <a:endParaRPr lang="en-US" sz="1200" dirty="0"/>
          </a:p>
        </p:txBody>
      </p:sp>
      <p:sp>
        <p:nvSpPr>
          <p:cNvPr id="16" name="Shape 13"/>
          <p:cNvSpPr/>
          <p:nvPr/>
        </p:nvSpPr>
        <p:spPr>
          <a:xfrm>
            <a:off x="10258806" y="2624328"/>
            <a:ext cx="868680" cy="274320"/>
          </a:xfrm>
          <a:prstGeom prst="roundRect">
            <a:avLst>
              <a:gd name="adj" fmla="val 50000"/>
            </a:avLst>
          </a:prstGeom>
          <a:solidFill>
            <a:schemeClr val="accent1"/>
          </a:solidFill>
          <a:ln/>
        </p:spPr>
      </p:sp>
      <p:sp>
        <p:nvSpPr>
          <p:cNvPr id="17" name="Text 14"/>
          <p:cNvSpPr txBox="1"/>
          <p:nvPr/>
        </p:nvSpPr>
        <p:spPr>
          <a:xfrm>
            <a:off x="10258806" y="2624328"/>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High</a:t>
            </a:r>
            <a:endParaRPr lang="en-US" sz="900" dirty="0"/>
          </a:p>
        </p:txBody>
      </p:sp>
      <p:sp>
        <p:nvSpPr>
          <p:cNvPr id="18" name="Shape 15"/>
          <p:cNvSpPr/>
          <p:nvPr/>
        </p:nvSpPr>
        <p:spPr>
          <a:xfrm>
            <a:off x="548640" y="3291840"/>
            <a:ext cx="11094415" cy="0"/>
          </a:xfrm>
          <a:prstGeom prst="line">
            <a:avLst/>
          </a:prstGeom>
          <a:noFill/>
          <a:ln w="9525">
            <a:solidFill>
              <a:schemeClr val="accent4"/>
            </a:solidFill>
            <a:prstDash val="solid"/>
          </a:ln>
        </p:spPr>
      </p:sp>
      <p:pic>
        <p:nvPicPr>
          <p:cNvPr id="19" name="Icon PiStack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548640" y="3566160"/>
            <a:ext cx="347472" cy="347472"/>
          </a:xfrm>
          <a:prstGeom prst="rect">
            <a:avLst/>
          </a:prstGeom>
        </p:spPr>
      </p:pic>
      <p:sp>
        <p:nvSpPr>
          <p:cNvPr id="20" name="Text 16"/>
          <p:cNvSpPr txBox="1"/>
          <p:nvPr/>
        </p:nvSpPr>
        <p:spPr>
          <a:xfrm>
            <a:off x="1280160" y="347472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Tool consolidation</a:t>
            </a:r>
            <a:endParaRPr lang="en-US" sz="1400" dirty="0"/>
          </a:p>
        </p:txBody>
      </p:sp>
      <p:sp>
        <p:nvSpPr>
          <p:cNvPr id="21" name="Text 17"/>
          <p:cNvSpPr txBox="1"/>
          <p:nvPr/>
        </p:nvSpPr>
        <p:spPr>
          <a:xfrm>
            <a:off x="1280160" y="376732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CFOs cut the sales stack from 11 tools to 5 or fewer.</a:t>
            </a:r>
            <a:endParaRPr lang="en-US" sz="1050" dirty="0"/>
          </a:p>
        </p:txBody>
      </p:sp>
      <p:sp>
        <p:nvSpPr>
          <p:cNvPr id="22" name="Shape 18"/>
          <p:cNvSpPr/>
          <p:nvPr/>
        </p:nvSpPr>
        <p:spPr>
          <a:xfrm>
            <a:off x="7153732" y="3703320"/>
            <a:ext cx="2419274" cy="128016"/>
          </a:xfrm>
          <a:prstGeom prst="roundRect">
            <a:avLst>
              <a:gd name="adj" fmla="val 50000"/>
            </a:avLst>
          </a:prstGeom>
          <a:solidFill>
            <a:schemeClr val="bg2"/>
          </a:solidFill>
          <a:ln/>
        </p:spPr>
      </p:sp>
      <p:sp>
        <p:nvSpPr>
          <p:cNvPr id="23" name="Shape 19"/>
          <p:cNvSpPr/>
          <p:nvPr/>
        </p:nvSpPr>
        <p:spPr>
          <a:xfrm>
            <a:off x="7153732" y="3703320"/>
            <a:ext cx="919324" cy="128016"/>
          </a:xfrm>
          <a:prstGeom prst="roundRect">
            <a:avLst>
              <a:gd name="adj" fmla="val 50000"/>
            </a:avLst>
          </a:prstGeom>
          <a:solidFill>
            <a:schemeClr val="tx1"/>
          </a:solidFill>
          <a:ln/>
        </p:spPr>
      </p:sp>
      <p:sp>
        <p:nvSpPr>
          <p:cNvPr id="24" name="Text 20"/>
          <p:cNvSpPr txBox="1"/>
          <p:nvPr/>
        </p:nvSpPr>
        <p:spPr>
          <a:xfrm>
            <a:off x="7153732" y="340156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38%</a:t>
            </a:r>
            <a:endParaRPr lang="en-US" sz="1200" dirty="0"/>
          </a:p>
        </p:txBody>
      </p:sp>
      <p:sp>
        <p:nvSpPr>
          <p:cNvPr id="25" name="Shape 21"/>
          <p:cNvSpPr/>
          <p:nvPr/>
        </p:nvSpPr>
        <p:spPr>
          <a:xfrm>
            <a:off x="10258806" y="3630168"/>
            <a:ext cx="868680" cy="274320"/>
          </a:xfrm>
          <a:prstGeom prst="roundRect">
            <a:avLst>
              <a:gd name="adj" fmla="val 50000"/>
            </a:avLst>
          </a:prstGeom>
          <a:solidFill>
            <a:schemeClr val="accent1"/>
          </a:solidFill>
          <a:ln/>
        </p:spPr>
      </p:sp>
      <p:sp>
        <p:nvSpPr>
          <p:cNvPr id="26" name="Text 22"/>
          <p:cNvSpPr txBox="1"/>
          <p:nvPr/>
        </p:nvSpPr>
        <p:spPr>
          <a:xfrm>
            <a:off x="10258806" y="3630168"/>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High</a:t>
            </a:r>
            <a:endParaRPr lang="en-US" sz="900" dirty="0"/>
          </a:p>
        </p:txBody>
      </p:sp>
      <p:sp>
        <p:nvSpPr>
          <p:cNvPr id="27" name="Shape 23"/>
          <p:cNvSpPr/>
          <p:nvPr/>
        </p:nvSpPr>
        <p:spPr>
          <a:xfrm>
            <a:off x="548640" y="4297680"/>
            <a:ext cx="11094415" cy="0"/>
          </a:xfrm>
          <a:prstGeom prst="line">
            <a:avLst/>
          </a:prstGeom>
          <a:noFill/>
          <a:ln w="9525">
            <a:solidFill>
              <a:schemeClr val="accent4"/>
            </a:solidFill>
            <a:prstDash val="solid"/>
          </a:ln>
        </p:spPr>
      </p:sp>
      <p:pic>
        <p:nvPicPr>
          <p:cNvPr id="28" name="Icon PiArrowsClockwis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548640" y="4572000"/>
            <a:ext cx="347472" cy="347472"/>
          </a:xfrm>
          <a:prstGeom prst="rect">
            <a:avLst/>
          </a:prstGeom>
        </p:spPr>
      </p:pic>
      <p:sp>
        <p:nvSpPr>
          <p:cNvPr id="29" name="Text 24"/>
          <p:cNvSpPr txBox="1"/>
          <p:nvPr/>
        </p:nvSpPr>
        <p:spPr>
          <a:xfrm>
            <a:off x="1280160" y="448056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Revenue operations as a function</a:t>
            </a:r>
            <a:endParaRPr lang="en-US" sz="1400" dirty="0"/>
          </a:p>
        </p:txBody>
      </p:sp>
      <p:sp>
        <p:nvSpPr>
          <p:cNvPr id="30" name="Text 25"/>
          <p:cNvSpPr txBox="1"/>
          <p:nvPr/>
        </p:nvSpPr>
        <p:spPr>
          <a:xfrm>
            <a:off x="1280160" y="477316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Sales, marketing and CS operations merge under one leader.</a:t>
            </a:r>
            <a:endParaRPr lang="en-US" sz="1050" dirty="0"/>
          </a:p>
        </p:txBody>
      </p:sp>
      <p:sp>
        <p:nvSpPr>
          <p:cNvPr id="31" name="Shape 26"/>
          <p:cNvSpPr/>
          <p:nvPr/>
        </p:nvSpPr>
        <p:spPr>
          <a:xfrm>
            <a:off x="7153732" y="4709160"/>
            <a:ext cx="2419274" cy="128016"/>
          </a:xfrm>
          <a:prstGeom prst="roundRect">
            <a:avLst>
              <a:gd name="adj" fmla="val 50000"/>
            </a:avLst>
          </a:prstGeom>
          <a:solidFill>
            <a:schemeClr val="bg2"/>
          </a:solidFill>
          <a:ln/>
        </p:spPr>
      </p:sp>
      <p:sp>
        <p:nvSpPr>
          <p:cNvPr id="32" name="Shape 27"/>
          <p:cNvSpPr/>
          <p:nvPr/>
        </p:nvSpPr>
        <p:spPr>
          <a:xfrm>
            <a:off x="7153732" y="4709160"/>
            <a:ext cx="1475757" cy="128016"/>
          </a:xfrm>
          <a:prstGeom prst="roundRect">
            <a:avLst>
              <a:gd name="adj" fmla="val 50000"/>
            </a:avLst>
          </a:prstGeom>
          <a:solidFill>
            <a:schemeClr val="tx1"/>
          </a:solidFill>
          <a:ln/>
        </p:spPr>
      </p:sp>
      <p:sp>
        <p:nvSpPr>
          <p:cNvPr id="33" name="Text 28"/>
          <p:cNvSpPr txBox="1"/>
          <p:nvPr/>
        </p:nvSpPr>
        <p:spPr>
          <a:xfrm>
            <a:off x="7153732" y="440740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61%</a:t>
            </a:r>
            <a:endParaRPr lang="en-US" sz="1200" dirty="0"/>
          </a:p>
        </p:txBody>
      </p:sp>
      <p:sp>
        <p:nvSpPr>
          <p:cNvPr id="34" name="Shape 29"/>
          <p:cNvSpPr/>
          <p:nvPr/>
        </p:nvSpPr>
        <p:spPr>
          <a:xfrm>
            <a:off x="10258806" y="4636008"/>
            <a:ext cx="868680" cy="274320"/>
          </a:xfrm>
          <a:prstGeom prst="roundRect">
            <a:avLst>
              <a:gd name="adj" fmla="val 50000"/>
            </a:avLst>
          </a:prstGeom>
          <a:ln w="9525">
            <a:solidFill>
              <a:schemeClr val="accent4"/>
            </a:solidFill>
            <a:prstDash val="solid"/>
          </a:ln>
        </p:spPr>
      </p:sp>
      <p:sp>
        <p:nvSpPr>
          <p:cNvPr id="35" name="Text 30"/>
          <p:cNvSpPr txBox="1"/>
          <p:nvPr/>
        </p:nvSpPr>
        <p:spPr>
          <a:xfrm>
            <a:off x="10258806" y="4636008"/>
            <a:ext cx="86868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Medium</a:t>
            </a:r>
            <a:endParaRPr lang="en-US" sz="900" dirty="0"/>
          </a:p>
        </p:txBody>
      </p:sp>
      <p:sp>
        <p:nvSpPr>
          <p:cNvPr id="36" name="Shape 31"/>
          <p:cNvSpPr/>
          <p:nvPr/>
        </p:nvSpPr>
        <p:spPr>
          <a:xfrm>
            <a:off x="548640" y="5303520"/>
            <a:ext cx="11094415" cy="0"/>
          </a:xfrm>
          <a:prstGeom prst="line">
            <a:avLst/>
          </a:prstGeom>
          <a:noFill/>
          <a:ln w="9525">
            <a:solidFill>
              <a:schemeClr val="accent4"/>
            </a:solidFill>
            <a:prstDash val="solid"/>
          </a:ln>
        </p:spPr>
      </p:sp>
      <p:pic>
        <p:nvPicPr>
          <p:cNvPr id="37" name="Icon PiUsersThree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548640" y="5577840"/>
            <a:ext cx="347472" cy="347472"/>
          </a:xfrm>
          <a:prstGeom prst="rect">
            <a:avLst/>
          </a:prstGeom>
        </p:spPr>
      </p:pic>
      <p:sp>
        <p:nvSpPr>
          <p:cNvPr id="38" name="Text 32"/>
          <p:cNvSpPr txBox="1"/>
          <p:nvPr/>
        </p:nvSpPr>
        <p:spPr>
          <a:xfrm>
            <a:off x="1280160" y="548640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Buying committees grow</a:t>
            </a:r>
            <a:endParaRPr lang="en-US" sz="1400" dirty="0"/>
          </a:p>
        </p:txBody>
      </p:sp>
      <p:sp>
        <p:nvSpPr>
          <p:cNvPr id="39" name="Text 33"/>
          <p:cNvSpPr txBox="1"/>
          <p:nvPr/>
        </p:nvSpPr>
        <p:spPr>
          <a:xfrm>
            <a:off x="1280160" y="577900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Average B2B deal now involves 9 stakeholders, up from 6.</a:t>
            </a:r>
            <a:endParaRPr lang="en-US" sz="1050" dirty="0"/>
          </a:p>
        </p:txBody>
      </p:sp>
      <p:sp>
        <p:nvSpPr>
          <p:cNvPr id="40" name="Shape 34"/>
          <p:cNvSpPr/>
          <p:nvPr/>
        </p:nvSpPr>
        <p:spPr>
          <a:xfrm>
            <a:off x="7153732" y="5715000"/>
            <a:ext cx="2419274" cy="128016"/>
          </a:xfrm>
          <a:prstGeom prst="roundRect">
            <a:avLst>
              <a:gd name="adj" fmla="val 50000"/>
            </a:avLst>
          </a:prstGeom>
          <a:solidFill>
            <a:schemeClr val="bg2"/>
          </a:solidFill>
          <a:ln/>
        </p:spPr>
      </p:sp>
      <p:sp>
        <p:nvSpPr>
          <p:cNvPr id="41" name="Shape 35"/>
          <p:cNvSpPr/>
          <p:nvPr/>
        </p:nvSpPr>
        <p:spPr>
          <a:xfrm>
            <a:off x="7153732" y="5715000"/>
            <a:ext cx="1741877" cy="128016"/>
          </a:xfrm>
          <a:prstGeom prst="roundRect">
            <a:avLst>
              <a:gd name="adj" fmla="val 50000"/>
            </a:avLst>
          </a:prstGeom>
          <a:solidFill>
            <a:schemeClr val="tx1"/>
          </a:solidFill>
          <a:ln/>
        </p:spPr>
      </p:sp>
      <p:sp>
        <p:nvSpPr>
          <p:cNvPr id="42" name="Text 36"/>
          <p:cNvSpPr txBox="1"/>
          <p:nvPr/>
        </p:nvSpPr>
        <p:spPr>
          <a:xfrm>
            <a:off x="7153732" y="541324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72%</a:t>
            </a:r>
            <a:endParaRPr lang="en-US" sz="1200" dirty="0"/>
          </a:p>
        </p:txBody>
      </p:sp>
      <p:sp>
        <p:nvSpPr>
          <p:cNvPr id="43" name="Shape 37"/>
          <p:cNvSpPr/>
          <p:nvPr/>
        </p:nvSpPr>
        <p:spPr>
          <a:xfrm>
            <a:off x="10258806" y="5641848"/>
            <a:ext cx="868680" cy="274320"/>
          </a:xfrm>
          <a:prstGeom prst="roundRect">
            <a:avLst>
              <a:gd name="adj" fmla="val 50000"/>
            </a:avLst>
          </a:prstGeom>
          <a:ln w="9525">
            <a:solidFill>
              <a:schemeClr val="accent4"/>
            </a:solidFill>
            <a:prstDash val="solid"/>
          </a:ln>
        </p:spPr>
      </p:sp>
      <p:sp>
        <p:nvSpPr>
          <p:cNvPr id="44" name="Text 38"/>
          <p:cNvSpPr txBox="1"/>
          <p:nvPr/>
        </p:nvSpPr>
        <p:spPr>
          <a:xfrm>
            <a:off x="10258806" y="5641848"/>
            <a:ext cx="86868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Medium</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customer segments drive 86% of new revenue</a:t>
            </a:r>
            <a:endParaRPr lang="en-US" sz="2800" dirty="0"/>
          </a:p>
        </p:txBody>
      </p:sp>
      <p:sp>
        <p:nvSpPr>
          <p:cNvPr id="5" name="Shape 3"/>
          <p:cNvSpPr/>
          <p:nvPr/>
        </p:nvSpPr>
        <p:spPr>
          <a:xfrm>
            <a:off x="548640" y="1874520"/>
            <a:ext cx="3545738" cy="4160520"/>
          </a:xfrm>
          <a:prstGeom prst="roundRect">
            <a:avLst>
              <a:gd name="adj" fmla="val 2579"/>
            </a:avLst>
          </a:prstGeom>
          <a:solidFill>
            <a:schemeClr val="bg1"/>
          </a:solidFill>
          <a:ln/>
        </p:spPr>
      </p:sp>
      <p:sp>
        <p:nvSpPr>
          <p:cNvPr id="6" name="Shape 4"/>
          <p:cNvSpPr/>
          <p:nvPr/>
        </p:nvSpPr>
        <p:spPr>
          <a:xfrm>
            <a:off x="868680" y="2194560"/>
            <a:ext cx="640080" cy="640080"/>
          </a:xfrm>
          <a:prstGeom prst="roundRect">
            <a:avLst>
              <a:gd name="adj" fmla="val 14286"/>
            </a:avLst>
          </a:prstGeom>
          <a:solidFill>
            <a:schemeClr val="accent1"/>
          </a:solidFill>
          <a:ln/>
        </p:spPr>
      </p:sp>
      <p:pic>
        <p:nvPicPr>
          <p:cNvPr id="7" name="Icon PiRocketLaunch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1022299" y="2348179"/>
            <a:ext cx="332842" cy="332842"/>
          </a:xfrm>
          <a:prstGeom prst="rect">
            <a:avLst/>
          </a:prstGeom>
        </p:spPr>
      </p:pic>
      <p:sp>
        <p:nvSpPr>
          <p:cNvPr id="8" name="Shape 5"/>
          <p:cNvSpPr/>
          <p:nvPr/>
        </p:nvSpPr>
        <p:spPr>
          <a:xfrm>
            <a:off x="2859938" y="2331720"/>
            <a:ext cx="914400" cy="274320"/>
          </a:xfrm>
          <a:prstGeom prst="roundRect">
            <a:avLst>
              <a:gd name="adj" fmla="val 50000"/>
            </a:avLst>
          </a:prstGeom>
          <a:solidFill>
            <a:schemeClr val="tx1"/>
          </a:solidFill>
          <a:ln/>
        </p:spPr>
      </p:sp>
      <p:sp>
        <p:nvSpPr>
          <p:cNvPr id="9" name="Text 6"/>
          <p:cNvSpPr txBox="1"/>
          <p:nvPr/>
        </p:nvSpPr>
        <p:spPr>
          <a:xfrm>
            <a:off x="2859938" y="2331720"/>
            <a:ext cx="91440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Primary</a:t>
            </a:r>
            <a:endParaRPr lang="en-US" sz="900" dirty="0"/>
          </a:p>
        </p:txBody>
      </p:sp>
      <p:sp>
        <p:nvSpPr>
          <p:cNvPr id="10" name="Text 7"/>
          <p:cNvSpPr txBox="1"/>
          <p:nvPr/>
        </p:nvSpPr>
        <p:spPr>
          <a:xfrm>
            <a:off x="868680" y="3063240"/>
            <a:ext cx="290565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Scale-up sellers</a:t>
            </a:r>
            <a:endParaRPr lang="en-US" sz="1600" dirty="0"/>
          </a:p>
        </p:txBody>
      </p:sp>
      <p:sp>
        <p:nvSpPr>
          <p:cNvPr id="11" name="Text 8"/>
          <p:cNvSpPr txBox="1"/>
          <p:nvPr/>
        </p:nvSpPr>
        <p:spPr>
          <a:xfrm>
            <a:off x="868680" y="3447288"/>
            <a:ext cx="2905658" cy="502920"/>
          </a:xfrm>
          <a:prstGeom prst="rect">
            <a:avLst/>
          </a:prstGeom>
          <a:noFill/>
          <a:ln/>
        </p:spPr>
        <p:txBody>
          <a:bodyPr wrap="square" lIns="0" tIns="0" rIns="0" bIns="0" rtlCol="0" anchor="b"/>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44%</a:t>
            </a:r>
            <a:pPr algn="l" indent="0" marL="0">
              <a:buNone/>
            </a:pPr>
            <a:r>
              <a:rPr lang="en-US" sz="1050" dirty="0">
                <a:solidFill>
                  <a:schemeClr val="accent3"/>
                </a:solidFill>
                <a:latin typeface="Inter" pitchFamily="34" charset="0"/>
                <a:ea typeface="Inter" pitchFamily="34" charset="-122"/>
                <a:cs typeface="Inter" pitchFamily="34" charset="-120"/>
              </a:rPr>
              <a:t>  of new ARR</a:t>
            </a:r>
            <a:endParaRPr lang="en-US" sz="1200" dirty="0"/>
          </a:p>
        </p:txBody>
      </p:sp>
      <p:sp>
        <p:nvSpPr>
          <p:cNvPr id="12" name="Shape 9"/>
          <p:cNvSpPr/>
          <p:nvPr/>
        </p:nvSpPr>
        <p:spPr>
          <a:xfrm>
            <a:off x="868680" y="4206240"/>
            <a:ext cx="2905658" cy="0"/>
          </a:xfrm>
          <a:prstGeom prst="line">
            <a:avLst/>
          </a:prstGeom>
          <a:noFill/>
          <a:ln w="9525">
            <a:solidFill>
              <a:schemeClr val="accent4"/>
            </a:solidFill>
            <a:prstDash val="solid"/>
          </a:ln>
        </p:spPr>
      </p:sp>
      <p:sp>
        <p:nvSpPr>
          <p:cNvPr id="13" name="Text 10"/>
          <p:cNvSpPr txBox="1"/>
          <p:nvPr/>
        </p:nvSpPr>
        <p:spPr>
          <a:xfrm>
            <a:off x="868680" y="4279392"/>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Company size</a:t>
            </a:r>
            <a:endParaRPr lang="en-US" sz="1050" dirty="0"/>
          </a:p>
        </p:txBody>
      </p:sp>
      <p:sp>
        <p:nvSpPr>
          <p:cNvPr id="14" name="Text 11"/>
          <p:cNvSpPr txBox="1"/>
          <p:nvPr/>
        </p:nvSpPr>
        <p:spPr>
          <a:xfrm>
            <a:off x="2377440" y="4279392"/>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200–600</a:t>
            </a:r>
            <a:endParaRPr lang="en-US" sz="1050" dirty="0"/>
          </a:p>
        </p:txBody>
      </p:sp>
      <p:sp>
        <p:nvSpPr>
          <p:cNvPr id="15" name="Shape 12"/>
          <p:cNvSpPr/>
          <p:nvPr/>
        </p:nvSpPr>
        <p:spPr>
          <a:xfrm>
            <a:off x="868680" y="4626864"/>
            <a:ext cx="2905658" cy="0"/>
          </a:xfrm>
          <a:prstGeom prst="line">
            <a:avLst/>
          </a:prstGeom>
          <a:noFill/>
          <a:ln w="9525">
            <a:solidFill>
              <a:schemeClr val="accent4"/>
            </a:solidFill>
            <a:prstDash val="solid"/>
          </a:ln>
        </p:spPr>
      </p:sp>
      <p:sp>
        <p:nvSpPr>
          <p:cNvPr id="16" name="Text 13"/>
          <p:cNvSpPr txBox="1"/>
          <p:nvPr/>
        </p:nvSpPr>
        <p:spPr>
          <a:xfrm>
            <a:off x="868680" y="4700016"/>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Economic buyer</a:t>
            </a:r>
            <a:endParaRPr lang="en-US" sz="1050" dirty="0"/>
          </a:p>
        </p:txBody>
      </p:sp>
      <p:sp>
        <p:nvSpPr>
          <p:cNvPr id="17" name="Text 14"/>
          <p:cNvSpPr txBox="1"/>
          <p:nvPr/>
        </p:nvSpPr>
        <p:spPr>
          <a:xfrm>
            <a:off x="2377440" y="4700016"/>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VP Sales</a:t>
            </a:r>
            <a:endParaRPr lang="en-US" sz="1050" dirty="0"/>
          </a:p>
        </p:txBody>
      </p:sp>
      <p:sp>
        <p:nvSpPr>
          <p:cNvPr id="18" name="Shape 15"/>
          <p:cNvSpPr/>
          <p:nvPr/>
        </p:nvSpPr>
        <p:spPr>
          <a:xfrm>
            <a:off x="868680" y="5047488"/>
            <a:ext cx="2905658" cy="0"/>
          </a:xfrm>
          <a:prstGeom prst="line">
            <a:avLst/>
          </a:prstGeom>
          <a:noFill/>
          <a:ln w="9525">
            <a:solidFill>
              <a:schemeClr val="accent4"/>
            </a:solidFill>
            <a:prstDash val="solid"/>
          </a:ln>
        </p:spPr>
      </p:sp>
      <p:sp>
        <p:nvSpPr>
          <p:cNvPr id="19" name="Text 16"/>
          <p:cNvSpPr txBox="1"/>
          <p:nvPr/>
        </p:nvSpPr>
        <p:spPr>
          <a:xfrm>
            <a:off x="868680" y="5120640"/>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Average ACV</a:t>
            </a:r>
            <a:endParaRPr lang="en-US" sz="1050" dirty="0"/>
          </a:p>
        </p:txBody>
      </p:sp>
      <p:sp>
        <p:nvSpPr>
          <p:cNvPr id="20" name="Text 17"/>
          <p:cNvSpPr txBox="1"/>
          <p:nvPr/>
        </p:nvSpPr>
        <p:spPr>
          <a:xfrm>
            <a:off x="2377440" y="5120640"/>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$28K</a:t>
            </a:r>
            <a:endParaRPr lang="en-US" sz="1050" dirty="0"/>
          </a:p>
        </p:txBody>
      </p:sp>
      <p:sp>
        <p:nvSpPr>
          <p:cNvPr id="21" name="Shape 18"/>
          <p:cNvSpPr/>
          <p:nvPr/>
        </p:nvSpPr>
        <p:spPr>
          <a:xfrm>
            <a:off x="868680" y="5468112"/>
            <a:ext cx="2905658" cy="0"/>
          </a:xfrm>
          <a:prstGeom prst="line">
            <a:avLst/>
          </a:prstGeom>
          <a:noFill/>
          <a:ln w="9525">
            <a:solidFill>
              <a:schemeClr val="accent4"/>
            </a:solidFill>
            <a:prstDash val="solid"/>
          </a:ln>
        </p:spPr>
      </p:sp>
      <p:sp>
        <p:nvSpPr>
          <p:cNvPr id="22" name="Text 19"/>
          <p:cNvSpPr txBox="1"/>
          <p:nvPr/>
        </p:nvSpPr>
        <p:spPr>
          <a:xfrm>
            <a:off x="868680" y="5541264"/>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Sales cycle</a:t>
            </a:r>
            <a:endParaRPr lang="en-US" sz="1050" dirty="0"/>
          </a:p>
        </p:txBody>
      </p:sp>
      <p:sp>
        <p:nvSpPr>
          <p:cNvPr id="23" name="Text 20"/>
          <p:cNvSpPr txBox="1"/>
          <p:nvPr/>
        </p:nvSpPr>
        <p:spPr>
          <a:xfrm>
            <a:off x="2377440" y="5541264"/>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38 days</a:t>
            </a:r>
            <a:endParaRPr lang="en-US" sz="1050" dirty="0"/>
          </a:p>
        </p:txBody>
      </p:sp>
      <p:sp>
        <p:nvSpPr>
          <p:cNvPr id="24" name="Shape 21"/>
          <p:cNvSpPr/>
          <p:nvPr/>
        </p:nvSpPr>
        <p:spPr>
          <a:xfrm>
            <a:off x="4322978" y="1874520"/>
            <a:ext cx="3545738" cy="4160520"/>
          </a:xfrm>
          <a:prstGeom prst="roundRect">
            <a:avLst>
              <a:gd name="adj" fmla="val 2579"/>
            </a:avLst>
          </a:prstGeom>
          <a:solidFill>
            <a:schemeClr val="bg1"/>
          </a:solidFill>
          <a:ln/>
        </p:spPr>
      </p:sp>
      <p:sp>
        <p:nvSpPr>
          <p:cNvPr id="25" name="Shape 22"/>
          <p:cNvSpPr/>
          <p:nvPr/>
        </p:nvSpPr>
        <p:spPr>
          <a:xfrm>
            <a:off x="4643018" y="2194560"/>
            <a:ext cx="640080" cy="640080"/>
          </a:xfrm>
          <a:prstGeom prst="roundRect">
            <a:avLst>
              <a:gd name="adj" fmla="val 14286"/>
            </a:avLst>
          </a:prstGeom>
          <a:solidFill>
            <a:schemeClr val="bg2"/>
          </a:solidFill>
          <a:ln/>
        </p:spPr>
      </p:sp>
      <p:pic>
        <p:nvPicPr>
          <p:cNvPr id="26" name="Icon PiBuildings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4796638" y="2348179"/>
            <a:ext cx="332842" cy="332842"/>
          </a:xfrm>
          <a:prstGeom prst="rect">
            <a:avLst/>
          </a:prstGeom>
        </p:spPr>
      </p:pic>
      <p:sp>
        <p:nvSpPr>
          <p:cNvPr id="27" name="Shape 23"/>
          <p:cNvSpPr/>
          <p:nvPr/>
        </p:nvSpPr>
        <p:spPr>
          <a:xfrm>
            <a:off x="6634277" y="2331720"/>
            <a:ext cx="914400" cy="274320"/>
          </a:xfrm>
          <a:prstGeom prst="roundRect">
            <a:avLst>
              <a:gd name="adj" fmla="val 50000"/>
            </a:avLst>
          </a:prstGeom>
          <a:solidFill>
            <a:schemeClr val="tx1"/>
          </a:solidFill>
          <a:ln/>
        </p:spPr>
      </p:sp>
      <p:sp>
        <p:nvSpPr>
          <p:cNvPr id="28" name="Text 24"/>
          <p:cNvSpPr txBox="1"/>
          <p:nvPr/>
        </p:nvSpPr>
        <p:spPr>
          <a:xfrm>
            <a:off x="6634277" y="2331720"/>
            <a:ext cx="91440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Primary</a:t>
            </a:r>
            <a:endParaRPr lang="en-US" sz="900" dirty="0"/>
          </a:p>
        </p:txBody>
      </p:sp>
      <p:sp>
        <p:nvSpPr>
          <p:cNvPr id="29" name="Text 25"/>
          <p:cNvSpPr txBox="1"/>
          <p:nvPr/>
        </p:nvSpPr>
        <p:spPr>
          <a:xfrm>
            <a:off x="4643018" y="3063240"/>
            <a:ext cx="290565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Established mid-market</a:t>
            </a:r>
            <a:endParaRPr lang="en-US" sz="1600" dirty="0"/>
          </a:p>
        </p:txBody>
      </p:sp>
      <p:sp>
        <p:nvSpPr>
          <p:cNvPr id="30" name="Text 26"/>
          <p:cNvSpPr txBox="1"/>
          <p:nvPr/>
        </p:nvSpPr>
        <p:spPr>
          <a:xfrm>
            <a:off x="4643018" y="3447288"/>
            <a:ext cx="2905658" cy="502920"/>
          </a:xfrm>
          <a:prstGeom prst="rect">
            <a:avLst/>
          </a:prstGeom>
          <a:noFill/>
          <a:ln/>
        </p:spPr>
        <p:txBody>
          <a:bodyPr wrap="square" lIns="0" tIns="0" rIns="0" bIns="0" rtlCol="0" anchor="b"/>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29%</a:t>
            </a:r>
            <a:pPr algn="l" indent="0" marL="0">
              <a:buNone/>
            </a:pPr>
            <a:r>
              <a:rPr lang="en-US" sz="1050" dirty="0">
                <a:solidFill>
                  <a:schemeClr val="accent3"/>
                </a:solidFill>
                <a:latin typeface="Inter" pitchFamily="34" charset="0"/>
                <a:ea typeface="Inter" pitchFamily="34" charset="-122"/>
                <a:cs typeface="Inter" pitchFamily="34" charset="-120"/>
              </a:rPr>
              <a:t>  of new ARR</a:t>
            </a:r>
            <a:endParaRPr lang="en-US" sz="1200" dirty="0"/>
          </a:p>
        </p:txBody>
      </p:sp>
      <p:sp>
        <p:nvSpPr>
          <p:cNvPr id="31" name="Shape 27"/>
          <p:cNvSpPr/>
          <p:nvPr/>
        </p:nvSpPr>
        <p:spPr>
          <a:xfrm>
            <a:off x="4643018" y="4206240"/>
            <a:ext cx="2905658" cy="0"/>
          </a:xfrm>
          <a:prstGeom prst="line">
            <a:avLst/>
          </a:prstGeom>
          <a:noFill/>
          <a:ln w="9525">
            <a:solidFill>
              <a:schemeClr val="accent4"/>
            </a:solidFill>
            <a:prstDash val="solid"/>
          </a:ln>
        </p:spPr>
      </p:sp>
      <p:sp>
        <p:nvSpPr>
          <p:cNvPr id="32" name="Text 28"/>
          <p:cNvSpPr txBox="1"/>
          <p:nvPr/>
        </p:nvSpPr>
        <p:spPr>
          <a:xfrm>
            <a:off x="4643018" y="4279392"/>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Company size</a:t>
            </a:r>
            <a:endParaRPr lang="en-US" sz="1050" dirty="0"/>
          </a:p>
        </p:txBody>
      </p:sp>
      <p:sp>
        <p:nvSpPr>
          <p:cNvPr id="33" name="Text 29"/>
          <p:cNvSpPr txBox="1"/>
          <p:nvPr/>
        </p:nvSpPr>
        <p:spPr>
          <a:xfrm>
            <a:off x="6151778" y="4279392"/>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600–2,000</a:t>
            </a:r>
            <a:endParaRPr lang="en-US" sz="1050" dirty="0"/>
          </a:p>
        </p:txBody>
      </p:sp>
      <p:sp>
        <p:nvSpPr>
          <p:cNvPr id="34" name="Shape 30"/>
          <p:cNvSpPr/>
          <p:nvPr/>
        </p:nvSpPr>
        <p:spPr>
          <a:xfrm>
            <a:off x="4643018" y="4626864"/>
            <a:ext cx="2905658" cy="0"/>
          </a:xfrm>
          <a:prstGeom prst="line">
            <a:avLst/>
          </a:prstGeom>
          <a:noFill/>
          <a:ln w="9525">
            <a:solidFill>
              <a:schemeClr val="accent4"/>
            </a:solidFill>
            <a:prstDash val="solid"/>
          </a:ln>
        </p:spPr>
      </p:sp>
      <p:sp>
        <p:nvSpPr>
          <p:cNvPr id="35" name="Text 31"/>
          <p:cNvSpPr txBox="1"/>
          <p:nvPr/>
        </p:nvSpPr>
        <p:spPr>
          <a:xfrm>
            <a:off x="4643018" y="4700016"/>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Economic buyer</a:t>
            </a:r>
            <a:endParaRPr lang="en-US" sz="1050" dirty="0"/>
          </a:p>
        </p:txBody>
      </p:sp>
      <p:sp>
        <p:nvSpPr>
          <p:cNvPr id="36" name="Text 32"/>
          <p:cNvSpPr txBox="1"/>
          <p:nvPr/>
        </p:nvSpPr>
        <p:spPr>
          <a:xfrm>
            <a:off x="6151778" y="4700016"/>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CRO</a:t>
            </a:r>
            <a:endParaRPr lang="en-US" sz="1050" dirty="0"/>
          </a:p>
        </p:txBody>
      </p:sp>
      <p:sp>
        <p:nvSpPr>
          <p:cNvPr id="37" name="Shape 33"/>
          <p:cNvSpPr/>
          <p:nvPr/>
        </p:nvSpPr>
        <p:spPr>
          <a:xfrm>
            <a:off x="4643018" y="5047488"/>
            <a:ext cx="2905658" cy="0"/>
          </a:xfrm>
          <a:prstGeom prst="line">
            <a:avLst/>
          </a:prstGeom>
          <a:noFill/>
          <a:ln w="9525">
            <a:solidFill>
              <a:schemeClr val="accent4"/>
            </a:solidFill>
            <a:prstDash val="solid"/>
          </a:ln>
        </p:spPr>
      </p:sp>
      <p:sp>
        <p:nvSpPr>
          <p:cNvPr id="38" name="Text 34"/>
          <p:cNvSpPr txBox="1"/>
          <p:nvPr/>
        </p:nvSpPr>
        <p:spPr>
          <a:xfrm>
            <a:off x="4643018" y="5120640"/>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Average ACV</a:t>
            </a:r>
            <a:endParaRPr lang="en-US" sz="1050" dirty="0"/>
          </a:p>
        </p:txBody>
      </p:sp>
      <p:sp>
        <p:nvSpPr>
          <p:cNvPr id="39" name="Text 35"/>
          <p:cNvSpPr txBox="1"/>
          <p:nvPr/>
        </p:nvSpPr>
        <p:spPr>
          <a:xfrm>
            <a:off x="6151778" y="5120640"/>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$64K</a:t>
            </a:r>
            <a:endParaRPr lang="en-US" sz="1050" dirty="0"/>
          </a:p>
        </p:txBody>
      </p:sp>
      <p:sp>
        <p:nvSpPr>
          <p:cNvPr id="40" name="Shape 36"/>
          <p:cNvSpPr/>
          <p:nvPr/>
        </p:nvSpPr>
        <p:spPr>
          <a:xfrm>
            <a:off x="4643018" y="5468112"/>
            <a:ext cx="2905658" cy="0"/>
          </a:xfrm>
          <a:prstGeom prst="line">
            <a:avLst/>
          </a:prstGeom>
          <a:noFill/>
          <a:ln w="9525">
            <a:solidFill>
              <a:schemeClr val="accent4"/>
            </a:solidFill>
            <a:prstDash val="solid"/>
          </a:ln>
        </p:spPr>
      </p:sp>
      <p:sp>
        <p:nvSpPr>
          <p:cNvPr id="41" name="Text 37"/>
          <p:cNvSpPr txBox="1"/>
          <p:nvPr/>
        </p:nvSpPr>
        <p:spPr>
          <a:xfrm>
            <a:off x="4643018" y="5541264"/>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Sales cycle</a:t>
            </a:r>
            <a:endParaRPr lang="en-US" sz="1050" dirty="0"/>
          </a:p>
        </p:txBody>
      </p:sp>
      <p:sp>
        <p:nvSpPr>
          <p:cNvPr id="42" name="Text 38"/>
          <p:cNvSpPr txBox="1"/>
          <p:nvPr/>
        </p:nvSpPr>
        <p:spPr>
          <a:xfrm>
            <a:off x="6151778" y="5541264"/>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71 days</a:t>
            </a:r>
            <a:endParaRPr lang="en-US" sz="1050" dirty="0"/>
          </a:p>
        </p:txBody>
      </p:sp>
      <p:sp>
        <p:nvSpPr>
          <p:cNvPr id="43" name="Shape 39"/>
          <p:cNvSpPr/>
          <p:nvPr/>
        </p:nvSpPr>
        <p:spPr>
          <a:xfrm>
            <a:off x="8097317" y="1874520"/>
            <a:ext cx="3545738" cy="4160520"/>
          </a:xfrm>
          <a:prstGeom prst="roundRect">
            <a:avLst>
              <a:gd name="adj" fmla="val 2579"/>
            </a:avLst>
          </a:prstGeom>
          <a:solidFill>
            <a:schemeClr val="bg1"/>
          </a:solidFill>
          <a:ln/>
        </p:spPr>
      </p:sp>
      <p:sp>
        <p:nvSpPr>
          <p:cNvPr id="44" name="Shape 40"/>
          <p:cNvSpPr/>
          <p:nvPr/>
        </p:nvSpPr>
        <p:spPr>
          <a:xfrm>
            <a:off x="8417357" y="2194560"/>
            <a:ext cx="640080" cy="640080"/>
          </a:xfrm>
          <a:prstGeom prst="roundRect">
            <a:avLst>
              <a:gd name="adj" fmla="val 14286"/>
            </a:avLst>
          </a:prstGeom>
          <a:solidFill>
            <a:schemeClr val="bg2"/>
          </a:solidFill>
          <a:ln/>
        </p:spPr>
      </p:sp>
      <p:pic>
        <p:nvPicPr>
          <p:cNvPr id="45" name="Icon PiBriefcase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8570976" y="2348179"/>
            <a:ext cx="332842" cy="332842"/>
          </a:xfrm>
          <a:prstGeom prst="rect">
            <a:avLst/>
          </a:prstGeom>
        </p:spPr>
      </p:pic>
      <p:sp>
        <p:nvSpPr>
          <p:cNvPr id="46" name="Shape 41"/>
          <p:cNvSpPr/>
          <p:nvPr/>
        </p:nvSpPr>
        <p:spPr>
          <a:xfrm>
            <a:off x="10408615" y="2331720"/>
            <a:ext cx="914400" cy="274320"/>
          </a:xfrm>
          <a:prstGeom prst="roundRect">
            <a:avLst>
              <a:gd name="adj" fmla="val 50000"/>
            </a:avLst>
          </a:prstGeom>
          <a:ln w="9525">
            <a:solidFill>
              <a:schemeClr val="accent4"/>
            </a:solidFill>
            <a:prstDash val="solid"/>
          </a:ln>
        </p:spPr>
      </p:sp>
      <p:sp>
        <p:nvSpPr>
          <p:cNvPr id="47" name="Text 42"/>
          <p:cNvSpPr txBox="1"/>
          <p:nvPr/>
        </p:nvSpPr>
        <p:spPr>
          <a:xfrm>
            <a:off x="10408615" y="2331720"/>
            <a:ext cx="91440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Emerging</a:t>
            </a:r>
            <a:endParaRPr lang="en-US" sz="900" dirty="0"/>
          </a:p>
        </p:txBody>
      </p:sp>
      <p:sp>
        <p:nvSpPr>
          <p:cNvPr id="48" name="Text 43"/>
          <p:cNvSpPr txBox="1"/>
          <p:nvPr/>
        </p:nvSpPr>
        <p:spPr>
          <a:xfrm>
            <a:off x="8417357" y="3063240"/>
            <a:ext cx="290565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Enterprise divisions</a:t>
            </a:r>
            <a:endParaRPr lang="en-US" sz="1600" dirty="0"/>
          </a:p>
        </p:txBody>
      </p:sp>
      <p:sp>
        <p:nvSpPr>
          <p:cNvPr id="49" name="Text 44"/>
          <p:cNvSpPr txBox="1"/>
          <p:nvPr/>
        </p:nvSpPr>
        <p:spPr>
          <a:xfrm>
            <a:off x="8417357" y="3447288"/>
            <a:ext cx="2905658" cy="502920"/>
          </a:xfrm>
          <a:prstGeom prst="rect">
            <a:avLst/>
          </a:prstGeom>
          <a:noFill/>
          <a:ln/>
        </p:spPr>
        <p:txBody>
          <a:bodyPr wrap="square" lIns="0" tIns="0" rIns="0" bIns="0" rtlCol="0" anchor="b"/>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13%</a:t>
            </a:r>
            <a:pPr algn="l" indent="0" marL="0">
              <a:buNone/>
            </a:pPr>
            <a:r>
              <a:rPr lang="en-US" sz="1050" dirty="0">
                <a:solidFill>
                  <a:schemeClr val="accent3"/>
                </a:solidFill>
                <a:latin typeface="Inter" pitchFamily="34" charset="0"/>
                <a:ea typeface="Inter" pitchFamily="34" charset="-122"/>
                <a:cs typeface="Inter" pitchFamily="34" charset="-120"/>
              </a:rPr>
              <a:t>  of new ARR</a:t>
            </a:r>
            <a:endParaRPr lang="en-US" sz="1200" dirty="0"/>
          </a:p>
        </p:txBody>
      </p:sp>
      <p:sp>
        <p:nvSpPr>
          <p:cNvPr id="50" name="Shape 45"/>
          <p:cNvSpPr/>
          <p:nvPr/>
        </p:nvSpPr>
        <p:spPr>
          <a:xfrm>
            <a:off x="8417357" y="4206240"/>
            <a:ext cx="2905658" cy="0"/>
          </a:xfrm>
          <a:prstGeom prst="line">
            <a:avLst/>
          </a:prstGeom>
          <a:noFill/>
          <a:ln w="9525">
            <a:solidFill>
              <a:schemeClr val="accent4"/>
            </a:solidFill>
            <a:prstDash val="solid"/>
          </a:ln>
        </p:spPr>
      </p:sp>
      <p:sp>
        <p:nvSpPr>
          <p:cNvPr id="51" name="Text 46"/>
          <p:cNvSpPr txBox="1"/>
          <p:nvPr/>
        </p:nvSpPr>
        <p:spPr>
          <a:xfrm>
            <a:off x="8417357" y="4279392"/>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Company size</a:t>
            </a:r>
            <a:endParaRPr lang="en-US" sz="1050" dirty="0"/>
          </a:p>
        </p:txBody>
      </p:sp>
      <p:sp>
        <p:nvSpPr>
          <p:cNvPr id="52" name="Text 47"/>
          <p:cNvSpPr txBox="1"/>
          <p:nvPr/>
        </p:nvSpPr>
        <p:spPr>
          <a:xfrm>
            <a:off x="9926117" y="4279392"/>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2,000+</a:t>
            </a:r>
            <a:endParaRPr lang="en-US" sz="1050" dirty="0"/>
          </a:p>
        </p:txBody>
      </p:sp>
      <p:sp>
        <p:nvSpPr>
          <p:cNvPr id="53" name="Shape 48"/>
          <p:cNvSpPr/>
          <p:nvPr/>
        </p:nvSpPr>
        <p:spPr>
          <a:xfrm>
            <a:off x="8417357" y="4626864"/>
            <a:ext cx="2905658" cy="0"/>
          </a:xfrm>
          <a:prstGeom prst="line">
            <a:avLst/>
          </a:prstGeom>
          <a:noFill/>
          <a:ln w="9525">
            <a:solidFill>
              <a:schemeClr val="accent4"/>
            </a:solidFill>
            <a:prstDash val="solid"/>
          </a:ln>
        </p:spPr>
      </p:sp>
      <p:sp>
        <p:nvSpPr>
          <p:cNvPr id="54" name="Text 49"/>
          <p:cNvSpPr txBox="1"/>
          <p:nvPr/>
        </p:nvSpPr>
        <p:spPr>
          <a:xfrm>
            <a:off x="8417357" y="4700016"/>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Economic buyer</a:t>
            </a:r>
            <a:endParaRPr lang="en-US" sz="1050" dirty="0"/>
          </a:p>
        </p:txBody>
      </p:sp>
      <p:sp>
        <p:nvSpPr>
          <p:cNvPr id="55" name="Text 50"/>
          <p:cNvSpPr txBox="1"/>
          <p:nvPr/>
        </p:nvSpPr>
        <p:spPr>
          <a:xfrm>
            <a:off x="9926117" y="4700016"/>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Division head</a:t>
            </a:r>
            <a:endParaRPr lang="en-US" sz="1050" dirty="0"/>
          </a:p>
        </p:txBody>
      </p:sp>
      <p:sp>
        <p:nvSpPr>
          <p:cNvPr id="56" name="Shape 51"/>
          <p:cNvSpPr/>
          <p:nvPr/>
        </p:nvSpPr>
        <p:spPr>
          <a:xfrm>
            <a:off x="8417357" y="5047488"/>
            <a:ext cx="2905658" cy="0"/>
          </a:xfrm>
          <a:prstGeom prst="line">
            <a:avLst/>
          </a:prstGeom>
          <a:noFill/>
          <a:ln w="9525">
            <a:solidFill>
              <a:schemeClr val="accent4"/>
            </a:solidFill>
            <a:prstDash val="solid"/>
          </a:ln>
        </p:spPr>
      </p:sp>
      <p:sp>
        <p:nvSpPr>
          <p:cNvPr id="57" name="Text 52"/>
          <p:cNvSpPr txBox="1"/>
          <p:nvPr/>
        </p:nvSpPr>
        <p:spPr>
          <a:xfrm>
            <a:off x="8417357" y="5120640"/>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Average ACV</a:t>
            </a:r>
            <a:endParaRPr lang="en-US" sz="1050" dirty="0"/>
          </a:p>
        </p:txBody>
      </p:sp>
      <p:sp>
        <p:nvSpPr>
          <p:cNvPr id="58" name="Text 53"/>
          <p:cNvSpPr txBox="1"/>
          <p:nvPr/>
        </p:nvSpPr>
        <p:spPr>
          <a:xfrm>
            <a:off x="9926117" y="5120640"/>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$120K</a:t>
            </a:r>
            <a:endParaRPr lang="en-US" sz="1050" dirty="0"/>
          </a:p>
        </p:txBody>
      </p:sp>
      <p:sp>
        <p:nvSpPr>
          <p:cNvPr id="59" name="Shape 54"/>
          <p:cNvSpPr/>
          <p:nvPr/>
        </p:nvSpPr>
        <p:spPr>
          <a:xfrm>
            <a:off x="8417357" y="5468112"/>
            <a:ext cx="2905658" cy="0"/>
          </a:xfrm>
          <a:prstGeom prst="line">
            <a:avLst/>
          </a:prstGeom>
          <a:noFill/>
          <a:ln w="9525">
            <a:solidFill>
              <a:schemeClr val="accent4"/>
            </a:solidFill>
            <a:prstDash val="solid"/>
          </a:ln>
        </p:spPr>
      </p:sp>
      <p:sp>
        <p:nvSpPr>
          <p:cNvPr id="60" name="Text 55"/>
          <p:cNvSpPr txBox="1"/>
          <p:nvPr/>
        </p:nvSpPr>
        <p:spPr>
          <a:xfrm>
            <a:off x="8417357" y="5541264"/>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Sales cycle</a:t>
            </a:r>
            <a:endParaRPr lang="en-US" sz="1050" dirty="0"/>
          </a:p>
        </p:txBody>
      </p:sp>
      <p:sp>
        <p:nvSpPr>
          <p:cNvPr id="61" name="Text 56"/>
          <p:cNvSpPr txBox="1"/>
          <p:nvPr/>
        </p:nvSpPr>
        <p:spPr>
          <a:xfrm>
            <a:off x="9926117" y="5541264"/>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124 days</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Revenue concentrates in five countries — the US is closing the gap</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ARR by country, $M, as of Q3 2026.</a:t>
            </a:r>
            <a:endParaRPr lang="en-US" sz="1150" dirty="0"/>
          </a:p>
        </p:txBody>
      </p:sp>
      <p:graphicFrame>
        <p:nvGraphicFramePr>
          <p:cNvPr id="6" name="Chart 0" descr=""/>
          <p:cNvGraphicFramePr/>
          <p:nvPr/>
        </p:nvGraphicFramePr>
        <p:xfrm>
          <a:off x="548640" y="1874520"/>
          <a:ext cx="6376492"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28052" y="1874520"/>
            <a:ext cx="4215003" cy="4114800"/>
          </a:xfrm>
          <a:prstGeom prst="roundRect">
            <a:avLst>
              <a:gd name="adj" fmla="val 2222"/>
            </a:avLst>
          </a:prstGeom>
          <a:solidFill>
            <a:schemeClr val="bg2"/>
          </a:solidFill>
          <a:ln/>
        </p:spPr>
      </p:sp>
      <p:sp>
        <p:nvSpPr>
          <p:cNvPr id="8" name="Text 5"/>
          <p:cNvSpPr txBox="1"/>
          <p:nvPr/>
        </p:nvSpPr>
        <p:spPr>
          <a:xfrm>
            <a:off x="7702372" y="2103120"/>
            <a:ext cx="3666363"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Fastest-growing markets</a:t>
            </a:r>
            <a:endParaRPr lang="en-US" sz="1400" dirty="0"/>
          </a:p>
        </p:txBody>
      </p:sp>
      <p:sp>
        <p:nvSpPr>
          <p:cNvPr id="9" name="Text 6"/>
          <p:cNvSpPr txBox="1"/>
          <p:nvPr/>
        </p:nvSpPr>
        <p:spPr>
          <a:xfrm>
            <a:off x="7702372" y="2606040"/>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1</a:t>
            </a:r>
            <a:endParaRPr lang="en-US" sz="1100" dirty="0"/>
          </a:p>
        </p:txBody>
      </p:sp>
      <p:sp>
        <p:nvSpPr>
          <p:cNvPr id="10" name="Text 7"/>
          <p:cNvSpPr txBox="1"/>
          <p:nvPr/>
        </p:nvSpPr>
        <p:spPr>
          <a:xfrm>
            <a:off x="8068132" y="2606040"/>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United States</a:t>
            </a:r>
            <a:endParaRPr lang="en-US" sz="1150" dirty="0"/>
          </a:p>
        </p:txBody>
      </p:sp>
      <p:sp>
        <p:nvSpPr>
          <p:cNvPr id="11" name="Shape 8"/>
          <p:cNvSpPr/>
          <p:nvPr/>
        </p:nvSpPr>
        <p:spPr>
          <a:xfrm>
            <a:off x="10591495" y="2660904"/>
            <a:ext cx="777240" cy="256032"/>
          </a:xfrm>
          <a:prstGeom prst="roundRect">
            <a:avLst>
              <a:gd name="adj" fmla="val 50000"/>
            </a:avLst>
          </a:prstGeom>
          <a:solidFill>
            <a:schemeClr val="accent1"/>
          </a:solidFill>
          <a:ln/>
        </p:spPr>
      </p:sp>
      <p:sp>
        <p:nvSpPr>
          <p:cNvPr id="12" name="Text 9"/>
          <p:cNvSpPr txBox="1"/>
          <p:nvPr/>
        </p:nvSpPr>
        <p:spPr>
          <a:xfrm>
            <a:off x="10591495" y="2660904"/>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+112%</a:t>
            </a:r>
            <a:endParaRPr lang="en-US" sz="900" dirty="0"/>
          </a:p>
        </p:txBody>
      </p:sp>
      <p:sp>
        <p:nvSpPr>
          <p:cNvPr id="13" name="Shape 10"/>
          <p:cNvSpPr/>
          <p:nvPr/>
        </p:nvSpPr>
        <p:spPr>
          <a:xfrm>
            <a:off x="7702372" y="3081528"/>
            <a:ext cx="3666363" cy="0"/>
          </a:xfrm>
          <a:prstGeom prst="line">
            <a:avLst/>
          </a:prstGeom>
          <a:noFill/>
          <a:ln w="9525">
            <a:solidFill>
              <a:schemeClr val="accent4"/>
            </a:solidFill>
            <a:prstDash val="solid"/>
          </a:ln>
        </p:spPr>
      </p:sp>
      <p:sp>
        <p:nvSpPr>
          <p:cNvPr id="14" name="Text 11"/>
          <p:cNvSpPr txBox="1"/>
          <p:nvPr/>
        </p:nvSpPr>
        <p:spPr>
          <a:xfrm>
            <a:off x="7702372" y="3172968"/>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2</a:t>
            </a:r>
            <a:endParaRPr lang="en-US" sz="1100" dirty="0"/>
          </a:p>
        </p:txBody>
      </p:sp>
      <p:sp>
        <p:nvSpPr>
          <p:cNvPr id="15" name="Text 12"/>
          <p:cNvSpPr txBox="1"/>
          <p:nvPr/>
        </p:nvSpPr>
        <p:spPr>
          <a:xfrm>
            <a:off x="8068132" y="3172968"/>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Singapore</a:t>
            </a:r>
            <a:endParaRPr lang="en-US" sz="1150" dirty="0"/>
          </a:p>
        </p:txBody>
      </p:sp>
      <p:sp>
        <p:nvSpPr>
          <p:cNvPr id="16" name="Shape 13"/>
          <p:cNvSpPr/>
          <p:nvPr/>
        </p:nvSpPr>
        <p:spPr>
          <a:xfrm>
            <a:off x="10591495" y="3227832"/>
            <a:ext cx="777240" cy="256032"/>
          </a:xfrm>
          <a:prstGeom prst="roundRect">
            <a:avLst>
              <a:gd name="adj" fmla="val 50000"/>
            </a:avLst>
          </a:prstGeom>
          <a:solidFill>
            <a:schemeClr val="accent1"/>
          </a:solidFill>
          <a:ln/>
        </p:spPr>
      </p:sp>
      <p:sp>
        <p:nvSpPr>
          <p:cNvPr id="17" name="Text 14"/>
          <p:cNvSpPr txBox="1"/>
          <p:nvPr/>
        </p:nvSpPr>
        <p:spPr>
          <a:xfrm>
            <a:off x="10591495" y="3227832"/>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+120%</a:t>
            </a:r>
            <a:endParaRPr lang="en-US" sz="900" dirty="0"/>
          </a:p>
        </p:txBody>
      </p:sp>
      <p:sp>
        <p:nvSpPr>
          <p:cNvPr id="18" name="Shape 15"/>
          <p:cNvSpPr/>
          <p:nvPr/>
        </p:nvSpPr>
        <p:spPr>
          <a:xfrm>
            <a:off x="7702372" y="3648456"/>
            <a:ext cx="3666363" cy="0"/>
          </a:xfrm>
          <a:prstGeom prst="line">
            <a:avLst/>
          </a:prstGeom>
          <a:noFill/>
          <a:ln w="9525">
            <a:solidFill>
              <a:schemeClr val="accent4"/>
            </a:solidFill>
            <a:prstDash val="solid"/>
          </a:ln>
        </p:spPr>
      </p:sp>
      <p:sp>
        <p:nvSpPr>
          <p:cNvPr id="19" name="Text 16"/>
          <p:cNvSpPr txBox="1"/>
          <p:nvPr/>
        </p:nvSpPr>
        <p:spPr>
          <a:xfrm>
            <a:off x="7702372" y="3739896"/>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3</a:t>
            </a:r>
            <a:endParaRPr lang="en-US" sz="1100" dirty="0"/>
          </a:p>
        </p:txBody>
      </p:sp>
      <p:sp>
        <p:nvSpPr>
          <p:cNvPr id="20" name="Text 17"/>
          <p:cNvSpPr txBox="1"/>
          <p:nvPr/>
        </p:nvSpPr>
        <p:spPr>
          <a:xfrm>
            <a:off x="8068132" y="3739896"/>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Canada</a:t>
            </a:r>
            <a:endParaRPr lang="en-US" sz="1150" dirty="0"/>
          </a:p>
        </p:txBody>
      </p:sp>
      <p:sp>
        <p:nvSpPr>
          <p:cNvPr id="21" name="Shape 18"/>
          <p:cNvSpPr/>
          <p:nvPr/>
        </p:nvSpPr>
        <p:spPr>
          <a:xfrm>
            <a:off x="10591495" y="3794760"/>
            <a:ext cx="777240" cy="256032"/>
          </a:xfrm>
          <a:prstGeom prst="roundRect">
            <a:avLst>
              <a:gd name="adj" fmla="val 50000"/>
            </a:avLst>
          </a:prstGeom>
          <a:solidFill>
            <a:schemeClr val="bg1"/>
          </a:solidFill>
          <a:ln/>
        </p:spPr>
      </p:sp>
      <p:sp>
        <p:nvSpPr>
          <p:cNvPr id="22" name="Text 19"/>
          <p:cNvSpPr txBox="1"/>
          <p:nvPr/>
        </p:nvSpPr>
        <p:spPr>
          <a:xfrm>
            <a:off x="10591495" y="3794760"/>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+74%</a:t>
            </a:r>
            <a:endParaRPr lang="en-US" sz="900" dirty="0"/>
          </a:p>
        </p:txBody>
      </p:sp>
      <p:sp>
        <p:nvSpPr>
          <p:cNvPr id="23" name="Shape 20"/>
          <p:cNvSpPr/>
          <p:nvPr/>
        </p:nvSpPr>
        <p:spPr>
          <a:xfrm>
            <a:off x="7702372" y="4215384"/>
            <a:ext cx="3666363" cy="0"/>
          </a:xfrm>
          <a:prstGeom prst="line">
            <a:avLst/>
          </a:prstGeom>
          <a:noFill/>
          <a:ln w="9525">
            <a:solidFill>
              <a:schemeClr val="accent4"/>
            </a:solidFill>
            <a:prstDash val="solid"/>
          </a:ln>
        </p:spPr>
      </p:sp>
      <p:sp>
        <p:nvSpPr>
          <p:cNvPr id="24" name="Text 21"/>
          <p:cNvSpPr txBox="1"/>
          <p:nvPr/>
        </p:nvSpPr>
        <p:spPr>
          <a:xfrm>
            <a:off x="7702372" y="4306824"/>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4</a:t>
            </a:r>
            <a:endParaRPr lang="en-US" sz="1100" dirty="0"/>
          </a:p>
        </p:txBody>
      </p:sp>
      <p:sp>
        <p:nvSpPr>
          <p:cNvPr id="25" name="Text 22"/>
          <p:cNvSpPr txBox="1"/>
          <p:nvPr/>
        </p:nvSpPr>
        <p:spPr>
          <a:xfrm>
            <a:off x="8068132" y="4306824"/>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Germany</a:t>
            </a:r>
            <a:endParaRPr lang="en-US" sz="1150" dirty="0"/>
          </a:p>
        </p:txBody>
      </p:sp>
      <p:sp>
        <p:nvSpPr>
          <p:cNvPr id="26" name="Shape 23"/>
          <p:cNvSpPr/>
          <p:nvPr/>
        </p:nvSpPr>
        <p:spPr>
          <a:xfrm>
            <a:off x="10591495" y="4361688"/>
            <a:ext cx="777240" cy="256032"/>
          </a:xfrm>
          <a:prstGeom prst="roundRect">
            <a:avLst>
              <a:gd name="adj" fmla="val 50000"/>
            </a:avLst>
          </a:prstGeom>
          <a:solidFill>
            <a:schemeClr val="bg1"/>
          </a:solidFill>
          <a:ln/>
        </p:spPr>
      </p:sp>
      <p:sp>
        <p:nvSpPr>
          <p:cNvPr id="27" name="Text 24"/>
          <p:cNvSpPr txBox="1"/>
          <p:nvPr/>
        </p:nvSpPr>
        <p:spPr>
          <a:xfrm>
            <a:off x="10591495" y="4361688"/>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+51%</a:t>
            </a:r>
            <a:endParaRPr lang="en-US" sz="900" dirty="0"/>
          </a:p>
        </p:txBody>
      </p:sp>
      <p:sp>
        <p:nvSpPr>
          <p:cNvPr id="28" name="Shape 25"/>
          <p:cNvSpPr/>
          <p:nvPr/>
        </p:nvSpPr>
        <p:spPr>
          <a:xfrm>
            <a:off x="7702372" y="4782312"/>
            <a:ext cx="3666363" cy="0"/>
          </a:xfrm>
          <a:prstGeom prst="line">
            <a:avLst/>
          </a:prstGeom>
          <a:noFill/>
          <a:ln w="9525">
            <a:solidFill>
              <a:schemeClr val="accent4"/>
            </a:solidFill>
            <a:prstDash val="solid"/>
          </a:ln>
        </p:spPr>
      </p:sp>
      <p:sp>
        <p:nvSpPr>
          <p:cNvPr id="29" name="Text 26"/>
          <p:cNvSpPr txBox="1"/>
          <p:nvPr/>
        </p:nvSpPr>
        <p:spPr>
          <a:xfrm>
            <a:off x="7702372" y="4873752"/>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5</a:t>
            </a:r>
            <a:endParaRPr lang="en-US" sz="1100" dirty="0"/>
          </a:p>
        </p:txBody>
      </p:sp>
      <p:sp>
        <p:nvSpPr>
          <p:cNvPr id="30" name="Text 27"/>
          <p:cNvSpPr txBox="1"/>
          <p:nvPr/>
        </p:nvSpPr>
        <p:spPr>
          <a:xfrm>
            <a:off x="8068132" y="4873752"/>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United Kingdom</a:t>
            </a:r>
            <a:endParaRPr lang="en-US" sz="1150" dirty="0"/>
          </a:p>
        </p:txBody>
      </p:sp>
      <p:sp>
        <p:nvSpPr>
          <p:cNvPr id="31" name="Shape 28"/>
          <p:cNvSpPr/>
          <p:nvPr/>
        </p:nvSpPr>
        <p:spPr>
          <a:xfrm>
            <a:off x="10591495" y="4928616"/>
            <a:ext cx="777240" cy="256032"/>
          </a:xfrm>
          <a:prstGeom prst="roundRect">
            <a:avLst>
              <a:gd name="adj" fmla="val 50000"/>
            </a:avLst>
          </a:prstGeom>
          <a:solidFill>
            <a:schemeClr val="bg1"/>
          </a:solidFill>
          <a:ln/>
        </p:spPr>
      </p:sp>
      <p:sp>
        <p:nvSpPr>
          <p:cNvPr id="32" name="Text 29"/>
          <p:cNvSpPr txBox="1"/>
          <p:nvPr/>
        </p:nvSpPr>
        <p:spPr>
          <a:xfrm>
            <a:off x="10591495" y="4928616"/>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+38%</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05 · COMPETITION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are the only player that is both predictive and easy to adopt</a:t>
            </a:r>
            <a:endParaRPr lang="en-US" sz="2800" dirty="0"/>
          </a:p>
        </p:txBody>
      </p:sp>
      <p:sp>
        <p:nvSpPr>
          <p:cNvPr id="5" name="Shape 3"/>
          <p:cNvSpPr/>
          <p:nvPr/>
        </p:nvSpPr>
        <p:spPr>
          <a:xfrm>
            <a:off x="914400" y="1874520"/>
            <a:ext cx="3477158" cy="1965960"/>
          </a:xfrm>
          <a:prstGeom prst="rect">
            <a:avLst/>
          </a:prstGeom>
          <a:solidFill>
            <a:schemeClr val="bg2"/>
          </a:solidFill>
          <a:ln/>
        </p:spPr>
      </p:sp>
      <p:sp>
        <p:nvSpPr>
          <p:cNvPr id="6" name="Shape 4"/>
          <p:cNvSpPr/>
          <p:nvPr/>
        </p:nvSpPr>
        <p:spPr>
          <a:xfrm>
            <a:off x="4391558" y="1874520"/>
            <a:ext cx="3477158" cy="1965960"/>
          </a:xfrm>
          <a:prstGeom prst="rect">
            <a:avLst/>
          </a:prstGeom>
          <a:solidFill>
            <a:schemeClr val="tx1"/>
          </a:solidFill>
          <a:ln/>
        </p:spPr>
      </p:sp>
      <p:sp>
        <p:nvSpPr>
          <p:cNvPr id="7" name="Shape 5"/>
          <p:cNvSpPr/>
          <p:nvPr/>
        </p:nvSpPr>
        <p:spPr>
          <a:xfrm>
            <a:off x="914400" y="3840480"/>
            <a:ext cx="3477158" cy="1965960"/>
          </a:xfrm>
          <a:prstGeom prst="rect">
            <a:avLst/>
          </a:prstGeom>
          <a:solidFill>
            <a:schemeClr val="bg1"/>
          </a:solidFill>
          <a:ln w="9525">
            <a:solidFill>
              <a:schemeClr val="accent4"/>
            </a:solidFill>
            <a:prstDash val="solid"/>
          </a:ln>
        </p:spPr>
      </p:sp>
      <p:sp>
        <p:nvSpPr>
          <p:cNvPr id="8" name="Shape 6"/>
          <p:cNvSpPr/>
          <p:nvPr/>
        </p:nvSpPr>
        <p:spPr>
          <a:xfrm>
            <a:off x="4391558" y="3840480"/>
            <a:ext cx="3477158" cy="1965960"/>
          </a:xfrm>
          <a:prstGeom prst="rect">
            <a:avLst/>
          </a:prstGeom>
          <a:solidFill>
            <a:schemeClr val="bg2"/>
          </a:solidFill>
          <a:ln/>
        </p:spPr>
      </p:sp>
      <p:sp>
        <p:nvSpPr>
          <p:cNvPr id="9" name="Text 7"/>
          <p:cNvSpPr txBox="1"/>
          <p:nvPr/>
        </p:nvSpPr>
        <p:spPr>
          <a:xfrm>
            <a:off x="4574438" y="2011680"/>
            <a:ext cx="1828800" cy="228600"/>
          </a:xfrm>
          <a:prstGeom prst="rect">
            <a:avLst/>
          </a:prstGeom>
          <a:noFill/>
          <a:ln/>
        </p:spPr>
        <p:txBody>
          <a:bodyPr wrap="square" lIns="0" tIns="0" rIns="0" bIns="0" rtlCol="0" anchor="t"/>
          <a:lstStyle/>
          <a:p>
            <a:pPr algn="l" indent="0" marL="0">
              <a:buNone/>
            </a:pPr>
            <a:r>
              <a:rPr lang="en-US" sz="950" spc="100" kern="0" dirty="0">
                <a:solidFill>
                  <a:schemeClr val="accent1"/>
                </a:solidFill>
                <a:latin typeface="Inter Medium" pitchFamily="34" charset="0"/>
                <a:ea typeface="Inter Medium" pitchFamily="34" charset="-122"/>
                <a:cs typeface="Inter Medium" pitchFamily="34" charset="-120"/>
              </a:rPr>
              <a:t>Leaders</a:t>
            </a:r>
            <a:endParaRPr lang="en-US" sz="950" dirty="0"/>
          </a:p>
        </p:txBody>
      </p:sp>
      <p:sp>
        <p:nvSpPr>
          <p:cNvPr id="10" name="Text 8"/>
          <p:cNvSpPr txBox="1"/>
          <p:nvPr/>
        </p:nvSpPr>
        <p:spPr>
          <a:xfrm>
            <a:off x="1097280" y="2011680"/>
            <a:ext cx="22860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Powerful but heavy</a:t>
            </a:r>
            <a:endParaRPr lang="en-US" sz="950" dirty="0"/>
          </a:p>
        </p:txBody>
      </p:sp>
      <p:sp>
        <p:nvSpPr>
          <p:cNvPr id="11" name="Text 9"/>
          <p:cNvSpPr txBox="1"/>
          <p:nvPr/>
        </p:nvSpPr>
        <p:spPr>
          <a:xfrm>
            <a:off x="1097280" y="5440680"/>
            <a:ext cx="22860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Basic reporting</a:t>
            </a:r>
            <a:endParaRPr lang="en-US" sz="950" dirty="0"/>
          </a:p>
        </p:txBody>
      </p:sp>
      <p:sp>
        <p:nvSpPr>
          <p:cNvPr id="12" name="Text 10"/>
          <p:cNvSpPr txBox="1"/>
          <p:nvPr/>
        </p:nvSpPr>
        <p:spPr>
          <a:xfrm>
            <a:off x="4574438" y="5440680"/>
            <a:ext cx="22860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Simple but shallow</a:t>
            </a:r>
            <a:endParaRPr lang="en-US" sz="950" dirty="0"/>
          </a:p>
        </p:txBody>
      </p:sp>
      <p:sp>
        <p:nvSpPr>
          <p:cNvPr id="13" name="Text 11"/>
          <p:cNvSpPr txBox="1"/>
          <p:nvPr/>
        </p:nvSpPr>
        <p:spPr>
          <a:xfrm>
            <a:off x="914400" y="5879592"/>
            <a:ext cx="6954317" cy="228600"/>
          </a:xfrm>
          <a:prstGeom prst="rect">
            <a:avLst/>
          </a:prstGeom>
          <a:noFill/>
          <a:ln/>
        </p:spPr>
        <p:txBody>
          <a:bodyPr wrap="square" lIns="0" tIns="0" rIns="0" bIns="0" rtlCol="0" anchor="t"/>
          <a:lstStyle/>
          <a:p>
            <a:pPr algn="ctr" indent="0" marL="0">
              <a:buNone/>
            </a:pPr>
            <a:r>
              <a:rPr lang="en-US" sz="950" dirty="0">
                <a:solidFill>
                  <a:schemeClr val="tx2"/>
                </a:solidFill>
                <a:latin typeface="Inter Medium" pitchFamily="34" charset="0"/>
                <a:ea typeface="Inter Medium" pitchFamily="34" charset="-122"/>
                <a:cs typeface="Inter Medium" pitchFamily="34" charset="-120"/>
              </a:rPr>
              <a:t>Ease of adoption →</a:t>
            </a:r>
            <a:endParaRPr lang="en-US" sz="950" dirty="0"/>
          </a:p>
        </p:txBody>
      </p:sp>
      <p:sp>
        <p:nvSpPr>
          <p:cNvPr id="14" name="Text 12"/>
          <p:cNvSpPr txBox="1"/>
          <p:nvPr/>
        </p:nvSpPr>
        <p:spPr>
          <a:xfrm rot="16200000">
            <a:off x="-1216152" y="3730752"/>
            <a:ext cx="3931920" cy="228600"/>
          </a:xfrm>
          <a:prstGeom prst="rect">
            <a:avLst/>
          </a:prstGeom>
          <a:noFill/>
          <a:ln/>
        </p:spPr>
        <p:txBody>
          <a:bodyPr wrap="square" lIns="0" tIns="0" rIns="0" bIns="0" rtlCol="0" anchor="t"/>
          <a:lstStyle/>
          <a:p>
            <a:pPr algn="ctr" indent="0" marL="0">
              <a:buNone/>
            </a:pPr>
            <a:r>
              <a:rPr lang="en-US" sz="950" dirty="0">
                <a:solidFill>
                  <a:schemeClr val="tx2"/>
                </a:solidFill>
                <a:latin typeface="Inter Medium" pitchFamily="34" charset="0"/>
                <a:ea typeface="Inter Medium" pitchFamily="34" charset="-122"/>
                <a:cs typeface="Inter Medium" pitchFamily="34" charset="-120"/>
              </a:rPr>
              <a:t>Predictive depth →</a:t>
            </a:r>
            <a:endParaRPr lang="en-US" sz="950" dirty="0"/>
          </a:p>
        </p:txBody>
      </p:sp>
      <p:sp>
        <p:nvSpPr>
          <p:cNvPr id="15" name="Shape 13"/>
          <p:cNvSpPr/>
          <p:nvPr/>
        </p:nvSpPr>
        <p:spPr>
          <a:xfrm>
            <a:off x="6134953" y="2396642"/>
            <a:ext cx="685800" cy="685800"/>
          </a:xfrm>
          <a:prstGeom prst="ellipse">
            <a:avLst/>
          </a:prstGeom>
          <a:solidFill>
            <a:schemeClr val="accent1"/>
          </a:solidFill>
          <a:ln w="25400">
            <a:solidFill>
              <a:schemeClr val="bg1"/>
            </a:solidFill>
            <a:prstDash val="solid"/>
          </a:ln>
        </p:spPr>
      </p:sp>
      <p:sp>
        <p:nvSpPr>
          <p:cNvPr id="16" name="Text 14"/>
          <p:cNvSpPr txBox="1"/>
          <p:nvPr/>
        </p:nvSpPr>
        <p:spPr>
          <a:xfrm>
            <a:off x="6893905" y="2620670"/>
            <a:ext cx="1463040" cy="237744"/>
          </a:xfrm>
          <a:prstGeom prst="rect">
            <a:avLst/>
          </a:prstGeom>
          <a:noFill/>
          <a:ln/>
        </p:spPr>
        <p:txBody>
          <a:bodyPr wrap="square" lIns="0" tIns="0" rIns="0" bIns="0" rtlCol="0" anchor="ctr"/>
          <a:lstStyle/>
          <a:p>
            <a:pPr algn="l" indent="0" marL="0">
              <a:buNone/>
            </a:pPr>
            <a:r>
              <a:rPr lang="en-US" sz="1100" b="1" dirty="0">
                <a:solidFill>
                  <a:schemeClr val="bg1"/>
                </a:solidFill>
                <a:latin typeface="Manrope" pitchFamily="34" charset="0"/>
                <a:ea typeface="Manrope" pitchFamily="34" charset="-122"/>
                <a:cs typeface="Manrope" pitchFamily="34" charset="-120"/>
              </a:rPr>
              <a:t>Corvanta</a:t>
            </a:r>
            <a:endParaRPr lang="en-US" sz="1100" dirty="0"/>
          </a:p>
        </p:txBody>
      </p:sp>
      <p:sp>
        <p:nvSpPr>
          <p:cNvPr id="17" name="Shape 15"/>
          <p:cNvSpPr/>
          <p:nvPr/>
        </p:nvSpPr>
        <p:spPr>
          <a:xfrm>
            <a:off x="2578145" y="2377440"/>
            <a:ext cx="566928" cy="566928"/>
          </a:xfrm>
          <a:prstGeom prst="ellipse">
            <a:avLst/>
          </a:prstGeom>
          <a:solidFill>
            <a:schemeClr val="accent4"/>
          </a:solidFill>
          <a:ln/>
        </p:spPr>
      </p:sp>
      <p:sp>
        <p:nvSpPr>
          <p:cNvPr id="18" name="Text 16"/>
          <p:cNvSpPr txBox="1"/>
          <p:nvPr/>
        </p:nvSpPr>
        <p:spPr>
          <a:xfrm>
            <a:off x="3218225" y="2542032"/>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A</a:t>
            </a:r>
            <a:endParaRPr lang="en-US" sz="950" dirty="0"/>
          </a:p>
        </p:txBody>
      </p:sp>
      <p:sp>
        <p:nvSpPr>
          <p:cNvPr id="19" name="Shape 17"/>
          <p:cNvSpPr/>
          <p:nvPr/>
        </p:nvSpPr>
        <p:spPr>
          <a:xfrm>
            <a:off x="4997476" y="4083710"/>
            <a:ext cx="457200" cy="457200"/>
          </a:xfrm>
          <a:prstGeom prst="ellipse">
            <a:avLst/>
          </a:prstGeom>
          <a:solidFill>
            <a:schemeClr val="accent4"/>
          </a:solidFill>
          <a:ln/>
        </p:spPr>
      </p:sp>
      <p:sp>
        <p:nvSpPr>
          <p:cNvPr id="20" name="Text 18"/>
          <p:cNvSpPr txBox="1"/>
          <p:nvPr/>
        </p:nvSpPr>
        <p:spPr>
          <a:xfrm>
            <a:off x="5527828" y="4193438"/>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B</a:t>
            </a:r>
            <a:endParaRPr lang="en-US" sz="950" dirty="0"/>
          </a:p>
        </p:txBody>
      </p:sp>
      <p:sp>
        <p:nvSpPr>
          <p:cNvPr id="21" name="Shape 19"/>
          <p:cNvSpPr/>
          <p:nvPr/>
        </p:nvSpPr>
        <p:spPr>
          <a:xfrm>
            <a:off x="2252326" y="4434840"/>
            <a:ext cx="384048" cy="384048"/>
          </a:xfrm>
          <a:prstGeom prst="ellipse">
            <a:avLst/>
          </a:prstGeom>
          <a:solidFill>
            <a:schemeClr val="accent4"/>
          </a:solidFill>
          <a:ln/>
        </p:spPr>
      </p:sp>
      <p:sp>
        <p:nvSpPr>
          <p:cNvPr id="22" name="Text 20"/>
          <p:cNvSpPr txBox="1"/>
          <p:nvPr/>
        </p:nvSpPr>
        <p:spPr>
          <a:xfrm>
            <a:off x="2709526" y="4507992"/>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C</a:t>
            </a:r>
            <a:endParaRPr lang="en-US" sz="950" dirty="0"/>
          </a:p>
        </p:txBody>
      </p:sp>
      <p:sp>
        <p:nvSpPr>
          <p:cNvPr id="23" name="Shape 21"/>
          <p:cNvSpPr/>
          <p:nvPr/>
        </p:nvSpPr>
        <p:spPr>
          <a:xfrm>
            <a:off x="1862499" y="3439973"/>
            <a:ext cx="329184" cy="329184"/>
          </a:xfrm>
          <a:prstGeom prst="ellipse">
            <a:avLst/>
          </a:prstGeom>
          <a:solidFill>
            <a:schemeClr val="accent4"/>
          </a:solidFill>
          <a:ln/>
        </p:spPr>
      </p:sp>
      <p:sp>
        <p:nvSpPr>
          <p:cNvPr id="24" name="Text 22"/>
          <p:cNvSpPr txBox="1"/>
          <p:nvPr/>
        </p:nvSpPr>
        <p:spPr>
          <a:xfrm>
            <a:off x="2264835" y="3485693"/>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D</a:t>
            </a:r>
            <a:endParaRPr lang="en-US" sz="950" dirty="0"/>
          </a:p>
        </p:txBody>
      </p:sp>
      <p:sp>
        <p:nvSpPr>
          <p:cNvPr id="25" name="Text 23"/>
          <p:cNvSpPr txBox="1"/>
          <p:nvPr/>
        </p:nvSpPr>
        <p:spPr>
          <a:xfrm>
            <a:off x="8280197" y="1874520"/>
            <a:ext cx="33628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What this means</a:t>
            </a:r>
            <a:endParaRPr lang="en-US" sz="1400" dirty="0"/>
          </a:p>
        </p:txBody>
      </p:sp>
      <p:sp>
        <p:nvSpPr>
          <p:cNvPr id="26" name="Shape 24"/>
          <p:cNvSpPr/>
          <p:nvPr/>
        </p:nvSpPr>
        <p:spPr>
          <a:xfrm>
            <a:off x="8280197" y="2331720"/>
            <a:ext cx="292608" cy="292608"/>
          </a:xfrm>
          <a:prstGeom prst="ellipse">
            <a:avLst/>
          </a:prstGeom>
          <a:solidFill>
            <a:schemeClr val="tx1"/>
          </a:solidFill>
          <a:ln/>
        </p:spPr>
      </p:sp>
      <p:sp>
        <p:nvSpPr>
          <p:cNvPr id="27" name="Text 25"/>
          <p:cNvSpPr txBox="1"/>
          <p:nvPr/>
        </p:nvSpPr>
        <p:spPr>
          <a:xfrm>
            <a:off x="8280197" y="2331720"/>
            <a:ext cx="292608" cy="292608"/>
          </a:xfrm>
          <a:prstGeom prst="rect">
            <a:avLst/>
          </a:prstGeom>
          <a:noFill/>
          <a:ln/>
        </p:spPr>
        <p:txBody>
          <a:bodyPr wrap="square" lIns="0" tIns="0" rIns="0" bIns="0" rtlCol="0" anchor="ctr"/>
          <a:lstStyle/>
          <a:p>
            <a:pPr algn="ctr" indent="0" marL="0">
              <a:buNone/>
            </a:pPr>
            <a:r>
              <a:rPr lang="en-US" sz="1000" b="1" dirty="0">
                <a:solidFill>
                  <a:schemeClr val="accent1"/>
                </a:solidFill>
                <a:latin typeface="Manrope" pitchFamily="34" charset="0"/>
                <a:ea typeface="Manrope" pitchFamily="34" charset="-122"/>
                <a:cs typeface="Manrope" pitchFamily="34" charset="-120"/>
              </a:rPr>
              <a:t>1</a:t>
            </a:r>
            <a:endParaRPr lang="en-US" sz="1000" dirty="0"/>
          </a:p>
        </p:txBody>
      </p:sp>
      <p:sp>
        <p:nvSpPr>
          <p:cNvPr id="28" name="Text 26"/>
          <p:cNvSpPr txBox="1"/>
          <p:nvPr/>
        </p:nvSpPr>
        <p:spPr>
          <a:xfrm>
            <a:off x="8737397" y="2331720"/>
            <a:ext cx="2905658"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Defensible position</a:t>
            </a:r>
            <a:endParaRPr lang="en-US" sz="1250" dirty="0"/>
          </a:p>
        </p:txBody>
      </p:sp>
      <p:sp>
        <p:nvSpPr>
          <p:cNvPr id="29" name="Text 27"/>
          <p:cNvSpPr txBox="1"/>
          <p:nvPr/>
        </p:nvSpPr>
        <p:spPr>
          <a:xfrm>
            <a:off x="8737397" y="2624328"/>
            <a:ext cx="2905658" cy="64008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Competitors need 18+ months to match both axes.</a:t>
            </a:r>
            <a:endParaRPr lang="en-US" sz="1050" dirty="0"/>
          </a:p>
        </p:txBody>
      </p:sp>
      <p:sp>
        <p:nvSpPr>
          <p:cNvPr id="30" name="Shape 28"/>
          <p:cNvSpPr/>
          <p:nvPr/>
        </p:nvSpPr>
        <p:spPr>
          <a:xfrm>
            <a:off x="8280197" y="3520440"/>
            <a:ext cx="292608" cy="292608"/>
          </a:xfrm>
          <a:prstGeom prst="ellipse">
            <a:avLst/>
          </a:prstGeom>
          <a:solidFill>
            <a:schemeClr val="tx1"/>
          </a:solidFill>
          <a:ln/>
        </p:spPr>
      </p:sp>
      <p:sp>
        <p:nvSpPr>
          <p:cNvPr id="31" name="Text 29"/>
          <p:cNvSpPr txBox="1"/>
          <p:nvPr/>
        </p:nvSpPr>
        <p:spPr>
          <a:xfrm>
            <a:off x="8280197" y="3520440"/>
            <a:ext cx="292608" cy="292608"/>
          </a:xfrm>
          <a:prstGeom prst="rect">
            <a:avLst/>
          </a:prstGeom>
          <a:noFill/>
          <a:ln/>
        </p:spPr>
        <p:txBody>
          <a:bodyPr wrap="square" lIns="0" tIns="0" rIns="0" bIns="0" rtlCol="0" anchor="ctr"/>
          <a:lstStyle/>
          <a:p>
            <a:pPr algn="ctr" indent="0" marL="0">
              <a:buNone/>
            </a:pPr>
            <a:r>
              <a:rPr lang="en-US" sz="1000" b="1" dirty="0">
                <a:solidFill>
                  <a:schemeClr val="accent1"/>
                </a:solidFill>
                <a:latin typeface="Manrope" pitchFamily="34" charset="0"/>
                <a:ea typeface="Manrope" pitchFamily="34" charset="-122"/>
                <a:cs typeface="Manrope" pitchFamily="34" charset="-120"/>
              </a:rPr>
              <a:t>2</a:t>
            </a:r>
            <a:endParaRPr lang="en-US" sz="1000" dirty="0"/>
          </a:p>
        </p:txBody>
      </p:sp>
      <p:sp>
        <p:nvSpPr>
          <p:cNvPr id="32" name="Text 30"/>
          <p:cNvSpPr txBox="1"/>
          <p:nvPr/>
        </p:nvSpPr>
        <p:spPr>
          <a:xfrm>
            <a:off x="8737397" y="3520440"/>
            <a:ext cx="2905658"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Adoption wins deals</a:t>
            </a:r>
            <a:endParaRPr lang="en-US" sz="1250" dirty="0"/>
          </a:p>
        </p:txBody>
      </p:sp>
      <p:sp>
        <p:nvSpPr>
          <p:cNvPr id="33" name="Text 31"/>
          <p:cNvSpPr txBox="1"/>
          <p:nvPr/>
        </p:nvSpPr>
        <p:spPr>
          <a:xfrm>
            <a:off x="8737397" y="3813048"/>
            <a:ext cx="2905658" cy="64008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71% of wins cite setup speed as a deciding factor.</a:t>
            </a:r>
            <a:endParaRPr lang="en-US" sz="1050" dirty="0"/>
          </a:p>
        </p:txBody>
      </p:sp>
      <p:sp>
        <p:nvSpPr>
          <p:cNvPr id="34" name="Shape 32"/>
          <p:cNvSpPr/>
          <p:nvPr/>
        </p:nvSpPr>
        <p:spPr>
          <a:xfrm>
            <a:off x="8280197" y="4709160"/>
            <a:ext cx="292608" cy="292608"/>
          </a:xfrm>
          <a:prstGeom prst="ellipse">
            <a:avLst/>
          </a:prstGeom>
          <a:solidFill>
            <a:schemeClr val="tx1"/>
          </a:solidFill>
          <a:ln/>
        </p:spPr>
      </p:sp>
      <p:sp>
        <p:nvSpPr>
          <p:cNvPr id="35" name="Text 33"/>
          <p:cNvSpPr txBox="1"/>
          <p:nvPr/>
        </p:nvSpPr>
        <p:spPr>
          <a:xfrm>
            <a:off x="8280197" y="4709160"/>
            <a:ext cx="292608" cy="292608"/>
          </a:xfrm>
          <a:prstGeom prst="rect">
            <a:avLst/>
          </a:prstGeom>
          <a:noFill/>
          <a:ln/>
        </p:spPr>
        <p:txBody>
          <a:bodyPr wrap="square" lIns="0" tIns="0" rIns="0" bIns="0" rtlCol="0" anchor="ctr"/>
          <a:lstStyle/>
          <a:p>
            <a:pPr algn="ctr" indent="0" marL="0">
              <a:buNone/>
            </a:pPr>
            <a:r>
              <a:rPr lang="en-US" sz="1000" b="1" dirty="0">
                <a:solidFill>
                  <a:schemeClr val="accent1"/>
                </a:solidFill>
                <a:latin typeface="Manrope" pitchFamily="34" charset="0"/>
                <a:ea typeface="Manrope" pitchFamily="34" charset="-122"/>
                <a:cs typeface="Manrope" pitchFamily="34" charset="-120"/>
              </a:rPr>
              <a:t>3</a:t>
            </a:r>
            <a:endParaRPr lang="en-US" sz="1000" dirty="0"/>
          </a:p>
        </p:txBody>
      </p:sp>
      <p:sp>
        <p:nvSpPr>
          <p:cNvPr id="36" name="Text 34"/>
          <p:cNvSpPr txBox="1"/>
          <p:nvPr/>
        </p:nvSpPr>
        <p:spPr>
          <a:xfrm>
            <a:off x="8737397" y="4709160"/>
            <a:ext cx="2905658"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Watch Competitor B</a:t>
            </a:r>
            <a:endParaRPr lang="en-US" sz="1250" dirty="0"/>
          </a:p>
        </p:txBody>
      </p:sp>
      <p:sp>
        <p:nvSpPr>
          <p:cNvPr id="37" name="Text 35"/>
          <p:cNvSpPr txBox="1"/>
          <p:nvPr/>
        </p:nvSpPr>
        <p:spPr>
          <a:xfrm>
            <a:off x="8737397" y="5001768"/>
            <a:ext cx="2905658" cy="64008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Moving up-market with an AI acquisition in 2026.</a:t>
            </a:r>
            <a:endParaRPr lang="en-US" sz="1050" dirty="0"/>
          </a:p>
        </p:txBody>
      </p:sp>
      <p:sp>
        <p:nvSpPr>
          <p:cNvPr id="38" name="Text 36"/>
          <p:cNvSpPr txBox="1"/>
          <p:nvPr/>
        </p:nvSpPr>
        <p:spPr>
          <a:xfrm>
            <a:off x="8280197" y="5760720"/>
            <a:ext cx="3362858"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Bubble size = estimated ARR</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05 · COMPETITION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Head-to-head: where we win and where we must improve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Scored by our win/loss team from 214 competitive deals in the last 12 months.</a:t>
            </a:r>
            <a:endParaRPr lang="en-US" sz="1150" dirty="0"/>
          </a:p>
        </p:txBody>
      </p:sp>
      <p:sp>
        <p:nvSpPr>
          <p:cNvPr id="6" name="Shape 4"/>
          <p:cNvSpPr/>
          <p:nvPr/>
        </p:nvSpPr>
        <p:spPr>
          <a:xfrm>
            <a:off x="3383280" y="1828800"/>
            <a:ext cx="2064944" cy="3840480"/>
          </a:xfrm>
          <a:prstGeom prst="roundRect">
            <a:avLst>
              <a:gd name="adj" fmla="val 4428"/>
            </a:avLst>
          </a:prstGeom>
          <a:solidFill>
            <a:schemeClr val="tx1"/>
          </a:solidFill>
          <a:ln/>
        </p:spPr>
      </p:sp>
      <p:sp>
        <p:nvSpPr>
          <p:cNvPr id="7" name="Text 5"/>
          <p:cNvSpPr txBox="1"/>
          <p:nvPr/>
        </p:nvSpPr>
        <p:spPr>
          <a:xfrm>
            <a:off x="3383280" y="1874520"/>
            <a:ext cx="2064944"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Corvanta</a:t>
            </a:r>
            <a:endParaRPr lang="en-US" sz="1200" dirty="0"/>
          </a:p>
        </p:txBody>
      </p:sp>
      <p:sp>
        <p:nvSpPr>
          <p:cNvPr id="8" name="Text 6"/>
          <p:cNvSpPr txBox="1"/>
          <p:nvPr/>
        </p:nvSpPr>
        <p:spPr>
          <a:xfrm>
            <a:off x="5448224" y="1874520"/>
            <a:ext cx="2064944"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Competitor A</a:t>
            </a:r>
            <a:endParaRPr lang="en-US" sz="1200" dirty="0"/>
          </a:p>
        </p:txBody>
      </p:sp>
      <p:sp>
        <p:nvSpPr>
          <p:cNvPr id="9" name="Text 7"/>
          <p:cNvSpPr txBox="1"/>
          <p:nvPr/>
        </p:nvSpPr>
        <p:spPr>
          <a:xfrm>
            <a:off x="7513168" y="1874520"/>
            <a:ext cx="2064944"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Competitor B</a:t>
            </a:r>
            <a:endParaRPr lang="en-US" sz="1200" dirty="0"/>
          </a:p>
        </p:txBody>
      </p:sp>
      <p:sp>
        <p:nvSpPr>
          <p:cNvPr id="10" name="Text 8"/>
          <p:cNvSpPr txBox="1"/>
          <p:nvPr/>
        </p:nvSpPr>
        <p:spPr>
          <a:xfrm>
            <a:off x="9578111" y="1874520"/>
            <a:ext cx="2064944"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Competitor C</a:t>
            </a:r>
            <a:endParaRPr lang="en-US" sz="1200" dirty="0"/>
          </a:p>
        </p:txBody>
      </p:sp>
      <p:sp>
        <p:nvSpPr>
          <p:cNvPr id="11" name="Shape 9"/>
          <p:cNvSpPr/>
          <p:nvPr/>
        </p:nvSpPr>
        <p:spPr>
          <a:xfrm>
            <a:off x="548640" y="2423160"/>
            <a:ext cx="2834640" cy="0"/>
          </a:xfrm>
          <a:prstGeom prst="line">
            <a:avLst/>
          </a:prstGeom>
          <a:noFill/>
          <a:ln w="9525">
            <a:solidFill>
              <a:schemeClr val="accent4"/>
            </a:solidFill>
            <a:prstDash val="solid"/>
          </a:ln>
        </p:spPr>
      </p:sp>
      <p:sp>
        <p:nvSpPr>
          <p:cNvPr id="12" name="Shape 10"/>
          <p:cNvSpPr/>
          <p:nvPr/>
        </p:nvSpPr>
        <p:spPr>
          <a:xfrm>
            <a:off x="5448224" y="2423160"/>
            <a:ext cx="6194831" cy="0"/>
          </a:xfrm>
          <a:prstGeom prst="line">
            <a:avLst/>
          </a:prstGeom>
          <a:noFill/>
          <a:ln w="9525">
            <a:solidFill>
              <a:schemeClr val="accent4"/>
            </a:solidFill>
            <a:prstDash val="solid"/>
          </a:ln>
        </p:spPr>
      </p:sp>
      <p:sp>
        <p:nvSpPr>
          <p:cNvPr id="13" name="Text 11"/>
          <p:cNvSpPr txBox="1"/>
          <p:nvPr/>
        </p:nvSpPr>
        <p:spPr>
          <a:xfrm>
            <a:off x="548640" y="24231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Forecast accuracy</a:t>
            </a:r>
            <a:endParaRPr lang="en-US" sz="1150" dirty="0"/>
          </a:p>
        </p:txBody>
      </p:sp>
      <p:sp>
        <p:nvSpPr>
          <p:cNvPr id="14" name="Shape 12"/>
          <p:cNvSpPr/>
          <p:nvPr/>
        </p:nvSpPr>
        <p:spPr>
          <a:xfrm>
            <a:off x="4278592" y="2514600"/>
            <a:ext cx="274320" cy="274320"/>
          </a:xfrm>
          <a:prstGeom prst="ellipse">
            <a:avLst/>
          </a:prstGeom>
          <a:solidFill>
            <a:schemeClr val="accent5"/>
          </a:solidFill>
          <a:ln w="12700">
            <a:solidFill>
              <a:schemeClr val="accent1"/>
            </a:solidFill>
            <a:prstDash val="solid"/>
          </a:ln>
        </p:spPr>
      </p:sp>
      <p:sp>
        <p:nvSpPr>
          <p:cNvPr id="15" name="Shape 13"/>
          <p:cNvSpPr/>
          <p:nvPr/>
        </p:nvSpPr>
        <p:spPr>
          <a:xfrm>
            <a:off x="4278592" y="2514600"/>
            <a:ext cx="274320" cy="274320"/>
          </a:xfrm>
          <a:prstGeom prst="ellipse">
            <a:avLst/>
          </a:prstGeom>
          <a:solidFill>
            <a:schemeClr val="accent1"/>
          </a:solidFill>
          <a:ln/>
        </p:spPr>
      </p:sp>
      <p:sp>
        <p:nvSpPr>
          <p:cNvPr id="16" name="Shape 14"/>
          <p:cNvSpPr/>
          <p:nvPr/>
        </p:nvSpPr>
        <p:spPr>
          <a:xfrm>
            <a:off x="6343536" y="2514600"/>
            <a:ext cx="274320" cy="274320"/>
          </a:xfrm>
          <a:prstGeom prst="ellipse">
            <a:avLst/>
          </a:prstGeom>
          <a:solidFill>
            <a:schemeClr val="bg1"/>
          </a:solidFill>
          <a:ln w="12700">
            <a:solidFill>
              <a:schemeClr val="tx1"/>
            </a:solidFill>
            <a:prstDash val="solid"/>
          </a:ln>
        </p:spPr>
      </p:sp>
      <p:sp>
        <p:nvSpPr>
          <p:cNvPr id="17" name="Shape 15"/>
          <p:cNvSpPr/>
          <p:nvPr/>
        </p:nvSpPr>
        <p:spPr>
          <a:xfrm>
            <a:off x="6343536" y="2514600"/>
            <a:ext cx="274320" cy="274320"/>
          </a:xfrm>
          <a:prstGeom prst="pie">
            <a:avLst>
              <a:gd name="adj1" fmla="val 16200000"/>
              <a:gd name="adj2" fmla="val 10800000"/>
            </a:avLst>
          </a:prstGeom>
          <a:solidFill>
            <a:schemeClr val="tx1"/>
          </a:solidFill>
          <a:ln/>
        </p:spPr>
      </p:sp>
      <p:sp>
        <p:nvSpPr>
          <p:cNvPr id="18" name="Shape 16"/>
          <p:cNvSpPr/>
          <p:nvPr/>
        </p:nvSpPr>
        <p:spPr>
          <a:xfrm>
            <a:off x="8408480" y="2514600"/>
            <a:ext cx="274320" cy="274320"/>
          </a:xfrm>
          <a:prstGeom prst="ellipse">
            <a:avLst/>
          </a:prstGeom>
          <a:solidFill>
            <a:schemeClr val="bg1"/>
          </a:solidFill>
          <a:ln w="12700">
            <a:solidFill>
              <a:schemeClr val="tx1"/>
            </a:solidFill>
            <a:prstDash val="solid"/>
          </a:ln>
        </p:spPr>
      </p:sp>
      <p:sp>
        <p:nvSpPr>
          <p:cNvPr id="19" name="Shape 17"/>
          <p:cNvSpPr/>
          <p:nvPr/>
        </p:nvSpPr>
        <p:spPr>
          <a:xfrm>
            <a:off x="8408480" y="2514600"/>
            <a:ext cx="274320" cy="274320"/>
          </a:xfrm>
          <a:prstGeom prst="pie">
            <a:avLst>
              <a:gd name="adj1" fmla="val 16200000"/>
              <a:gd name="adj2" fmla="val 5400000"/>
            </a:avLst>
          </a:prstGeom>
          <a:solidFill>
            <a:schemeClr val="tx1"/>
          </a:solidFill>
          <a:ln/>
        </p:spPr>
      </p:sp>
      <p:sp>
        <p:nvSpPr>
          <p:cNvPr id="20" name="Shape 18"/>
          <p:cNvSpPr/>
          <p:nvPr/>
        </p:nvSpPr>
        <p:spPr>
          <a:xfrm>
            <a:off x="10473423" y="2514600"/>
            <a:ext cx="274320" cy="274320"/>
          </a:xfrm>
          <a:prstGeom prst="ellipse">
            <a:avLst/>
          </a:prstGeom>
          <a:solidFill>
            <a:schemeClr val="bg1"/>
          </a:solidFill>
          <a:ln w="12700">
            <a:solidFill>
              <a:schemeClr val="tx1"/>
            </a:solidFill>
            <a:prstDash val="solid"/>
          </a:ln>
        </p:spPr>
      </p:sp>
      <p:sp>
        <p:nvSpPr>
          <p:cNvPr id="21" name="Shape 19"/>
          <p:cNvSpPr/>
          <p:nvPr/>
        </p:nvSpPr>
        <p:spPr>
          <a:xfrm>
            <a:off x="10473423" y="2514600"/>
            <a:ext cx="274320" cy="274320"/>
          </a:xfrm>
          <a:prstGeom prst="pie">
            <a:avLst>
              <a:gd name="adj1" fmla="val 16200000"/>
              <a:gd name="adj2" fmla="val 0"/>
            </a:avLst>
          </a:prstGeom>
          <a:solidFill>
            <a:schemeClr val="tx1"/>
          </a:solidFill>
          <a:ln/>
        </p:spPr>
      </p:sp>
      <p:sp>
        <p:nvSpPr>
          <p:cNvPr id="22" name="Shape 20"/>
          <p:cNvSpPr/>
          <p:nvPr/>
        </p:nvSpPr>
        <p:spPr>
          <a:xfrm>
            <a:off x="548640" y="2880360"/>
            <a:ext cx="2834640" cy="0"/>
          </a:xfrm>
          <a:prstGeom prst="line">
            <a:avLst/>
          </a:prstGeom>
          <a:noFill/>
          <a:ln w="9525">
            <a:solidFill>
              <a:schemeClr val="accent4"/>
            </a:solidFill>
            <a:prstDash val="solid"/>
          </a:ln>
        </p:spPr>
      </p:sp>
      <p:sp>
        <p:nvSpPr>
          <p:cNvPr id="23" name="Shape 21"/>
          <p:cNvSpPr/>
          <p:nvPr/>
        </p:nvSpPr>
        <p:spPr>
          <a:xfrm>
            <a:off x="5448224" y="2880360"/>
            <a:ext cx="6194831" cy="0"/>
          </a:xfrm>
          <a:prstGeom prst="line">
            <a:avLst/>
          </a:prstGeom>
          <a:noFill/>
          <a:ln w="9525">
            <a:solidFill>
              <a:schemeClr val="accent4"/>
            </a:solidFill>
            <a:prstDash val="solid"/>
          </a:ln>
        </p:spPr>
      </p:sp>
      <p:sp>
        <p:nvSpPr>
          <p:cNvPr id="24" name="Text 22"/>
          <p:cNvSpPr txBox="1"/>
          <p:nvPr/>
        </p:nvSpPr>
        <p:spPr>
          <a:xfrm>
            <a:off x="548640" y="28803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Time to value</a:t>
            </a:r>
            <a:endParaRPr lang="en-US" sz="1150" dirty="0"/>
          </a:p>
        </p:txBody>
      </p:sp>
      <p:sp>
        <p:nvSpPr>
          <p:cNvPr id="25" name="Shape 23"/>
          <p:cNvSpPr/>
          <p:nvPr/>
        </p:nvSpPr>
        <p:spPr>
          <a:xfrm>
            <a:off x="4278592" y="2971800"/>
            <a:ext cx="274320" cy="274320"/>
          </a:xfrm>
          <a:prstGeom prst="ellipse">
            <a:avLst/>
          </a:prstGeom>
          <a:solidFill>
            <a:schemeClr val="accent5"/>
          </a:solidFill>
          <a:ln w="12700">
            <a:solidFill>
              <a:schemeClr val="accent1"/>
            </a:solidFill>
            <a:prstDash val="solid"/>
          </a:ln>
        </p:spPr>
      </p:sp>
      <p:sp>
        <p:nvSpPr>
          <p:cNvPr id="26" name="Shape 24"/>
          <p:cNvSpPr/>
          <p:nvPr/>
        </p:nvSpPr>
        <p:spPr>
          <a:xfrm>
            <a:off x="4278592" y="2971800"/>
            <a:ext cx="274320" cy="274320"/>
          </a:xfrm>
          <a:prstGeom prst="ellipse">
            <a:avLst/>
          </a:prstGeom>
          <a:solidFill>
            <a:schemeClr val="accent1"/>
          </a:solidFill>
          <a:ln/>
        </p:spPr>
      </p:sp>
      <p:sp>
        <p:nvSpPr>
          <p:cNvPr id="27" name="Shape 25"/>
          <p:cNvSpPr/>
          <p:nvPr/>
        </p:nvSpPr>
        <p:spPr>
          <a:xfrm>
            <a:off x="6343536" y="2971800"/>
            <a:ext cx="274320" cy="274320"/>
          </a:xfrm>
          <a:prstGeom prst="ellipse">
            <a:avLst/>
          </a:prstGeom>
          <a:solidFill>
            <a:schemeClr val="bg1"/>
          </a:solidFill>
          <a:ln w="12700">
            <a:solidFill>
              <a:schemeClr val="tx1"/>
            </a:solidFill>
            <a:prstDash val="solid"/>
          </a:ln>
        </p:spPr>
      </p:sp>
      <p:sp>
        <p:nvSpPr>
          <p:cNvPr id="28" name="Shape 26"/>
          <p:cNvSpPr/>
          <p:nvPr/>
        </p:nvSpPr>
        <p:spPr>
          <a:xfrm>
            <a:off x="6343536" y="2971800"/>
            <a:ext cx="274320" cy="274320"/>
          </a:xfrm>
          <a:prstGeom prst="pie">
            <a:avLst>
              <a:gd name="adj1" fmla="val 16200000"/>
              <a:gd name="adj2" fmla="val 0"/>
            </a:avLst>
          </a:prstGeom>
          <a:solidFill>
            <a:schemeClr val="tx1"/>
          </a:solidFill>
          <a:ln/>
        </p:spPr>
      </p:sp>
      <p:sp>
        <p:nvSpPr>
          <p:cNvPr id="29" name="Shape 27"/>
          <p:cNvSpPr/>
          <p:nvPr/>
        </p:nvSpPr>
        <p:spPr>
          <a:xfrm>
            <a:off x="8408480" y="2971800"/>
            <a:ext cx="274320" cy="274320"/>
          </a:xfrm>
          <a:prstGeom prst="ellipse">
            <a:avLst/>
          </a:prstGeom>
          <a:solidFill>
            <a:schemeClr val="bg1"/>
          </a:solidFill>
          <a:ln w="12700">
            <a:solidFill>
              <a:schemeClr val="tx1"/>
            </a:solidFill>
            <a:prstDash val="solid"/>
          </a:ln>
        </p:spPr>
      </p:sp>
      <p:sp>
        <p:nvSpPr>
          <p:cNvPr id="30" name="Shape 28"/>
          <p:cNvSpPr/>
          <p:nvPr/>
        </p:nvSpPr>
        <p:spPr>
          <a:xfrm>
            <a:off x="8408480" y="2971800"/>
            <a:ext cx="274320" cy="274320"/>
          </a:xfrm>
          <a:prstGeom prst="pie">
            <a:avLst>
              <a:gd name="adj1" fmla="val 16200000"/>
              <a:gd name="adj2" fmla="val 10800000"/>
            </a:avLst>
          </a:prstGeom>
          <a:solidFill>
            <a:schemeClr val="tx1"/>
          </a:solidFill>
          <a:ln/>
        </p:spPr>
      </p:sp>
      <p:sp>
        <p:nvSpPr>
          <p:cNvPr id="31" name="Shape 29"/>
          <p:cNvSpPr/>
          <p:nvPr/>
        </p:nvSpPr>
        <p:spPr>
          <a:xfrm>
            <a:off x="10473423" y="2971800"/>
            <a:ext cx="274320" cy="274320"/>
          </a:xfrm>
          <a:prstGeom prst="ellipse">
            <a:avLst/>
          </a:prstGeom>
          <a:solidFill>
            <a:schemeClr val="bg1"/>
          </a:solidFill>
          <a:ln w="12700">
            <a:solidFill>
              <a:schemeClr val="tx1"/>
            </a:solidFill>
            <a:prstDash val="solid"/>
          </a:ln>
        </p:spPr>
      </p:sp>
      <p:sp>
        <p:nvSpPr>
          <p:cNvPr id="32" name="Shape 30"/>
          <p:cNvSpPr/>
          <p:nvPr/>
        </p:nvSpPr>
        <p:spPr>
          <a:xfrm>
            <a:off x="10473423" y="2971800"/>
            <a:ext cx="274320" cy="274320"/>
          </a:xfrm>
          <a:prstGeom prst="ellipse">
            <a:avLst/>
          </a:prstGeom>
          <a:solidFill>
            <a:schemeClr val="tx1"/>
          </a:solidFill>
          <a:ln/>
        </p:spPr>
      </p:sp>
      <p:sp>
        <p:nvSpPr>
          <p:cNvPr id="33" name="Shape 31"/>
          <p:cNvSpPr/>
          <p:nvPr/>
        </p:nvSpPr>
        <p:spPr>
          <a:xfrm>
            <a:off x="548640" y="3337560"/>
            <a:ext cx="2834640" cy="0"/>
          </a:xfrm>
          <a:prstGeom prst="line">
            <a:avLst/>
          </a:prstGeom>
          <a:noFill/>
          <a:ln w="9525">
            <a:solidFill>
              <a:schemeClr val="accent4"/>
            </a:solidFill>
            <a:prstDash val="solid"/>
          </a:ln>
        </p:spPr>
      </p:sp>
      <p:sp>
        <p:nvSpPr>
          <p:cNvPr id="34" name="Shape 32"/>
          <p:cNvSpPr/>
          <p:nvPr/>
        </p:nvSpPr>
        <p:spPr>
          <a:xfrm>
            <a:off x="5448224" y="3337560"/>
            <a:ext cx="6194831" cy="0"/>
          </a:xfrm>
          <a:prstGeom prst="line">
            <a:avLst/>
          </a:prstGeom>
          <a:noFill/>
          <a:ln w="9525">
            <a:solidFill>
              <a:schemeClr val="accent4"/>
            </a:solidFill>
            <a:prstDash val="solid"/>
          </a:ln>
        </p:spPr>
      </p:sp>
      <p:sp>
        <p:nvSpPr>
          <p:cNvPr id="35" name="Text 33"/>
          <p:cNvSpPr txBox="1"/>
          <p:nvPr/>
        </p:nvSpPr>
        <p:spPr>
          <a:xfrm>
            <a:off x="548640" y="33375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AI deal scoring</a:t>
            </a:r>
            <a:endParaRPr lang="en-US" sz="1150" dirty="0"/>
          </a:p>
        </p:txBody>
      </p:sp>
      <p:sp>
        <p:nvSpPr>
          <p:cNvPr id="36" name="Shape 34"/>
          <p:cNvSpPr/>
          <p:nvPr/>
        </p:nvSpPr>
        <p:spPr>
          <a:xfrm>
            <a:off x="4278592" y="3429000"/>
            <a:ext cx="274320" cy="274320"/>
          </a:xfrm>
          <a:prstGeom prst="ellipse">
            <a:avLst/>
          </a:prstGeom>
          <a:solidFill>
            <a:schemeClr val="accent5"/>
          </a:solidFill>
          <a:ln w="12700">
            <a:solidFill>
              <a:schemeClr val="accent1"/>
            </a:solidFill>
            <a:prstDash val="solid"/>
          </a:ln>
        </p:spPr>
      </p:sp>
      <p:sp>
        <p:nvSpPr>
          <p:cNvPr id="37" name="Shape 35"/>
          <p:cNvSpPr/>
          <p:nvPr/>
        </p:nvSpPr>
        <p:spPr>
          <a:xfrm>
            <a:off x="4278592" y="3429000"/>
            <a:ext cx="274320" cy="274320"/>
          </a:xfrm>
          <a:prstGeom prst="ellipse">
            <a:avLst/>
          </a:prstGeom>
          <a:solidFill>
            <a:schemeClr val="accent1"/>
          </a:solidFill>
          <a:ln/>
        </p:spPr>
      </p:sp>
      <p:sp>
        <p:nvSpPr>
          <p:cNvPr id="38" name="Shape 36"/>
          <p:cNvSpPr/>
          <p:nvPr/>
        </p:nvSpPr>
        <p:spPr>
          <a:xfrm>
            <a:off x="6343536" y="3429000"/>
            <a:ext cx="274320" cy="274320"/>
          </a:xfrm>
          <a:prstGeom prst="ellipse">
            <a:avLst/>
          </a:prstGeom>
          <a:solidFill>
            <a:schemeClr val="bg1"/>
          </a:solidFill>
          <a:ln w="12700">
            <a:solidFill>
              <a:schemeClr val="tx1"/>
            </a:solidFill>
            <a:prstDash val="solid"/>
          </a:ln>
        </p:spPr>
      </p:sp>
      <p:sp>
        <p:nvSpPr>
          <p:cNvPr id="39" name="Shape 37"/>
          <p:cNvSpPr/>
          <p:nvPr/>
        </p:nvSpPr>
        <p:spPr>
          <a:xfrm>
            <a:off x="6343536" y="3429000"/>
            <a:ext cx="274320" cy="274320"/>
          </a:xfrm>
          <a:prstGeom prst="pie">
            <a:avLst>
              <a:gd name="adj1" fmla="val 16200000"/>
              <a:gd name="adj2" fmla="val 5400000"/>
            </a:avLst>
          </a:prstGeom>
          <a:solidFill>
            <a:schemeClr val="tx1"/>
          </a:solidFill>
          <a:ln/>
        </p:spPr>
      </p:sp>
      <p:sp>
        <p:nvSpPr>
          <p:cNvPr id="40" name="Shape 38"/>
          <p:cNvSpPr/>
          <p:nvPr/>
        </p:nvSpPr>
        <p:spPr>
          <a:xfrm>
            <a:off x="8408480" y="3429000"/>
            <a:ext cx="274320" cy="274320"/>
          </a:xfrm>
          <a:prstGeom prst="ellipse">
            <a:avLst/>
          </a:prstGeom>
          <a:solidFill>
            <a:schemeClr val="bg1"/>
          </a:solidFill>
          <a:ln w="12700">
            <a:solidFill>
              <a:schemeClr val="tx1"/>
            </a:solidFill>
            <a:prstDash val="solid"/>
          </a:ln>
        </p:spPr>
      </p:sp>
      <p:sp>
        <p:nvSpPr>
          <p:cNvPr id="41" name="Shape 39"/>
          <p:cNvSpPr/>
          <p:nvPr/>
        </p:nvSpPr>
        <p:spPr>
          <a:xfrm>
            <a:off x="8408480" y="3429000"/>
            <a:ext cx="274320" cy="274320"/>
          </a:xfrm>
          <a:prstGeom prst="pie">
            <a:avLst>
              <a:gd name="adj1" fmla="val 16200000"/>
              <a:gd name="adj2" fmla="val 10800000"/>
            </a:avLst>
          </a:prstGeom>
          <a:solidFill>
            <a:schemeClr val="tx1"/>
          </a:solidFill>
          <a:ln/>
        </p:spPr>
      </p:sp>
      <p:sp>
        <p:nvSpPr>
          <p:cNvPr id="42" name="Shape 40"/>
          <p:cNvSpPr/>
          <p:nvPr/>
        </p:nvSpPr>
        <p:spPr>
          <a:xfrm>
            <a:off x="10473423" y="3429000"/>
            <a:ext cx="274320" cy="274320"/>
          </a:xfrm>
          <a:prstGeom prst="ellipse">
            <a:avLst/>
          </a:prstGeom>
          <a:solidFill>
            <a:schemeClr val="bg1"/>
          </a:solidFill>
          <a:ln w="12700">
            <a:solidFill>
              <a:schemeClr val="tx1"/>
            </a:solidFill>
            <a:prstDash val="solid"/>
          </a:ln>
        </p:spPr>
      </p:sp>
      <p:sp>
        <p:nvSpPr>
          <p:cNvPr id="43" name="Shape 41"/>
          <p:cNvSpPr/>
          <p:nvPr/>
        </p:nvSpPr>
        <p:spPr>
          <a:xfrm>
            <a:off x="548640" y="3794760"/>
            <a:ext cx="2834640" cy="0"/>
          </a:xfrm>
          <a:prstGeom prst="line">
            <a:avLst/>
          </a:prstGeom>
          <a:noFill/>
          <a:ln w="9525">
            <a:solidFill>
              <a:schemeClr val="accent4"/>
            </a:solidFill>
            <a:prstDash val="solid"/>
          </a:ln>
        </p:spPr>
      </p:sp>
      <p:sp>
        <p:nvSpPr>
          <p:cNvPr id="44" name="Shape 42"/>
          <p:cNvSpPr/>
          <p:nvPr/>
        </p:nvSpPr>
        <p:spPr>
          <a:xfrm>
            <a:off x="5448224" y="3794760"/>
            <a:ext cx="6194831" cy="0"/>
          </a:xfrm>
          <a:prstGeom prst="line">
            <a:avLst/>
          </a:prstGeom>
          <a:noFill/>
          <a:ln w="9525">
            <a:solidFill>
              <a:schemeClr val="accent4"/>
            </a:solidFill>
            <a:prstDash val="solid"/>
          </a:ln>
        </p:spPr>
      </p:sp>
      <p:sp>
        <p:nvSpPr>
          <p:cNvPr id="45" name="Text 43"/>
          <p:cNvSpPr txBox="1"/>
          <p:nvPr/>
        </p:nvSpPr>
        <p:spPr>
          <a:xfrm>
            <a:off x="548640" y="37947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Ease of use</a:t>
            </a:r>
            <a:endParaRPr lang="en-US" sz="1150" dirty="0"/>
          </a:p>
        </p:txBody>
      </p:sp>
      <p:sp>
        <p:nvSpPr>
          <p:cNvPr id="46" name="Shape 44"/>
          <p:cNvSpPr/>
          <p:nvPr/>
        </p:nvSpPr>
        <p:spPr>
          <a:xfrm>
            <a:off x="4278592" y="3886200"/>
            <a:ext cx="274320" cy="274320"/>
          </a:xfrm>
          <a:prstGeom prst="ellipse">
            <a:avLst/>
          </a:prstGeom>
          <a:solidFill>
            <a:schemeClr val="accent5"/>
          </a:solidFill>
          <a:ln w="12700">
            <a:solidFill>
              <a:schemeClr val="accent1"/>
            </a:solidFill>
            <a:prstDash val="solid"/>
          </a:ln>
        </p:spPr>
      </p:sp>
      <p:sp>
        <p:nvSpPr>
          <p:cNvPr id="47" name="Shape 45"/>
          <p:cNvSpPr/>
          <p:nvPr/>
        </p:nvSpPr>
        <p:spPr>
          <a:xfrm>
            <a:off x="4278592" y="3886200"/>
            <a:ext cx="274320" cy="274320"/>
          </a:xfrm>
          <a:prstGeom prst="ellipse">
            <a:avLst/>
          </a:prstGeom>
          <a:solidFill>
            <a:schemeClr val="accent1"/>
          </a:solidFill>
          <a:ln/>
        </p:spPr>
      </p:sp>
      <p:sp>
        <p:nvSpPr>
          <p:cNvPr id="48" name="Shape 46"/>
          <p:cNvSpPr/>
          <p:nvPr/>
        </p:nvSpPr>
        <p:spPr>
          <a:xfrm>
            <a:off x="6343536" y="3886200"/>
            <a:ext cx="274320" cy="274320"/>
          </a:xfrm>
          <a:prstGeom prst="ellipse">
            <a:avLst/>
          </a:prstGeom>
          <a:solidFill>
            <a:schemeClr val="bg1"/>
          </a:solidFill>
          <a:ln w="12700">
            <a:solidFill>
              <a:schemeClr val="tx1"/>
            </a:solidFill>
            <a:prstDash val="solid"/>
          </a:ln>
        </p:spPr>
      </p:sp>
      <p:sp>
        <p:nvSpPr>
          <p:cNvPr id="49" name="Shape 47"/>
          <p:cNvSpPr/>
          <p:nvPr/>
        </p:nvSpPr>
        <p:spPr>
          <a:xfrm>
            <a:off x="6343536" y="3886200"/>
            <a:ext cx="274320" cy="274320"/>
          </a:xfrm>
          <a:prstGeom prst="pie">
            <a:avLst>
              <a:gd name="adj1" fmla="val 16200000"/>
              <a:gd name="adj2" fmla="val 5400000"/>
            </a:avLst>
          </a:prstGeom>
          <a:solidFill>
            <a:schemeClr val="tx1"/>
          </a:solidFill>
          <a:ln/>
        </p:spPr>
      </p:sp>
      <p:sp>
        <p:nvSpPr>
          <p:cNvPr id="50" name="Shape 48"/>
          <p:cNvSpPr/>
          <p:nvPr/>
        </p:nvSpPr>
        <p:spPr>
          <a:xfrm>
            <a:off x="8408480" y="3886200"/>
            <a:ext cx="274320" cy="274320"/>
          </a:xfrm>
          <a:prstGeom prst="ellipse">
            <a:avLst/>
          </a:prstGeom>
          <a:solidFill>
            <a:schemeClr val="bg1"/>
          </a:solidFill>
          <a:ln w="12700">
            <a:solidFill>
              <a:schemeClr val="tx1"/>
            </a:solidFill>
            <a:prstDash val="solid"/>
          </a:ln>
        </p:spPr>
      </p:sp>
      <p:sp>
        <p:nvSpPr>
          <p:cNvPr id="51" name="Shape 49"/>
          <p:cNvSpPr/>
          <p:nvPr/>
        </p:nvSpPr>
        <p:spPr>
          <a:xfrm>
            <a:off x="8408480" y="3886200"/>
            <a:ext cx="274320" cy="274320"/>
          </a:xfrm>
          <a:prstGeom prst="pie">
            <a:avLst>
              <a:gd name="adj1" fmla="val 16200000"/>
              <a:gd name="adj2" fmla="val 10800000"/>
            </a:avLst>
          </a:prstGeom>
          <a:solidFill>
            <a:schemeClr val="tx1"/>
          </a:solidFill>
          <a:ln/>
        </p:spPr>
      </p:sp>
      <p:sp>
        <p:nvSpPr>
          <p:cNvPr id="52" name="Shape 50"/>
          <p:cNvSpPr/>
          <p:nvPr/>
        </p:nvSpPr>
        <p:spPr>
          <a:xfrm>
            <a:off x="10473423" y="3886200"/>
            <a:ext cx="274320" cy="274320"/>
          </a:xfrm>
          <a:prstGeom prst="ellipse">
            <a:avLst/>
          </a:prstGeom>
          <a:solidFill>
            <a:schemeClr val="bg1"/>
          </a:solidFill>
          <a:ln w="12700">
            <a:solidFill>
              <a:schemeClr val="tx1"/>
            </a:solidFill>
            <a:prstDash val="solid"/>
          </a:ln>
        </p:spPr>
      </p:sp>
      <p:sp>
        <p:nvSpPr>
          <p:cNvPr id="53" name="Shape 51"/>
          <p:cNvSpPr/>
          <p:nvPr/>
        </p:nvSpPr>
        <p:spPr>
          <a:xfrm>
            <a:off x="10473423" y="3886200"/>
            <a:ext cx="274320" cy="274320"/>
          </a:xfrm>
          <a:prstGeom prst="ellipse">
            <a:avLst/>
          </a:prstGeom>
          <a:solidFill>
            <a:schemeClr val="tx1"/>
          </a:solidFill>
          <a:ln/>
        </p:spPr>
      </p:sp>
      <p:sp>
        <p:nvSpPr>
          <p:cNvPr id="54" name="Shape 52"/>
          <p:cNvSpPr/>
          <p:nvPr/>
        </p:nvSpPr>
        <p:spPr>
          <a:xfrm>
            <a:off x="548640" y="4251960"/>
            <a:ext cx="2834640" cy="0"/>
          </a:xfrm>
          <a:prstGeom prst="line">
            <a:avLst/>
          </a:prstGeom>
          <a:noFill/>
          <a:ln w="9525">
            <a:solidFill>
              <a:schemeClr val="accent4"/>
            </a:solidFill>
            <a:prstDash val="solid"/>
          </a:ln>
        </p:spPr>
      </p:sp>
      <p:sp>
        <p:nvSpPr>
          <p:cNvPr id="55" name="Shape 53"/>
          <p:cNvSpPr/>
          <p:nvPr/>
        </p:nvSpPr>
        <p:spPr>
          <a:xfrm>
            <a:off x="5448224" y="4251960"/>
            <a:ext cx="6194831" cy="0"/>
          </a:xfrm>
          <a:prstGeom prst="line">
            <a:avLst/>
          </a:prstGeom>
          <a:noFill/>
          <a:ln w="9525">
            <a:solidFill>
              <a:schemeClr val="accent4"/>
            </a:solidFill>
            <a:prstDash val="solid"/>
          </a:ln>
        </p:spPr>
      </p:sp>
      <p:sp>
        <p:nvSpPr>
          <p:cNvPr id="56" name="Text 54"/>
          <p:cNvSpPr txBox="1"/>
          <p:nvPr/>
        </p:nvSpPr>
        <p:spPr>
          <a:xfrm>
            <a:off x="548640" y="42519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Integrations</a:t>
            </a:r>
            <a:endParaRPr lang="en-US" sz="1150" dirty="0"/>
          </a:p>
        </p:txBody>
      </p:sp>
      <p:sp>
        <p:nvSpPr>
          <p:cNvPr id="57" name="Shape 55"/>
          <p:cNvSpPr/>
          <p:nvPr/>
        </p:nvSpPr>
        <p:spPr>
          <a:xfrm>
            <a:off x="4278592" y="4343400"/>
            <a:ext cx="274320" cy="274320"/>
          </a:xfrm>
          <a:prstGeom prst="ellipse">
            <a:avLst/>
          </a:prstGeom>
          <a:solidFill>
            <a:schemeClr val="accent5"/>
          </a:solidFill>
          <a:ln w="12700">
            <a:solidFill>
              <a:schemeClr val="accent1"/>
            </a:solidFill>
            <a:prstDash val="solid"/>
          </a:ln>
        </p:spPr>
      </p:sp>
      <p:sp>
        <p:nvSpPr>
          <p:cNvPr id="58" name="Shape 56"/>
          <p:cNvSpPr/>
          <p:nvPr/>
        </p:nvSpPr>
        <p:spPr>
          <a:xfrm>
            <a:off x="4278592" y="4343400"/>
            <a:ext cx="274320" cy="274320"/>
          </a:xfrm>
          <a:prstGeom prst="pie">
            <a:avLst>
              <a:gd name="adj1" fmla="val 16200000"/>
              <a:gd name="adj2" fmla="val 10800000"/>
            </a:avLst>
          </a:prstGeom>
          <a:solidFill>
            <a:schemeClr val="accent1"/>
          </a:solidFill>
          <a:ln/>
        </p:spPr>
      </p:sp>
      <p:sp>
        <p:nvSpPr>
          <p:cNvPr id="59" name="Shape 57"/>
          <p:cNvSpPr/>
          <p:nvPr/>
        </p:nvSpPr>
        <p:spPr>
          <a:xfrm>
            <a:off x="6343536" y="4343400"/>
            <a:ext cx="274320" cy="274320"/>
          </a:xfrm>
          <a:prstGeom prst="ellipse">
            <a:avLst/>
          </a:prstGeom>
          <a:solidFill>
            <a:schemeClr val="bg1"/>
          </a:solidFill>
          <a:ln w="12700">
            <a:solidFill>
              <a:schemeClr val="tx1"/>
            </a:solidFill>
            <a:prstDash val="solid"/>
          </a:ln>
        </p:spPr>
      </p:sp>
      <p:sp>
        <p:nvSpPr>
          <p:cNvPr id="60" name="Shape 58"/>
          <p:cNvSpPr/>
          <p:nvPr/>
        </p:nvSpPr>
        <p:spPr>
          <a:xfrm>
            <a:off x="6343536" y="4343400"/>
            <a:ext cx="274320" cy="274320"/>
          </a:xfrm>
          <a:prstGeom prst="ellipse">
            <a:avLst/>
          </a:prstGeom>
          <a:solidFill>
            <a:schemeClr val="tx1"/>
          </a:solidFill>
          <a:ln/>
        </p:spPr>
      </p:sp>
      <p:sp>
        <p:nvSpPr>
          <p:cNvPr id="61" name="Shape 59"/>
          <p:cNvSpPr/>
          <p:nvPr/>
        </p:nvSpPr>
        <p:spPr>
          <a:xfrm>
            <a:off x="8408480" y="4343400"/>
            <a:ext cx="274320" cy="274320"/>
          </a:xfrm>
          <a:prstGeom prst="ellipse">
            <a:avLst/>
          </a:prstGeom>
          <a:solidFill>
            <a:schemeClr val="bg1"/>
          </a:solidFill>
          <a:ln w="12700">
            <a:solidFill>
              <a:schemeClr val="tx1"/>
            </a:solidFill>
            <a:prstDash val="solid"/>
          </a:ln>
        </p:spPr>
      </p:sp>
      <p:sp>
        <p:nvSpPr>
          <p:cNvPr id="62" name="Shape 60"/>
          <p:cNvSpPr/>
          <p:nvPr/>
        </p:nvSpPr>
        <p:spPr>
          <a:xfrm>
            <a:off x="8408480" y="4343400"/>
            <a:ext cx="274320" cy="274320"/>
          </a:xfrm>
          <a:prstGeom prst="pie">
            <a:avLst>
              <a:gd name="adj1" fmla="val 16200000"/>
              <a:gd name="adj2" fmla="val 10800000"/>
            </a:avLst>
          </a:prstGeom>
          <a:solidFill>
            <a:schemeClr val="tx1"/>
          </a:solidFill>
          <a:ln/>
        </p:spPr>
      </p:sp>
      <p:sp>
        <p:nvSpPr>
          <p:cNvPr id="63" name="Shape 61"/>
          <p:cNvSpPr/>
          <p:nvPr/>
        </p:nvSpPr>
        <p:spPr>
          <a:xfrm>
            <a:off x="10473423" y="4343400"/>
            <a:ext cx="274320" cy="274320"/>
          </a:xfrm>
          <a:prstGeom prst="ellipse">
            <a:avLst/>
          </a:prstGeom>
          <a:solidFill>
            <a:schemeClr val="bg1"/>
          </a:solidFill>
          <a:ln w="12700">
            <a:solidFill>
              <a:schemeClr val="tx1"/>
            </a:solidFill>
            <a:prstDash val="solid"/>
          </a:ln>
        </p:spPr>
      </p:sp>
      <p:sp>
        <p:nvSpPr>
          <p:cNvPr id="64" name="Shape 62"/>
          <p:cNvSpPr/>
          <p:nvPr/>
        </p:nvSpPr>
        <p:spPr>
          <a:xfrm>
            <a:off x="10473423" y="4343400"/>
            <a:ext cx="274320" cy="274320"/>
          </a:xfrm>
          <a:prstGeom prst="pie">
            <a:avLst>
              <a:gd name="adj1" fmla="val 16200000"/>
              <a:gd name="adj2" fmla="val 5400000"/>
            </a:avLst>
          </a:prstGeom>
          <a:solidFill>
            <a:schemeClr val="tx1"/>
          </a:solidFill>
          <a:ln/>
        </p:spPr>
      </p:sp>
      <p:sp>
        <p:nvSpPr>
          <p:cNvPr id="65" name="Shape 63"/>
          <p:cNvSpPr/>
          <p:nvPr/>
        </p:nvSpPr>
        <p:spPr>
          <a:xfrm>
            <a:off x="548640" y="4709160"/>
            <a:ext cx="2834640" cy="0"/>
          </a:xfrm>
          <a:prstGeom prst="line">
            <a:avLst/>
          </a:prstGeom>
          <a:noFill/>
          <a:ln w="9525">
            <a:solidFill>
              <a:schemeClr val="accent4"/>
            </a:solidFill>
            <a:prstDash val="solid"/>
          </a:ln>
        </p:spPr>
      </p:sp>
      <p:sp>
        <p:nvSpPr>
          <p:cNvPr id="66" name="Shape 64"/>
          <p:cNvSpPr/>
          <p:nvPr/>
        </p:nvSpPr>
        <p:spPr>
          <a:xfrm>
            <a:off x="5448224" y="4709160"/>
            <a:ext cx="6194831" cy="0"/>
          </a:xfrm>
          <a:prstGeom prst="line">
            <a:avLst/>
          </a:prstGeom>
          <a:noFill/>
          <a:ln w="9525">
            <a:solidFill>
              <a:schemeClr val="accent4"/>
            </a:solidFill>
            <a:prstDash val="solid"/>
          </a:ln>
        </p:spPr>
      </p:sp>
      <p:sp>
        <p:nvSpPr>
          <p:cNvPr id="67" name="Text 65"/>
          <p:cNvSpPr txBox="1"/>
          <p:nvPr/>
        </p:nvSpPr>
        <p:spPr>
          <a:xfrm>
            <a:off x="548640" y="47091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Enterprise controls</a:t>
            </a:r>
            <a:endParaRPr lang="en-US" sz="1150" dirty="0"/>
          </a:p>
        </p:txBody>
      </p:sp>
      <p:sp>
        <p:nvSpPr>
          <p:cNvPr id="68" name="Shape 66"/>
          <p:cNvSpPr/>
          <p:nvPr/>
        </p:nvSpPr>
        <p:spPr>
          <a:xfrm>
            <a:off x="4278592" y="4800600"/>
            <a:ext cx="274320" cy="274320"/>
          </a:xfrm>
          <a:prstGeom prst="ellipse">
            <a:avLst/>
          </a:prstGeom>
          <a:solidFill>
            <a:schemeClr val="accent5"/>
          </a:solidFill>
          <a:ln w="12700">
            <a:solidFill>
              <a:schemeClr val="accent1"/>
            </a:solidFill>
            <a:prstDash val="solid"/>
          </a:ln>
        </p:spPr>
      </p:sp>
      <p:sp>
        <p:nvSpPr>
          <p:cNvPr id="69" name="Shape 67"/>
          <p:cNvSpPr/>
          <p:nvPr/>
        </p:nvSpPr>
        <p:spPr>
          <a:xfrm>
            <a:off x="4278592" y="4800600"/>
            <a:ext cx="274320" cy="274320"/>
          </a:xfrm>
          <a:prstGeom prst="pie">
            <a:avLst>
              <a:gd name="adj1" fmla="val 16200000"/>
              <a:gd name="adj2" fmla="val 10800000"/>
            </a:avLst>
          </a:prstGeom>
          <a:solidFill>
            <a:schemeClr val="accent1"/>
          </a:solidFill>
          <a:ln/>
        </p:spPr>
      </p:sp>
      <p:sp>
        <p:nvSpPr>
          <p:cNvPr id="70" name="Shape 68"/>
          <p:cNvSpPr/>
          <p:nvPr/>
        </p:nvSpPr>
        <p:spPr>
          <a:xfrm>
            <a:off x="6343536" y="4800600"/>
            <a:ext cx="274320" cy="274320"/>
          </a:xfrm>
          <a:prstGeom prst="ellipse">
            <a:avLst/>
          </a:prstGeom>
          <a:solidFill>
            <a:schemeClr val="bg1"/>
          </a:solidFill>
          <a:ln w="12700">
            <a:solidFill>
              <a:schemeClr val="tx1"/>
            </a:solidFill>
            <a:prstDash val="solid"/>
          </a:ln>
        </p:spPr>
      </p:sp>
      <p:sp>
        <p:nvSpPr>
          <p:cNvPr id="71" name="Shape 69"/>
          <p:cNvSpPr/>
          <p:nvPr/>
        </p:nvSpPr>
        <p:spPr>
          <a:xfrm>
            <a:off x="6343536" y="4800600"/>
            <a:ext cx="274320" cy="274320"/>
          </a:xfrm>
          <a:prstGeom prst="ellipse">
            <a:avLst/>
          </a:prstGeom>
          <a:solidFill>
            <a:schemeClr val="tx1"/>
          </a:solidFill>
          <a:ln/>
        </p:spPr>
      </p:sp>
      <p:sp>
        <p:nvSpPr>
          <p:cNvPr id="72" name="Shape 70"/>
          <p:cNvSpPr/>
          <p:nvPr/>
        </p:nvSpPr>
        <p:spPr>
          <a:xfrm>
            <a:off x="8408480" y="4800600"/>
            <a:ext cx="274320" cy="274320"/>
          </a:xfrm>
          <a:prstGeom prst="ellipse">
            <a:avLst/>
          </a:prstGeom>
          <a:solidFill>
            <a:schemeClr val="bg1"/>
          </a:solidFill>
          <a:ln w="12700">
            <a:solidFill>
              <a:schemeClr val="tx1"/>
            </a:solidFill>
            <a:prstDash val="solid"/>
          </a:ln>
        </p:spPr>
      </p:sp>
      <p:sp>
        <p:nvSpPr>
          <p:cNvPr id="73" name="Shape 71"/>
          <p:cNvSpPr/>
          <p:nvPr/>
        </p:nvSpPr>
        <p:spPr>
          <a:xfrm>
            <a:off x="8408480" y="4800600"/>
            <a:ext cx="274320" cy="274320"/>
          </a:xfrm>
          <a:prstGeom prst="pie">
            <a:avLst>
              <a:gd name="adj1" fmla="val 16200000"/>
              <a:gd name="adj2" fmla="val 5400000"/>
            </a:avLst>
          </a:prstGeom>
          <a:solidFill>
            <a:schemeClr val="tx1"/>
          </a:solidFill>
          <a:ln/>
        </p:spPr>
      </p:sp>
      <p:sp>
        <p:nvSpPr>
          <p:cNvPr id="74" name="Shape 72"/>
          <p:cNvSpPr/>
          <p:nvPr/>
        </p:nvSpPr>
        <p:spPr>
          <a:xfrm>
            <a:off x="10473423" y="4800600"/>
            <a:ext cx="274320" cy="274320"/>
          </a:xfrm>
          <a:prstGeom prst="ellipse">
            <a:avLst/>
          </a:prstGeom>
          <a:solidFill>
            <a:schemeClr val="bg1"/>
          </a:solidFill>
          <a:ln w="12700">
            <a:solidFill>
              <a:schemeClr val="tx1"/>
            </a:solidFill>
            <a:prstDash val="solid"/>
          </a:ln>
        </p:spPr>
      </p:sp>
      <p:sp>
        <p:nvSpPr>
          <p:cNvPr id="75" name="Shape 73"/>
          <p:cNvSpPr/>
          <p:nvPr/>
        </p:nvSpPr>
        <p:spPr>
          <a:xfrm>
            <a:off x="10473423" y="4800600"/>
            <a:ext cx="274320" cy="274320"/>
          </a:xfrm>
          <a:prstGeom prst="pie">
            <a:avLst>
              <a:gd name="adj1" fmla="val 16200000"/>
              <a:gd name="adj2" fmla="val 0"/>
            </a:avLst>
          </a:prstGeom>
          <a:solidFill>
            <a:schemeClr val="tx1"/>
          </a:solidFill>
          <a:ln/>
        </p:spPr>
      </p:sp>
      <p:sp>
        <p:nvSpPr>
          <p:cNvPr id="76" name="Shape 74"/>
          <p:cNvSpPr/>
          <p:nvPr/>
        </p:nvSpPr>
        <p:spPr>
          <a:xfrm>
            <a:off x="548640" y="5166360"/>
            <a:ext cx="2834640" cy="0"/>
          </a:xfrm>
          <a:prstGeom prst="line">
            <a:avLst/>
          </a:prstGeom>
          <a:noFill/>
          <a:ln w="9525">
            <a:solidFill>
              <a:schemeClr val="accent4"/>
            </a:solidFill>
            <a:prstDash val="solid"/>
          </a:ln>
        </p:spPr>
      </p:sp>
      <p:sp>
        <p:nvSpPr>
          <p:cNvPr id="77" name="Shape 75"/>
          <p:cNvSpPr/>
          <p:nvPr/>
        </p:nvSpPr>
        <p:spPr>
          <a:xfrm>
            <a:off x="5448224" y="5166360"/>
            <a:ext cx="6194831" cy="0"/>
          </a:xfrm>
          <a:prstGeom prst="line">
            <a:avLst/>
          </a:prstGeom>
          <a:noFill/>
          <a:ln w="9525">
            <a:solidFill>
              <a:schemeClr val="accent4"/>
            </a:solidFill>
            <a:prstDash val="solid"/>
          </a:ln>
        </p:spPr>
      </p:sp>
      <p:sp>
        <p:nvSpPr>
          <p:cNvPr id="78" name="Text 76"/>
          <p:cNvSpPr txBox="1"/>
          <p:nvPr/>
        </p:nvSpPr>
        <p:spPr>
          <a:xfrm>
            <a:off x="548640" y="51663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Price / value</a:t>
            </a:r>
            <a:endParaRPr lang="en-US" sz="1150" dirty="0"/>
          </a:p>
        </p:txBody>
      </p:sp>
      <p:sp>
        <p:nvSpPr>
          <p:cNvPr id="79" name="Shape 77"/>
          <p:cNvSpPr/>
          <p:nvPr/>
        </p:nvSpPr>
        <p:spPr>
          <a:xfrm>
            <a:off x="4278592" y="5257800"/>
            <a:ext cx="274320" cy="274320"/>
          </a:xfrm>
          <a:prstGeom prst="ellipse">
            <a:avLst/>
          </a:prstGeom>
          <a:solidFill>
            <a:schemeClr val="accent5"/>
          </a:solidFill>
          <a:ln w="12700">
            <a:solidFill>
              <a:schemeClr val="accent1"/>
            </a:solidFill>
            <a:prstDash val="solid"/>
          </a:ln>
        </p:spPr>
      </p:sp>
      <p:sp>
        <p:nvSpPr>
          <p:cNvPr id="80" name="Shape 78"/>
          <p:cNvSpPr/>
          <p:nvPr/>
        </p:nvSpPr>
        <p:spPr>
          <a:xfrm>
            <a:off x="4278592" y="5257800"/>
            <a:ext cx="274320" cy="274320"/>
          </a:xfrm>
          <a:prstGeom prst="ellipse">
            <a:avLst/>
          </a:prstGeom>
          <a:solidFill>
            <a:schemeClr val="accent1"/>
          </a:solidFill>
          <a:ln/>
        </p:spPr>
      </p:sp>
      <p:sp>
        <p:nvSpPr>
          <p:cNvPr id="81" name="Shape 79"/>
          <p:cNvSpPr/>
          <p:nvPr/>
        </p:nvSpPr>
        <p:spPr>
          <a:xfrm>
            <a:off x="6343536" y="5257800"/>
            <a:ext cx="274320" cy="274320"/>
          </a:xfrm>
          <a:prstGeom prst="ellipse">
            <a:avLst/>
          </a:prstGeom>
          <a:solidFill>
            <a:schemeClr val="bg1"/>
          </a:solidFill>
          <a:ln w="12700">
            <a:solidFill>
              <a:schemeClr val="tx1"/>
            </a:solidFill>
            <a:prstDash val="solid"/>
          </a:ln>
        </p:spPr>
      </p:sp>
      <p:sp>
        <p:nvSpPr>
          <p:cNvPr id="82" name="Shape 80"/>
          <p:cNvSpPr/>
          <p:nvPr/>
        </p:nvSpPr>
        <p:spPr>
          <a:xfrm>
            <a:off x="6343536" y="5257800"/>
            <a:ext cx="274320" cy="274320"/>
          </a:xfrm>
          <a:prstGeom prst="pie">
            <a:avLst>
              <a:gd name="adj1" fmla="val 16200000"/>
              <a:gd name="adj2" fmla="val 5400000"/>
            </a:avLst>
          </a:prstGeom>
          <a:solidFill>
            <a:schemeClr val="tx1"/>
          </a:solidFill>
          <a:ln/>
        </p:spPr>
      </p:sp>
      <p:sp>
        <p:nvSpPr>
          <p:cNvPr id="83" name="Shape 81"/>
          <p:cNvSpPr/>
          <p:nvPr/>
        </p:nvSpPr>
        <p:spPr>
          <a:xfrm>
            <a:off x="8408480" y="5257800"/>
            <a:ext cx="274320" cy="274320"/>
          </a:xfrm>
          <a:prstGeom prst="ellipse">
            <a:avLst/>
          </a:prstGeom>
          <a:solidFill>
            <a:schemeClr val="bg1"/>
          </a:solidFill>
          <a:ln w="12700">
            <a:solidFill>
              <a:schemeClr val="tx1"/>
            </a:solidFill>
            <a:prstDash val="solid"/>
          </a:ln>
        </p:spPr>
      </p:sp>
      <p:sp>
        <p:nvSpPr>
          <p:cNvPr id="84" name="Shape 82"/>
          <p:cNvSpPr/>
          <p:nvPr/>
        </p:nvSpPr>
        <p:spPr>
          <a:xfrm>
            <a:off x="8408480" y="5257800"/>
            <a:ext cx="274320" cy="274320"/>
          </a:xfrm>
          <a:prstGeom prst="pie">
            <a:avLst>
              <a:gd name="adj1" fmla="val 16200000"/>
              <a:gd name="adj2" fmla="val 10800000"/>
            </a:avLst>
          </a:prstGeom>
          <a:solidFill>
            <a:schemeClr val="tx1"/>
          </a:solidFill>
          <a:ln/>
        </p:spPr>
      </p:sp>
      <p:sp>
        <p:nvSpPr>
          <p:cNvPr id="85" name="Shape 83"/>
          <p:cNvSpPr/>
          <p:nvPr/>
        </p:nvSpPr>
        <p:spPr>
          <a:xfrm>
            <a:off x="10473423" y="5257800"/>
            <a:ext cx="274320" cy="274320"/>
          </a:xfrm>
          <a:prstGeom prst="ellipse">
            <a:avLst/>
          </a:prstGeom>
          <a:solidFill>
            <a:schemeClr val="bg1"/>
          </a:solidFill>
          <a:ln w="12700">
            <a:solidFill>
              <a:schemeClr val="tx1"/>
            </a:solidFill>
            <a:prstDash val="solid"/>
          </a:ln>
        </p:spPr>
      </p:sp>
      <p:sp>
        <p:nvSpPr>
          <p:cNvPr id="86" name="Shape 84"/>
          <p:cNvSpPr/>
          <p:nvPr/>
        </p:nvSpPr>
        <p:spPr>
          <a:xfrm>
            <a:off x="10473423" y="5257800"/>
            <a:ext cx="274320" cy="274320"/>
          </a:xfrm>
          <a:prstGeom prst="ellipse">
            <a:avLst/>
          </a:prstGeom>
          <a:solidFill>
            <a:schemeClr val="tx1"/>
          </a:solidFill>
          <a:ln/>
        </p:spPr>
      </p:sp>
      <p:sp>
        <p:nvSpPr>
          <p:cNvPr id="87" name="Shape 85"/>
          <p:cNvSpPr/>
          <p:nvPr/>
        </p:nvSpPr>
        <p:spPr>
          <a:xfrm>
            <a:off x="548640" y="5943600"/>
            <a:ext cx="182880" cy="182880"/>
          </a:xfrm>
          <a:prstGeom prst="ellipse">
            <a:avLst/>
          </a:prstGeom>
          <a:solidFill>
            <a:schemeClr val="bg1"/>
          </a:solidFill>
          <a:ln w="12700">
            <a:solidFill>
              <a:schemeClr val="tx1"/>
            </a:solidFill>
            <a:prstDash val="solid"/>
          </a:ln>
        </p:spPr>
      </p:sp>
      <p:sp>
        <p:nvSpPr>
          <p:cNvPr id="88" name="Text 86"/>
          <p:cNvSpPr txBox="1"/>
          <p:nvPr/>
        </p:nvSpPr>
        <p:spPr>
          <a:xfrm>
            <a:off x="82296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None</a:t>
            </a:r>
            <a:endParaRPr lang="en-US" sz="900" dirty="0"/>
          </a:p>
        </p:txBody>
      </p:sp>
      <p:sp>
        <p:nvSpPr>
          <p:cNvPr id="89" name="Shape 87"/>
          <p:cNvSpPr/>
          <p:nvPr/>
        </p:nvSpPr>
        <p:spPr>
          <a:xfrm>
            <a:off x="1874520" y="5943600"/>
            <a:ext cx="182880" cy="182880"/>
          </a:xfrm>
          <a:prstGeom prst="ellipse">
            <a:avLst/>
          </a:prstGeom>
          <a:solidFill>
            <a:schemeClr val="bg1"/>
          </a:solidFill>
          <a:ln w="12700">
            <a:solidFill>
              <a:schemeClr val="tx1"/>
            </a:solidFill>
            <a:prstDash val="solid"/>
          </a:ln>
        </p:spPr>
      </p:sp>
      <p:sp>
        <p:nvSpPr>
          <p:cNvPr id="90" name="Shape 88"/>
          <p:cNvSpPr/>
          <p:nvPr/>
        </p:nvSpPr>
        <p:spPr>
          <a:xfrm>
            <a:off x="1874520" y="5943600"/>
            <a:ext cx="182880" cy="182880"/>
          </a:xfrm>
          <a:prstGeom prst="pie">
            <a:avLst>
              <a:gd name="adj1" fmla="val 16200000"/>
              <a:gd name="adj2" fmla="val 0"/>
            </a:avLst>
          </a:prstGeom>
          <a:solidFill>
            <a:schemeClr val="tx1"/>
          </a:solidFill>
          <a:ln/>
        </p:spPr>
      </p:sp>
      <p:sp>
        <p:nvSpPr>
          <p:cNvPr id="91" name="Text 89"/>
          <p:cNvSpPr txBox="1"/>
          <p:nvPr/>
        </p:nvSpPr>
        <p:spPr>
          <a:xfrm>
            <a:off x="214884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Basic</a:t>
            </a:r>
            <a:endParaRPr lang="en-US" sz="900" dirty="0"/>
          </a:p>
        </p:txBody>
      </p:sp>
      <p:sp>
        <p:nvSpPr>
          <p:cNvPr id="92" name="Shape 90"/>
          <p:cNvSpPr/>
          <p:nvPr/>
        </p:nvSpPr>
        <p:spPr>
          <a:xfrm>
            <a:off x="3200400" y="5943600"/>
            <a:ext cx="182880" cy="182880"/>
          </a:xfrm>
          <a:prstGeom prst="ellipse">
            <a:avLst/>
          </a:prstGeom>
          <a:solidFill>
            <a:schemeClr val="bg1"/>
          </a:solidFill>
          <a:ln w="12700">
            <a:solidFill>
              <a:schemeClr val="tx1"/>
            </a:solidFill>
            <a:prstDash val="solid"/>
          </a:ln>
        </p:spPr>
      </p:sp>
      <p:sp>
        <p:nvSpPr>
          <p:cNvPr id="93" name="Shape 91"/>
          <p:cNvSpPr/>
          <p:nvPr/>
        </p:nvSpPr>
        <p:spPr>
          <a:xfrm>
            <a:off x="3200400" y="5943600"/>
            <a:ext cx="182880" cy="182880"/>
          </a:xfrm>
          <a:prstGeom prst="pie">
            <a:avLst>
              <a:gd name="adj1" fmla="val 16200000"/>
              <a:gd name="adj2" fmla="val 5400000"/>
            </a:avLst>
          </a:prstGeom>
          <a:solidFill>
            <a:schemeClr val="tx1"/>
          </a:solidFill>
          <a:ln/>
        </p:spPr>
      </p:sp>
      <p:sp>
        <p:nvSpPr>
          <p:cNvPr id="94" name="Text 92"/>
          <p:cNvSpPr txBox="1"/>
          <p:nvPr/>
        </p:nvSpPr>
        <p:spPr>
          <a:xfrm>
            <a:off x="347472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Partial</a:t>
            </a:r>
            <a:endParaRPr lang="en-US" sz="900" dirty="0"/>
          </a:p>
        </p:txBody>
      </p:sp>
      <p:sp>
        <p:nvSpPr>
          <p:cNvPr id="95" name="Shape 93"/>
          <p:cNvSpPr/>
          <p:nvPr/>
        </p:nvSpPr>
        <p:spPr>
          <a:xfrm>
            <a:off x="4526280" y="5943600"/>
            <a:ext cx="182880" cy="182880"/>
          </a:xfrm>
          <a:prstGeom prst="ellipse">
            <a:avLst/>
          </a:prstGeom>
          <a:solidFill>
            <a:schemeClr val="bg1"/>
          </a:solidFill>
          <a:ln w="12700">
            <a:solidFill>
              <a:schemeClr val="tx1"/>
            </a:solidFill>
            <a:prstDash val="solid"/>
          </a:ln>
        </p:spPr>
      </p:sp>
      <p:sp>
        <p:nvSpPr>
          <p:cNvPr id="96" name="Shape 94"/>
          <p:cNvSpPr/>
          <p:nvPr/>
        </p:nvSpPr>
        <p:spPr>
          <a:xfrm>
            <a:off x="4526280" y="5943600"/>
            <a:ext cx="182880" cy="182880"/>
          </a:xfrm>
          <a:prstGeom prst="pie">
            <a:avLst>
              <a:gd name="adj1" fmla="val 16200000"/>
              <a:gd name="adj2" fmla="val 10800000"/>
            </a:avLst>
          </a:prstGeom>
          <a:solidFill>
            <a:schemeClr val="tx1"/>
          </a:solidFill>
          <a:ln/>
        </p:spPr>
      </p:sp>
      <p:sp>
        <p:nvSpPr>
          <p:cNvPr id="97" name="Text 95"/>
          <p:cNvSpPr txBox="1"/>
          <p:nvPr/>
        </p:nvSpPr>
        <p:spPr>
          <a:xfrm>
            <a:off x="480060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Strong</a:t>
            </a:r>
            <a:endParaRPr lang="en-US" sz="900" dirty="0"/>
          </a:p>
        </p:txBody>
      </p:sp>
      <p:sp>
        <p:nvSpPr>
          <p:cNvPr id="98" name="Shape 96"/>
          <p:cNvSpPr/>
          <p:nvPr/>
        </p:nvSpPr>
        <p:spPr>
          <a:xfrm>
            <a:off x="5852160" y="5943600"/>
            <a:ext cx="182880" cy="182880"/>
          </a:xfrm>
          <a:prstGeom prst="ellipse">
            <a:avLst/>
          </a:prstGeom>
          <a:solidFill>
            <a:schemeClr val="bg1"/>
          </a:solidFill>
          <a:ln w="12700">
            <a:solidFill>
              <a:schemeClr val="tx1"/>
            </a:solidFill>
            <a:prstDash val="solid"/>
          </a:ln>
        </p:spPr>
      </p:sp>
      <p:sp>
        <p:nvSpPr>
          <p:cNvPr id="99" name="Shape 97"/>
          <p:cNvSpPr/>
          <p:nvPr/>
        </p:nvSpPr>
        <p:spPr>
          <a:xfrm>
            <a:off x="5852160" y="5943600"/>
            <a:ext cx="182880" cy="182880"/>
          </a:xfrm>
          <a:prstGeom prst="ellipse">
            <a:avLst/>
          </a:prstGeom>
          <a:solidFill>
            <a:schemeClr val="tx1"/>
          </a:solidFill>
          <a:ln/>
        </p:spPr>
      </p:sp>
      <p:sp>
        <p:nvSpPr>
          <p:cNvPr id="100" name="Text 98"/>
          <p:cNvSpPr txBox="1"/>
          <p:nvPr/>
        </p:nvSpPr>
        <p:spPr>
          <a:xfrm>
            <a:off x="612648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Best in class</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05 · COMPETITION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profile is broader than the category average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Capability score, 1–10, versus the average of the top four competitors.</a:t>
            </a:r>
            <a:endParaRPr lang="en-US" sz="1150" dirty="0"/>
          </a:p>
        </p:txBody>
      </p:sp>
      <p:sp>
        <p:nvSpPr>
          <p:cNvPr id="6" name="Shape 4"/>
          <p:cNvSpPr/>
          <p:nvPr/>
        </p:nvSpPr>
        <p:spPr>
          <a:xfrm>
            <a:off x="548640" y="1874520"/>
            <a:ext cx="6376492" cy="4160520"/>
          </a:xfrm>
          <a:prstGeom prst="roundRect">
            <a:avLst>
              <a:gd name="adj" fmla="val 2198"/>
            </a:avLst>
          </a:prstGeom>
          <a:solidFill>
            <a:schemeClr val="bg1"/>
          </a:solidFill>
          <a:ln/>
        </p:spPr>
      </p:sp>
      <p:graphicFrame>
        <p:nvGraphicFramePr>
          <p:cNvPr id="7" name="Chart 0" descr=""/>
          <p:cNvGraphicFramePr/>
          <p:nvPr/>
        </p:nvGraphicFramePr>
        <p:xfrm>
          <a:off x="731520" y="1965960"/>
          <a:ext cx="6010732" cy="39776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428052" y="1874520"/>
            <a:ext cx="4215003" cy="1280160"/>
          </a:xfrm>
          <a:prstGeom prst="roundRect">
            <a:avLst>
              <a:gd name="adj" fmla="val 7143"/>
            </a:avLst>
          </a:prstGeom>
          <a:solidFill>
            <a:schemeClr val="bg1"/>
          </a:solidFill>
          <a:ln/>
        </p:spPr>
      </p:sp>
      <p:sp>
        <p:nvSpPr>
          <p:cNvPr id="9" name="Text 6"/>
          <p:cNvSpPr txBox="1"/>
          <p:nvPr/>
        </p:nvSpPr>
        <p:spPr>
          <a:xfrm>
            <a:off x="7702372" y="2057400"/>
            <a:ext cx="1280160" cy="54864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+2.8</a:t>
            </a:r>
            <a:endParaRPr lang="en-US" sz="2800" dirty="0"/>
          </a:p>
        </p:txBody>
      </p:sp>
      <p:sp>
        <p:nvSpPr>
          <p:cNvPr id="10" name="Text 7"/>
          <p:cNvSpPr txBox="1"/>
          <p:nvPr/>
        </p:nvSpPr>
        <p:spPr>
          <a:xfrm>
            <a:off x="9028252" y="2103120"/>
            <a:ext cx="2386203"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Forecasting</a:t>
            </a:r>
            <a:endParaRPr lang="en-US" sz="1300" dirty="0"/>
          </a:p>
        </p:txBody>
      </p:sp>
      <p:sp>
        <p:nvSpPr>
          <p:cNvPr id="11" name="Text 8"/>
          <p:cNvSpPr txBox="1"/>
          <p:nvPr/>
        </p:nvSpPr>
        <p:spPr>
          <a:xfrm>
            <a:off x="9028252" y="2404872"/>
            <a:ext cx="2386203"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Largest lead — our core differentiator.</a:t>
            </a:r>
            <a:endParaRPr lang="en-US" sz="1050" dirty="0"/>
          </a:p>
        </p:txBody>
      </p:sp>
      <p:sp>
        <p:nvSpPr>
          <p:cNvPr id="12" name="Shape 9"/>
          <p:cNvSpPr/>
          <p:nvPr/>
        </p:nvSpPr>
        <p:spPr>
          <a:xfrm>
            <a:off x="7428052" y="3291840"/>
            <a:ext cx="4215003" cy="1280160"/>
          </a:xfrm>
          <a:prstGeom prst="roundRect">
            <a:avLst>
              <a:gd name="adj" fmla="val 7143"/>
            </a:avLst>
          </a:prstGeom>
          <a:solidFill>
            <a:schemeClr val="accent1"/>
          </a:solidFill>
          <a:ln/>
        </p:spPr>
      </p:sp>
      <p:sp>
        <p:nvSpPr>
          <p:cNvPr id="13" name="Text 10"/>
          <p:cNvSpPr txBox="1"/>
          <p:nvPr/>
        </p:nvSpPr>
        <p:spPr>
          <a:xfrm>
            <a:off x="7702372" y="3474720"/>
            <a:ext cx="1280160" cy="54864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+3.6</a:t>
            </a:r>
            <a:endParaRPr lang="en-US" sz="2800" dirty="0"/>
          </a:p>
        </p:txBody>
      </p:sp>
      <p:sp>
        <p:nvSpPr>
          <p:cNvPr id="14" name="Text 11"/>
          <p:cNvSpPr txBox="1"/>
          <p:nvPr/>
        </p:nvSpPr>
        <p:spPr>
          <a:xfrm>
            <a:off x="9028252" y="3520440"/>
            <a:ext cx="2386203"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Pipeline AI</a:t>
            </a:r>
            <a:endParaRPr lang="en-US" sz="1300" dirty="0"/>
          </a:p>
        </p:txBody>
      </p:sp>
      <p:sp>
        <p:nvSpPr>
          <p:cNvPr id="15" name="Text 12"/>
          <p:cNvSpPr txBox="1"/>
          <p:nvPr/>
        </p:nvSpPr>
        <p:spPr>
          <a:xfrm>
            <a:off x="9028252" y="3822192"/>
            <a:ext cx="2386203" cy="548640"/>
          </a:xfrm>
          <a:prstGeom prst="rect">
            <a:avLst/>
          </a:prstGeom>
          <a:noFill/>
          <a:ln/>
        </p:spPr>
        <p:txBody>
          <a:bodyPr wrap="square" lIns="0" tIns="0" rIns="0" bIns="0" rtlCol="0" anchor="t"/>
          <a:lstStyle/>
          <a:p>
            <a:pPr algn="l" indent="0" marL="0">
              <a:lnSpc>
                <a:spcPct val="120000"/>
              </a:lnSpc>
              <a:buNone/>
            </a:pPr>
            <a:r>
              <a:rPr lang="en-US" sz="1050" dirty="0">
                <a:solidFill>
                  <a:schemeClr val="tx1"/>
                </a:solidFill>
                <a:latin typeface="Inter" pitchFamily="34" charset="0"/>
                <a:ea typeface="Inter" pitchFamily="34" charset="-122"/>
                <a:cs typeface="Inter" pitchFamily="34" charset="-120"/>
              </a:rPr>
              <a:t>Only vendor with deal-level explanations.</a:t>
            </a:r>
            <a:endParaRPr lang="en-US" sz="1050" dirty="0"/>
          </a:p>
        </p:txBody>
      </p:sp>
      <p:sp>
        <p:nvSpPr>
          <p:cNvPr id="16" name="Shape 13"/>
          <p:cNvSpPr/>
          <p:nvPr/>
        </p:nvSpPr>
        <p:spPr>
          <a:xfrm>
            <a:off x="7428052" y="4709160"/>
            <a:ext cx="4215003" cy="1280160"/>
          </a:xfrm>
          <a:prstGeom prst="roundRect">
            <a:avLst>
              <a:gd name="adj" fmla="val 7143"/>
            </a:avLst>
          </a:prstGeom>
          <a:solidFill>
            <a:schemeClr val="bg1"/>
          </a:solidFill>
          <a:ln/>
        </p:spPr>
      </p:sp>
      <p:sp>
        <p:nvSpPr>
          <p:cNvPr id="17" name="Text 14"/>
          <p:cNvSpPr txBox="1"/>
          <p:nvPr/>
        </p:nvSpPr>
        <p:spPr>
          <a:xfrm>
            <a:off x="7702372" y="4892040"/>
            <a:ext cx="1280160" cy="54864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−0.4</a:t>
            </a:r>
            <a:endParaRPr lang="en-US" sz="2800" dirty="0"/>
          </a:p>
        </p:txBody>
      </p:sp>
      <p:sp>
        <p:nvSpPr>
          <p:cNvPr id="18" name="Text 15"/>
          <p:cNvSpPr txBox="1"/>
          <p:nvPr/>
        </p:nvSpPr>
        <p:spPr>
          <a:xfrm>
            <a:off x="9028252" y="4937760"/>
            <a:ext cx="2386203"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Integrations</a:t>
            </a:r>
            <a:endParaRPr lang="en-US" sz="1300" dirty="0"/>
          </a:p>
        </p:txBody>
      </p:sp>
      <p:sp>
        <p:nvSpPr>
          <p:cNvPr id="19" name="Text 16"/>
          <p:cNvSpPr txBox="1"/>
          <p:nvPr/>
        </p:nvSpPr>
        <p:spPr>
          <a:xfrm>
            <a:off x="9028252" y="5239512"/>
            <a:ext cx="2386203"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Close the gap with the partner marketplace.</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funnel converts 4.1% of leads into customers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Trailing 12 months. Stage-to-stage conversion shown on the right.</a:t>
            </a:r>
            <a:endParaRPr lang="en-US" sz="1150" dirty="0"/>
          </a:p>
        </p:txBody>
      </p:sp>
      <p:sp>
        <p:nvSpPr>
          <p:cNvPr id="6" name="Shape 4"/>
          <p:cNvSpPr/>
          <p:nvPr/>
        </p:nvSpPr>
        <p:spPr>
          <a:xfrm>
            <a:off x="2824429" y="1874520"/>
            <a:ext cx="7320077" cy="566928"/>
          </a:xfrm>
          <a:prstGeom prst="roundRect">
            <a:avLst>
              <a:gd name="adj" fmla="val 12903"/>
            </a:avLst>
          </a:prstGeom>
          <a:solidFill>
            <a:schemeClr val="tx1"/>
          </a:solidFill>
          <a:ln/>
        </p:spPr>
      </p:sp>
      <p:sp>
        <p:nvSpPr>
          <p:cNvPr id="7" name="Text 5"/>
          <p:cNvSpPr txBox="1"/>
          <p:nvPr/>
        </p:nvSpPr>
        <p:spPr>
          <a:xfrm>
            <a:off x="2824429" y="1874520"/>
            <a:ext cx="7320077"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28,400</a:t>
            </a:r>
            <a:endParaRPr lang="en-US" sz="1600" dirty="0"/>
          </a:p>
        </p:txBody>
      </p:sp>
      <p:sp>
        <p:nvSpPr>
          <p:cNvPr id="8" name="Text 6"/>
          <p:cNvSpPr txBox="1"/>
          <p:nvPr/>
        </p:nvSpPr>
        <p:spPr>
          <a:xfrm>
            <a:off x="548640" y="1874520"/>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Leads</a:t>
            </a:r>
            <a:endParaRPr lang="en-US" sz="1100" dirty="0"/>
          </a:p>
        </p:txBody>
      </p:sp>
      <p:sp>
        <p:nvSpPr>
          <p:cNvPr id="9" name="Shape 7"/>
          <p:cNvSpPr/>
          <p:nvPr/>
        </p:nvSpPr>
        <p:spPr>
          <a:xfrm>
            <a:off x="10180015" y="2203704"/>
            <a:ext cx="228600" cy="0"/>
          </a:xfrm>
          <a:prstGeom prst="line">
            <a:avLst/>
          </a:prstGeom>
          <a:noFill/>
          <a:ln w="9525">
            <a:solidFill>
              <a:schemeClr val="accent4"/>
            </a:solidFill>
            <a:prstDash val="solid"/>
          </a:ln>
        </p:spPr>
      </p:sp>
      <p:sp>
        <p:nvSpPr>
          <p:cNvPr id="10" name="Shape 8"/>
          <p:cNvSpPr/>
          <p:nvPr/>
        </p:nvSpPr>
        <p:spPr>
          <a:xfrm>
            <a:off x="10454335" y="2066544"/>
            <a:ext cx="960120" cy="274320"/>
          </a:xfrm>
          <a:prstGeom prst="roundRect">
            <a:avLst>
              <a:gd name="adj" fmla="val 50000"/>
            </a:avLst>
          </a:prstGeom>
          <a:solidFill>
            <a:schemeClr val="bg2"/>
          </a:solidFill>
          <a:ln/>
        </p:spPr>
      </p:sp>
      <p:sp>
        <p:nvSpPr>
          <p:cNvPr id="11" name="Text 9"/>
          <p:cNvSpPr txBox="1"/>
          <p:nvPr/>
        </p:nvSpPr>
        <p:spPr>
          <a:xfrm>
            <a:off x="10454335" y="2066544"/>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34%</a:t>
            </a:r>
            <a:endParaRPr lang="en-US" sz="900" dirty="0"/>
          </a:p>
        </p:txBody>
      </p:sp>
      <p:sp>
        <p:nvSpPr>
          <p:cNvPr id="12" name="Shape 10"/>
          <p:cNvSpPr/>
          <p:nvPr/>
        </p:nvSpPr>
        <p:spPr>
          <a:xfrm>
            <a:off x="3336981" y="2532888"/>
            <a:ext cx="6294973" cy="566928"/>
          </a:xfrm>
          <a:prstGeom prst="roundRect">
            <a:avLst>
              <a:gd name="adj" fmla="val 12903"/>
            </a:avLst>
          </a:prstGeom>
          <a:solidFill>
            <a:schemeClr val="accent2"/>
          </a:solidFill>
          <a:ln/>
        </p:spPr>
      </p:sp>
      <p:sp>
        <p:nvSpPr>
          <p:cNvPr id="13" name="Text 11"/>
          <p:cNvSpPr txBox="1"/>
          <p:nvPr/>
        </p:nvSpPr>
        <p:spPr>
          <a:xfrm>
            <a:off x="3336981" y="2532888"/>
            <a:ext cx="6294973"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9,650</a:t>
            </a:r>
            <a:endParaRPr lang="en-US" sz="1600" dirty="0"/>
          </a:p>
        </p:txBody>
      </p:sp>
      <p:sp>
        <p:nvSpPr>
          <p:cNvPr id="14" name="Text 12"/>
          <p:cNvSpPr txBox="1"/>
          <p:nvPr/>
        </p:nvSpPr>
        <p:spPr>
          <a:xfrm>
            <a:off x="548640" y="2532888"/>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Marketing qualified</a:t>
            </a:r>
            <a:endParaRPr lang="en-US" sz="1100" dirty="0"/>
          </a:p>
        </p:txBody>
      </p:sp>
      <p:sp>
        <p:nvSpPr>
          <p:cNvPr id="15" name="Shape 13"/>
          <p:cNvSpPr/>
          <p:nvPr/>
        </p:nvSpPr>
        <p:spPr>
          <a:xfrm>
            <a:off x="10180015" y="2862072"/>
            <a:ext cx="228600" cy="0"/>
          </a:xfrm>
          <a:prstGeom prst="line">
            <a:avLst/>
          </a:prstGeom>
          <a:noFill/>
          <a:ln w="9525">
            <a:solidFill>
              <a:schemeClr val="accent4"/>
            </a:solidFill>
            <a:prstDash val="solid"/>
          </a:ln>
        </p:spPr>
      </p:sp>
      <p:sp>
        <p:nvSpPr>
          <p:cNvPr id="16" name="Shape 14"/>
          <p:cNvSpPr/>
          <p:nvPr/>
        </p:nvSpPr>
        <p:spPr>
          <a:xfrm>
            <a:off x="10454335" y="2724912"/>
            <a:ext cx="960120" cy="274320"/>
          </a:xfrm>
          <a:prstGeom prst="roundRect">
            <a:avLst>
              <a:gd name="adj" fmla="val 50000"/>
            </a:avLst>
          </a:prstGeom>
          <a:solidFill>
            <a:schemeClr val="accent1"/>
          </a:solidFill>
          <a:ln/>
        </p:spPr>
      </p:sp>
      <p:sp>
        <p:nvSpPr>
          <p:cNvPr id="17" name="Text 15"/>
          <p:cNvSpPr txBox="1"/>
          <p:nvPr/>
        </p:nvSpPr>
        <p:spPr>
          <a:xfrm>
            <a:off x="10454335" y="2724912"/>
            <a:ext cx="9601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 36%</a:t>
            </a:r>
            <a:endParaRPr lang="en-US" sz="900" dirty="0"/>
          </a:p>
        </p:txBody>
      </p:sp>
      <p:sp>
        <p:nvSpPr>
          <p:cNvPr id="18" name="Shape 16"/>
          <p:cNvSpPr/>
          <p:nvPr/>
        </p:nvSpPr>
        <p:spPr>
          <a:xfrm>
            <a:off x="3849533" y="3191256"/>
            <a:ext cx="5269870" cy="566928"/>
          </a:xfrm>
          <a:prstGeom prst="roundRect">
            <a:avLst>
              <a:gd name="adj" fmla="val 12903"/>
            </a:avLst>
          </a:prstGeom>
          <a:solidFill>
            <a:schemeClr val="tx1"/>
          </a:solidFill>
          <a:ln/>
        </p:spPr>
      </p:sp>
      <p:sp>
        <p:nvSpPr>
          <p:cNvPr id="19" name="Text 17"/>
          <p:cNvSpPr txBox="1"/>
          <p:nvPr/>
        </p:nvSpPr>
        <p:spPr>
          <a:xfrm>
            <a:off x="3849533" y="3191256"/>
            <a:ext cx="5269870"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3,480</a:t>
            </a:r>
            <a:endParaRPr lang="en-US" sz="1600" dirty="0"/>
          </a:p>
        </p:txBody>
      </p:sp>
      <p:sp>
        <p:nvSpPr>
          <p:cNvPr id="20" name="Text 18"/>
          <p:cNvSpPr txBox="1"/>
          <p:nvPr/>
        </p:nvSpPr>
        <p:spPr>
          <a:xfrm>
            <a:off x="548640" y="3191256"/>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Sales qualified</a:t>
            </a:r>
            <a:endParaRPr lang="en-US" sz="1100" dirty="0"/>
          </a:p>
        </p:txBody>
      </p:sp>
      <p:sp>
        <p:nvSpPr>
          <p:cNvPr id="21" name="Shape 19"/>
          <p:cNvSpPr/>
          <p:nvPr/>
        </p:nvSpPr>
        <p:spPr>
          <a:xfrm>
            <a:off x="10180015" y="3520440"/>
            <a:ext cx="228600" cy="0"/>
          </a:xfrm>
          <a:prstGeom prst="line">
            <a:avLst/>
          </a:prstGeom>
          <a:noFill/>
          <a:ln w="9525">
            <a:solidFill>
              <a:schemeClr val="accent4"/>
            </a:solidFill>
            <a:prstDash val="solid"/>
          </a:ln>
        </p:spPr>
      </p:sp>
      <p:sp>
        <p:nvSpPr>
          <p:cNvPr id="22" name="Shape 20"/>
          <p:cNvSpPr/>
          <p:nvPr/>
        </p:nvSpPr>
        <p:spPr>
          <a:xfrm>
            <a:off x="10454335" y="3383280"/>
            <a:ext cx="960120" cy="274320"/>
          </a:xfrm>
          <a:prstGeom prst="roundRect">
            <a:avLst>
              <a:gd name="adj" fmla="val 50000"/>
            </a:avLst>
          </a:prstGeom>
          <a:solidFill>
            <a:schemeClr val="bg2"/>
          </a:solidFill>
          <a:ln/>
        </p:spPr>
      </p:sp>
      <p:sp>
        <p:nvSpPr>
          <p:cNvPr id="23" name="Text 21"/>
          <p:cNvSpPr txBox="1"/>
          <p:nvPr/>
        </p:nvSpPr>
        <p:spPr>
          <a:xfrm>
            <a:off x="10454335" y="3383280"/>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63%</a:t>
            </a:r>
            <a:endParaRPr lang="en-US" sz="900" dirty="0"/>
          </a:p>
        </p:txBody>
      </p:sp>
      <p:sp>
        <p:nvSpPr>
          <p:cNvPr id="24" name="Shape 22"/>
          <p:cNvSpPr/>
          <p:nvPr/>
        </p:nvSpPr>
        <p:spPr>
          <a:xfrm>
            <a:off x="4362084" y="3849624"/>
            <a:ext cx="4244767" cy="566928"/>
          </a:xfrm>
          <a:prstGeom prst="roundRect">
            <a:avLst>
              <a:gd name="adj" fmla="val 12903"/>
            </a:avLst>
          </a:prstGeom>
          <a:solidFill>
            <a:schemeClr val="accent2"/>
          </a:solidFill>
          <a:ln/>
        </p:spPr>
      </p:sp>
      <p:sp>
        <p:nvSpPr>
          <p:cNvPr id="25" name="Text 23"/>
          <p:cNvSpPr txBox="1"/>
          <p:nvPr/>
        </p:nvSpPr>
        <p:spPr>
          <a:xfrm>
            <a:off x="4362084" y="3849624"/>
            <a:ext cx="4244767"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2,190</a:t>
            </a:r>
            <a:endParaRPr lang="en-US" sz="1600" dirty="0"/>
          </a:p>
        </p:txBody>
      </p:sp>
      <p:sp>
        <p:nvSpPr>
          <p:cNvPr id="26" name="Text 24"/>
          <p:cNvSpPr txBox="1"/>
          <p:nvPr/>
        </p:nvSpPr>
        <p:spPr>
          <a:xfrm>
            <a:off x="548640" y="3849624"/>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Opportunities</a:t>
            </a:r>
            <a:endParaRPr lang="en-US" sz="1100" dirty="0"/>
          </a:p>
        </p:txBody>
      </p:sp>
      <p:sp>
        <p:nvSpPr>
          <p:cNvPr id="27" name="Shape 25"/>
          <p:cNvSpPr/>
          <p:nvPr/>
        </p:nvSpPr>
        <p:spPr>
          <a:xfrm>
            <a:off x="10180015" y="4178808"/>
            <a:ext cx="228600" cy="0"/>
          </a:xfrm>
          <a:prstGeom prst="line">
            <a:avLst/>
          </a:prstGeom>
          <a:noFill/>
          <a:ln w="9525">
            <a:solidFill>
              <a:schemeClr val="accent4"/>
            </a:solidFill>
            <a:prstDash val="solid"/>
          </a:ln>
        </p:spPr>
      </p:sp>
      <p:sp>
        <p:nvSpPr>
          <p:cNvPr id="28" name="Shape 26"/>
          <p:cNvSpPr/>
          <p:nvPr/>
        </p:nvSpPr>
        <p:spPr>
          <a:xfrm>
            <a:off x="10454335" y="4041648"/>
            <a:ext cx="960120" cy="274320"/>
          </a:xfrm>
          <a:prstGeom prst="roundRect">
            <a:avLst>
              <a:gd name="adj" fmla="val 50000"/>
            </a:avLst>
          </a:prstGeom>
          <a:solidFill>
            <a:schemeClr val="bg2"/>
          </a:solidFill>
          <a:ln/>
        </p:spPr>
      </p:sp>
      <p:sp>
        <p:nvSpPr>
          <p:cNvPr id="29" name="Text 27"/>
          <p:cNvSpPr txBox="1"/>
          <p:nvPr/>
        </p:nvSpPr>
        <p:spPr>
          <a:xfrm>
            <a:off x="10454335" y="4041648"/>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75%</a:t>
            </a:r>
            <a:endParaRPr lang="en-US" sz="900" dirty="0"/>
          </a:p>
        </p:txBody>
      </p:sp>
      <p:sp>
        <p:nvSpPr>
          <p:cNvPr id="30" name="Shape 28"/>
          <p:cNvSpPr/>
          <p:nvPr/>
        </p:nvSpPr>
        <p:spPr>
          <a:xfrm>
            <a:off x="4874636" y="4507992"/>
            <a:ext cx="3219663" cy="566928"/>
          </a:xfrm>
          <a:prstGeom prst="roundRect">
            <a:avLst>
              <a:gd name="adj" fmla="val 12903"/>
            </a:avLst>
          </a:prstGeom>
          <a:solidFill>
            <a:schemeClr val="tx1"/>
          </a:solidFill>
          <a:ln/>
        </p:spPr>
      </p:sp>
      <p:sp>
        <p:nvSpPr>
          <p:cNvPr id="31" name="Text 29"/>
          <p:cNvSpPr txBox="1"/>
          <p:nvPr/>
        </p:nvSpPr>
        <p:spPr>
          <a:xfrm>
            <a:off x="4874636" y="4507992"/>
            <a:ext cx="3219663"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1,640</a:t>
            </a:r>
            <a:endParaRPr lang="en-US" sz="1600" dirty="0"/>
          </a:p>
        </p:txBody>
      </p:sp>
      <p:sp>
        <p:nvSpPr>
          <p:cNvPr id="32" name="Text 30"/>
          <p:cNvSpPr txBox="1"/>
          <p:nvPr/>
        </p:nvSpPr>
        <p:spPr>
          <a:xfrm>
            <a:off x="548640" y="4507992"/>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Proposals</a:t>
            </a:r>
            <a:endParaRPr lang="en-US" sz="1100" dirty="0"/>
          </a:p>
        </p:txBody>
      </p:sp>
      <p:sp>
        <p:nvSpPr>
          <p:cNvPr id="33" name="Shape 31"/>
          <p:cNvSpPr/>
          <p:nvPr/>
        </p:nvSpPr>
        <p:spPr>
          <a:xfrm>
            <a:off x="10180015" y="4837176"/>
            <a:ext cx="228600" cy="0"/>
          </a:xfrm>
          <a:prstGeom prst="line">
            <a:avLst/>
          </a:prstGeom>
          <a:noFill/>
          <a:ln w="9525">
            <a:solidFill>
              <a:schemeClr val="accent4"/>
            </a:solidFill>
            <a:prstDash val="solid"/>
          </a:ln>
        </p:spPr>
      </p:sp>
      <p:sp>
        <p:nvSpPr>
          <p:cNvPr id="34" name="Shape 32"/>
          <p:cNvSpPr/>
          <p:nvPr/>
        </p:nvSpPr>
        <p:spPr>
          <a:xfrm>
            <a:off x="10454335" y="4700016"/>
            <a:ext cx="960120" cy="274320"/>
          </a:xfrm>
          <a:prstGeom prst="roundRect">
            <a:avLst>
              <a:gd name="adj" fmla="val 50000"/>
            </a:avLst>
          </a:prstGeom>
          <a:solidFill>
            <a:schemeClr val="bg2"/>
          </a:solidFill>
          <a:ln/>
        </p:spPr>
      </p:sp>
      <p:sp>
        <p:nvSpPr>
          <p:cNvPr id="35" name="Text 33"/>
          <p:cNvSpPr txBox="1"/>
          <p:nvPr/>
        </p:nvSpPr>
        <p:spPr>
          <a:xfrm>
            <a:off x="10454335" y="4700016"/>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71%</a:t>
            </a:r>
            <a:endParaRPr lang="en-US" sz="900" dirty="0"/>
          </a:p>
        </p:txBody>
      </p:sp>
      <p:sp>
        <p:nvSpPr>
          <p:cNvPr id="36" name="Shape 34"/>
          <p:cNvSpPr/>
          <p:nvPr/>
        </p:nvSpPr>
        <p:spPr>
          <a:xfrm>
            <a:off x="5387188" y="5166360"/>
            <a:ext cx="2194560" cy="566928"/>
          </a:xfrm>
          <a:prstGeom prst="roundRect">
            <a:avLst>
              <a:gd name="adj" fmla="val 12903"/>
            </a:avLst>
          </a:prstGeom>
          <a:solidFill>
            <a:schemeClr val="accent1"/>
          </a:solidFill>
          <a:ln/>
        </p:spPr>
      </p:sp>
      <p:sp>
        <p:nvSpPr>
          <p:cNvPr id="37" name="Text 35"/>
          <p:cNvSpPr txBox="1"/>
          <p:nvPr/>
        </p:nvSpPr>
        <p:spPr>
          <a:xfrm>
            <a:off x="5387188" y="5166360"/>
            <a:ext cx="2194560" cy="566928"/>
          </a:xfrm>
          <a:prstGeom prst="rect">
            <a:avLst/>
          </a:prstGeom>
          <a:noFill/>
          <a:ln/>
        </p:spPr>
        <p:txBody>
          <a:bodyPr wrap="square" lIns="0" tIns="0" rIns="0" bIns="0" rtlCol="0" anchor="ctr"/>
          <a:lstStyle/>
          <a:p>
            <a:pPr algn="ctr" indent="0" marL="0">
              <a:buNone/>
            </a:pPr>
            <a:r>
              <a:rPr lang="en-US" sz="1600" dirty="0">
                <a:solidFill>
                  <a:schemeClr val="tx1"/>
                </a:solidFill>
                <a:latin typeface="Manrope ExtraBold" pitchFamily="34" charset="0"/>
                <a:ea typeface="Manrope ExtraBold" pitchFamily="34" charset="-122"/>
                <a:cs typeface="Manrope ExtraBold" pitchFamily="34" charset="-120"/>
              </a:rPr>
              <a:t>1,165</a:t>
            </a:r>
            <a:endParaRPr lang="en-US" sz="1600" dirty="0"/>
          </a:p>
        </p:txBody>
      </p:sp>
      <p:sp>
        <p:nvSpPr>
          <p:cNvPr id="38" name="Text 36"/>
          <p:cNvSpPr txBox="1"/>
          <p:nvPr/>
        </p:nvSpPr>
        <p:spPr>
          <a:xfrm>
            <a:off x="548640" y="5166360"/>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Closed won</a:t>
            </a:r>
            <a:endParaRPr lang="en-US" sz="1100" dirty="0"/>
          </a:p>
        </p:txBody>
      </p:sp>
      <p:sp>
        <p:nvSpPr>
          <p:cNvPr id="39" name="Text 37"/>
          <p:cNvSpPr txBox="1"/>
          <p:nvPr/>
        </p:nvSpPr>
        <p:spPr>
          <a:xfrm>
            <a:off x="8625535" y="5989320"/>
            <a:ext cx="3017520" cy="228600"/>
          </a:xfrm>
          <a:prstGeom prst="rect">
            <a:avLst/>
          </a:prstGeom>
          <a:noFill/>
          <a:ln/>
        </p:spPr>
        <p:txBody>
          <a:bodyPr wrap="square" lIns="0" tIns="0" rIns="0" bIns="0" rtlCol="0" anchor="t"/>
          <a:lstStyle/>
          <a:p>
            <a:pPr algn="r" indent="0" marL="0">
              <a:buNone/>
            </a:pPr>
            <a:r>
              <a:rPr lang="en-US" sz="950" dirty="0">
                <a:solidFill>
                  <a:schemeClr val="accent6"/>
                </a:solidFill>
                <a:latin typeface="Inter Medium" pitchFamily="34" charset="0"/>
                <a:ea typeface="Inter Medium" pitchFamily="34" charset="-122"/>
                <a:cs typeface="Inter Medium" pitchFamily="34" charset="-120"/>
              </a:rPr>
              <a:t>Biggest drop-off: MQL → SQL</a:t>
            </a:r>
            <a:endParaRPr lang="en-US" sz="9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$31.4M in open pipeline gives us 3.2× coverage for the fourth quarter</a:t>
            </a:r>
            <a:endParaRPr lang="en-US" sz="2800" dirty="0"/>
          </a:p>
        </p:txBody>
      </p:sp>
      <p:sp>
        <p:nvSpPr>
          <p:cNvPr id="5" name="Shape 3"/>
          <p:cNvSpPr/>
          <p:nvPr/>
        </p:nvSpPr>
        <p:spPr>
          <a:xfrm>
            <a:off x="548640" y="1874520"/>
            <a:ext cx="2072579" cy="4160520"/>
          </a:xfrm>
          <a:prstGeom prst="roundRect">
            <a:avLst>
              <a:gd name="adj" fmla="val 4412"/>
            </a:avLst>
          </a:prstGeom>
          <a:solidFill>
            <a:schemeClr val="bg1"/>
          </a:solidFill>
          <a:ln/>
        </p:spPr>
      </p:sp>
      <p:sp>
        <p:nvSpPr>
          <p:cNvPr id="6" name="Text 4"/>
          <p:cNvSpPr txBox="1"/>
          <p:nvPr/>
        </p:nvSpPr>
        <p:spPr>
          <a:xfrm>
            <a:off x="731520"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Discovery</a:t>
            </a:r>
            <a:endParaRPr lang="en-US" sz="1250" dirty="0"/>
          </a:p>
        </p:txBody>
      </p:sp>
      <p:sp>
        <p:nvSpPr>
          <p:cNvPr id="7" name="Shape 5"/>
          <p:cNvSpPr/>
          <p:nvPr/>
        </p:nvSpPr>
        <p:spPr>
          <a:xfrm>
            <a:off x="1935419" y="2057400"/>
            <a:ext cx="502920" cy="237744"/>
          </a:xfrm>
          <a:prstGeom prst="roundRect">
            <a:avLst>
              <a:gd name="adj" fmla="val 50000"/>
            </a:avLst>
          </a:prstGeom>
          <a:solidFill>
            <a:schemeClr val="bg2"/>
          </a:solidFill>
          <a:ln/>
        </p:spPr>
      </p:sp>
      <p:sp>
        <p:nvSpPr>
          <p:cNvPr id="8" name="Text 6"/>
          <p:cNvSpPr txBox="1"/>
          <p:nvPr/>
        </p:nvSpPr>
        <p:spPr>
          <a:xfrm>
            <a:off x="1935419"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42</a:t>
            </a:r>
            <a:endParaRPr lang="en-US" sz="900" dirty="0"/>
          </a:p>
        </p:txBody>
      </p:sp>
      <p:sp>
        <p:nvSpPr>
          <p:cNvPr id="9" name="Text 7"/>
          <p:cNvSpPr txBox="1"/>
          <p:nvPr/>
        </p:nvSpPr>
        <p:spPr>
          <a:xfrm>
            <a:off x="731520"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$9.8M</a:t>
            </a:r>
            <a:endParaRPr lang="en-US" sz="2200" dirty="0"/>
          </a:p>
        </p:txBody>
      </p:sp>
      <p:sp>
        <p:nvSpPr>
          <p:cNvPr id="10" name="Shape 8"/>
          <p:cNvSpPr/>
          <p:nvPr/>
        </p:nvSpPr>
        <p:spPr>
          <a:xfrm>
            <a:off x="731520" y="2971800"/>
            <a:ext cx="1706819" cy="54864"/>
          </a:xfrm>
          <a:prstGeom prst="roundRect">
            <a:avLst>
              <a:gd name="adj" fmla="val 50000"/>
            </a:avLst>
          </a:prstGeom>
          <a:solidFill>
            <a:schemeClr val="bg2"/>
          </a:solidFill>
          <a:ln/>
        </p:spPr>
      </p:sp>
      <p:sp>
        <p:nvSpPr>
          <p:cNvPr id="11" name="Shape 9"/>
          <p:cNvSpPr/>
          <p:nvPr/>
        </p:nvSpPr>
        <p:spPr>
          <a:xfrm>
            <a:off x="731520" y="2971800"/>
            <a:ext cx="341364" cy="54864"/>
          </a:xfrm>
          <a:prstGeom prst="roundRect">
            <a:avLst>
              <a:gd name="adj" fmla="val 50000"/>
            </a:avLst>
          </a:prstGeom>
          <a:solidFill>
            <a:schemeClr val="tx1"/>
          </a:solidFill>
          <a:ln/>
        </p:spPr>
      </p:sp>
      <p:sp>
        <p:nvSpPr>
          <p:cNvPr id="12" name="Shape 10"/>
          <p:cNvSpPr/>
          <p:nvPr/>
        </p:nvSpPr>
        <p:spPr>
          <a:xfrm>
            <a:off x="685800" y="3246120"/>
            <a:ext cx="1798259" cy="868680"/>
          </a:xfrm>
          <a:prstGeom prst="roundRect">
            <a:avLst>
              <a:gd name="adj" fmla="val 8421"/>
            </a:avLst>
          </a:prstGeom>
          <a:solidFill>
            <a:schemeClr val="bg2"/>
          </a:solidFill>
          <a:ln/>
        </p:spPr>
      </p:sp>
      <p:sp>
        <p:nvSpPr>
          <p:cNvPr id="13" name="Text 11"/>
          <p:cNvSpPr txBox="1"/>
          <p:nvPr/>
        </p:nvSpPr>
        <p:spPr>
          <a:xfrm>
            <a:off x="822960"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Northwind Logistics</a:t>
            </a:r>
            <a:endParaRPr lang="en-US" sz="1050" dirty="0"/>
          </a:p>
        </p:txBody>
      </p:sp>
      <p:sp>
        <p:nvSpPr>
          <p:cNvPr id="14" name="Text 12"/>
          <p:cNvSpPr txBox="1"/>
          <p:nvPr/>
        </p:nvSpPr>
        <p:spPr>
          <a:xfrm>
            <a:off x="822960"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$420K</a:t>
            </a:r>
            <a:endParaRPr lang="en-US" sz="1100" dirty="0"/>
          </a:p>
        </p:txBody>
      </p:sp>
      <p:sp>
        <p:nvSpPr>
          <p:cNvPr id="15" name="Text 13"/>
          <p:cNvSpPr txBox="1"/>
          <p:nvPr/>
        </p:nvSpPr>
        <p:spPr>
          <a:xfrm>
            <a:off x="1295339"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16" name="Shape 14"/>
          <p:cNvSpPr/>
          <p:nvPr/>
        </p:nvSpPr>
        <p:spPr>
          <a:xfrm>
            <a:off x="685800" y="4251960"/>
            <a:ext cx="1798259" cy="868680"/>
          </a:xfrm>
          <a:prstGeom prst="roundRect">
            <a:avLst>
              <a:gd name="adj" fmla="val 8421"/>
            </a:avLst>
          </a:prstGeom>
          <a:solidFill>
            <a:schemeClr val="bg2"/>
          </a:solidFill>
          <a:ln/>
        </p:spPr>
      </p:sp>
      <p:sp>
        <p:nvSpPr>
          <p:cNvPr id="17" name="Text 15"/>
          <p:cNvSpPr txBox="1"/>
          <p:nvPr/>
        </p:nvSpPr>
        <p:spPr>
          <a:xfrm>
            <a:off x="822960"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Helix Bio</a:t>
            </a:r>
            <a:endParaRPr lang="en-US" sz="1050" dirty="0"/>
          </a:p>
        </p:txBody>
      </p:sp>
      <p:sp>
        <p:nvSpPr>
          <p:cNvPr id="18" name="Text 16"/>
          <p:cNvSpPr txBox="1"/>
          <p:nvPr/>
        </p:nvSpPr>
        <p:spPr>
          <a:xfrm>
            <a:off x="822960"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$180K</a:t>
            </a:r>
            <a:endParaRPr lang="en-US" sz="1100" dirty="0"/>
          </a:p>
        </p:txBody>
      </p:sp>
      <p:sp>
        <p:nvSpPr>
          <p:cNvPr id="19" name="Text 17"/>
          <p:cNvSpPr txBox="1"/>
          <p:nvPr/>
        </p:nvSpPr>
        <p:spPr>
          <a:xfrm>
            <a:off x="1295339"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Mid-market</a:t>
            </a:r>
            <a:endParaRPr lang="en-US" sz="900" dirty="0"/>
          </a:p>
        </p:txBody>
      </p:sp>
      <p:sp>
        <p:nvSpPr>
          <p:cNvPr id="20" name="Text 18"/>
          <p:cNvSpPr txBox="1"/>
          <p:nvPr/>
        </p:nvSpPr>
        <p:spPr>
          <a:xfrm>
            <a:off x="731520"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+ 40 more deals</a:t>
            </a:r>
            <a:endParaRPr lang="en-US" sz="950" dirty="0"/>
          </a:p>
        </p:txBody>
      </p:sp>
      <p:sp>
        <p:nvSpPr>
          <p:cNvPr id="21" name="Shape 19"/>
          <p:cNvSpPr/>
          <p:nvPr/>
        </p:nvSpPr>
        <p:spPr>
          <a:xfrm>
            <a:off x="2804099" y="1874520"/>
            <a:ext cx="2072579" cy="4160520"/>
          </a:xfrm>
          <a:prstGeom prst="roundRect">
            <a:avLst>
              <a:gd name="adj" fmla="val 4412"/>
            </a:avLst>
          </a:prstGeom>
          <a:solidFill>
            <a:schemeClr val="bg1"/>
          </a:solidFill>
          <a:ln/>
        </p:spPr>
      </p:sp>
      <p:sp>
        <p:nvSpPr>
          <p:cNvPr id="22" name="Text 20"/>
          <p:cNvSpPr txBox="1"/>
          <p:nvPr/>
        </p:nvSpPr>
        <p:spPr>
          <a:xfrm>
            <a:off x="2986979"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Solution fit</a:t>
            </a:r>
            <a:endParaRPr lang="en-US" sz="1250" dirty="0"/>
          </a:p>
        </p:txBody>
      </p:sp>
      <p:sp>
        <p:nvSpPr>
          <p:cNvPr id="23" name="Shape 21"/>
          <p:cNvSpPr/>
          <p:nvPr/>
        </p:nvSpPr>
        <p:spPr>
          <a:xfrm>
            <a:off x="4190878" y="2057400"/>
            <a:ext cx="502920" cy="237744"/>
          </a:xfrm>
          <a:prstGeom prst="roundRect">
            <a:avLst>
              <a:gd name="adj" fmla="val 50000"/>
            </a:avLst>
          </a:prstGeom>
          <a:solidFill>
            <a:schemeClr val="bg2"/>
          </a:solidFill>
          <a:ln/>
        </p:spPr>
      </p:sp>
      <p:sp>
        <p:nvSpPr>
          <p:cNvPr id="24" name="Text 22"/>
          <p:cNvSpPr txBox="1"/>
          <p:nvPr/>
        </p:nvSpPr>
        <p:spPr>
          <a:xfrm>
            <a:off x="4190878"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28</a:t>
            </a:r>
            <a:endParaRPr lang="en-US" sz="900" dirty="0"/>
          </a:p>
        </p:txBody>
      </p:sp>
      <p:sp>
        <p:nvSpPr>
          <p:cNvPr id="25" name="Text 23"/>
          <p:cNvSpPr txBox="1"/>
          <p:nvPr/>
        </p:nvSpPr>
        <p:spPr>
          <a:xfrm>
            <a:off x="2986979"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$8.1M</a:t>
            </a:r>
            <a:endParaRPr lang="en-US" sz="2200" dirty="0"/>
          </a:p>
        </p:txBody>
      </p:sp>
      <p:sp>
        <p:nvSpPr>
          <p:cNvPr id="26" name="Shape 24"/>
          <p:cNvSpPr/>
          <p:nvPr/>
        </p:nvSpPr>
        <p:spPr>
          <a:xfrm>
            <a:off x="2986979" y="2971800"/>
            <a:ext cx="1706819" cy="54864"/>
          </a:xfrm>
          <a:prstGeom prst="roundRect">
            <a:avLst>
              <a:gd name="adj" fmla="val 50000"/>
            </a:avLst>
          </a:prstGeom>
          <a:solidFill>
            <a:schemeClr val="bg2"/>
          </a:solidFill>
          <a:ln/>
        </p:spPr>
      </p:sp>
      <p:sp>
        <p:nvSpPr>
          <p:cNvPr id="27" name="Shape 25"/>
          <p:cNvSpPr/>
          <p:nvPr/>
        </p:nvSpPr>
        <p:spPr>
          <a:xfrm>
            <a:off x="2986979" y="2971800"/>
            <a:ext cx="682728" cy="54864"/>
          </a:xfrm>
          <a:prstGeom prst="roundRect">
            <a:avLst>
              <a:gd name="adj" fmla="val 50000"/>
            </a:avLst>
          </a:prstGeom>
          <a:solidFill>
            <a:schemeClr val="tx1"/>
          </a:solidFill>
          <a:ln/>
        </p:spPr>
      </p:sp>
      <p:sp>
        <p:nvSpPr>
          <p:cNvPr id="28" name="Shape 26"/>
          <p:cNvSpPr/>
          <p:nvPr/>
        </p:nvSpPr>
        <p:spPr>
          <a:xfrm>
            <a:off x="2941259" y="3246120"/>
            <a:ext cx="1798259" cy="868680"/>
          </a:xfrm>
          <a:prstGeom prst="roundRect">
            <a:avLst>
              <a:gd name="adj" fmla="val 8421"/>
            </a:avLst>
          </a:prstGeom>
          <a:solidFill>
            <a:schemeClr val="bg2"/>
          </a:solidFill>
          <a:ln/>
        </p:spPr>
      </p:sp>
      <p:sp>
        <p:nvSpPr>
          <p:cNvPr id="29" name="Text 27"/>
          <p:cNvSpPr txBox="1"/>
          <p:nvPr/>
        </p:nvSpPr>
        <p:spPr>
          <a:xfrm>
            <a:off x="3078419"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Atlas Foods</a:t>
            </a:r>
            <a:endParaRPr lang="en-US" sz="1050" dirty="0"/>
          </a:p>
        </p:txBody>
      </p:sp>
      <p:sp>
        <p:nvSpPr>
          <p:cNvPr id="30" name="Text 28"/>
          <p:cNvSpPr txBox="1"/>
          <p:nvPr/>
        </p:nvSpPr>
        <p:spPr>
          <a:xfrm>
            <a:off x="3078419"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$310K</a:t>
            </a:r>
            <a:endParaRPr lang="en-US" sz="1100" dirty="0"/>
          </a:p>
        </p:txBody>
      </p:sp>
      <p:sp>
        <p:nvSpPr>
          <p:cNvPr id="31" name="Text 29"/>
          <p:cNvSpPr txBox="1"/>
          <p:nvPr/>
        </p:nvSpPr>
        <p:spPr>
          <a:xfrm>
            <a:off x="3550798"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Mid-market</a:t>
            </a:r>
            <a:endParaRPr lang="en-US" sz="900" dirty="0"/>
          </a:p>
        </p:txBody>
      </p:sp>
      <p:sp>
        <p:nvSpPr>
          <p:cNvPr id="32" name="Shape 30"/>
          <p:cNvSpPr/>
          <p:nvPr/>
        </p:nvSpPr>
        <p:spPr>
          <a:xfrm>
            <a:off x="2941259" y="4251960"/>
            <a:ext cx="1798259" cy="868680"/>
          </a:xfrm>
          <a:prstGeom prst="roundRect">
            <a:avLst>
              <a:gd name="adj" fmla="val 8421"/>
            </a:avLst>
          </a:prstGeom>
          <a:solidFill>
            <a:schemeClr val="bg2"/>
          </a:solidFill>
          <a:ln/>
        </p:spPr>
      </p:sp>
      <p:sp>
        <p:nvSpPr>
          <p:cNvPr id="33" name="Text 31"/>
          <p:cNvSpPr txBox="1"/>
          <p:nvPr/>
        </p:nvSpPr>
        <p:spPr>
          <a:xfrm>
            <a:off x="3078419"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Kestrel Energy</a:t>
            </a:r>
            <a:endParaRPr lang="en-US" sz="1050" dirty="0"/>
          </a:p>
        </p:txBody>
      </p:sp>
      <p:sp>
        <p:nvSpPr>
          <p:cNvPr id="34" name="Text 32"/>
          <p:cNvSpPr txBox="1"/>
          <p:nvPr/>
        </p:nvSpPr>
        <p:spPr>
          <a:xfrm>
            <a:off x="3078419"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$260K</a:t>
            </a:r>
            <a:endParaRPr lang="en-US" sz="1100" dirty="0"/>
          </a:p>
        </p:txBody>
      </p:sp>
      <p:sp>
        <p:nvSpPr>
          <p:cNvPr id="35" name="Text 33"/>
          <p:cNvSpPr txBox="1"/>
          <p:nvPr/>
        </p:nvSpPr>
        <p:spPr>
          <a:xfrm>
            <a:off x="3550798"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36" name="Text 34"/>
          <p:cNvSpPr txBox="1"/>
          <p:nvPr/>
        </p:nvSpPr>
        <p:spPr>
          <a:xfrm>
            <a:off x="2986979"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+ 26 more deals</a:t>
            </a:r>
            <a:endParaRPr lang="en-US" sz="950" dirty="0"/>
          </a:p>
        </p:txBody>
      </p:sp>
      <p:sp>
        <p:nvSpPr>
          <p:cNvPr id="37" name="Shape 35"/>
          <p:cNvSpPr/>
          <p:nvPr/>
        </p:nvSpPr>
        <p:spPr>
          <a:xfrm>
            <a:off x="5059558" y="1874520"/>
            <a:ext cx="2072579" cy="4160520"/>
          </a:xfrm>
          <a:prstGeom prst="roundRect">
            <a:avLst>
              <a:gd name="adj" fmla="val 4412"/>
            </a:avLst>
          </a:prstGeom>
          <a:solidFill>
            <a:schemeClr val="bg1"/>
          </a:solidFill>
          <a:ln/>
        </p:spPr>
      </p:sp>
      <p:sp>
        <p:nvSpPr>
          <p:cNvPr id="38" name="Text 36"/>
          <p:cNvSpPr txBox="1"/>
          <p:nvPr/>
        </p:nvSpPr>
        <p:spPr>
          <a:xfrm>
            <a:off x="5242438"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Proposal</a:t>
            </a:r>
            <a:endParaRPr lang="en-US" sz="1250" dirty="0"/>
          </a:p>
        </p:txBody>
      </p:sp>
      <p:sp>
        <p:nvSpPr>
          <p:cNvPr id="39" name="Shape 37"/>
          <p:cNvSpPr/>
          <p:nvPr/>
        </p:nvSpPr>
        <p:spPr>
          <a:xfrm>
            <a:off x="6446337" y="2057400"/>
            <a:ext cx="502920" cy="237744"/>
          </a:xfrm>
          <a:prstGeom prst="roundRect">
            <a:avLst>
              <a:gd name="adj" fmla="val 50000"/>
            </a:avLst>
          </a:prstGeom>
          <a:solidFill>
            <a:schemeClr val="bg2"/>
          </a:solidFill>
          <a:ln/>
        </p:spPr>
      </p:sp>
      <p:sp>
        <p:nvSpPr>
          <p:cNvPr id="40" name="Text 38"/>
          <p:cNvSpPr txBox="1"/>
          <p:nvPr/>
        </p:nvSpPr>
        <p:spPr>
          <a:xfrm>
            <a:off x="6446337"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19</a:t>
            </a:r>
            <a:endParaRPr lang="en-US" sz="900" dirty="0"/>
          </a:p>
        </p:txBody>
      </p:sp>
      <p:sp>
        <p:nvSpPr>
          <p:cNvPr id="41" name="Text 39"/>
          <p:cNvSpPr txBox="1"/>
          <p:nvPr/>
        </p:nvSpPr>
        <p:spPr>
          <a:xfrm>
            <a:off x="5242438"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$6.9M</a:t>
            </a:r>
            <a:endParaRPr lang="en-US" sz="2200" dirty="0"/>
          </a:p>
        </p:txBody>
      </p:sp>
      <p:sp>
        <p:nvSpPr>
          <p:cNvPr id="42" name="Shape 40"/>
          <p:cNvSpPr/>
          <p:nvPr/>
        </p:nvSpPr>
        <p:spPr>
          <a:xfrm>
            <a:off x="5242438" y="2971800"/>
            <a:ext cx="1706819" cy="54864"/>
          </a:xfrm>
          <a:prstGeom prst="roundRect">
            <a:avLst>
              <a:gd name="adj" fmla="val 50000"/>
            </a:avLst>
          </a:prstGeom>
          <a:solidFill>
            <a:schemeClr val="bg2"/>
          </a:solidFill>
          <a:ln/>
        </p:spPr>
      </p:sp>
      <p:sp>
        <p:nvSpPr>
          <p:cNvPr id="43" name="Shape 41"/>
          <p:cNvSpPr/>
          <p:nvPr/>
        </p:nvSpPr>
        <p:spPr>
          <a:xfrm>
            <a:off x="5242438" y="2971800"/>
            <a:ext cx="1024091" cy="54864"/>
          </a:xfrm>
          <a:prstGeom prst="roundRect">
            <a:avLst>
              <a:gd name="adj" fmla="val 50000"/>
            </a:avLst>
          </a:prstGeom>
          <a:solidFill>
            <a:schemeClr val="tx1"/>
          </a:solidFill>
          <a:ln/>
        </p:spPr>
      </p:sp>
      <p:sp>
        <p:nvSpPr>
          <p:cNvPr id="44" name="Shape 42"/>
          <p:cNvSpPr/>
          <p:nvPr/>
        </p:nvSpPr>
        <p:spPr>
          <a:xfrm>
            <a:off x="5196718" y="3246120"/>
            <a:ext cx="1798259" cy="868680"/>
          </a:xfrm>
          <a:prstGeom prst="roundRect">
            <a:avLst>
              <a:gd name="adj" fmla="val 8421"/>
            </a:avLst>
          </a:prstGeom>
          <a:solidFill>
            <a:schemeClr val="bg2"/>
          </a:solidFill>
          <a:ln/>
        </p:spPr>
      </p:sp>
      <p:sp>
        <p:nvSpPr>
          <p:cNvPr id="45" name="Text 43"/>
          <p:cNvSpPr txBox="1"/>
          <p:nvPr/>
        </p:nvSpPr>
        <p:spPr>
          <a:xfrm>
            <a:off x="5333878"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Brightline Retail</a:t>
            </a:r>
            <a:endParaRPr lang="en-US" sz="1050" dirty="0"/>
          </a:p>
        </p:txBody>
      </p:sp>
      <p:sp>
        <p:nvSpPr>
          <p:cNvPr id="46" name="Text 44"/>
          <p:cNvSpPr txBox="1"/>
          <p:nvPr/>
        </p:nvSpPr>
        <p:spPr>
          <a:xfrm>
            <a:off x="5333878"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$540K</a:t>
            </a:r>
            <a:endParaRPr lang="en-US" sz="1100" dirty="0"/>
          </a:p>
        </p:txBody>
      </p:sp>
      <p:sp>
        <p:nvSpPr>
          <p:cNvPr id="47" name="Text 45"/>
          <p:cNvSpPr txBox="1"/>
          <p:nvPr/>
        </p:nvSpPr>
        <p:spPr>
          <a:xfrm>
            <a:off x="5806257"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48" name="Shape 46"/>
          <p:cNvSpPr/>
          <p:nvPr/>
        </p:nvSpPr>
        <p:spPr>
          <a:xfrm>
            <a:off x="5196718" y="4251960"/>
            <a:ext cx="1798259" cy="868680"/>
          </a:xfrm>
          <a:prstGeom prst="roundRect">
            <a:avLst>
              <a:gd name="adj" fmla="val 8421"/>
            </a:avLst>
          </a:prstGeom>
          <a:solidFill>
            <a:schemeClr val="bg2"/>
          </a:solidFill>
          <a:ln/>
        </p:spPr>
      </p:sp>
      <p:sp>
        <p:nvSpPr>
          <p:cNvPr id="49" name="Text 47"/>
          <p:cNvSpPr txBox="1"/>
          <p:nvPr/>
        </p:nvSpPr>
        <p:spPr>
          <a:xfrm>
            <a:off x="5333878"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Orbit Media</a:t>
            </a:r>
            <a:endParaRPr lang="en-US" sz="1050" dirty="0"/>
          </a:p>
        </p:txBody>
      </p:sp>
      <p:sp>
        <p:nvSpPr>
          <p:cNvPr id="50" name="Text 48"/>
          <p:cNvSpPr txBox="1"/>
          <p:nvPr/>
        </p:nvSpPr>
        <p:spPr>
          <a:xfrm>
            <a:off x="5333878"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$95K</a:t>
            </a:r>
            <a:endParaRPr lang="en-US" sz="1100" dirty="0"/>
          </a:p>
        </p:txBody>
      </p:sp>
      <p:sp>
        <p:nvSpPr>
          <p:cNvPr id="51" name="Text 49"/>
          <p:cNvSpPr txBox="1"/>
          <p:nvPr/>
        </p:nvSpPr>
        <p:spPr>
          <a:xfrm>
            <a:off x="5806257"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Scale-up</a:t>
            </a:r>
            <a:endParaRPr lang="en-US" sz="900" dirty="0"/>
          </a:p>
        </p:txBody>
      </p:sp>
      <p:sp>
        <p:nvSpPr>
          <p:cNvPr id="52" name="Text 50"/>
          <p:cNvSpPr txBox="1"/>
          <p:nvPr/>
        </p:nvSpPr>
        <p:spPr>
          <a:xfrm>
            <a:off x="5242438"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+ 17 more deals</a:t>
            </a:r>
            <a:endParaRPr lang="en-US" sz="950" dirty="0"/>
          </a:p>
        </p:txBody>
      </p:sp>
      <p:sp>
        <p:nvSpPr>
          <p:cNvPr id="53" name="Shape 51"/>
          <p:cNvSpPr/>
          <p:nvPr/>
        </p:nvSpPr>
        <p:spPr>
          <a:xfrm>
            <a:off x="7315017" y="1874520"/>
            <a:ext cx="2072579" cy="4160520"/>
          </a:xfrm>
          <a:prstGeom prst="roundRect">
            <a:avLst>
              <a:gd name="adj" fmla="val 4412"/>
            </a:avLst>
          </a:prstGeom>
          <a:solidFill>
            <a:schemeClr val="bg1"/>
          </a:solidFill>
          <a:ln/>
        </p:spPr>
      </p:sp>
      <p:sp>
        <p:nvSpPr>
          <p:cNvPr id="54" name="Text 52"/>
          <p:cNvSpPr txBox="1"/>
          <p:nvPr/>
        </p:nvSpPr>
        <p:spPr>
          <a:xfrm>
            <a:off x="7497897"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Negotiation</a:t>
            </a:r>
            <a:endParaRPr lang="en-US" sz="1250" dirty="0"/>
          </a:p>
        </p:txBody>
      </p:sp>
      <p:sp>
        <p:nvSpPr>
          <p:cNvPr id="55" name="Shape 53"/>
          <p:cNvSpPr/>
          <p:nvPr/>
        </p:nvSpPr>
        <p:spPr>
          <a:xfrm>
            <a:off x="8701796" y="2057400"/>
            <a:ext cx="502920" cy="237744"/>
          </a:xfrm>
          <a:prstGeom prst="roundRect">
            <a:avLst>
              <a:gd name="adj" fmla="val 50000"/>
            </a:avLst>
          </a:prstGeom>
          <a:solidFill>
            <a:schemeClr val="bg2"/>
          </a:solidFill>
          <a:ln/>
        </p:spPr>
      </p:sp>
      <p:sp>
        <p:nvSpPr>
          <p:cNvPr id="56" name="Text 54"/>
          <p:cNvSpPr txBox="1"/>
          <p:nvPr/>
        </p:nvSpPr>
        <p:spPr>
          <a:xfrm>
            <a:off x="8701796"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11</a:t>
            </a:r>
            <a:endParaRPr lang="en-US" sz="900" dirty="0"/>
          </a:p>
        </p:txBody>
      </p:sp>
      <p:sp>
        <p:nvSpPr>
          <p:cNvPr id="57" name="Text 55"/>
          <p:cNvSpPr txBox="1"/>
          <p:nvPr/>
        </p:nvSpPr>
        <p:spPr>
          <a:xfrm>
            <a:off x="7497897"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$4.4M</a:t>
            </a:r>
            <a:endParaRPr lang="en-US" sz="2200" dirty="0"/>
          </a:p>
        </p:txBody>
      </p:sp>
      <p:sp>
        <p:nvSpPr>
          <p:cNvPr id="58" name="Shape 56"/>
          <p:cNvSpPr/>
          <p:nvPr/>
        </p:nvSpPr>
        <p:spPr>
          <a:xfrm>
            <a:off x="7497897" y="2971800"/>
            <a:ext cx="1706819" cy="54864"/>
          </a:xfrm>
          <a:prstGeom prst="roundRect">
            <a:avLst>
              <a:gd name="adj" fmla="val 50000"/>
            </a:avLst>
          </a:prstGeom>
          <a:solidFill>
            <a:schemeClr val="bg2"/>
          </a:solidFill>
          <a:ln/>
        </p:spPr>
      </p:sp>
      <p:sp>
        <p:nvSpPr>
          <p:cNvPr id="59" name="Shape 57"/>
          <p:cNvSpPr/>
          <p:nvPr/>
        </p:nvSpPr>
        <p:spPr>
          <a:xfrm>
            <a:off x="7497897" y="2971800"/>
            <a:ext cx="1365455" cy="54864"/>
          </a:xfrm>
          <a:prstGeom prst="roundRect">
            <a:avLst>
              <a:gd name="adj" fmla="val 50000"/>
            </a:avLst>
          </a:prstGeom>
          <a:solidFill>
            <a:schemeClr val="tx1"/>
          </a:solidFill>
          <a:ln/>
        </p:spPr>
      </p:sp>
      <p:sp>
        <p:nvSpPr>
          <p:cNvPr id="60" name="Shape 58"/>
          <p:cNvSpPr/>
          <p:nvPr/>
        </p:nvSpPr>
        <p:spPr>
          <a:xfrm>
            <a:off x="7452177" y="3246120"/>
            <a:ext cx="1798259" cy="868680"/>
          </a:xfrm>
          <a:prstGeom prst="roundRect">
            <a:avLst>
              <a:gd name="adj" fmla="val 8421"/>
            </a:avLst>
          </a:prstGeom>
          <a:solidFill>
            <a:schemeClr val="bg2"/>
          </a:solidFill>
          <a:ln/>
        </p:spPr>
      </p:sp>
      <p:sp>
        <p:nvSpPr>
          <p:cNvPr id="61" name="Text 59"/>
          <p:cNvSpPr txBox="1"/>
          <p:nvPr/>
        </p:nvSpPr>
        <p:spPr>
          <a:xfrm>
            <a:off x="7589337"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Summit Health</a:t>
            </a:r>
            <a:endParaRPr lang="en-US" sz="1050" dirty="0"/>
          </a:p>
        </p:txBody>
      </p:sp>
      <p:sp>
        <p:nvSpPr>
          <p:cNvPr id="62" name="Text 60"/>
          <p:cNvSpPr txBox="1"/>
          <p:nvPr/>
        </p:nvSpPr>
        <p:spPr>
          <a:xfrm>
            <a:off x="7589337"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$610K</a:t>
            </a:r>
            <a:endParaRPr lang="en-US" sz="1100" dirty="0"/>
          </a:p>
        </p:txBody>
      </p:sp>
      <p:sp>
        <p:nvSpPr>
          <p:cNvPr id="63" name="Text 61"/>
          <p:cNvSpPr txBox="1"/>
          <p:nvPr/>
        </p:nvSpPr>
        <p:spPr>
          <a:xfrm>
            <a:off x="8061716"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64" name="Shape 62"/>
          <p:cNvSpPr/>
          <p:nvPr/>
        </p:nvSpPr>
        <p:spPr>
          <a:xfrm>
            <a:off x="7452177" y="4251960"/>
            <a:ext cx="1798259" cy="868680"/>
          </a:xfrm>
          <a:prstGeom prst="roundRect">
            <a:avLst>
              <a:gd name="adj" fmla="val 8421"/>
            </a:avLst>
          </a:prstGeom>
          <a:solidFill>
            <a:schemeClr val="bg2"/>
          </a:solidFill>
          <a:ln/>
        </p:spPr>
      </p:sp>
      <p:sp>
        <p:nvSpPr>
          <p:cNvPr id="65" name="Text 63"/>
          <p:cNvSpPr txBox="1"/>
          <p:nvPr/>
        </p:nvSpPr>
        <p:spPr>
          <a:xfrm>
            <a:off x="7589337"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Pinewood Labs</a:t>
            </a:r>
            <a:endParaRPr lang="en-US" sz="1050" dirty="0"/>
          </a:p>
        </p:txBody>
      </p:sp>
      <p:sp>
        <p:nvSpPr>
          <p:cNvPr id="66" name="Text 64"/>
          <p:cNvSpPr txBox="1"/>
          <p:nvPr/>
        </p:nvSpPr>
        <p:spPr>
          <a:xfrm>
            <a:off x="7589337"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$140K</a:t>
            </a:r>
            <a:endParaRPr lang="en-US" sz="1100" dirty="0"/>
          </a:p>
        </p:txBody>
      </p:sp>
      <p:sp>
        <p:nvSpPr>
          <p:cNvPr id="67" name="Text 65"/>
          <p:cNvSpPr txBox="1"/>
          <p:nvPr/>
        </p:nvSpPr>
        <p:spPr>
          <a:xfrm>
            <a:off x="8061716"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Mid-market</a:t>
            </a:r>
            <a:endParaRPr lang="en-US" sz="900" dirty="0"/>
          </a:p>
        </p:txBody>
      </p:sp>
      <p:sp>
        <p:nvSpPr>
          <p:cNvPr id="68" name="Text 66"/>
          <p:cNvSpPr txBox="1"/>
          <p:nvPr/>
        </p:nvSpPr>
        <p:spPr>
          <a:xfrm>
            <a:off x="7497897"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+ 9 more deals</a:t>
            </a:r>
            <a:endParaRPr lang="en-US" sz="950" dirty="0"/>
          </a:p>
        </p:txBody>
      </p:sp>
      <p:sp>
        <p:nvSpPr>
          <p:cNvPr id="69" name="Shape 67"/>
          <p:cNvSpPr/>
          <p:nvPr/>
        </p:nvSpPr>
        <p:spPr>
          <a:xfrm>
            <a:off x="9570476" y="1874520"/>
            <a:ext cx="2072579" cy="4160520"/>
          </a:xfrm>
          <a:prstGeom prst="roundRect">
            <a:avLst>
              <a:gd name="adj" fmla="val 4412"/>
            </a:avLst>
          </a:prstGeom>
          <a:solidFill>
            <a:schemeClr val="tx1"/>
          </a:solidFill>
          <a:ln/>
        </p:spPr>
      </p:sp>
      <p:sp>
        <p:nvSpPr>
          <p:cNvPr id="70" name="Text 68"/>
          <p:cNvSpPr txBox="1"/>
          <p:nvPr/>
        </p:nvSpPr>
        <p:spPr>
          <a:xfrm>
            <a:off x="9753356" y="2057400"/>
            <a:ext cx="1249619" cy="274320"/>
          </a:xfrm>
          <a:prstGeom prst="rect">
            <a:avLst/>
          </a:prstGeom>
          <a:noFill/>
          <a:ln/>
        </p:spPr>
        <p:txBody>
          <a:bodyPr wrap="square" lIns="0" tIns="0" rIns="0" bIns="0" rtlCol="0" anchor="t"/>
          <a:lstStyle/>
          <a:p>
            <a:pPr algn="l" indent="0" marL="0">
              <a:buNone/>
            </a:pPr>
            <a:r>
              <a:rPr lang="en-US" sz="1250" b="1" dirty="0">
                <a:solidFill>
                  <a:schemeClr val="bg1"/>
                </a:solidFill>
                <a:latin typeface="Manrope" pitchFamily="34" charset="0"/>
                <a:ea typeface="Manrope" pitchFamily="34" charset="-122"/>
                <a:cs typeface="Manrope" pitchFamily="34" charset="-120"/>
              </a:rPr>
              <a:t>Commit</a:t>
            </a:r>
            <a:endParaRPr lang="en-US" sz="1250" dirty="0"/>
          </a:p>
        </p:txBody>
      </p:sp>
      <p:sp>
        <p:nvSpPr>
          <p:cNvPr id="71" name="Shape 69"/>
          <p:cNvSpPr/>
          <p:nvPr/>
        </p:nvSpPr>
        <p:spPr>
          <a:xfrm>
            <a:off x="10957255" y="2057400"/>
            <a:ext cx="502920" cy="237744"/>
          </a:xfrm>
          <a:prstGeom prst="roundRect">
            <a:avLst>
              <a:gd name="adj" fmla="val 50000"/>
            </a:avLst>
          </a:prstGeom>
          <a:solidFill>
            <a:schemeClr val="accent1"/>
          </a:solidFill>
          <a:ln/>
        </p:spPr>
      </p:sp>
      <p:sp>
        <p:nvSpPr>
          <p:cNvPr id="72" name="Text 70"/>
          <p:cNvSpPr txBox="1"/>
          <p:nvPr/>
        </p:nvSpPr>
        <p:spPr>
          <a:xfrm>
            <a:off x="10957255" y="2057400"/>
            <a:ext cx="502920" cy="237744"/>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7</a:t>
            </a:r>
            <a:endParaRPr lang="en-US" sz="900" dirty="0"/>
          </a:p>
        </p:txBody>
      </p:sp>
      <p:sp>
        <p:nvSpPr>
          <p:cNvPr id="73" name="Text 71"/>
          <p:cNvSpPr txBox="1"/>
          <p:nvPr/>
        </p:nvSpPr>
        <p:spPr>
          <a:xfrm>
            <a:off x="9753356" y="2423160"/>
            <a:ext cx="1706819" cy="457200"/>
          </a:xfrm>
          <a:prstGeom prst="rect">
            <a:avLst/>
          </a:prstGeom>
          <a:noFill/>
          <a:ln/>
        </p:spPr>
        <p:txBody>
          <a:bodyPr wrap="square" lIns="0" tIns="0" rIns="0" bIns="0" rtlCol="0" anchor="t"/>
          <a:lstStyle/>
          <a:p>
            <a:pPr algn="l" indent="0" marL="0">
              <a:buNone/>
            </a:pPr>
            <a:r>
              <a:rPr lang="en-US" sz="2200" dirty="0">
                <a:solidFill>
                  <a:schemeClr val="accent1"/>
                </a:solidFill>
                <a:latin typeface="Manrope ExtraBold" pitchFamily="34" charset="0"/>
                <a:ea typeface="Manrope ExtraBold" pitchFamily="34" charset="-122"/>
                <a:cs typeface="Manrope ExtraBold" pitchFamily="34" charset="-120"/>
              </a:rPr>
              <a:t>$2.2M</a:t>
            </a:r>
            <a:endParaRPr lang="en-US" sz="2200" dirty="0"/>
          </a:p>
        </p:txBody>
      </p:sp>
      <p:sp>
        <p:nvSpPr>
          <p:cNvPr id="74" name="Shape 72"/>
          <p:cNvSpPr/>
          <p:nvPr/>
        </p:nvSpPr>
        <p:spPr>
          <a:xfrm>
            <a:off x="9753356" y="2971800"/>
            <a:ext cx="1706819" cy="54864"/>
          </a:xfrm>
          <a:prstGeom prst="roundRect">
            <a:avLst>
              <a:gd name="adj" fmla="val 50000"/>
            </a:avLst>
          </a:prstGeom>
          <a:solidFill>
            <a:schemeClr val="accent5"/>
          </a:solidFill>
          <a:ln/>
        </p:spPr>
      </p:sp>
      <p:sp>
        <p:nvSpPr>
          <p:cNvPr id="75" name="Shape 73"/>
          <p:cNvSpPr/>
          <p:nvPr/>
        </p:nvSpPr>
        <p:spPr>
          <a:xfrm>
            <a:off x="9753356" y="2971800"/>
            <a:ext cx="1706819" cy="54864"/>
          </a:xfrm>
          <a:prstGeom prst="roundRect">
            <a:avLst>
              <a:gd name="adj" fmla="val 50000"/>
            </a:avLst>
          </a:prstGeom>
          <a:solidFill>
            <a:schemeClr val="accent1"/>
          </a:solidFill>
          <a:ln/>
        </p:spPr>
      </p:sp>
      <p:sp>
        <p:nvSpPr>
          <p:cNvPr id="76" name="Shape 74"/>
          <p:cNvSpPr/>
          <p:nvPr/>
        </p:nvSpPr>
        <p:spPr>
          <a:xfrm>
            <a:off x="9707636" y="3246120"/>
            <a:ext cx="1798259" cy="868680"/>
          </a:xfrm>
          <a:prstGeom prst="roundRect">
            <a:avLst>
              <a:gd name="adj" fmla="val 8421"/>
            </a:avLst>
          </a:prstGeom>
          <a:solidFill>
            <a:schemeClr val="accent5"/>
          </a:solidFill>
          <a:ln/>
        </p:spPr>
      </p:sp>
      <p:sp>
        <p:nvSpPr>
          <p:cNvPr id="77" name="Text 75"/>
          <p:cNvSpPr txBox="1"/>
          <p:nvPr/>
        </p:nvSpPr>
        <p:spPr>
          <a:xfrm>
            <a:off x="9844796" y="3355848"/>
            <a:ext cx="1523939" cy="256032"/>
          </a:xfrm>
          <a:prstGeom prst="rect">
            <a:avLst/>
          </a:prstGeom>
          <a:noFill/>
          <a:ln/>
        </p:spPr>
        <p:txBody>
          <a:bodyPr wrap="square" lIns="0" tIns="0" rIns="0" bIns="0" rtlCol="0" anchor="t"/>
          <a:lstStyle/>
          <a:p>
            <a:pPr algn="l" indent="0" marL="0">
              <a:buNone/>
            </a:pPr>
            <a:r>
              <a:rPr lang="en-US" sz="1050" dirty="0">
                <a:solidFill>
                  <a:schemeClr val="bg1"/>
                </a:solidFill>
                <a:latin typeface="Inter Medium" pitchFamily="34" charset="0"/>
                <a:ea typeface="Inter Medium" pitchFamily="34" charset="-122"/>
                <a:cs typeface="Inter Medium" pitchFamily="34" charset="-120"/>
              </a:rPr>
              <a:t>Vela Payments</a:t>
            </a:r>
            <a:endParaRPr lang="en-US" sz="1050" dirty="0"/>
          </a:p>
        </p:txBody>
      </p:sp>
      <p:sp>
        <p:nvSpPr>
          <p:cNvPr id="78" name="Text 76"/>
          <p:cNvSpPr txBox="1"/>
          <p:nvPr/>
        </p:nvSpPr>
        <p:spPr>
          <a:xfrm>
            <a:off x="9844796" y="3703320"/>
            <a:ext cx="914400" cy="274320"/>
          </a:xfrm>
          <a:prstGeom prst="rect">
            <a:avLst/>
          </a:prstGeom>
          <a:noFill/>
          <a:ln/>
        </p:spPr>
        <p:txBody>
          <a:bodyPr wrap="square" lIns="0" tIns="0" rIns="0" bIns="0" rtlCol="0" anchor="ctr"/>
          <a:lstStyle/>
          <a:p>
            <a:pPr algn="l" indent="0" marL="0">
              <a:buNone/>
            </a:pPr>
            <a:r>
              <a:rPr lang="en-US" sz="1100" b="1" dirty="0">
                <a:solidFill>
                  <a:schemeClr val="bg1"/>
                </a:solidFill>
                <a:latin typeface="Manrope" pitchFamily="34" charset="0"/>
                <a:ea typeface="Manrope" pitchFamily="34" charset="-122"/>
                <a:cs typeface="Manrope" pitchFamily="34" charset="-120"/>
              </a:rPr>
              <a:t>$380K</a:t>
            </a:r>
            <a:endParaRPr lang="en-US" sz="1100" dirty="0"/>
          </a:p>
        </p:txBody>
      </p:sp>
      <p:sp>
        <p:nvSpPr>
          <p:cNvPr id="79" name="Text 77"/>
          <p:cNvSpPr txBox="1"/>
          <p:nvPr/>
        </p:nvSpPr>
        <p:spPr>
          <a:xfrm>
            <a:off x="10317175" y="3703320"/>
            <a:ext cx="1051560" cy="274320"/>
          </a:xfrm>
          <a:prstGeom prst="rect">
            <a:avLst/>
          </a:prstGeom>
          <a:noFill/>
          <a:ln/>
        </p:spPr>
        <p:txBody>
          <a:bodyPr wrap="square" lIns="0" tIns="0" rIns="0" bIns="0" rtlCol="0" anchor="ctr"/>
          <a:lstStyle/>
          <a:p>
            <a:pPr algn="r" indent="0" marL="0">
              <a:buNone/>
            </a:pPr>
            <a:r>
              <a:rPr lang="en-US" sz="900" dirty="0">
                <a:solidFill>
                  <a:schemeClr val="accent4"/>
                </a:solidFill>
                <a:latin typeface="Inter" pitchFamily="34" charset="0"/>
                <a:ea typeface="Inter" pitchFamily="34" charset="-122"/>
                <a:cs typeface="Inter" pitchFamily="34" charset="-120"/>
              </a:rPr>
              <a:t>Mid-market</a:t>
            </a:r>
            <a:endParaRPr lang="en-US" sz="900" dirty="0"/>
          </a:p>
        </p:txBody>
      </p:sp>
      <p:sp>
        <p:nvSpPr>
          <p:cNvPr id="80" name="Shape 78"/>
          <p:cNvSpPr/>
          <p:nvPr/>
        </p:nvSpPr>
        <p:spPr>
          <a:xfrm>
            <a:off x="9707636" y="4251960"/>
            <a:ext cx="1798259" cy="868680"/>
          </a:xfrm>
          <a:prstGeom prst="roundRect">
            <a:avLst>
              <a:gd name="adj" fmla="val 8421"/>
            </a:avLst>
          </a:prstGeom>
          <a:solidFill>
            <a:schemeClr val="accent5"/>
          </a:solidFill>
          <a:ln/>
        </p:spPr>
      </p:sp>
      <p:sp>
        <p:nvSpPr>
          <p:cNvPr id="81" name="Text 79"/>
          <p:cNvSpPr txBox="1"/>
          <p:nvPr/>
        </p:nvSpPr>
        <p:spPr>
          <a:xfrm>
            <a:off x="9844796" y="4361688"/>
            <a:ext cx="1523939" cy="256032"/>
          </a:xfrm>
          <a:prstGeom prst="rect">
            <a:avLst/>
          </a:prstGeom>
          <a:noFill/>
          <a:ln/>
        </p:spPr>
        <p:txBody>
          <a:bodyPr wrap="square" lIns="0" tIns="0" rIns="0" bIns="0" rtlCol="0" anchor="t"/>
          <a:lstStyle/>
          <a:p>
            <a:pPr algn="l" indent="0" marL="0">
              <a:buNone/>
            </a:pPr>
            <a:r>
              <a:rPr lang="en-US" sz="1050" dirty="0">
                <a:solidFill>
                  <a:schemeClr val="bg1"/>
                </a:solidFill>
                <a:latin typeface="Inter Medium" pitchFamily="34" charset="0"/>
                <a:ea typeface="Inter Medium" pitchFamily="34" charset="-122"/>
                <a:cs typeface="Inter Medium" pitchFamily="34" charset="-120"/>
              </a:rPr>
              <a:t>Cobalt Freight</a:t>
            </a:r>
            <a:endParaRPr lang="en-US" sz="1050" dirty="0"/>
          </a:p>
        </p:txBody>
      </p:sp>
      <p:sp>
        <p:nvSpPr>
          <p:cNvPr id="82" name="Text 80"/>
          <p:cNvSpPr txBox="1"/>
          <p:nvPr/>
        </p:nvSpPr>
        <p:spPr>
          <a:xfrm>
            <a:off x="9844796" y="4709160"/>
            <a:ext cx="914400" cy="274320"/>
          </a:xfrm>
          <a:prstGeom prst="rect">
            <a:avLst/>
          </a:prstGeom>
          <a:noFill/>
          <a:ln/>
        </p:spPr>
        <p:txBody>
          <a:bodyPr wrap="square" lIns="0" tIns="0" rIns="0" bIns="0" rtlCol="0" anchor="ctr"/>
          <a:lstStyle/>
          <a:p>
            <a:pPr algn="l" indent="0" marL="0">
              <a:buNone/>
            </a:pPr>
            <a:r>
              <a:rPr lang="en-US" sz="1100" b="1" dirty="0">
                <a:solidFill>
                  <a:schemeClr val="bg1"/>
                </a:solidFill>
                <a:latin typeface="Manrope" pitchFamily="34" charset="0"/>
                <a:ea typeface="Manrope" pitchFamily="34" charset="-122"/>
                <a:cs typeface="Manrope" pitchFamily="34" charset="-120"/>
              </a:rPr>
              <a:t>$220K</a:t>
            </a:r>
            <a:endParaRPr lang="en-US" sz="1100" dirty="0"/>
          </a:p>
        </p:txBody>
      </p:sp>
      <p:sp>
        <p:nvSpPr>
          <p:cNvPr id="83" name="Text 81"/>
          <p:cNvSpPr txBox="1"/>
          <p:nvPr/>
        </p:nvSpPr>
        <p:spPr>
          <a:xfrm>
            <a:off x="10317175" y="4709160"/>
            <a:ext cx="1051560" cy="274320"/>
          </a:xfrm>
          <a:prstGeom prst="rect">
            <a:avLst/>
          </a:prstGeom>
          <a:noFill/>
          <a:ln/>
        </p:spPr>
        <p:txBody>
          <a:bodyPr wrap="square" lIns="0" tIns="0" rIns="0" bIns="0" rtlCol="0" anchor="ctr"/>
          <a:lstStyle/>
          <a:p>
            <a:pPr algn="r" indent="0" marL="0">
              <a:buNone/>
            </a:pPr>
            <a:r>
              <a:rPr lang="en-US" sz="900" dirty="0">
                <a:solidFill>
                  <a:schemeClr val="accent4"/>
                </a:solidFill>
                <a:latin typeface="Inter" pitchFamily="34" charset="0"/>
                <a:ea typeface="Inter" pitchFamily="34" charset="-122"/>
                <a:cs typeface="Inter" pitchFamily="34" charset="-120"/>
              </a:rPr>
              <a:t>Mid-market</a:t>
            </a:r>
            <a:endParaRPr lang="en-US" sz="900" dirty="0"/>
          </a:p>
        </p:txBody>
      </p:sp>
      <p:sp>
        <p:nvSpPr>
          <p:cNvPr id="84" name="Text 82"/>
          <p:cNvSpPr txBox="1"/>
          <p:nvPr/>
        </p:nvSpPr>
        <p:spPr>
          <a:xfrm>
            <a:off x="9753356" y="5394960"/>
            <a:ext cx="1706819" cy="27432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+ 5 more deals</a:t>
            </a:r>
            <a:endParaRPr lang="en-US" sz="9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beat benchmark conversion at every stage but one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Stage conversion rate, trailing 12 months, versus SaaS industry median.</a:t>
            </a:r>
            <a:endParaRPr lang="en-US" sz="1150" dirty="0"/>
          </a:p>
        </p:txBody>
      </p:sp>
      <p:sp>
        <p:nvSpPr>
          <p:cNvPr id="6" name="Shape 4"/>
          <p:cNvSpPr/>
          <p:nvPr/>
        </p:nvSpPr>
        <p:spPr>
          <a:xfrm>
            <a:off x="4805477" y="1947672"/>
            <a:ext cx="146304" cy="146304"/>
          </a:xfrm>
          <a:prstGeom prst="roundRect">
            <a:avLst>
              <a:gd name="adj" fmla="val 18750"/>
            </a:avLst>
          </a:prstGeom>
          <a:solidFill>
            <a:schemeClr val="tx1"/>
          </a:solidFill>
          <a:ln/>
        </p:spPr>
      </p:sp>
      <p:sp>
        <p:nvSpPr>
          <p:cNvPr id="7" name="Text 5"/>
          <p:cNvSpPr txBox="1"/>
          <p:nvPr/>
        </p:nvSpPr>
        <p:spPr>
          <a:xfrm>
            <a:off x="5034077" y="1901952"/>
            <a:ext cx="9144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Corvanta</a:t>
            </a:r>
            <a:endParaRPr lang="en-US" sz="950" dirty="0"/>
          </a:p>
        </p:txBody>
      </p:sp>
      <p:sp>
        <p:nvSpPr>
          <p:cNvPr id="8" name="Shape 6"/>
          <p:cNvSpPr/>
          <p:nvPr/>
        </p:nvSpPr>
        <p:spPr>
          <a:xfrm>
            <a:off x="6131357" y="1947672"/>
            <a:ext cx="146304" cy="146304"/>
          </a:xfrm>
          <a:prstGeom prst="roundRect">
            <a:avLst>
              <a:gd name="adj" fmla="val 18750"/>
            </a:avLst>
          </a:prstGeom>
          <a:solidFill>
            <a:schemeClr val="accent4"/>
          </a:solidFill>
          <a:ln/>
        </p:spPr>
      </p:sp>
      <p:sp>
        <p:nvSpPr>
          <p:cNvPr id="9" name="Text 7"/>
          <p:cNvSpPr txBox="1"/>
          <p:nvPr/>
        </p:nvSpPr>
        <p:spPr>
          <a:xfrm>
            <a:off x="6359957" y="1901952"/>
            <a:ext cx="128016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Benchmark</a:t>
            </a:r>
            <a:endParaRPr lang="en-US" sz="950" dirty="0"/>
          </a:p>
        </p:txBody>
      </p:sp>
      <p:graphicFrame>
        <p:nvGraphicFramePr>
          <p:cNvPr id="10" name="Chart 0" descr=""/>
          <p:cNvGraphicFramePr/>
          <p:nvPr/>
        </p:nvGraphicFramePr>
        <p:xfrm>
          <a:off x="548640" y="2194560"/>
          <a:ext cx="7320077" cy="38404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8371637" y="1874520"/>
            <a:ext cx="3271418" cy="1920240"/>
          </a:xfrm>
          <a:prstGeom prst="roundRect">
            <a:avLst>
              <a:gd name="adj" fmla="val 4762"/>
            </a:avLst>
          </a:prstGeom>
          <a:solidFill>
            <a:schemeClr val="tx1"/>
          </a:solidFill>
          <a:ln/>
        </p:spPr>
      </p:sp>
      <p:sp>
        <p:nvSpPr>
          <p:cNvPr id="12" name="Text 9"/>
          <p:cNvSpPr txBox="1"/>
          <p:nvPr/>
        </p:nvSpPr>
        <p:spPr>
          <a:xfrm>
            <a:off x="8645957" y="2103120"/>
            <a:ext cx="2722778" cy="640080"/>
          </a:xfrm>
          <a:prstGeom prst="rect">
            <a:avLst/>
          </a:prstGeom>
          <a:noFill/>
          <a:ln/>
        </p:spPr>
        <p:txBody>
          <a:bodyPr wrap="square" lIns="0" tIns="0" rIns="0" bIns="0" rtlCol="0" anchor="t"/>
          <a:lstStyle/>
          <a:p>
            <a:pPr algn="l" indent="0" marL="0">
              <a:buNone/>
            </a:pPr>
            <a:r>
              <a:rPr lang="en-US" sz="3400" dirty="0">
                <a:solidFill>
                  <a:schemeClr val="accent1"/>
                </a:solidFill>
                <a:latin typeface="Manrope ExtraBold" pitchFamily="34" charset="0"/>
                <a:ea typeface="Manrope ExtraBold" pitchFamily="34" charset="-122"/>
                <a:cs typeface="Manrope ExtraBold" pitchFamily="34" charset="-120"/>
              </a:rPr>
              <a:t>+13 pts</a:t>
            </a:r>
            <a:endParaRPr lang="en-US" sz="3400" dirty="0"/>
          </a:p>
        </p:txBody>
      </p:sp>
      <p:sp>
        <p:nvSpPr>
          <p:cNvPr id="13" name="Text 10"/>
          <p:cNvSpPr txBox="1"/>
          <p:nvPr/>
        </p:nvSpPr>
        <p:spPr>
          <a:xfrm>
            <a:off x="8645957" y="2788920"/>
            <a:ext cx="272277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4"/>
                </a:solidFill>
                <a:latin typeface="Inter" pitchFamily="34" charset="0"/>
                <a:ea typeface="Inter" pitchFamily="34" charset="-122"/>
                <a:cs typeface="Inter" pitchFamily="34" charset="-120"/>
              </a:rPr>
              <a:t>Proposal-to-win above benchmark, driven by deal-risk alerts.</a:t>
            </a:r>
            <a:endParaRPr lang="en-US" sz="1100" dirty="0"/>
          </a:p>
        </p:txBody>
      </p:sp>
      <p:sp>
        <p:nvSpPr>
          <p:cNvPr id="14" name="Shape 11"/>
          <p:cNvSpPr/>
          <p:nvPr/>
        </p:nvSpPr>
        <p:spPr>
          <a:xfrm>
            <a:off x="8371637" y="4023360"/>
            <a:ext cx="3271418" cy="2011680"/>
          </a:xfrm>
          <a:prstGeom prst="roundRect">
            <a:avLst>
              <a:gd name="adj" fmla="val 4545"/>
            </a:avLst>
          </a:prstGeom>
          <a:solidFill>
            <a:schemeClr val="bg2"/>
          </a:solidFill>
          <a:ln/>
        </p:spPr>
      </p:sp>
      <p:sp>
        <p:nvSpPr>
          <p:cNvPr id="15" name="Shape 12"/>
          <p:cNvSpPr/>
          <p:nvPr/>
        </p:nvSpPr>
        <p:spPr>
          <a:xfrm>
            <a:off x="8645957" y="4251960"/>
            <a:ext cx="411480" cy="411480"/>
          </a:xfrm>
          <a:prstGeom prst="ellipse">
            <a:avLst/>
          </a:prstGeom>
          <a:solidFill>
            <a:schemeClr val="bg1"/>
          </a:solidFill>
          <a:ln/>
        </p:spPr>
      </p:sp>
      <p:pic>
        <p:nvPicPr>
          <p:cNvPr id="16" name="Icon PiWarning 0A1628" descr="preencoded.png">    </p:cNvPr>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8744712" y="4350715"/>
            <a:ext cx="213970" cy="213970"/>
          </a:xfrm>
          <a:prstGeom prst="rect">
            <a:avLst/>
          </a:prstGeom>
        </p:spPr>
      </p:pic>
      <p:sp>
        <p:nvSpPr>
          <p:cNvPr id="17" name="Text 13"/>
          <p:cNvSpPr txBox="1"/>
          <p:nvPr/>
        </p:nvSpPr>
        <p:spPr>
          <a:xfrm>
            <a:off x="9194597" y="4297680"/>
            <a:ext cx="2265578" cy="32004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Fix: MQL → SQL</a:t>
            </a:r>
            <a:endParaRPr lang="en-US" sz="1300" dirty="0"/>
          </a:p>
        </p:txBody>
      </p:sp>
      <p:sp>
        <p:nvSpPr>
          <p:cNvPr id="18" name="Text 14"/>
          <p:cNvSpPr txBox="1"/>
          <p:nvPr/>
        </p:nvSpPr>
        <p:spPr>
          <a:xfrm>
            <a:off x="8645957" y="4846320"/>
            <a:ext cx="2722778" cy="82296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3 pts below benchmark. New lead-scoring model and 1-hour SLA roll out in November.</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Bookings beat target in 9 of 12 months</a:t>
            </a:r>
            <a:endParaRPr lang="en-US" sz="2800" dirty="0"/>
          </a:p>
        </p:txBody>
      </p:sp>
      <p:sp>
        <p:nvSpPr>
          <p:cNvPr id="5" name="Shape 3"/>
          <p:cNvSpPr/>
          <p:nvPr/>
        </p:nvSpPr>
        <p:spPr>
          <a:xfrm>
            <a:off x="548640" y="1874520"/>
            <a:ext cx="2510714" cy="1261872"/>
          </a:xfrm>
          <a:prstGeom prst="roundRect">
            <a:avLst>
              <a:gd name="adj" fmla="val 7246"/>
            </a:avLst>
          </a:prstGeom>
          <a:solidFill>
            <a:schemeClr val="tx1"/>
          </a:solidFill>
          <a:ln/>
        </p:spPr>
      </p:sp>
      <p:sp>
        <p:nvSpPr>
          <p:cNvPr id="6" name="Text 4"/>
          <p:cNvSpPr txBox="1"/>
          <p:nvPr/>
        </p:nvSpPr>
        <p:spPr>
          <a:xfrm>
            <a:off x="749808" y="2075688"/>
            <a:ext cx="210837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Bookings, 12 months</a:t>
            </a:r>
            <a:endParaRPr lang="en-US" sz="1000" dirty="0"/>
          </a:p>
        </p:txBody>
      </p:sp>
      <p:sp>
        <p:nvSpPr>
          <p:cNvPr id="7" name="Text 5"/>
          <p:cNvSpPr txBox="1"/>
          <p:nvPr/>
        </p:nvSpPr>
        <p:spPr>
          <a:xfrm>
            <a:off x="749808" y="2322576"/>
            <a:ext cx="2108378" cy="3810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$21.7M</a:t>
            </a:r>
            <a:endParaRPr lang="en-US" sz="2400" dirty="0"/>
          </a:p>
        </p:txBody>
      </p:sp>
      <p:sp>
        <p:nvSpPr>
          <p:cNvPr id="8" name="Text 6"/>
          <p:cNvSpPr txBox="1"/>
          <p:nvPr/>
        </p:nvSpPr>
        <p:spPr>
          <a:xfrm>
            <a:off x="749808" y="2734056"/>
            <a:ext cx="2108378"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18%</a:t>
            </a:r>
            <a:pPr algn="l" indent="0" marL="0">
              <a:buNone/>
            </a:pPr>
            <a:r>
              <a:rPr lang="en-US" sz="950" dirty="0">
                <a:solidFill>
                  <a:schemeClr val="accent4"/>
                </a:solidFill>
                <a:latin typeface="Inter" pitchFamily="34" charset="0"/>
                <a:ea typeface="Inter" pitchFamily="34" charset="-122"/>
                <a:cs typeface="Inter" pitchFamily="34" charset="-120"/>
              </a:rPr>
              <a:t>  vs target</a:t>
            </a:r>
            <a:endParaRPr lang="en-US" sz="950" dirty="0"/>
          </a:p>
        </p:txBody>
      </p:sp>
      <p:sp>
        <p:nvSpPr>
          <p:cNvPr id="9" name="Shape 7"/>
          <p:cNvSpPr/>
          <p:nvPr/>
        </p:nvSpPr>
        <p:spPr>
          <a:xfrm>
            <a:off x="548640" y="3273552"/>
            <a:ext cx="2510714" cy="1261872"/>
          </a:xfrm>
          <a:prstGeom prst="roundRect">
            <a:avLst>
              <a:gd name="adj" fmla="val 7246"/>
            </a:avLst>
          </a:prstGeom>
          <a:solidFill>
            <a:schemeClr val="bg2"/>
          </a:solidFill>
          <a:ln/>
        </p:spPr>
      </p:sp>
      <p:sp>
        <p:nvSpPr>
          <p:cNvPr id="10" name="Text 8"/>
          <p:cNvSpPr txBox="1"/>
          <p:nvPr/>
        </p:nvSpPr>
        <p:spPr>
          <a:xfrm>
            <a:off x="749808" y="3474720"/>
            <a:ext cx="2108378"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Average deal size</a:t>
            </a:r>
            <a:endParaRPr lang="en-US" sz="1000" dirty="0"/>
          </a:p>
        </p:txBody>
      </p:sp>
      <p:sp>
        <p:nvSpPr>
          <p:cNvPr id="11" name="Text 9"/>
          <p:cNvSpPr txBox="1"/>
          <p:nvPr/>
        </p:nvSpPr>
        <p:spPr>
          <a:xfrm>
            <a:off x="749808" y="3721608"/>
            <a:ext cx="2108378"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$41K</a:t>
            </a:r>
            <a:endParaRPr lang="en-US" sz="2400" dirty="0"/>
          </a:p>
        </p:txBody>
      </p:sp>
      <p:sp>
        <p:nvSpPr>
          <p:cNvPr id="12" name="Text 10"/>
          <p:cNvSpPr txBox="1"/>
          <p:nvPr/>
        </p:nvSpPr>
        <p:spPr>
          <a:xfrm>
            <a:off x="749808" y="4133088"/>
            <a:ext cx="2108378"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11%</a:t>
            </a:r>
            <a:pPr algn="l" indent="0" marL="0">
              <a:buNone/>
            </a:pP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13" name="Shape 11"/>
          <p:cNvSpPr/>
          <p:nvPr/>
        </p:nvSpPr>
        <p:spPr>
          <a:xfrm>
            <a:off x="548640" y="4672584"/>
            <a:ext cx="2510714" cy="1261872"/>
          </a:xfrm>
          <a:prstGeom prst="roundRect">
            <a:avLst>
              <a:gd name="adj" fmla="val 7246"/>
            </a:avLst>
          </a:prstGeom>
          <a:solidFill>
            <a:schemeClr val="bg2"/>
          </a:solidFill>
          <a:ln/>
        </p:spPr>
      </p:sp>
      <p:sp>
        <p:nvSpPr>
          <p:cNvPr id="14" name="Text 12"/>
          <p:cNvSpPr txBox="1"/>
          <p:nvPr/>
        </p:nvSpPr>
        <p:spPr>
          <a:xfrm>
            <a:off x="749808" y="4873752"/>
            <a:ext cx="2108378"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Sales cycle</a:t>
            </a:r>
            <a:endParaRPr lang="en-US" sz="1000" dirty="0"/>
          </a:p>
        </p:txBody>
      </p:sp>
      <p:sp>
        <p:nvSpPr>
          <p:cNvPr id="15" name="Text 13"/>
          <p:cNvSpPr txBox="1"/>
          <p:nvPr/>
        </p:nvSpPr>
        <p:spPr>
          <a:xfrm>
            <a:off x="749808" y="5120640"/>
            <a:ext cx="2108378"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52 days</a:t>
            </a:r>
            <a:endParaRPr lang="en-US" sz="2400" dirty="0"/>
          </a:p>
        </p:txBody>
      </p:sp>
      <p:sp>
        <p:nvSpPr>
          <p:cNvPr id="16" name="Text 14"/>
          <p:cNvSpPr txBox="1"/>
          <p:nvPr/>
        </p:nvSpPr>
        <p:spPr>
          <a:xfrm>
            <a:off x="749808" y="5532120"/>
            <a:ext cx="2108378"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6 days</a:t>
            </a:r>
            <a:pPr algn="l" indent="0" marL="0">
              <a:buNone/>
            </a:pPr>
            <a:r>
              <a:rPr lang="en-US" sz="950" dirty="0">
                <a:solidFill>
                  <a:schemeClr val="accent3"/>
                </a:solidFill>
                <a:latin typeface="Inter" pitchFamily="34" charset="0"/>
                <a:ea typeface="Inter" pitchFamily="34" charset="-122"/>
                <a:cs typeface="Inter" pitchFamily="34" charset="-120"/>
              </a:rPr>
              <a:t>  faster</a:t>
            </a:r>
            <a:endParaRPr lang="en-US" sz="950" dirty="0"/>
          </a:p>
        </p:txBody>
      </p:sp>
      <p:sp>
        <p:nvSpPr>
          <p:cNvPr id="17" name="Shape 15"/>
          <p:cNvSpPr/>
          <p:nvPr/>
        </p:nvSpPr>
        <p:spPr>
          <a:xfrm>
            <a:off x="8534095" y="1947672"/>
            <a:ext cx="146304" cy="146304"/>
          </a:xfrm>
          <a:prstGeom prst="roundRect">
            <a:avLst>
              <a:gd name="adj" fmla="val 18750"/>
            </a:avLst>
          </a:prstGeom>
          <a:solidFill>
            <a:schemeClr val="tx1"/>
          </a:solidFill>
          <a:ln/>
        </p:spPr>
      </p:sp>
      <p:sp>
        <p:nvSpPr>
          <p:cNvPr id="18" name="Text 16"/>
          <p:cNvSpPr txBox="1"/>
          <p:nvPr/>
        </p:nvSpPr>
        <p:spPr>
          <a:xfrm>
            <a:off x="8762695" y="1901952"/>
            <a:ext cx="118872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Bookings, $M</a:t>
            </a:r>
            <a:endParaRPr lang="en-US" sz="950" dirty="0"/>
          </a:p>
        </p:txBody>
      </p:sp>
      <p:sp>
        <p:nvSpPr>
          <p:cNvPr id="19" name="Shape 17"/>
          <p:cNvSpPr/>
          <p:nvPr/>
        </p:nvSpPr>
        <p:spPr>
          <a:xfrm>
            <a:off x="10088575" y="2011680"/>
            <a:ext cx="274320" cy="27432"/>
          </a:xfrm>
          <a:prstGeom prst="rect">
            <a:avLst/>
          </a:prstGeom>
          <a:solidFill>
            <a:schemeClr val="accent6"/>
          </a:solidFill>
          <a:ln/>
        </p:spPr>
      </p:sp>
      <p:sp>
        <p:nvSpPr>
          <p:cNvPr id="20" name="Text 18"/>
          <p:cNvSpPr txBox="1"/>
          <p:nvPr/>
        </p:nvSpPr>
        <p:spPr>
          <a:xfrm>
            <a:off x="10454335" y="1901952"/>
            <a:ext cx="109728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Target</a:t>
            </a:r>
            <a:endParaRPr lang="en-US" sz="950" dirty="0"/>
          </a:p>
        </p:txBody>
      </p:sp>
      <p:sp>
        <p:nvSpPr>
          <p:cNvPr id="21" name="Text 19"/>
          <p:cNvSpPr txBox="1"/>
          <p:nvPr/>
        </p:nvSpPr>
        <p:spPr>
          <a:xfrm>
            <a:off x="3470834" y="1874520"/>
            <a:ext cx="36576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Monthly bookings vs target</a:t>
            </a:r>
            <a:endParaRPr lang="en-US" sz="1300" dirty="0"/>
          </a:p>
        </p:txBody>
      </p:sp>
      <p:graphicFrame>
        <p:nvGraphicFramePr>
          <p:cNvPr id="22" name="Chart 0" descr=""/>
          <p:cNvGraphicFramePr/>
          <p:nvPr/>
        </p:nvGraphicFramePr>
        <p:xfrm>
          <a:off x="3379394" y="2240280"/>
          <a:ext cx="8263661" cy="3794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Partners are now our most efficient acquisition channel</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4"/>
                </a:solidFill>
                <a:latin typeface="Inter" pitchFamily="34" charset="0"/>
                <a:ea typeface="Inter" pitchFamily="34" charset="-122"/>
                <a:cs typeface="Inter" pitchFamily="34" charset="-120"/>
              </a:rPr>
              <a:t>Blended CAC fell 14% as partner-sourced deals grew to 38% of new logos.</a:t>
            </a:r>
            <a:endParaRPr lang="en-US" sz="1150" dirty="0"/>
          </a:p>
        </p:txBody>
      </p:sp>
      <p:sp>
        <p:nvSpPr>
          <p:cNvPr id="6" name="Shape 4"/>
          <p:cNvSpPr/>
          <p:nvPr/>
        </p:nvSpPr>
        <p:spPr>
          <a:xfrm>
            <a:off x="548640" y="1874520"/>
            <a:ext cx="3545738" cy="1261872"/>
          </a:xfrm>
          <a:prstGeom prst="roundRect">
            <a:avLst>
              <a:gd name="adj" fmla="val 7246"/>
            </a:avLst>
          </a:prstGeom>
          <a:solidFill>
            <a:schemeClr val="accent5"/>
          </a:solidFill>
          <a:ln/>
        </p:spPr>
      </p:sp>
      <p:sp>
        <p:nvSpPr>
          <p:cNvPr id="7" name="Text 5"/>
          <p:cNvSpPr txBox="1"/>
          <p:nvPr/>
        </p:nvSpPr>
        <p:spPr>
          <a:xfrm>
            <a:off x="749808" y="2075688"/>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New logos, 12 months</a:t>
            </a:r>
            <a:endParaRPr lang="en-US" sz="1000" dirty="0"/>
          </a:p>
        </p:txBody>
      </p:sp>
      <p:pic>
        <p:nvPicPr>
          <p:cNvPr id="8" name="Icon PiUsersThree C6F432"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3618890" y="2048256"/>
            <a:ext cx="274320" cy="274320"/>
          </a:xfrm>
          <a:prstGeom prst="rect">
            <a:avLst/>
          </a:prstGeom>
        </p:spPr>
      </p:pic>
      <p:sp>
        <p:nvSpPr>
          <p:cNvPr id="9" name="Text 6"/>
          <p:cNvSpPr txBox="1"/>
          <p:nvPr/>
        </p:nvSpPr>
        <p:spPr>
          <a:xfrm>
            <a:off x="749808" y="2322576"/>
            <a:ext cx="3143402"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310</a:t>
            </a:r>
            <a:endParaRPr lang="en-US" sz="2600" dirty="0"/>
          </a:p>
        </p:txBody>
      </p:sp>
      <p:sp>
        <p:nvSpPr>
          <p:cNvPr id="10" name="Text 7"/>
          <p:cNvSpPr txBox="1"/>
          <p:nvPr/>
        </p:nvSpPr>
        <p:spPr>
          <a:xfrm>
            <a:off x="749808" y="2734056"/>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27%</a:t>
            </a:r>
            <a:pPr algn="l" indent="0" marL="0">
              <a:buNone/>
            </a:pPr>
            <a:r>
              <a:rPr lang="en-US" sz="950" dirty="0">
                <a:solidFill>
                  <a:schemeClr val="accent4"/>
                </a:solidFill>
                <a:latin typeface="Inter" pitchFamily="34" charset="0"/>
                <a:ea typeface="Inter" pitchFamily="34" charset="-122"/>
                <a:cs typeface="Inter" pitchFamily="34" charset="-120"/>
              </a:rPr>
              <a:t>  YoY</a:t>
            </a:r>
            <a:endParaRPr lang="en-US" sz="950" dirty="0"/>
          </a:p>
        </p:txBody>
      </p:sp>
      <p:sp>
        <p:nvSpPr>
          <p:cNvPr id="11" name="Shape 8"/>
          <p:cNvSpPr/>
          <p:nvPr/>
        </p:nvSpPr>
        <p:spPr>
          <a:xfrm>
            <a:off x="548640" y="3273552"/>
            <a:ext cx="3545738" cy="1261872"/>
          </a:xfrm>
          <a:prstGeom prst="roundRect">
            <a:avLst>
              <a:gd name="adj" fmla="val 7246"/>
            </a:avLst>
          </a:prstGeom>
          <a:solidFill>
            <a:schemeClr val="accent5"/>
          </a:solidFill>
          <a:ln/>
        </p:spPr>
      </p:sp>
      <p:sp>
        <p:nvSpPr>
          <p:cNvPr id="12" name="Text 9"/>
          <p:cNvSpPr txBox="1"/>
          <p:nvPr/>
        </p:nvSpPr>
        <p:spPr>
          <a:xfrm>
            <a:off x="749808" y="3474720"/>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Blended CAC</a:t>
            </a:r>
            <a:endParaRPr lang="en-US" sz="1000" dirty="0"/>
          </a:p>
        </p:txBody>
      </p:sp>
      <p:pic>
        <p:nvPicPr>
          <p:cNvPr id="13" name="Icon PiCoins C6F432"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618890" y="3447288"/>
            <a:ext cx="274320" cy="274320"/>
          </a:xfrm>
          <a:prstGeom prst="rect">
            <a:avLst/>
          </a:prstGeom>
        </p:spPr>
      </p:pic>
      <p:sp>
        <p:nvSpPr>
          <p:cNvPr id="14" name="Text 10"/>
          <p:cNvSpPr txBox="1"/>
          <p:nvPr/>
        </p:nvSpPr>
        <p:spPr>
          <a:xfrm>
            <a:off x="749808" y="3721608"/>
            <a:ext cx="3143402"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$18.2K</a:t>
            </a:r>
            <a:endParaRPr lang="en-US" sz="2600" dirty="0"/>
          </a:p>
        </p:txBody>
      </p:sp>
      <p:sp>
        <p:nvSpPr>
          <p:cNvPr id="15" name="Text 11"/>
          <p:cNvSpPr txBox="1"/>
          <p:nvPr/>
        </p:nvSpPr>
        <p:spPr>
          <a:xfrm>
            <a:off x="749808" y="4133088"/>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14%</a:t>
            </a:r>
            <a:pPr algn="l" indent="0" marL="0">
              <a:buNone/>
            </a:pPr>
            <a:r>
              <a:rPr lang="en-US" sz="950" dirty="0">
                <a:solidFill>
                  <a:schemeClr val="accent4"/>
                </a:solidFill>
                <a:latin typeface="Inter" pitchFamily="34" charset="0"/>
                <a:ea typeface="Inter" pitchFamily="34" charset="-122"/>
                <a:cs typeface="Inter" pitchFamily="34" charset="-120"/>
              </a:rPr>
              <a:t>  lower</a:t>
            </a:r>
            <a:endParaRPr lang="en-US" sz="950" dirty="0"/>
          </a:p>
        </p:txBody>
      </p:sp>
      <p:sp>
        <p:nvSpPr>
          <p:cNvPr id="16" name="Shape 12"/>
          <p:cNvSpPr/>
          <p:nvPr/>
        </p:nvSpPr>
        <p:spPr>
          <a:xfrm>
            <a:off x="548640" y="4672584"/>
            <a:ext cx="3545738" cy="1261872"/>
          </a:xfrm>
          <a:prstGeom prst="roundRect">
            <a:avLst>
              <a:gd name="adj" fmla="val 7246"/>
            </a:avLst>
          </a:prstGeom>
          <a:solidFill>
            <a:schemeClr val="accent5"/>
          </a:solidFill>
          <a:ln/>
        </p:spPr>
      </p:sp>
      <p:sp>
        <p:nvSpPr>
          <p:cNvPr id="17" name="Text 13"/>
          <p:cNvSpPr txBox="1"/>
          <p:nvPr/>
        </p:nvSpPr>
        <p:spPr>
          <a:xfrm>
            <a:off x="749808" y="4873752"/>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CAC payback</a:t>
            </a:r>
            <a:endParaRPr lang="en-US" sz="1000" dirty="0"/>
          </a:p>
        </p:txBody>
      </p:sp>
      <p:pic>
        <p:nvPicPr>
          <p:cNvPr id="18" name="Icon PiHourglass C6F432"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3618890" y="4846320"/>
            <a:ext cx="274320" cy="274320"/>
          </a:xfrm>
          <a:prstGeom prst="rect">
            <a:avLst/>
          </a:prstGeom>
        </p:spPr>
      </p:pic>
      <p:sp>
        <p:nvSpPr>
          <p:cNvPr id="19" name="Text 14"/>
          <p:cNvSpPr txBox="1"/>
          <p:nvPr/>
        </p:nvSpPr>
        <p:spPr>
          <a:xfrm>
            <a:off x="749808" y="5120640"/>
            <a:ext cx="3143402"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11 mo</a:t>
            </a:r>
            <a:endParaRPr lang="en-US" sz="2600" dirty="0"/>
          </a:p>
        </p:txBody>
      </p:sp>
      <p:sp>
        <p:nvSpPr>
          <p:cNvPr id="20" name="Text 15"/>
          <p:cNvSpPr txBox="1"/>
          <p:nvPr/>
        </p:nvSpPr>
        <p:spPr>
          <a:xfrm>
            <a:off x="749808" y="5532120"/>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3 mo</a:t>
            </a:r>
            <a:pPr algn="l" indent="0" marL="0">
              <a:buNone/>
            </a:pPr>
            <a:r>
              <a:rPr lang="en-US" sz="950" dirty="0">
                <a:solidFill>
                  <a:schemeClr val="accent4"/>
                </a:solidFill>
                <a:latin typeface="Inter" pitchFamily="34" charset="0"/>
                <a:ea typeface="Inter" pitchFamily="34" charset="-122"/>
                <a:cs typeface="Inter" pitchFamily="34" charset="-120"/>
              </a:rPr>
              <a:t>  faster</a:t>
            </a:r>
            <a:endParaRPr lang="en-US" sz="950" dirty="0"/>
          </a:p>
        </p:txBody>
      </p:sp>
      <p:sp>
        <p:nvSpPr>
          <p:cNvPr id="21" name="Shape 16"/>
          <p:cNvSpPr/>
          <p:nvPr/>
        </p:nvSpPr>
        <p:spPr>
          <a:xfrm>
            <a:off x="4414418" y="1874520"/>
            <a:ext cx="7228637" cy="4069080"/>
          </a:xfrm>
          <a:prstGeom prst="roundRect">
            <a:avLst>
              <a:gd name="adj" fmla="val 2247"/>
            </a:avLst>
          </a:prstGeom>
          <a:solidFill>
            <a:schemeClr val="accent5"/>
          </a:solidFill>
          <a:ln/>
        </p:spPr>
      </p:sp>
      <p:sp>
        <p:nvSpPr>
          <p:cNvPr id="22" name="Text 17"/>
          <p:cNvSpPr txBox="1"/>
          <p:nvPr/>
        </p:nvSpPr>
        <p:spPr>
          <a:xfrm>
            <a:off x="4734458" y="2103120"/>
            <a:ext cx="3657600" cy="274320"/>
          </a:xfrm>
          <a:prstGeom prst="rect">
            <a:avLst/>
          </a:prstGeom>
          <a:noFill/>
          <a:ln/>
        </p:spPr>
        <p:txBody>
          <a:bodyPr wrap="square" lIns="0" tIns="0" rIns="0" bIns="0" rtlCol="0" anchor="t"/>
          <a:lstStyle/>
          <a:p>
            <a:pPr algn="l" indent="0" marL="0">
              <a:buNone/>
            </a:pPr>
            <a:r>
              <a:rPr lang="en-US" sz="1300" b="1" dirty="0">
                <a:solidFill>
                  <a:schemeClr val="bg1"/>
                </a:solidFill>
                <a:latin typeface="Manrope" pitchFamily="34" charset="0"/>
                <a:ea typeface="Manrope" pitchFamily="34" charset="-122"/>
                <a:cs typeface="Manrope" pitchFamily="34" charset="-120"/>
              </a:rPr>
              <a:t>CAC by channel, $K</a:t>
            </a:r>
            <a:endParaRPr lang="en-US" sz="1300" dirty="0"/>
          </a:p>
        </p:txBody>
      </p:sp>
      <p:graphicFrame>
        <p:nvGraphicFramePr>
          <p:cNvPr id="23" name="Chart 0" descr=""/>
          <p:cNvGraphicFramePr/>
          <p:nvPr/>
        </p:nvGraphicFramePr>
        <p:xfrm>
          <a:off x="4597298" y="2514600"/>
          <a:ext cx="6862877" cy="329184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plays to reach $80M ARR</a:t>
            </a:r>
            <a:endParaRPr lang="en-US" sz="2800" dirty="0"/>
          </a:p>
        </p:txBody>
      </p:sp>
      <p:sp>
        <p:nvSpPr>
          <p:cNvPr id="5" name="Shape 3"/>
          <p:cNvSpPr/>
          <p:nvPr/>
        </p:nvSpPr>
        <p:spPr>
          <a:xfrm>
            <a:off x="548640" y="1874520"/>
            <a:ext cx="3545738" cy="4160520"/>
          </a:xfrm>
          <a:prstGeom prst="roundRect">
            <a:avLst>
              <a:gd name="adj" fmla="val 2579"/>
            </a:avLst>
          </a:prstGeom>
          <a:solidFill>
            <a:schemeClr val="bg2"/>
          </a:solidFill>
          <a:ln/>
        </p:spPr>
      </p:sp>
      <p:sp>
        <p:nvSpPr>
          <p:cNvPr id="6" name="Shape 4"/>
          <p:cNvSpPr/>
          <p:nvPr/>
        </p:nvSpPr>
        <p:spPr>
          <a:xfrm>
            <a:off x="822960" y="2148840"/>
            <a:ext cx="548640" cy="548640"/>
          </a:xfrm>
          <a:prstGeom prst="ellipse">
            <a:avLst/>
          </a:prstGeom>
          <a:solidFill>
            <a:schemeClr val="tx1"/>
          </a:solidFill>
          <a:ln/>
        </p:spPr>
      </p:sp>
      <p:pic>
        <p:nvPicPr>
          <p:cNvPr id="7" name="Icon PiFlag C6F432" descr="preencoded.png">    </p:cNvPr>
          <p:cNvPicPr>
            <a:picLocks noChangeAspect="1"/>
          </p:cNvPicPr>
          <p:nvPr/>
        </p:nvPicPr>
        <p:blipFill>
          <a:blip r:embed="rId1">
            <a:extLst>
              <a:ext uri="{96DAC541-7B7A-43D3-8B79-37D633B846F1}">
                <asvg:svgBlip xmlns:asvg="http://schemas.microsoft.com/office/drawing/2016/SVG/main" r:embed="rId15"/>
              </a:ext>
            </a:extLst>
          </a:blip>
          <a:stretch>
            <a:fillRect/>
          </a:stretch>
        </p:blipFill>
        <p:spPr>
          <a:xfrm>
            <a:off x="954634" y="2280514"/>
            <a:ext cx="285293" cy="285293"/>
          </a:xfrm>
          <a:prstGeom prst="rect">
            <a:avLst/>
          </a:prstGeom>
        </p:spPr>
      </p:pic>
      <p:sp>
        <p:nvSpPr>
          <p:cNvPr id="8" name="Text 5"/>
          <p:cNvSpPr txBox="1"/>
          <p:nvPr/>
        </p:nvSpPr>
        <p:spPr>
          <a:xfrm>
            <a:off x="2905658" y="2286000"/>
            <a:ext cx="914400" cy="228600"/>
          </a:xfrm>
          <a:prstGeom prst="rect">
            <a:avLst/>
          </a:prstGeom>
          <a:noFill/>
          <a:ln/>
        </p:spPr>
        <p:txBody>
          <a:bodyPr wrap="square" lIns="0" tIns="0" rIns="0" bIns="0" rtlCol="0" anchor="t"/>
          <a:lstStyle/>
          <a:p>
            <a:pPr algn="r" indent="0" marL="0">
              <a:buNone/>
            </a:pPr>
            <a:r>
              <a:rPr lang="en-US" sz="950" spc="150" kern="0" dirty="0">
                <a:solidFill>
                  <a:schemeClr val="accent3"/>
                </a:solidFill>
                <a:latin typeface="Inter Medium" pitchFamily="34" charset="0"/>
                <a:ea typeface="Inter Medium" pitchFamily="34" charset="-122"/>
                <a:cs typeface="Inter Medium" pitchFamily="34" charset="-120"/>
              </a:rPr>
              <a:t>PLAY 1</a:t>
            </a:r>
            <a:endParaRPr lang="en-US" sz="950" dirty="0"/>
          </a:p>
        </p:txBody>
      </p:sp>
      <p:sp>
        <p:nvSpPr>
          <p:cNvPr id="9" name="Text 6"/>
          <p:cNvSpPr txBox="1"/>
          <p:nvPr/>
        </p:nvSpPr>
        <p:spPr>
          <a:xfrm>
            <a:off x="822960" y="2880360"/>
            <a:ext cx="2997098"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Land</a:t>
            </a:r>
            <a:endParaRPr lang="en-US" sz="2600" dirty="0"/>
          </a:p>
        </p:txBody>
      </p:sp>
      <p:sp>
        <p:nvSpPr>
          <p:cNvPr id="10" name="Text 7"/>
          <p:cNvSpPr txBox="1"/>
          <p:nvPr/>
        </p:nvSpPr>
        <p:spPr>
          <a:xfrm>
            <a:off x="822960" y="3337560"/>
            <a:ext cx="299709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Win new mid-market logos</a:t>
            </a:r>
            <a:endParaRPr lang="en-US" sz="1100" dirty="0"/>
          </a:p>
        </p:txBody>
      </p:sp>
      <p:pic>
        <p:nvPicPr>
          <p:cNvPr id="11" name="Icon PiCheck 0A1628" descr="preencoded.png">    </p:cNvPr>
          <p:cNvPicPr>
            <a:picLocks noChangeAspect="1"/>
          </p:cNvPicPr>
          <p:nvPr/>
        </p:nvPicPr>
        <p:blipFill>
          <a:blip r:embed="rId2">
            <a:extLst>
              <a:ext uri="{96DAC541-7B7A-43D3-8B79-37D633B846F1}">
                <asvg:svgBlip xmlns:asvg="http://schemas.microsoft.com/office/drawing/2016/SVG/main" r:embed="rId16"/>
              </a:ext>
            </a:extLst>
          </a:blip>
          <a:stretch>
            <a:fillRect/>
          </a:stretch>
        </p:blipFill>
        <p:spPr>
          <a:xfrm>
            <a:off x="822960" y="3831336"/>
            <a:ext cx="182880" cy="182880"/>
          </a:xfrm>
          <a:prstGeom prst="rect">
            <a:avLst/>
          </a:prstGeom>
        </p:spPr>
      </p:pic>
      <p:sp>
        <p:nvSpPr>
          <p:cNvPr id="12" name="Text 8"/>
          <p:cNvSpPr txBox="1"/>
          <p:nvPr/>
        </p:nvSpPr>
        <p:spPr>
          <a:xfrm>
            <a:off x="1097280" y="3794760"/>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Vertical playbooks for 4 industries</a:t>
            </a:r>
            <a:endParaRPr lang="en-US" sz="1050" dirty="0"/>
          </a:p>
        </p:txBody>
      </p:sp>
      <p:pic>
        <p:nvPicPr>
          <p:cNvPr id="13" name="Icon PiCheck 0A1628" descr="preencoded.png">    </p:cNvPr>
          <p:cNvPicPr>
            <a:picLocks noChangeAspect="1"/>
          </p:cNvPicPr>
          <p:nvPr/>
        </p:nvPicPr>
        <p:blipFill>
          <a:blip r:embed="rId3">
            <a:extLst>
              <a:ext uri="{96DAC541-7B7A-43D3-8B79-37D633B846F1}">
                <asvg:svgBlip xmlns:asvg="http://schemas.microsoft.com/office/drawing/2016/SVG/main" r:embed="rId17"/>
              </a:ext>
            </a:extLst>
          </a:blip>
          <a:stretch>
            <a:fillRect/>
          </a:stretch>
        </p:blipFill>
        <p:spPr>
          <a:xfrm>
            <a:off x="822960" y="4215384"/>
            <a:ext cx="182880" cy="182880"/>
          </a:xfrm>
          <a:prstGeom prst="rect">
            <a:avLst/>
          </a:prstGeom>
        </p:spPr>
      </p:pic>
      <p:sp>
        <p:nvSpPr>
          <p:cNvPr id="14" name="Text 9"/>
          <p:cNvSpPr txBox="1"/>
          <p:nvPr/>
        </p:nvSpPr>
        <p:spPr>
          <a:xfrm>
            <a:off x="1097280" y="4178808"/>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Partner co-selling with 3 CRM vendors</a:t>
            </a:r>
            <a:endParaRPr lang="en-US" sz="1050" dirty="0"/>
          </a:p>
        </p:txBody>
      </p:sp>
      <p:pic>
        <p:nvPicPr>
          <p:cNvPr id="15" name="Icon PiCheck 0A1628" descr="preencoded.png">    </p:cNvPr>
          <p:cNvPicPr>
            <a:picLocks noChangeAspect="1"/>
          </p:cNvPicPr>
          <p:nvPr/>
        </p:nvPicPr>
        <p:blipFill>
          <a:blip r:embed="rId4">
            <a:extLst>
              <a:ext uri="{96DAC541-7B7A-43D3-8B79-37D633B846F1}">
                <asvg:svgBlip xmlns:asvg="http://schemas.microsoft.com/office/drawing/2016/SVG/main" r:embed="rId18"/>
              </a:ext>
            </a:extLst>
          </a:blip>
          <a:stretch>
            <a:fillRect/>
          </a:stretch>
        </p:blipFill>
        <p:spPr>
          <a:xfrm>
            <a:off x="822960" y="4599432"/>
            <a:ext cx="182880" cy="182880"/>
          </a:xfrm>
          <a:prstGeom prst="rect">
            <a:avLst/>
          </a:prstGeom>
        </p:spPr>
      </p:pic>
      <p:sp>
        <p:nvSpPr>
          <p:cNvPr id="16" name="Text 10"/>
          <p:cNvSpPr txBox="1"/>
          <p:nvPr/>
        </p:nvSpPr>
        <p:spPr>
          <a:xfrm>
            <a:off x="1097280" y="4562856"/>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14-day proof of value</a:t>
            </a:r>
            <a:endParaRPr lang="en-US" sz="1050" dirty="0"/>
          </a:p>
        </p:txBody>
      </p:sp>
      <p:sp>
        <p:nvSpPr>
          <p:cNvPr id="17" name="Shape 11"/>
          <p:cNvSpPr/>
          <p:nvPr/>
        </p:nvSpPr>
        <p:spPr>
          <a:xfrm>
            <a:off x="731520" y="5120640"/>
            <a:ext cx="3179978" cy="731520"/>
          </a:xfrm>
          <a:prstGeom prst="roundRect">
            <a:avLst>
              <a:gd name="adj" fmla="val 10000"/>
            </a:avLst>
          </a:prstGeom>
          <a:solidFill>
            <a:schemeClr val="bg1"/>
          </a:solidFill>
          <a:ln/>
        </p:spPr>
      </p:sp>
      <p:sp>
        <p:nvSpPr>
          <p:cNvPr id="18" name="Text 12"/>
          <p:cNvSpPr txBox="1"/>
          <p:nvPr/>
        </p:nvSpPr>
        <p:spPr>
          <a:xfrm>
            <a:off x="914400" y="5120640"/>
            <a:ext cx="1280160" cy="731520"/>
          </a:xfrm>
          <a:prstGeom prst="rect">
            <a:avLst/>
          </a:prstGeom>
          <a:noFill/>
          <a:ln/>
        </p:spPr>
        <p:txBody>
          <a:bodyPr wrap="square" lIns="0" tIns="0" rIns="0" bIns="0" rtlCol="0" anchor="ctr"/>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+420</a:t>
            </a:r>
            <a:endParaRPr lang="en-US" sz="2200" dirty="0"/>
          </a:p>
        </p:txBody>
      </p:sp>
      <p:sp>
        <p:nvSpPr>
          <p:cNvPr id="19" name="Text 13"/>
          <p:cNvSpPr txBox="1"/>
          <p:nvPr/>
        </p:nvSpPr>
        <p:spPr>
          <a:xfrm>
            <a:off x="2194560" y="5120640"/>
            <a:ext cx="1534058" cy="7315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new logos</a:t>
            </a:r>
            <a:endParaRPr lang="en-US" sz="1050" dirty="0"/>
          </a:p>
        </p:txBody>
      </p:sp>
      <p:sp>
        <p:nvSpPr>
          <p:cNvPr id="20" name="Shape 14"/>
          <p:cNvSpPr/>
          <p:nvPr/>
        </p:nvSpPr>
        <p:spPr>
          <a:xfrm>
            <a:off x="4322978" y="1874520"/>
            <a:ext cx="3545738" cy="4160520"/>
          </a:xfrm>
          <a:prstGeom prst="roundRect">
            <a:avLst>
              <a:gd name="adj" fmla="val 2579"/>
            </a:avLst>
          </a:prstGeom>
          <a:solidFill>
            <a:schemeClr val="bg2"/>
          </a:solidFill>
          <a:ln/>
        </p:spPr>
      </p:sp>
      <p:sp>
        <p:nvSpPr>
          <p:cNvPr id="21" name="Shape 15"/>
          <p:cNvSpPr/>
          <p:nvPr/>
        </p:nvSpPr>
        <p:spPr>
          <a:xfrm>
            <a:off x="4597298" y="2148840"/>
            <a:ext cx="548640" cy="548640"/>
          </a:xfrm>
          <a:prstGeom prst="ellipse">
            <a:avLst/>
          </a:prstGeom>
          <a:solidFill>
            <a:schemeClr val="tx1"/>
          </a:solidFill>
          <a:ln/>
        </p:spPr>
      </p:sp>
      <p:pic>
        <p:nvPicPr>
          <p:cNvPr id="22" name="Icon PiArrowUpRight C6F432" descr="preencoded.png">    </p:cNvPr>
          <p:cNvPicPr>
            <a:picLocks noChangeAspect="1"/>
          </p:cNvPicPr>
          <p:nvPr/>
        </p:nvPicPr>
        <p:blipFill>
          <a:blip r:embed="rId5">
            <a:extLst>
              <a:ext uri="{96DAC541-7B7A-43D3-8B79-37D633B846F1}">
                <asvg:svgBlip xmlns:asvg="http://schemas.microsoft.com/office/drawing/2016/SVG/main" r:embed="rId19"/>
              </a:ext>
            </a:extLst>
          </a:blip>
          <a:stretch>
            <a:fillRect/>
          </a:stretch>
        </p:blipFill>
        <p:spPr>
          <a:xfrm>
            <a:off x="4728972" y="2280514"/>
            <a:ext cx="285293" cy="285293"/>
          </a:xfrm>
          <a:prstGeom prst="rect">
            <a:avLst/>
          </a:prstGeom>
        </p:spPr>
      </p:pic>
      <p:sp>
        <p:nvSpPr>
          <p:cNvPr id="23" name="Text 16"/>
          <p:cNvSpPr txBox="1"/>
          <p:nvPr/>
        </p:nvSpPr>
        <p:spPr>
          <a:xfrm>
            <a:off x="6679997" y="2286000"/>
            <a:ext cx="914400" cy="228600"/>
          </a:xfrm>
          <a:prstGeom prst="rect">
            <a:avLst/>
          </a:prstGeom>
          <a:noFill/>
          <a:ln/>
        </p:spPr>
        <p:txBody>
          <a:bodyPr wrap="square" lIns="0" tIns="0" rIns="0" bIns="0" rtlCol="0" anchor="t"/>
          <a:lstStyle/>
          <a:p>
            <a:pPr algn="r" indent="0" marL="0">
              <a:buNone/>
            </a:pPr>
            <a:r>
              <a:rPr lang="en-US" sz="950" spc="150" kern="0" dirty="0">
                <a:solidFill>
                  <a:schemeClr val="accent3"/>
                </a:solidFill>
                <a:latin typeface="Inter Medium" pitchFamily="34" charset="0"/>
                <a:ea typeface="Inter Medium" pitchFamily="34" charset="-122"/>
                <a:cs typeface="Inter Medium" pitchFamily="34" charset="-120"/>
              </a:rPr>
              <a:t>PLAY 2</a:t>
            </a:r>
            <a:endParaRPr lang="en-US" sz="950" dirty="0"/>
          </a:p>
        </p:txBody>
      </p:sp>
      <p:sp>
        <p:nvSpPr>
          <p:cNvPr id="24" name="Text 17"/>
          <p:cNvSpPr txBox="1"/>
          <p:nvPr/>
        </p:nvSpPr>
        <p:spPr>
          <a:xfrm>
            <a:off x="4597298" y="2880360"/>
            <a:ext cx="2997098"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Expand</a:t>
            </a:r>
            <a:endParaRPr lang="en-US" sz="2600" dirty="0"/>
          </a:p>
        </p:txBody>
      </p:sp>
      <p:sp>
        <p:nvSpPr>
          <p:cNvPr id="25" name="Text 18"/>
          <p:cNvSpPr txBox="1"/>
          <p:nvPr/>
        </p:nvSpPr>
        <p:spPr>
          <a:xfrm>
            <a:off x="4597298" y="3337560"/>
            <a:ext cx="299709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Grow inside existing accounts</a:t>
            </a:r>
            <a:endParaRPr lang="en-US" sz="1100" dirty="0"/>
          </a:p>
        </p:txBody>
      </p:sp>
      <p:pic>
        <p:nvPicPr>
          <p:cNvPr id="26" name="Icon PiCheck 0A1628" descr="preencoded.png">    </p:cNvPr>
          <p:cNvPicPr>
            <a:picLocks noChangeAspect="1"/>
          </p:cNvPicPr>
          <p:nvPr/>
        </p:nvPicPr>
        <p:blipFill>
          <a:blip r:embed="rId6">
            <a:extLst>
              <a:ext uri="{96DAC541-7B7A-43D3-8B79-37D633B846F1}">
                <asvg:svgBlip xmlns:asvg="http://schemas.microsoft.com/office/drawing/2016/SVG/main" r:embed="rId20"/>
              </a:ext>
            </a:extLst>
          </a:blip>
          <a:stretch>
            <a:fillRect/>
          </a:stretch>
        </p:blipFill>
        <p:spPr>
          <a:xfrm>
            <a:off x="4597298" y="3831336"/>
            <a:ext cx="182880" cy="182880"/>
          </a:xfrm>
          <a:prstGeom prst="rect">
            <a:avLst/>
          </a:prstGeom>
        </p:spPr>
      </p:pic>
      <p:sp>
        <p:nvSpPr>
          <p:cNvPr id="27" name="Text 19"/>
          <p:cNvSpPr txBox="1"/>
          <p:nvPr/>
        </p:nvSpPr>
        <p:spPr>
          <a:xfrm>
            <a:off x="4871618" y="3794760"/>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Seat expansion to CS and marketing</a:t>
            </a:r>
            <a:endParaRPr lang="en-US" sz="1050" dirty="0"/>
          </a:p>
        </p:txBody>
      </p:sp>
      <p:pic>
        <p:nvPicPr>
          <p:cNvPr id="28" name="Icon PiCheck 0A1628" descr="preencoded.png">    </p:cNvPr>
          <p:cNvPicPr>
            <a:picLocks noChangeAspect="1"/>
          </p:cNvPicPr>
          <p:nvPr/>
        </p:nvPicPr>
        <p:blipFill>
          <a:blip r:embed="rId7">
            <a:extLst>
              <a:ext uri="{96DAC541-7B7A-43D3-8B79-37D633B846F1}">
                <asvg:svgBlip xmlns:asvg="http://schemas.microsoft.com/office/drawing/2016/SVG/main" r:embed="rId21"/>
              </a:ext>
            </a:extLst>
          </a:blip>
          <a:stretch>
            <a:fillRect/>
          </a:stretch>
        </p:blipFill>
        <p:spPr>
          <a:xfrm>
            <a:off x="4597298" y="4215384"/>
            <a:ext cx="182880" cy="182880"/>
          </a:xfrm>
          <a:prstGeom prst="rect">
            <a:avLst/>
          </a:prstGeom>
        </p:spPr>
      </p:pic>
      <p:sp>
        <p:nvSpPr>
          <p:cNvPr id="29" name="Text 20"/>
          <p:cNvSpPr txBox="1"/>
          <p:nvPr/>
        </p:nvSpPr>
        <p:spPr>
          <a:xfrm>
            <a:off x="4871618" y="4178808"/>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Cross-sell coaching module</a:t>
            </a:r>
            <a:endParaRPr lang="en-US" sz="1050" dirty="0"/>
          </a:p>
        </p:txBody>
      </p:sp>
      <p:pic>
        <p:nvPicPr>
          <p:cNvPr id="30" name="Icon PiCheck 0A1628" descr="preencoded.png">    </p:cNvPr>
          <p:cNvPicPr>
            <a:picLocks noChangeAspect="1"/>
          </p:cNvPicPr>
          <p:nvPr/>
        </p:nvPicPr>
        <p:blipFill>
          <a:blip r:embed="rId8">
            <a:extLst>
              <a:ext uri="{96DAC541-7B7A-43D3-8B79-37D633B846F1}">
                <asvg:svgBlip xmlns:asvg="http://schemas.microsoft.com/office/drawing/2016/SVG/main" r:embed="rId22"/>
              </a:ext>
            </a:extLst>
          </a:blip>
          <a:stretch>
            <a:fillRect/>
          </a:stretch>
        </p:blipFill>
        <p:spPr>
          <a:xfrm>
            <a:off x="4597298" y="4599432"/>
            <a:ext cx="182880" cy="182880"/>
          </a:xfrm>
          <a:prstGeom prst="rect">
            <a:avLst/>
          </a:prstGeom>
        </p:spPr>
      </p:pic>
      <p:sp>
        <p:nvSpPr>
          <p:cNvPr id="31" name="Text 21"/>
          <p:cNvSpPr txBox="1"/>
          <p:nvPr/>
        </p:nvSpPr>
        <p:spPr>
          <a:xfrm>
            <a:off x="4871618" y="4562856"/>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Executive business reviews</a:t>
            </a:r>
            <a:endParaRPr lang="en-US" sz="1050" dirty="0"/>
          </a:p>
        </p:txBody>
      </p:sp>
      <p:sp>
        <p:nvSpPr>
          <p:cNvPr id="32" name="Shape 22"/>
          <p:cNvSpPr/>
          <p:nvPr/>
        </p:nvSpPr>
        <p:spPr>
          <a:xfrm>
            <a:off x="4505858" y="5120640"/>
            <a:ext cx="3179978" cy="731520"/>
          </a:xfrm>
          <a:prstGeom prst="roundRect">
            <a:avLst>
              <a:gd name="adj" fmla="val 10000"/>
            </a:avLst>
          </a:prstGeom>
          <a:solidFill>
            <a:schemeClr val="bg1"/>
          </a:solidFill>
          <a:ln/>
        </p:spPr>
      </p:sp>
      <p:sp>
        <p:nvSpPr>
          <p:cNvPr id="33" name="Text 23"/>
          <p:cNvSpPr txBox="1"/>
          <p:nvPr/>
        </p:nvSpPr>
        <p:spPr>
          <a:xfrm>
            <a:off x="4688738" y="5120640"/>
            <a:ext cx="1280160" cy="731520"/>
          </a:xfrm>
          <a:prstGeom prst="rect">
            <a:avLst/>
          </a:prstGeom>
          <a:noFill/>
          <a:ln/>
        </p:spPr>
        <p:txBody>
          <a:bodyPr wrap="square" lIns="0" tIns="0" rIns="0" bIns="0" rtlCol="0" anchor="ctr"/>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135%</a:t>
            </a:r>
            <a:endParaRPr lang="en-US" sz="2200" dirty="0"/>
          </a:p>
        </p:txBody>
      </p:sp>
      <p:sp>
        <p:nvSpPr>
          <p:cNvPr id="34" name="Text 24"/>
          <p:cNvSpPr txBox="1"/>
          <p:nvPr/>
        </p:nvSpPr>
        <p:spPr>
          <a:xfrm>
            <a:off x="5968898" y="5120640"/>
            <a:ext cx="1534058" cy="7315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net retention</a:t>
            </a:r>
            <a:endParaRPr lang="en-US" sz="1050" dirty="0"/>
          </a:p>
        </p:txBody>
      </p:sp>
      <p:sp>
        <p:nvSpPr>
          <p:cNvPr id="35" name="Shape 25"/>
          <p:cNvSpPr/>
          <p:nvPr/>
        </p:nvSpPr>
        <p:spPr>
          <a:xfrm>
            <a:off x="8097317" y="1874520"/>
            <a:ext cx="3545738" cy="4160520"/>
          </a:xfrm>
          <a:prstGeom prst="roundRect">
            <a:avLst>
              <a:gd name="adj" fmla="val 2579"/>
            </a:avLst>
          </a:prstGeom>
          <a:solidFill>
            <a:schemeClr val="bg2"/>
          </a:solidFill>
          <a:ln/>
        </p:spPr>
      </p:sp>
      <p:sp>
        <p:nvSpPr>
          <p:cNvPr id="36" name="Shape 26"/>
          <p:cNvSpPr/>
          <p:nvPr/>
        </p:nvSpPr>
        <p:spPr>
          <a:xfrm>
            <a:off x="8371637" y="2148840"/>
            <a:ext cx="548640" cy="548640"/>
          </a:xfrm>
          <a:prstGeom prst="ellipse">
            <a:avLst/>
          </a:prstGeom>
          <a:solidFill>
            <a:schemeClr val="tx1"/>
          </a:solidFill>
          <a:ln/>
        </p:spPr>
      </p:sp>
      <p:pic>
        <p:nvPicPr>
          <p:cNvPr id="37" name="Icon PiShieldCheck C6F432" descr="preencoded.png">    </p:cNvPr>
          <p:cNvPicPr>
            <a:picLocks noChangeAspect="1"/>
          </p:cNvPicPr>
          <p:nvPr/>
        </p:nvPicPr>
        <p:blipFill>
          <a:blip r:embed="rId9">
            <a:extLst>
              <a:ext uri="{96DAC541-7B7A-43D3-8B79-37D633B846F1}">
                <asvg:svgBlip xmlns:asvg="http://schemas.microsoft.com/office/drawing/2016/SVG/main" r:embed="rId23"/>
              </a:ext>
            </a:extLst>
          </a:blip>
          <a:stretch>
            <a:fillRect/>
          </a:stretch>
        </p:blipFill>
        <p:spPr>
          <a:xfrm>
            <a:off x="8503310" y="2280514"/>
            <a:ext cx="285293" cy="285293"/>
          </a:xfrm>
          <a:prstGeom prst="rect">
            <a:avLst/>
          </a:prstGeom>
        </p:spPr>
      </p:pic>
      <p:sp>
        <p:nvSpPr>
          <p:cNvPr id="38" name="Text 27"/>
          <p:cNvSpPr txBox="1"/>
          <p:nvPr/>
        </p:nvSpPr>
        <p:spPr>
          <a:xfrm>
            <a:off x="10454335" y="2286000"/>
            <a:ext cx="914400" cy="228600"/>
          </a:xfrm>
          <a:prstGeom prst="rect">
            <a:avLst/>
          </a:prstGeom>
          <a:noFill/>
          <a:ln/>
        </p:spPr>
        <p:txBody>
          <a:bodyPr wrap="square" lIns="0" tIns="0" rIns="0" bIns="0" rtlCol="0" anchor="t"/>
          <a:lstStyle/>
          <a:p>
            <a:pPr algn="r" indent="0" marL="0">
              <a:buNone/>
            </a:pPr>
            <a:r>
              <a:rPr lang="en-US" sz="950" spc="150" kern="0" dirty="0">
                <a:solidFill>
                  <a:schemeClr val="accent3"/>
                </a:solidFill>
                <a:latin typeface="Inter Medium" pitchFamily="34" charset="0"/>
                <a:ea typeface="Inter Medium" pitchFamily="34" charset="-122"/>
                <a:cs typeface="Inter Medium" pitchFamily="34" charset="-120"/>
              </a:rPr>
              <a:t>PLAY 3</a:t>
            </a:r>
            <a:endParaRPr lang="en-US" sz="950" dirty="0"/>
          </a:p>
        </p:txBody>
      </p:sp>
      <p:sp>
        <p:nvSpPr>
          <p:cNvPr id="39" name="Text 28"/>
          <p:cNvSpPr txBox="1"/>
          <p:nvPr/>
        </p:nvSpPr>
        <p:spPr>
          <a:xfrm>
            <a:off x="8371637" y="2880360"/>
            <a:ext cx="2997098"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Retain</a:t>
            </a:r>
            <a:endParaRPr lang="en-US" sz="2600" dirty="0"/>
          </a:p>
        </p:txBody>
      </p:sp>
      <p:sp>
        <p:nvSpPr>
          <p:cNvPr id="40" name="Text 29"/>
          <p:cNvSpPr txBox="1"/>
          <p:nvPr/>
        </p:nvSpPr>
        <p:spPr>
          <a:xfrm>
            <a:off x="8371637" y="3337560"/>
            <a:ext cx="299709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Protect the installed base</a:t>
            </a:r>
            <a:endParaRPr lang="en-US" sz="1100" dirty="0"/>
          </a:p>
        </p:txBody>
      </p:sp>
      <p:pic>
        <p:nvPicPr>
          <p:cNvPr id="41" name="Icon PiCheck 0A1628" descr="preencoded.png">    </p:cNvPr>
          <p:cNvPicPr>
            <a:picLocks noChangeAspect="1"/>
          </p:cNvPicPr>
          <p:nvPr/>
        </p:nvPicPr>
        <p:blipFill>
          <a:blip r:embed="rId10">
            <a:extLst>
              <a:ext uri="{96DAC541-7B7A-43D3-8B79-37D633B846F1}">
                <asvg:svgBlip xmlns:asvg="http://schemas.microsoft.com/office/drawing/2016/SVG/main" r:embed="rId24"/>
              </a:ext>
            </a:extLst>
          </a:blip>
          <a:stretch>
            <a:fillRect/>
          </a:stretch>
        </p:blipFill>
        <p:spPr>
          <a:xfrm>
            <a:off x="8371637" y="3831336"/>
            <a:ext cx="182880" cy="182880"/>
          </a:xfrm>
          <a:prstGeom prst="rect">
            <a:avLst/>
          </a:prstGeom>
        </p:spPr>
      </p:pic>
      <p:sp>
        <p:nvSpPr>
          <p:cNvPr id="42" name="Text 30"/>
          <p:cNvSpPr txBox="1"/>
          <p:nvPr/>
        </p:nvSpPr>
        <p:spPr>
          <a:xfrm>
            <a:off x="8645957" y="3794760"/>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Health scoring on every account</a:t>
            </a:r>
            <a:endParaRPr lang="en-US" sz="1050" dirty="0"/>
          </a:p>
        </p:txBody>
      </p:sp>
      <p:pic>
        <p:nvPicPr>
          <p:cNvPr id="43" name="Icon PiCheck 0A1628" descr="preencoded.png">    </p:cNvPr>
          <p:cNvPicPr>
            <a:picLocks noChangeAspect="1"/>
          </p:cNvPicPr>
          <p:nvPr/>
        </p:nvPicPr>
        <p:blipFill>
          <a:blip r:embed="rId11">
            <a:extLst>
              <a:ext uri="{96DAC541-7B7A-43D3-8B79-37D633B846F1}">
                <asvg:svgBlip xmlns:asvg="http://schemas.microsoft.com/office/drawing/2016/SVG/main" r:embed="rId25"/>
              </a:ext>
            </a:extLst>
          </a:blip>
          <a:stretch>
            <a:fillRect/>
          </a:stretch>
        </p:blipFill>
        <p:spPr>
          <a:xfrm>
            <a:off x="8371637" y="4215384"/>
            <a:ext cx="182880" cy="182880"/>
          </a:xfrm>
          <a:prstGeom prst="rect">
            <a:avLst/>
          </a:prstGeom>
        </p:spPr>
      </p:pic>
      <p:sp>
        <p:nvSpPr>
          <p:cNvPr id="44" name="Text 31"/>
          <p:cNvSpPr txBox="1"/>
          <p:nvPr/>
        </p:nvSpPr>
        <p:spPr>
          <a:xfrm>
            <a:off x="8645957" y="4178808"/>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Renewal desk 120 days out</a:t>
            </a:r>
            <a:endParaRPr lang="en-US" sz="1050" dirty="0"/>
          </a:p>
        </p:txBody>
      </p:sp>
      <p:pic>
        <p:nvPicPr>
          <p:cNvPr id="45" name="Icon PiCheck 0A1628" descr="preencoded.png">    </p:cNvPr>
          <p:cNvPicPr>
            <a:picLocks noChangeAspect="1"/>
          </p:cNvPicPr>
          <p:nvPr/>
        </p:nvPicPr>
        <p:blipFill>
          <a:blip r:embed="rId12">
            <a:extLst>
              <a:ext uri="{96DAC541-7B7A-43D3-8B79-37D633B846F1}">
                <asvg:svgBlip xmlns:asvg="http://schemas.microsoft.com/office/drawing/2016/SVG/main" r:embed="rId26"/>
              </a:ext>
            </a:extLst>
          </a:blip>
          <a:stretch>
            <a:fillRect/>
          </a:stretch>
        </p:blipFill>
        <p:spPr>
          <a:xfrm>
            <a:off x="8371637" y="4599432"/>
            <a:ext cx="182880" cy="182880"/>
          </a:xfrm>
          <a:prstGeom prst="rect">
            <a:avLst/>
          </a:prstGeom>
        </p:spPr>
      </p:pic>
      <p:sp>
        <p:nvSpPr>
          <p:cNvPr id="46" name="Text 32"/>
          <p:cNvSpPr txBox="1"/>
          <p:nvPr/>
        </p:nvSpPr>
        <p:spPr>
          <a:xfrm>
            <a:off x="8645957" y="4562856"/>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Customer advisory board</a:t>
            </a:r>
            <a:endParaRPr lang="en-US" sz="1050" dirty="0"/>
          </a:p>
        </p:txBody>
      </p:sp>
      <p:sp>
        <p:nvSpPr>
          <p:cNvPr id="47" name="Shape 33"/>
          <p:cNvSpPr/>
          <p:nvPr/>
        </p:nvSpPr>
        <p:spPr>
          <a:xfrm>
            <a:off x="8280197" y="5120640"/>
            <a:ext cx="3179978" cy="731520"/>
          </a:xfrm>
          <a:prstGeom prst="roundRect">
            <a:avLst>
              <a:gd name="adj" fmla="val 10000"/>
            </a:avLst>
          </a:prstGeom>
          <a:solidFill>
            <a:schemeClr val="bg1"/>
          </a:solidFill>
          <a:ln/>
        </p:spPr>
      </p:sp>
      <p:sp>
        <p:nvSpPr>
          <p:cNvPr id="48" name="Text 34"/>
          <p:cNvSpPr txBox="1"/>
          <p:nvPr/>
        </p:nvSpPr>
        <p:spPr>
          <a:xfrm>
            <a:off x="8463077" y="5120640"/>
            <a:ext cx="1280160" cy="731520"/>
          </a:xfrm>
          <a:prstGeom prst="rect">
            <a:avLst/>
          </a:prstGeom>
          <a:noFill/>
          <a:ln/>
        </p:spPr>
        <p:txBody>
          <a:bodyPr wrap="square" lIns="0" tIns="0" rIns="0" bIns="0" rtlCol="0" anchor="ctr"/>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&lt;6%</a:t>
            </a:r>
            <a:endParaRPr lang="en-US" sz="2200" dirty="0"/>
          </a:p>
        </p:txBody>
      </p:sp>
      <p:sp>
        <p:nvSpPr>
          <p:cNvPr id="49" name="Text 35"/>
          <p:cNvSpPr txBox="1"/>
          <p:nvPr/>
        </p:nvSpPr>
        <p:spPr>
          <a:xfrm>
            <a:off x="9743237" y="5120640"/>
            <a:ext cx="1534058" cy="7315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gross churn</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Direct sales still leads, but partners grew fastest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New ARR by channel, trailing 12 months ($M).</a:t>
            </a:r>
            <a:endParaRPr lang="en-US" sz="1150" dirty="0"/>
          </a:p>
        </p:txBody>
      </p:sp>
      <p:sp>
        <p:nvSpPr>
          <p:cNvPr id="6" name="Shape 4"/>
          <p:cNvSpPr/>
          <p:nvPr/>
        </p:nvSpPr>
        <p:spPr>
          <a:xfrm>
            <a:off x="548640" y="1874520"/>
            <a:ext cx="4489323" cy="4160520"/>
          </a:xfrm>
          <a:prstGeom prst="roundRect">
            <a:avLst>
              <a:gd name="adj" fmla="val 2198"/>
            </a:avLst>
          </a:prstGeom>
          <a:solidFill>
            <a:schemeClr val="bg1"/>
          </a:solidFill>
          <a:ln/>
        </p:spPr>
      </p:sp>
      <p:graphicFrame>
        <p:nvGraphicFramePr>
          <p:cNvPr id="7" name="Chart 0" descr=""/>
          <p:cNvGraphicFramePr/>
          <p:nvPr/>
        </p:nvGraphicFramePr>
        <p:xfrm>
          <a:off x="822960" y="2057400"/>
          <a:ext cx="3940683" cy="37947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1696022" y="3611880"/>
            <a:ext cx="2194560" cy="457200"/>
          </a:xfrm>
          <a:prstGeom prst="rect">
            <a:avLst/>
          </a:prstGeom>
          <a:noFill/>
          <a:ln/>
        </p:spPr>
        <p:txBody>
          <a:bodyPr wrap="square" lIns="0" tIns="0" rIns="0" bIns="0" rtlCol="0" anchor="t"/>
          <a:lstStyle/>
          <a:p>
            <a:pPr algn="ctr" indent="0" marL="0">
              <a:buNone/>
            </a:pPr>
            <a:r>
              <a:rPr lang="en-US" sz="2600" dirty="0">
                <a:solidFill>
                  <a:schemeClr val="tx1"/>
                </a:solidFill>
                <a:latin typeface="Manrope ExtraBold" pitchFamily="34" charset="0"/>
                <a:ea typeface="Manrope ExtraBold" pitchFamily="34" charset="-122"/>
                <a:cs typeface="Manrope ExtraBold" pitchFamily="34" charset="-120"/>
              </a:rPr>
              <a:t>$20.3M</a:t>
            </a:r>
            <a:endParaRPr lang="en-US" sz="2600" dirty="0"/>
          </a:p>
        </p:txBody>
      </p:sp>
      <p:sp>
        <p:nvSpPr>
          <p:cNvPr id="9" name="Text 6"/>
          <p:cNvSpPr txBox="1"/>
          <p:nvPr/>
        </p:nvSpPr>
        <p:spPr>
          <a:xfrm>
            <a:off x="1696022" y="4069080"/>
            <a:ext cx="2194560" cy="228600"/>
          </a:xfrm>
          <a:prstGeom prst="rect">
            <a:avLst/>
          </a:prstGeom>
          <a:noFill/>
          <a:ln/>
        </p:spPr>
        <p:txBody>
          <a:bodyPr wrap="square" lIns="0" tIns="0" rIns="0" bIns="0" rtlCol="0" anchor="t"/>
          <a:lstStyle/>
          <a:p>
            <a:pPr algn="ctr" indent="0" marL="0">
              <a:buNone/>
            </a:pPr>
            <a:r>
              <a:rPr lang="en-US" sz="1000" dirty="0">
                <a:solidFill>
                  <a:schemeClr val="accent3"/>
                </a:solidFill>
                <a:latin typeface="Inter" pitchFamily="34" charset="0"/>
                <a:ea typeface="Inter" pitchFamily="34" charset="-122"/>
                <a:cs typeface="Inter" pitchFamily="34" charset="-120"/>
              </a:rPr>
              <a:t>new ARR</a:t>
            </a:r>
            <a:endParaRPr lang="en-US" sz="1000" dirty="0"/>
          </a:p>
        </p:txBody>
      </p:sp>
      <p:sp>
        <p:nvSpPr>
          <p:cNvPr id="10" name="Text 7"/>
          <p:cNvSpPr txBox="1"/>
          <p:nvPr/>
        </p:nvSpPr>
        <p:spPr>
          <a:xfrm>
            <a:off x="5906643" y="1920240"/>
            <a:ext cx="27432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CHANNEL</a:t>
            </a:r>
            <a:endParaRPr lang="en-US" sz="900" dirty="0"/>
          </a:p>
        </p:txBody>
      </p:sp>
      <p:sp>
        <p:nvSpPr>
          <p:cNvPr id="11" name="Text 8"/>
          <p:cNvSpPr txBox="1"/>
          <p:nvPr/>
        </p:nvSpPr>
        <p:spPr>
          <a:xfrm>
            <a:off x="8808415" y="1920240"/>
            <a:ext cx="109728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NEW ARR</a:t>
            </a:r>
            <a:endParaRPr lang="en-US" sz="900" dirty="0"/>
          </a:p>
        </p:txBody>
      </p:sp>
      <p:sp>
        <p:nvSpPr>
          <p:cNvPr id="12" name="Text 9"/>
          <p:cNvSpPr txBox="1"/>
          <p:nvPr/>
        </p:nvSpPr>
        <p:spPr>
          <a:xfrm>
            <a:off x="9951415" y="1920240"/>
            <a:ext cx="73152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SHARE</a:t>
            </a:r>
            <a:endParaRPr lang="en-US" sz="900" dirty="0"/>
          </a:p>
        </p:txBody>
      </p:sp>
      <p:sp>
        <p:nvSpPr>
          <p:cNvPr id="13" name="Text 10"/>
          <p:cNvSpPr txBox="1"/>
          <p:nvPr/>
        </p:nvSpPr>
        <p:spPr>
          <a:xfrm>
            <a:off x="10774375" y="1920240"/>
            <a:ext cx="86868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GROWTH</a:t>
            </a:r>
            <a:endParaRPr lang="en-US" sz="900" dirty="0"/>
          </a:p>
        </p:txBody>
      </p:sp>
      <p:sp>
        <p:nvSpPr>
          <p:cNvPr id="14" name="Shape 11"/>
          <p:cNvSpPr/>
          <p:nvPr/>
        </p:nvSpPr>
        <p:spPr>
          <a:xfrm>
            <a:off x="5540883" y="2286000"/>
            <a:ext cx="6102172" cy="0"/>
          </a:xfrm>
          <a:prstGeom prst="line">
            <a:avLst/>
          </a:prstGeom>
          <a:noFill/>
          <a:ln w="15875">
            <a:solidFill>
              <a:schemeClr val="tx1"/>
            </a:solidFill>
            <a:prstDash val="solid"/>
          </a:ln>
        </p:spPr>
      </p:sp>
      <p:sp>
        <p:nvSpPr>
          <p:cNvPr id="15" name="Shape 12"/>
          <p:cNvSpPr/>
          <p:nvPr/>
        </p:nvSpPr>
        <p:spPr>
          <a:xfrm>
            <a:off x="5540883" y="2560320"/>
            <a:ext cx="182880" cy="182880"/>
          </a:xfrm>
          <a:prstGeom prst="roundRect">
            <a:avLst>
              <a:gd name="adj" fmla="val 20000"/>
            </a:avLst>
          </a:prstGeom>
          <a:solidFill>
            <a:schemeClr val="tx1"/>
          </a:solidFill>
          <a:ln/>
        </p:spPr>
      </p:sp>
      <p:sp>
        <p:nvSpPr>
          <p:cNvPr id="16" name="Text 13"/>
          <p:cNvSpPr txBox="1"/>
          <p:nvPr/>
        </p:nvSpPr>
        <p:spPr>
          <a:xfrm>
            <a:off x="5906643" y="246888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Direct field sales</a:t>
            </a:r>
            <a:endParaRPr lang="en-US" sz="1200" dirty="0"/>
          </a:p>
        </p:txBody>
      </p:sp>
      <p:sp>
        <p:nvSpPr>
          <p:cNvPr id="17" name="Text 14"/>
          <p:cNvSpPr txBox="1"/>
          <p:nvPr/>
        </p:nvSpPr>
        <p:spPr>
          <a:xfrm>
            <a:off x="8808415" y="246888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$8.9M</a:t>
            </a:r>
            <a:endParaRPr lang="en-US" sz="1300" dirty="0"/>
          </a:p>
        </p:txBody>
      </p:sp>
      <p:sp>
        <p:nvSpPr>
          <p:cNvPr id="18" name="Text 15"/>
          <p:cNvSpPr txBox="1"/>
          <p:nvPr/>
        </p:nvSpPr>
        <p:spPr>
          <a:xfrm>
            <a:off x="9951415" y="246888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44%</a:t>
            </a:r>
            <a:endParaRPr lang="en-US" sz="1150" dirty="0"/>
          </a:p>
        </p:txBody>
      </p:sp>
      <p:sp>
        <p:nvSpPr>
          <p:cNvPr id="19" name="Text 16"/>
          <p:cNvSpPr txBox="1"/>
          <p:nvPr/>
        </p:nvSpPr>
        <p:spPr>
          <a:xfrm>
            <a:off x="10774375" y="246888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+12%</a:t>
            </a:r>
            <a:endParaRPr lang="en-US" sz="1150" dirty="0"/>
          </a:p>
        </p:txBody>
      </p:sp>
      <p:sp>
        <p:nvSpPr>
          <p:cNvPr id="20" name="Shape 17"/>
          <p:cNvSpPr/>
          <p:nvPr/>
        </p:nvSpPr>
        <p:spPr>
          <a:xfrm>
            <a:off x="5540883" y="3017520"/>
            <a:ext cx="6102172" cy="0"/>
          </a:xfrm>
          <a:prstGeom prst="line">
            <a:avLst/>
          </a:prstGeom>
          <a:noFill/>
          <a:ln w="9525">
            <a:solidFill>
              <a:schemeClr val="accent4"/>
            </a:solidFill>
            <a:prstDash val="solid"/>
          </a:ln>
        </p:spPr>
      </p:sp>
      <p:sp>
        <p:nvSpPr>
          <p:cNvPr id="21" name="Shape 18"/>
          <p:cNvSpPr/>
          <p:nvPr/>
        </p:nvSpPr>
        <p:spPr>
          <a:xfrm>
            <a:off x="5540883" y="3291840"/>
            <a:ext cx="182880" cy="182880"/>
          </a:xfrm>
          <a:prstGeom prst="roundRect">
            <a:avLst>
              <a:gd name="adj" fmla="val 20000"/>
            </a:avLst>
          </a:prstGeom>
          <a:solidFill>
            <a:schemeClr val="accent1"/>
          </a:solidFill>
          <a:ln/>
        </p:spPr>
      </p:sp>
      <p:sp>
        <p:nvSpPr>
          <p:cNvPr id="22" name="Text 19"/>
          <p:cNvSpPr txBox="1"/>
          <p:nvPr/>
        </p:nvSpPr>
        <p:spPr>
          <a:xfrm>
            <a:off x="5906643" y="320040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Partners &amp; resellers</a:t>
            </a:r>
            <a:endParaRPr lang="en-US" sz="1200" dirty="0"/>
          </a:p>
        </p:txBody>
      </p:sp>
      <p:sp>
        <p:nvSpPr>
          <p:cNvPr id="23" name="Text 20"/>
          <p:cNvSpPr txBox="1"/>
          <p:nvPr/>
        </p:nvSpPr>
        <p:spPr>
          <a:xfrm>
            <a:off x="8808415" y="320040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$5.4M</a:t>
            </a:r>
            <a:endParaRPr lang="en-US" sz="1300" dirty="0"/>
          </a:p>
        </p:txBody>
      </p:sp>
      <p:sp>
        <p:nvSpPr>
          <p:cNvPr id="24" name="Text 21"/>
          <p:cNvSpPr txBox="1"/>
          <p:nvPr/>
        </p:nvSpPr>
        <p:spPr>
          <a:xfrm>
            <a:off x="9951415" y="320040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27%</a:t>
            </a:r>
            <a:endParaRPr lang="en-US" sz="1150" dirty="0"/>
          </a:p>
        </p:txBody>
      </p:sp>
      <p:sp>
        <p:nvSpPr>
          <p:cNvPr id="25" name="Text 22"/>
          <p:cNvSpPr txBox="1"/>
          <p:nvPr/>
        </p:nvSpPr>
        <p:spPr>
          <a:xfrm>
            <a:off x="10774375" y="320040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+86%</a:t>
            </a:r>
            <a:endParaRPr lang="en-US" sz="1150" dirty="0"/>
          </a:p>
        </p:txBody>
      </p:sp>
      <p:sp>
        <p:nvSpPr>
          <p:cNvPr id="26" name="Shape 23"/>
          <p:cNvSpPr/>
          <p:nvPr/>
        </p:nvSpPr>
        <p:spPr>
          <a:xfrm>
            <a:off x="5540883" y="3749040"/>
            <a:ext cx="6102172" cy="0"/>
          </a:xfrm>
          <a:prstGeom prst="line">
            <a:avLst/>
          </a:prstGeom>
          <a:noFill/>
          <a:ln w="9525">
            <a:solidFill>
              <a:schemeClr val="accent4"/>
            </a:solidFill>
            <a:prstDash val="solid"/>
          </a:ln>
        </p:spPr>
      </p:sp>
      <p:sp>
        <p:nvSpPr>
          <p:cNvPr id="27" name="Shape 24"/>
          <p:cNvSpPr/>
          <p:nvPr/>
        </p:nvSpPr>
        <p:spPr>
          <a:xfrm>
            <a:off x="5540883" y="4023360"/>
            <a:ext cx="182880" cy="182880"/>
          </a:xfrm>
          <a:prstGeom prst="roundRect">
            <a:avLst>
              <a:gd name="adj" fmla="val 20000"/>
            </a:avLst>
          </a:prstGeom>
          <a:solidFill>
            <a:schemeClr val="accent2"/>
          </a:solidFill>
          <a:ln/>
        </p:spPr>
      </p:sp>
      <p:sp>
        <p:nvSpPr>
          <p:cNvPr id="28" name="Text 25"/>
          <p:cNvSpPr txBox="1"/>
          <p:nvPr/>
        </p:nvSpPr>
        <p:spPr>
          <a:xfrm>
            <a:off x="5906643" y="393192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Inside sales</a:t>
            </a:r>
            <a:endParaRPr lang="en-US" sz="1200" dirty="0"/>
          </a:p>
        </p:txBody>
      </p:sp>
      <p:sp>
        <p:nvSpPr>
          <p:cNvPr id="29" name="Text 26"/>
          <p:cNvSpPr txBox="1"/>
          <p:nvPr/>
        </p:nvSpPr>
        <p:spPr>
          <a:xfrm>
            <a:off x="8808415" y="393192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$3.6M</a:t>
            </a:r>
            <a:endParaRPr lang="en-US" sz="1300" dirty="0"/>
          </a:p>
        </p:txBody>
      </p:sp>
      <p:sp>
        <p:nvSpPr>
          <p:cNvPr id="30" name="Text 27"/>
          <p:cNvSpPr txBox="1"/>
          <p:nvPr/>
        </p:nvSpPr>
        <p:spPr>
          <a:xfrm>
            <a:off x="9951415" y="393192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18%</a:t>
            </a:r>
            <a:endParaRPr lang="en-US" sz="1150" dirty="0"/>
          </a:p>
        </p:txBody>
      </p:sp>
      <p:sp>
        <p:nvSpPr>
          <p:cNvPr id="31" name="Text 28"/>
          <p:cNvSpPr txBox="1"/>
          <p:nvPr/>
        </p:nvSpPr>
        <p:spPr>
          <a:xfrm>
            <a:off x="10774375" y="393192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+21%</a:t>
            </a:r>
            <a:endParaRPr lang="en-US" sz="1150" dirty="0"/>
          </a:p>
        </p:txBody>
      </p:sp>
      <p:sp>
        <p:nvSpPr>
          <p:cNvPr id="32" name="Shape 29"/>
          <p:cNvSpPr/>
          <p:nvPr/>
        </p:nvSpPr>
        <p:spPr>
          <a:xfrm>
            <a:off x="5540883" y="4480560"/>
            <a:ext cx="6102172" cy="0"/>
          </a:xfrm>
          <a:prstGeom prst="line">
            <a:avLst/>
          </a:prstGeom>
          <a:noFill/>
          <a:ln w="9525">
            <a:solidFill>
              <a:schemeClr val="accent4"/>
            </a:solidFill>
            <a:prstDash val="solid"/>
          </a:ln>
        </p:spPr>
      </p:sp>
      <p:sp>
        <p:nvSpPr>
          <p:cNvPr id="33" name="Shape 30"/>
          <p:cNvSpPr/>
          <p:nvPr/>
        </p:nvSpPr>
        <p:spPr>
          <a:xfrm>
            <a:off x="5540883" y="4754880"/>
            <a:ext cx="182880" cy="182880"/>
          </a:xfrm>
          <a:prstGeom prst="roundRect">
            <a:avLst>
              <a:gd name="adj" fmla="val 20000"/>
            </a:avLst>
          </a:prstGeom>
          <a:solidFill>
            <a:schemeClr val="accent3"/>
          </a:solidFill>
          <a:ln/>
        </p:spPr>
      </p:sp>
      <p:sp>
        <p:nvSpPr>
          <p:cNvPr id="34" name="Text 31"/>
          <p:cNvSpPr txBox="1"/>
          <p:nvPr/>
        </p:nvSpPr>
        <p:spPr>
          <a:xfrm>
            <a:off x="5906643" y="466344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Self-serve</a:t>
            </a:r>
            <a:endParaRPr lang="en-US" sz="1200" dirty="0"/>
          </a:p>
        </p:txBody>
      </p:sp>
      <p:sp>
        <p:nvSpPr>
          <p:cNvPr id="35" name="Text 32"/>
          <p:cNvSpPr txBox="1"/>
          <p:nvPr/>
        </p:nvSpPr>
        <p:spPr>
          <a:xfrm>
            <a:off x="8808415" y="466344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$1.6M</a:t>
            </a:r>
            <a:endParaRPr lang="en-US" sz="1300" dirty="0"/>
          </a:p>
        </p:txBody>
      </p:sp>
      <p:sp>
        <p:nvSpPr>
          <p:cNvPr id="36" name="Text 33"/>
          <p:cNvSpPr txBox="1"/>
          <p:nvPr/>
        </p:nvSpPr>
        <p:spPr>
          <a:xfrm>
            <a:off x="9951415" y="466344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8%</a:t>
            </a:r>
            <a:endParaRPr lang="en-US" sz="1150" dirty="0"/>
          </a:p>
        </p:txBody>
      </p:sp>
      <p:sp>
        <p:nvSpPr>
          <p:cNvPr id="37" name="Text 34"/>
          <p:cNvSpPr txBox="1"/>
          <p:nvPr/>
        </p:nvSpPr>
        <p:spPr>
          <a:xfrm>
            <a:off x="10774375" y="466344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+44%</a:t>
            </a:r>
            <a:endParaRPr lang="en-US" sz="1150" dirty="0"/>
          </a:p>
        </p:txBody>
      </p:sp>
      <p:sp>
        <p:nvSpPr>
          <p:cNvPr id="38" name="Shape 35"/>
          <p:cNvSpPr/>
          <p:nvPr/>
        </p:nvSpPr>
        <p:spPr>
          <a:xfrm>
            <a:off x="5540883" y="5212080"/>
            <a:ext cx="6102172" cy="0"/>
          </a:xfrm>
          <a:prstGeom prst="line">
            <a:avLst/>
          </a:prstGeom>
          <a:noFill/>
          <a:ln w="9525">
            <a:solidFill>
              <a:schemeClr val="accent4"/>
            </a:solidFill>
            <a:prstDash val="solid"/>
          </a:ln>
        </p:spPr>
      </p:sp>
      <p:sp>
        <p:nvSpPr>
          <p:cNvPr id="39" name="Shape 36"/>
          <p:cNvSpPr/>
          <p:nvPr/>
        </p:nvSpPr>
        <p:spPr>
          <a:xfrm>
            <a:off x="5540883" y="5486400"/>
            <a:ext cx="182880" cy="182880"/>
          </a:xfrm>
          <a:prstGeom prst="roundRect">
            <a:avLst>
              <a:gd name="adj" fmla="val 20000"/>
            </a:avLst>
          </a:prstGeom>
          <a:solidFill>
            <a:schemeClr val="accent4"/>
          </a:solidFill>
          <a:ln/>
        </p:spPr>
      </p:sp>
      <p:sp>
        <p:nvSpPr>
          <p:cNvPr id="40" name="Text 37"/>
          <p:cNvSpPr txBox="1"/>
          <p:nvPr/>
        </p:nvSpPr>
        <p:spPr>
          <a:xfrm>
            <a:off x="5906643" y="539496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Marketplaces</a:t>
            </a:r>
            <a:endParaRPr lang="en-US" sz="1200" dirty="0"/>
          </a:p>
        </p:txBody>
      </p:sp>
      <p:sp>
        <p:nvSpPr>
          <p:cNvPr id="41" name="Text 38"/>
          <p:cNvSpPr txBox="1"/>
          <p:nvPr/>
        </p:nvSpPr>
        <p:spPr>
          <a:xfrm>
            <a:off x="8808415" y="539496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$0.8M</a:t>
            </a:r>
            <a:endParaRPr lang="en-US" sz="1300" dirty="0"/>
          </a:p>
        </p:txBody>
      </p:sp>
      <p:sp>
        <p:nvSpPr>
          <p:cNvPr id="42" name="Text 39"/>
          <p:cNvSpPr txBox="1"/>
          <p:nvPr/>
        </p:nvSpPr>
        <p:spPr>
          <a:xfrm>
            <a:off x="9951415" y="539496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4%</a:t>
            </a:r>
            <a:endParaRPr lang="en-US" sz="1150" dirty="0"/>
          </a:p>
        </p:txBody>
      </p:sp>
      <p:sp>
        <p:nvSpPr>
          <p:cNvPr id="43" name="Text 40"/>
          <p:cNvSpPr txBox="1"/>
          <p:nvPr/>
        </p:nvSpPr>
        <p:spPr>
          <a:xfrm>
            <a:off x="10774375" y="539496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+150%</a:t>
            </a:r>
            <a:endParaRPr lang="en-US" sz="11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of six regions are on track to hit annual quota</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Bookings to date vs annual quota. Marker = expected attainment at this point of the year (75%).</a:t>
            </a:r>
            <a:endParaRPr lang="en-US" sz="1150" dirty="0"/>
          </a:p>
        </p:txBody>
      </p:sp>
      <p:sp>
        <p:nvSpPr>
          <p:cNvPr id="6" name="Text 4"/>
          <p:cNvSpPr txBox="1"/>
          <p:nvPr/>
        </p:nvSpPr>
        <p:spPr>
          <a:xfrm>
            <a:off x="548640" y="182880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REGION</a:t>
            </a:r>
            <a:endParaRPr lang="en-US" sz="900" dirty="0"/>
          </a:p>
        </p:txBody>
      </p:sp>
      <p:sp>
        <p:nvSpPr>
          <p:cNvPr id="7" name="Text 5"/>
          <p:cNvSpPr txBox="1"/>
          <p:nvPr/>
        </p:nvSpPr>
        <p:spPr>
          <a:xfrm>
            <a:off x="8995181" y="1828800"/>
            <a:ext cx="13716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ATTAINMENT</a:t>
            </a:r>
            <a:endParaRPr lang="en-US" sz="900" dirty="0"/>
          </a:p>
        </p:txBody>
      </p:sp>
      <p:sp>
        <p:nvSpPr>
          <p:cNvPr id="8" name="Text 6"/>
          <p:cNvSpPr txBox="1"/>
          <p:nvPr/>
        </p:nvSpPr>
        <p:spPr>
          <a:xfrm>
            <a:off x="548640" y="2148840"/>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Benelux</a:t>
            </a:r>
            <a:endParaRPr lang="en-US" sz="1250" dirty="0"/>
          </a:p>
        </p:txBody>
      </p:sp>
      <p:sp>
        <p:nvSpPr>
          <p:cNvPr id="9" name="Text 7"/>
          <p:cNvSpPr txBox="1"/>
          <p:nvPr/>
        </p:nvSpPr>
        <p:spPr>
          <a:xfrm>
            <a:off x="548640" y="2404872"/>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A. Visser</a:t>
            </a:r>
            <a:endParaRPr lang="en-US" sz="950" dirty="0"/>
          </a:p>
        </p:txBody>
      </p:sp>
      <p:sp>
        <p:nvSpPr>
          <p:cNvPr id="10" name="Shape 8"/>
          <p:cNvSpPr/>
          <p:nvPr/>
        </p:nvSpPr>
        <p:spPr>
          <a:xfrm>
            <a:off x="2926080" y="2212848"/>
            <a:ext cx="5886221" cy="329184"/>
          </a:xfrm>
          <a:prstGeom prst="roundRect">
            <a:avLst>
              <a:gd name="adj" fmla="val 11111"/>
            </a:avLst>
          </a:prstGeom>
          <a:solidFill>
            <a:schemeClr val="bg2"/>
          </a:solidFill>
          <a:ln/>
        </p:spPr>
      </p:sp>
      <p:sp>
        <p:nvSpPr>
          <p:cNvPr id="11" name="Shape 9"/>
          <p:cNvSpPr/>
          <p:nvPr/>
        </p:nvSpPr>
        <p:spPr>
          <a:xfrm>
            <a:off x="2926080" y="2276856"/>
            <a:ext cx="5415324" cy="201168"/>
          </a:xfrm>
          <a:prstGeom prst="roundRect">
            <a:avLst>
              <a:gd name="adj" fmla="val 13636"/>
            </a:avLst>
          </a:prstGeom>
          <a:solidFill>
            <a:schemeClr val="tx1"/>
          </a:solidFill>
          <a:ln/>
        </p:spPr>
      </p:sp>
      <p:sp>
        <p:nvSpPr>
          <p:cNvPr id="12" name="Shape 10"/>
          <p:cNvSpPr/>
          <p:nvPr/>
        </p:nvSpPr>
        <p:spPr>
          <a:xfrm>
            <a:off x="7327030" y="2139696"/>
            <a:ext cx="27432" cy="475488"/>
          </a:xfrm>
          <a:prstGeom prst="rect">
            <a:avLst/>
          </a:prstGeom>
          <a:solidFill>
            <a:schemeClr val="accent6"/>
          </a:solidFill>
          <a:ln/>
        </p:spPr>
      </p:sp>
      <p:sp>
        <p:nvSpPr>
          <p:cNvPr id="13" name="Text 11"/>
          <p:cNvSpPr txBox="1"/>
          <p:nvPr/>
        </p:nvSpPr>
        <p:spPr>
          <a:xfrm>
            <a:off x="8995181" y="2194560"/>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92%</a:t>
            </a:r>
            <a:endParaRPr lang="en-US" sz="1600" dirty="0"/>
          </a:p>
        </p:txBody>
      </p:sp>
      <p:sp>
        <p:nvSpPr>
          <p:cNvPr id="14" name="Shape 12"/>
          <p:cNvSpPr/>
          <p:nvPr/>
        </p:nvSpPr>
        <p:spPr>
          <a:xfrm>
            <a:off x="9772421" y="2249424"/>
            <a:ext cx="868680" cy="256032"/>
          </a:xfrm>
          <a:prstGeom prst="roundRect">
            <a:avLst>
              <a:gd name="adj" fmla="val 50000"/>
            </a:avLst>
          </a:prstGeom>
          <a:solidFill>
            <a:schemeClr val="accent1"/>
          </a:solidFill>
          <a:ln/>
        </p:spPr>
      </p:sp>
      <p:sp>
        <p:nvSpPr>
          <p:cNvPr id="15" name="Text 13"/>
          <p:cNvSpPr txBox="1"/>
          <p:nvPr/>
        </p:nvSpPr>
        <p:spPr>
          <a:xfrm>
            <a:off x="9772421" y="2249424"/>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16" name="Text 14"/>
          <p:cNvSpPr txBox="1"/>
          <p:nvPr/>
        </p:nvSpPr>
        <p:spPr>
          <a:xfrm>
            <a:off x="548640" y="2770632"/>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DACH</a:t>
            </a:r>
            <a:endParaRPr lang="en-US" sz="1250" dirty="0"/>
          </a:p>
        </p:txBody>
      </p:sp>
      <p:sp>
        <p:nvSpPr>
          <p:cNvPr id="17" name="Text 15"/>
          <p:cNvSpPr txBox="1"/>
          <p:nvPr/>
        </p:nvSpPr>
        <p:spPr>
          <a:xfrm>
            <a:off x="548640" y="3026664"/>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M. Keller</a:t>
            </a:r>
            <a:endParaRPr lang="en-US" sz="950" dirty="0"/>
          </a:p>
        </p:txBody>
      </p:sp>
      <p:sp>
        <p:nvSpPr>
          <p:cNvPr id="18" name="Shape 16"/>
          <p:cNvSpPr/>
          <p:nvPr/>
        </p:nvSpPr>
        <p:spPr>
          <a:xfrm>
            <a:off x="2926080" y="2834640"/>
            <a:ext cx="5886221" cy="329184"/>
          </a:xfrm>
          <a:prstGeom prst="roundRect">
            <a:avLst>
              <a:gd name="adj" fmla="val 11111"/>
            </a:avLst>
          </a:prstGeom>
          <a:solidFill>
            <a:schemeClr val="bg2"/>
          </a:solidFill>
          <a:ln/>
        </p:spPr>
      </p:sp>
      <p:sp>
        <p:nvSpPr>
          <p:cNvPr id="19" name="Shape 17"/>
          <p:cNvSpPr/>
          <p:nvPr/>
        </p:nvSpPr>
        <p:spPr>
          <a:xfrm>
            <a:off x="2926080" y="2898648"/>
            <a:ext cx="4944426" cy="201168"/>
          </a:xfrm>
          <a:prstGeom prst="roundRect">
            <a:avLst>
              <a:gd name="adj" fmla="val 13636"/>
            </a:avLst>
          </a:prstGeom>
          <a:solidFill>
            <a:schemeClr val="tx1"/>
          </a:solidFill>
          <a:ln/>
        </p:spPr>
      </p:sp>
      <p:sp>
        <p:nvSpPr>
          <p:cNvPr id="20" name="Shape 18"/>
          <p:cNvSpPr/>
          <p:nvPr/>
        </p:nvSpPr>
        <p:spPr>
          <a:xfrm>
            <a:off x="7327030" y="2761488"/>
            <a:ext cx="27432" cy="475488"/>
          </a:xfrm>
          <a:prstGeom prst="rect">
            <a:avLst/>
          </a:prstGeom>
          <a:solidFill>
            <a:schemeClr val="accent6"/>
          </a:solidFill>
          <a:ln/>
        </p:spPr>
      </p:sp>
      <p:sp>
        <p:nvSpPr>
          <p:cNvPr id="21" name="Text 19"/>
          <p:cNvSpPr txBox="1"/>
          <p:nvPr/>
        </p:nvSpPr>
        <p:spPr>
          <a:xfrm>
            <a:off x="8995181" y="2816352"/>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84%</a:t>
            </a:r>
            <a:endParaRPr lang="en-US" sz="1600" dirty="0"/>
          </a:p>
        </p:txBody>
      </p:sp>
      <p:sp>
        <p:nvSpPr>
          <p:cNvPr id="22" name="Shape 20"/>
          <p:cNvSpPr/>
          <p:nvPr/>
        </p:nvSpPr>
        <p:spPr>
          <a:xfrm>
            <a:off x="9772421" y="2871216"/>
            <a:ext cx="868680" cy="256032"/>
          </a:xfrm>
          <a:prstGeom prst="roundRect">
            <a:avLst>
              <a:gd name="adj" fmla="val 50000"/>
            </a:avLst>
          </a:prstGeom>
          <a:solidFill>
            <a:schemeClr val="accent1"/>
          </a:solidFill>
          <a:ln/>
        </p:spPr>
      </p:sp>
      <p:sp>
        <p:nvSpPr>
          <p:cNvPr id="23" name="Text 21"/>
          <p:cNvSpPr txBox="1"/>
          <p:nvPr/>
        </p:nvSpPr>
        <p:spPr>
          <a:xfrm>
            <a:off x="9772421" y="2871216"/>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24" name="Text 22"/>
          <p:cNvSpPr txBox="1"/>
          <p:nvPr/>
        </p:nvSpPr>
        <p:spPr>
          <a:xfrm>
            <a:off x="548640" y="3392424"/>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UK &amp; Ireland</a:t>
            </a:r>
            <a:endParaRPr lang="en-US" sz="1250" dirty="0"/>
          </a:p>
        </p:txBody>
      </p:sp>
      <p:sp>
        <p:nvSpPr>
          <p:cNvPr id="25" name="Text 23"/>
          <p:cNvSpPr txBox="1"/>
          <p:nvPr/>
        </p:nvSpPr>
        <p:spPr>
          <a:xfrm>
            <a:off x="548640" y="3648456"/>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S. Patel</a:t>
            </a:r>
            <a:endParaRPr lang="en-US" sz="950" dirty="0"/>
          </a:p>
        </p:txBody>
      </p:sp>
      <p:sp>
        <p:nvSpPr>
          <p:cNvPr id="26" name="Shape 24"/>
          <p:cNvSpPr/>
          <p:nvPr/>
        </p:nvSpPr>
        <p:spPr>
          <a:xfrm>
            <a:off x="2926080" y="3456432"/>
            <a:ext cx="5886221" cy="329184"/>
          </a:xfrm>
          <a:prstGeom prst="roundRect">
            <a:avLst>
              <a:gd name="adj" fmla="val 11111"/>
            </a:avLst>
          </a:prstGeom>
          <a:solidFill>
            <a:schemeClr val="bg2"/>
          </a:solidFill>
          <a:ln/>
        </p:spPr>
      </p:sp>
      <p:sp>
        <p:nvSpPr>
          <p:cNvPr id="27" name="Shape 25"/>
          <p:cNvSpPr/>
          <p:nvPr/>
        </p:nvSpPr>
        <p:spPr>
          <a:xfrm>
            <a:off x="2926080" y="3520440"/>
            <a:ext cx="4591253" cy="201168"/>
          </a:xfrm>
          <a:prstGeom prst="roundRect">
            <a:avLst>
              <a:gd name="adj" fmla="val 13636"/>
            </a:avLst>
          </a:prstGeom>
          <a:solidFill>
            <a:schemeClr val="tx1"/>
          </a:solidFill>
          <a:ln/>
        </p:spPr>
      </p:sp>
      <p:sp>
        <p:nvSpPr>
          <p:cNvPr id="28" name="Shape 26"/>
          <p:cNvSpPr/>
          <p:nvPr/>
        </p:nvSpPr>
        <p:spPr>
          <a:xfrm>
            <a:off x="7327030" y="3383280"/>
            <a:ext cx="27432" cy="475488"/>
          </a:xfrm>
          <a:prstGeom prst="rect">
            <a:avLst/>
          </a:prstGeom>
          <a:solidFill>
            <a:schemeClr val="accent6"/>
          </a:solidFill>
          <a:ln/>
        </p:spPr>
      </p:sp>
      <p:sp>
        <p:nvSpPr>
          <p:cNvPr id="29" name="Text 27"/>
          <p:cNvSpPr txBox="1"/>
          <p:nvPr/>
        </p:nvSpPr>
        <p:spPr>
          <a:xfrm>
            <a:off x="8995181" y="3438144"/>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78%</a:t>
            </a:r>
            <a:endParaRPr lang="en-US" sz="1600" dirty="0"/>
          </a:p>
        </p:txBody>
      </p:sp>
      <p:sp>
        <p:nvSpPr>
          <p:cNvPr id="30" name="Shape 28"/>
          <p:cNvSpPr/>
          <p:nvPr/>
        </p:nvSpPr>
        <p:spPr>
          <a:xfrm>
            <a:off x="9772421" y="3493008"/>
            <a:ext cx="868680" cy="256032"/>
          </a:xfrm>
          <a:prstGeom prst="roundRect">
            <a:avLst>
              <a:gd name="adj" fmla="val 50000"/>
            </a:avLst>
          </a:prstGeom>
          <a:solidFill>
            <a:schemeClr val="accent1"/>
          </a:solidFill>
          <a:ln/>
        </p:spPr>
      </p:sp>
      <p:sp>
        <p:nvSpPr>
          <p:cNvPr id="31" name="Text 29"/>
          <p:cNvSpPr txBox="1"/>
          <p:nvPr/>
        </p:nvSpPr>
        <p:spPr>
          <a:xfrm>
            <a:off x="9772421" y="3493008"/>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32" name="Text 30"/>
          <p:cNvSpPr txBox="1"/>
          <p:nvPr/>
        </p:nvSpPr>
        <p:spPr>
          <a:xfrm>
            <a:off x="548640" y="4014216"/>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US East</a:t>
            </a:r>
            <a:endParaRPr lang="en-US" sz="1250" dirty="0"/>
          </a:p>
        </p:txBody>
      </p:sp>
      <p:sp>
        <p:nvSpPr>
          <p:cNvPr id="33" name="Text 31"/>
          <p:cNvSpPr txBox="1"/>
          <p:nvPr/>
        </p:nvSpPr>
        <p:spPr>
          <a:xfrm>
            <a:off x="548640" y="4270248"/>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J. Rivera</a:t>
            </a:r>
            <a:endParaRPr lang="en-US" sz="950" dirty="0"/>
          </a:p>
        </p:txBody>
      </p:sp>
      <p:sp>
        <p:nvSpPr>
          <p:cNvPr id="34" name="Shape 32"/>
          <p:cNvSpPr/>
          <p:nvPr/>
        </p:nvSpPr>
        <p:spPr>
          <a:xfrm>
            <a:off x="2926080" y="4078224"/>
            <a:ext cx="5886221" cy="329184"/>
          </a:xfrm>
          <a:prstGeom prst="roundRect">
            <a:avLst>
              <a:gd name="adj" fmla="val 11111"/>
            </a:avLst>
          </a:prstGeom>
          <a:solidFill>
            <a:schemeClr val="bg2"/>
          </a:solidFill>
          <a:ln/>
        </p:spPr>
      </p:sp>
      <p:sp>
        <p:nvSpPr>
          <p:cNvPr id="35" name="Shape 33"/>
          <p:cNvSpPr/>
          <p:nvPr/>
        </p:nvSpPr>
        <p:spPr>
          <a:xfrm>
            <a:off x="2926080" y="4142232"/>
            <a:ext cx="4473528" cy="201168"/>
          </a:xfrm>
          <a:prstGeom prst="roundRect">
            <a:avLst>
              <a:gd name="adj" fmla="val 13636"/>
            </a:avLst>
          </a:prstGeom>
          <a:solidFill>
            <a:schemeClr val="tx1"/>
          </a:solidFill>
          <a:ln/>
        </p:spPr>
      </p:sp>
      <p:sp>
        <p:nvSpPr>
          <p:cNvPr id="36" name="Shape 34"/>
          <p:cNvSpPr/>
          <p:nvPr/>
        </p:nvSpPr>
        <p:spPr>
          <a:xfrm>
            <a:off x="7327030" y="4005072"/>
            <a:ext cx="27432" cy="475488"/>
          </a:xfrm>
          <a:prstGeom prst="rect">
            <a:avLst/>
          </a:prstGeom>
          <a:solidFill>
            <a:schemeClr val="accent6"/>
          </a:solidFill>
          <a:ln/>
        </p:spPr>
      </p:sp>
      <p:sp>
        <p:nvSpPr>
          <p:cNvPr id="37" name="Text 35"/>
          <p:cNvSpPr txBox="1"/>
          <p:nvPr/>
        </p:nvSpPr>
        <p:spPr>
          <a:xfrm>
            <a:off x="8995181" y="4059936"/>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76%</a:t>
            </a:r>
            <a:endParaRPr lang="en-US" sz="1600" dirty="0"/>
          </a:p>
        </p:txBody>
      </p:sp>
      <p:sp>
        <p:nvSpPr>
          <p:cNvPr id="38" name="Shape 36"/>
          <p:cNvSpPr/>
          <p:nvPr/>
        </p:nvSpPr>
        <p:spPr>
          <a:xfrm>
            <a:off x="9772421" y="4114800"/>
            <a:ext cx="868680" cy="256032"/>
          </a:xfrm>
          <a:prstGeom prst="roundRect">
            <a:avLst>
              <a:gd name="adj" fmla="val 50000"/>
            </a:avLst>
          </a:prstGeom>
          <a:solidFill>
            <a:schemeClr val="accent1"/>
          </a:solidFill>
          <a:ln/>
        </p:spPr>
      </p:sp>
      <p:sp>
        <p:nvSpPr>
          <p:cNvPr id="39" name="Text 37"/>
          <p:cNvSpPr txBox="1"/>
          <p:nvPr/>
        </p:nvSpPr>
        <p:spPr>
          <a:xfrm>
            <a:off x="9772421" y="4114800"/>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40" name="Text 38"/>
          <p:cNvSpPr txBox="1"/>
          <p:nvPr/>
        </p:nvSpPr>
        <p:spPr>
          <a:xfrm>
            <a:off x="548640" y="4636008"/>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US West</a:t>
            </a:r>
            <a:endParaRPr lang="en-US" sz="1250" dirty="0"/>
          </a:p>
        </p:txBody>
      </p:sp>
      <p:sp>
        <p:nvSpPr>
          <p:cNvPr id="41" name="Text 39"/>
          <p:cNvSpPr txBox="1"/>
          <p:nvPr/>
        </p:nvSpPr>
        <p:spPr>
          <a:xfrm>
            <a:off x="548640" y="4892040"/>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K. Chen</a:t>
            </a:r>
            <a:endParaRPr lang="en-US" sz="950" dirty="0"/>
          </a:p>
        </p:txBody>
      </p:sp>
      <p:sp>
        <p:nvSpPr>
          <p:cNvPr id="42" name="Shape 40"/>
          <p:cNvSpPr/>
          <p:nvPr/>
        </p:nvSpPr>
        <p:spPr>
          <a:xfrm>
            <a:off x="2926080" y="4700016"/>
            <a:ext cx="5886221" cy="329184"/>
          </a:xfrm>
          <a:prstGeom prst="roundRect">
            <a:avLst>
              <a:gd name="adj" fmla="val 11111"/>
            </a:avLst>
          </a:prstGeom>
          <a:solidFill>
            <a:schemeClr val="bg2"/>
          </a:solidFill>
          <a:ln/>
        </p:spPr>
      </p:sp>
      <p:sp>
        <p:nvSpPr>
          <p:cNvPr id="43" name="Shape 41"/>
          <p:cNvSpPr/>
          <p:nvPr/>
        </p:nvSpPr>
        <p:spPr>
          <a:xfrm>
            <a:off x="2926080" y="4764024"/>
            <a:ext cx="3767182" cy="201168"/>
          </a:xfrm>
          <a:prstGeom prst="roundRect">
            <a:avLst>
              <a:gd name="adj" fmla="val 13636"/>
            </a:avLst>
          </a:prstGeom>
          <a:solidFill>
            <a:schemeClr val="accent3"/>
          </a:solidFill>
          <a:ln/>
        </p:spPr>
      </p:sp>
      <p:sp>
        <p:nvSpPr>
          <p:cNvPr id="44" name="Shape 42"/>
          <p:cNvSpPr/>
          <p:nvPr/>
        </p:nvSpPr>
        <p:spPr>
          <a:xfrm>
            <a:off x="7327030" y="4626864"/>
            <a:ext cx="27432" cy="475488"/>
          </a:xfrm>
          <a:prstGeom prst="rect">
            <a:avLst/>
          </a:prstGeom>
          <a:solidFill>
            <a:schemeClr val="accent6"/>
          </a:solidFill>
          <a:ln/>
        </p:spPr>
      </p:sp>
      <p:sp>
        <p:nvSpPr>
          <p:cNvPr id="45" name="Text 43"/>
          <p:cNvSpPr txBox="1"/>
          <p:nvPr/>
        </p:nvSpPr>
        <p:spPr>
          <a:xfrm>
            <a:off x="8995181" y="4681728"/>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64%</a:t>
            </a:r>
            <a:endParaRPr lang="en-US" sz="1600" dirty="0"/>
          </a:p>
        </p:txBody>
      </p:sp>
      <p:sp>
        <p:nvSpPr>
          <p:cNvPr id="46" name="Shape 44"/>
          <p:cNvSpPr/>
          <p:nvPr/>
        </p:nvSpPr>
        <p:spPr>
          <a:xfrm>
            <a:off x="9772421" y="4736592"/>
            <a:ext cx="868680" cy="256032"/>
          </a:xfrm>
          <a:prstGeom prst="roundRect">
            <a:avLst>
              <a:gd name="adj" fmla="val 50000"/>
            </a:avLst>
          </a:prstGeom>
          <a:solidFill>
            <a:schemeClr val="tx1"/>
          </a:solidFill>
          <a:ln/>
        </p:spPr>
      </p:sp>
      <p:sp>
        <p:nvSpPr>
          <p:cNvPr id="47" name="Text 45"/>
          <p:cNvSpPr txBox="1"/>
          <p:nvPr/>
        </p:nvSpPr>
        <p:spPr>
          <a:xfrm>
            <a:off x="9772421" y="4736592"/>
            <a:ext cx="868680" cy="256032"/>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At risk</a:t>
            </a:r>
            <a:endParaRPr lang="en-US" sz="850" dirty="0"/>
          </a:p>
        </p:txBody>
      </p:sp>
      <p:sp>
        <p:nvSpPr>
          <p:cNvPr id="48" name="Text 46"/>
          <p:cNvSpPr txBox="1"/>
          <p:nvPr/>
        </p:nvSpPr>
        <p:spPr>
          <a:xfrm>
            <a:off x="548640" y="5257800"/>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Nordics</a:t>
            </a:r>
            <a:endParaRPr lang="en-US" sz="1250" dirty="0"/>
          </a:p>
        </p:txBody>
      </p:sp>
      <p:sp>
        <p:nvSpPr>
          <p:cNvPr id="49" name="Text 47"/>
          <p:cNvSpPr txBox="1"/>
          <p:nvPr/>
        </p:nvSpPr>
        <p:spPr>
          <a:xfrm>
            <a:off x="548640" y="5513832"/>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E. Lund</a:t>
            </a:r>
            <a:endParaRPr lang="en-US" sz="950" dirty="0"/>
          </a:p>
        </p:txBody>
      </p:sp>
      <p:sp>
        <p:nvSpPr>
          <p:cNvPr id="50" name="Shape 48"/>
          <p:cNvSpPr/>
          <p:nvPr/>
        </p:nvSpPr>
        <p:spPr>
          <a:xfrm>
            <a:off x="2926080" y="5321808"/>
            <a:ext cx="5886221" cy="329184"/>
          </a:xfrm>
          <a:prstGeom prst="roundRect">
            <a:avLst>
              <a:gd name="adj" fmla="val 11111"/>
            </a:avLst>
          </a:prstGeom>
          <a:solidFill>
            <a:schemeClr val="bg2"/>
          </a:solidFill>
          <a:ln/>
        </p:spPr>
      </p:sp>
      <p:sp>
        <p:nvSpPr>
          <p:cNvPr id="51" name="Shape 49"/>
          <p:cNvSpPr/>
          <p:nvPr/>
        </p:nvSpPr>
        <p:spPr>
          <a:xfrm>
            <a:off x="2926080" y="5385816"/>
            <a:ext cx="3414008" cy="201168"/>
          </a:xfrm>
          <a:prstGeom prst="roundRect">
            <a:avLst>
              <a:gd name="adj" fmla="val 13636"/>
            </a:avLst>
          </a:prstGeom>
          <a:solidFill>
            <a:schemeClr val="accent3"/>
          </a:solidFill>
          <a:ln/>
        </p:spPr>
      </p:sp>
      <p:sp>
        <p:nvSpPr>
          <p:cNvPr id="52" name="Shape 50"/>
          <p:cNvSpPr/>
          <p:nvPr/>
        </p:nvSpPr>
        <p:spPr>
          <a:xfrm>
            <a:off x="7327030" y="5248656"/>
            <a:ext cx="27432" cy="475488"/>
          </a:xfrm>
          <a:prstGeom prst="rect">
            <a:avLst/>
          </a:prstGeom>
          <a:solidFill>
            <a:schemeClr val="accent6"/>
          </a:solidFill>
          <a:ln/>
        </p:spPr>
      </p:sp>
      <p:sp>
        <p:nvSpPr>
          <p:cNvPr id="53" name="Text 51"/>
          <p:cNvSpPr txBox="1"/>
          <p:nvPr/>
        </p:nvSpPr>
        <p:spPr>
          <a:xfrm>
            <a:off x="8995181" y="5303520"/>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58%</a:t>
            </a:r>
            <a:endParaRPr lang="en-US" sz="1600" dirty="0"/>
          </a:p>
        </p:txBody>
      </p:sp>
      <p:sp>
        <p:nvSpPr>
          <p:cNvPr id="54" name="Shape 52"/>
          <p:cNvSpPr/>
          <p:nvPr/>
        </p:nvSpPr>
        <p:spPr>
          <a:xfrm>
            <a:off x="9772421" y="5358384"/>
            <a:ext cx="868680" cy="256032"/>
          </a:xfrm>
          <a:prstGeom prst="roundRect">
            <a:avLst>
              <a:gd name="adj" fmla="val 50000"/>
            </a:avLst>
          </a:prstGeom>
          <a:solidFill>
            <a:schemeClr val="tx1"/>
          </a:solidFill>
          <a:ln/>
        </p:spPr>
      </p:sp>
      <p:sp>
        <p:nvSpPr>
          <p:cNvPr id="55" name="Text 53"/>
          <p:cNvSpPr txBox="1"/>
          <p:nvPr/>
        </p:nvSpPr>
        <p:spPr>
          <a:xfrm>
            <a:off x="9772421" y="5358384"/>
            <a:ext cx="868680" cy="256032"/>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At risk</a:t>
            </a:r>
            <a:endParaRPr lang="en-US" sz="850" dirty="0"/>
          </a:p>
        </p:txBody>
      </p:sp>
      <p:sp>
        <p:nvSpPr>
          <p:cNvPr id="56" name="Text 54"/>
          <p:cNvSpPr txBox="1"/>
          <p:nvPr/>
        </p:nvSpPr>
        <p:spPr>
          <a:xfrm>
            <a:off x="2560320"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0%</a:t>
            </a:r>
            <a:endParaRPr lang="en-US" sz="850" dirty="0"/>
          </a:p>
        </p:txBody>
      </p:sp>
      <p:sp>
        <p:nvSpPr>
          <p:cNvPr id="57" name="Text 55"/>
          <p:cNvSpPr txBox="1"/>
          <p:nvPr/>
        </p:nvSpPr>
        <p:spPr>
          <a:xfrm>
            <a:off x="4031875"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25%</a:t>
            </a:r>
            <a:endParaRPr lang="en-US" sz="850" dirty="0"/>
          </a:p>
        </p:txBody>
      </p:sp>
      <p:sp>
        <p:nvSpPr>
          <p:cNvPr id="58" name="Text 56"/>
          <p:cNvSpPr txBox="1"/>
          <p:nvPr/>
        </p:nvSpPr>
        <p:spPr>
          <a:xfrm>
            <a:off x="5503431"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50%</a:t>
            </a:r>
            <a:endParaRPr lang="en-US" sz="850" dirty="0"/>
          </a:p>
        </p:txBody>
      </p:sp>
      <p:sp>
        <p:nvSpPr>
          <p:cNvPr id="59" name="Text 57"/>
          <p:cNvSpPr txBox="1"/>
          <p:nvPr/>
        </p:nvSpPr>
        <p:spPr>
          <a:xfrm>
            <a:off x="6974986"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75%</a:t>
            </a:r>
            <a:endParaRPr lang="en-US" sz="850" dirty="0"/>
          </a:p>
        </p:txBody>
      </p:sp>
      <p:sp>
        <p:nvSpPr>
          <p:cNvPr id="60" name="Text 58"/>
          <p:cNvSpPr txBox="1"/>
          <p:nvPr/>
        </p:nvSpPr>
        <p:spPr>
          <a:xfrm>
            <a:off x="8446541"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100%</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focused marketing strategy for 2027</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Audience first: every campaign maps to one segment, one message and one measurable goal.</a:t>
            </a:r>
            <a:endParaRPr lang="en-US" sz="1150" dirty="0"/>
          </a:p>
        </p:txBody>
      </p:sp>
      <p:sp>
        <p:nvSpPr>
          <p:cNvPr id="6" name="Shape 4"/>
          <p:cNvSpPr/>
          <p:nvPr/>
        </p:nvSpPr>
        <p:spPr>
          <a:xfrm>
            <a:off x="548640" y="1874520"/>
            <a:ext cx="2602154" cy="731520"/>
          </a:xfrm>
          <a:prstGeom prst="roundRect">
            <a:avLst>
              <a:gd name="adj" fmla="val 12500"/>
            </a:avLst>
          </a:prstGeom>
          <a:solidFill>
            <a:schemeClr val="tx1"/>
          </a:solidFill>
          <a:ln/>
        </p:spPr>
      </p:sp>
      <p:pic>
        <p:nvPicPr>
          <p:cNvPr id="7" name="Icon PiUsersThree C6F432" descr="preencoded.png">    </p:cNvPr>
          <p:cNvPicPr>
            <a:picLocks noChangeAspect="1"/>
          </p:cNvPicPr>
          <p:nvPr/>
        </p:nvPicPr>
        <p:blipFill>
          <a:blip r:embed="rId1">
            <a:extLst>
              <a:ext uri="{96DAC541-7B7A-43D3-8B79-37D633B846F1}">
                <asvg:svgBlip xmlns:asvg="http://schemas.microsoft.com/office/drawing/2016/SVG/main" r:embed="rId10"/>
              </a:ext>
            </a:extLst>
          </a:blip>
          <a:stretch>
            <a:fillRect/>
          </a:stretch>
        </p:blipFill>
        <p:spPr>
          <a:xfrm>
            <a:off x="777240" y="2075688"/>
            <a:ext cx="329184" cy="329184"/>
          </a:xfrm>
          <a:prstGeom prst="rect">
            <a:avLst/>
          </a:prstGeom>
        </p:spPr>
      </p:pic>
      <p:sp>
        <p:nvSpPr>
          <p:cNvPr id="8" name="Text 5"/>
          <p:cNvSpPr txBox="1"/>
          <p:nvPr/>
        </p:nvSpPr>
        <p:spPr>
          <a:xfrm>
            <a:off x="1280160" y="1874520"/>
            <a:ext cx="1687754" cy="731520"/>
          </a:xfrm>
          <a:prstGeom prst="rect">
            <a:avLst/>
          </a:prstGeom>
          <a:noFill/>
          <a:ln/>
        </p:spPr>
        <p:txBody>
          <a:bodyPr wrap="square" lIns="0" tIns="0" rIns="0" bIns="0" rtlCol="0" anchor="ctr"/>
          <a:lstStyle/>
          <a:p>
            <a:pPr algn="l" indent="0" marL="0">
              <a:buNone/>
            </a:pPr>
            <a:r>
              <a:rPr lang="en-US" sz="1500" b="1" dirty="0">
                <a:solidFill>
                  <a:schemeClr val="bg1"/>
                </a:solidFill>
                <a:latin typeface="Manrope" pitchFamily="34" charset="0"/>
                <a:ea typeface="Manrope" pitchFamily="34" charset="-122"/>
                <a:cs typeface="Manrope" pitchFamily="34" charset="-120"/>
              </a:rPr>
              <a:t>Audience</a:t>
            </a:r>
            <a:endParaRPr lang="en-US" sz="1500" dirty="0"/>
          </a:p>
        </p:txBody>
      </p:sp>
      <p:sp>
        <p:nvSpPr>
          <p:cNvPr id="9" name="Shape 6"/>
          <p:cNvSpPr/>
          <p:nvPr/>
        </p:nvSpPr>
        <p:spPr>
          <a:xfrm>
            <a:off x="3086786" y="2075688"/>
            <a:ext cx="329184" cy="329184"/>
          </a:xfrm>
          <a:prstGeom prst="ellipse">
            <a:avLst/>
          </a:prstGeom>
          <a:solidFill>
            <a:schemeClr val="bg1"/>
          </a:solidFill>
          <a:ln w="9525">
            <a:solidFill>
              <a:schemeClr val="accent4"/>
            </a:solidFill>
            <a:prstDash val="solid"/>
          </a:ln>
        </p:spPr>
      </p:sp>
      <p:pic>
        <p:nvPicPr>
          <p:cNvPr id="10" name="Icon PiArrowRight 0A1628" descr="preencoded.png">    </p:cNvPr>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3160852" y="2149754"/>
            <a:ext cx="181051" cy="181051"/>
          </a:xfrm>
          <a:prstGeom prst="rect">
            <a:avLst/>
          </a:prstGeom>
        </p:spPr>
      </p:pic>
      <p:sp>
        <p:nvSpPr>
          <p:cNvPr id="11" name="Shape 7"/>
          <p:cNvSpPr/>
          <p:nvPr/>
        </p:nvSpPr>
        <p:spPr>
          <a:xfrm>
            <a:off x="548640" y="2834640"/>
            <a:ext cx="2602154" cy="960120"/>
          </a:xfrm>
          <a:prstGeom prst="roundRect">
            <a:avLst>
              <a:gd name="adj" fmla="val 9524"/>
            </a:avLst>
          </a:prstGeom>
          <a:solidFill>
            <a:schemeClr val="bg2"/>
          </a:solidFill>
          <a:ln/>
        </p:spPr>
      </p:sp>
      <p:sp>
        <p:nvSpPr>
          <p:cNvPr id="12" name="Text 8"/>
          <p:cNvSpPr txBox="1"/>
          <p:nvPr/>
        </p:nvSpPr>
        <p:spPr>
          <a:xfrm>
            <a:off x="777240"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13" name="Text 9"/>
          <p:cNvSpPr txBox="1"/>
          <p:nvPr/>
        </p:nvSpPr>
        <p:spPr>
          <a:xfrm>
            <a:off x="777240"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VP Sales at scale-ups</a:t>
            </a:r>
            <a:endParaRPr lang="en-US" sz="1150" dirty="0"/>
          </a:p>
        </p:txBody>
      </p:sp>
      <p:sp>
        <p:nvSpPr>
          <p:cNvPr id="14" name="Shape 10"/>
          <p:cNvSpPr/>
          <p:nvPr/>
        </p:nvSpPr>
        <p:spPr>
          <a:xfrm>
            <a:off x="548640" y="3931920"/>
            <a:ext cx="2602154" cy="960120"/>
          </a:xfrm>
          <a:prstGeom prst="roundRect">
            <a:avLst>
              <a:gd name="adj" fmla="val 9524"/>
            </a:avLst>
          </a:prstGeom>
          <a:solidFill>
            <a:schemeClr val="bg2"/>
          </a:solidFill>
          <a:ln/>
        </p:spPr>
      </p:sp>
      <p:sp>
        <p:nvSpPr>
          <p:cNvPr id="15" name="Text 11"/>
          <p:cNvSpPr txBox="1"/>
          <p:nvPr/>
        </p:nvSpPr>
        <p:spPr>
          <a:xfrm>
            <a:off x="777240"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16" name="Text 12"/>
          <p:cNvSpPr txBox="1"/>
          <p:nvPr/>
        </p:nvSpPr>
        <p:spPr>
          <a:xfrm>
            <a:off x="777240"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CROs in mid-market</a:t>
            </a:r>
            <a:endParaRPr lang="en-US" sz="1150" dirty="0"/>
          </a:p>
        </p:txBody>
      </p:sp>
      <p:sp>
        <p:nvSpPr>
          <p:cNvPr id="17" name="Shape 13"/>
          <p:cNvSpPr/>
          <p:nvPr/>
        </p:nvSpPr>
        <p:spPr>
          <a:xfrm>
            <a:off x="548640" y="5029200"/>
            <a:ext cx="2602154" cy="960120"/>
          </a:xfrm>
          <a:prstGeom prst="roundRect">
            <a:avLst>
              <a:gd name="adj" fmla="val 9524"/>
            </a:avLst>
          </a:prstGeom>
          <a:solidFill>
            <a:schemeClr val="bg2"/>
          </a:solidFill>
          <a:ln/>
        </p:spPr>
      </p:sp>
      <p:sp>
        <p:nvSpPr>
          <p:cNvPr id="18" name="Text 14"/>
          <p:cNvSpPr txBox="1"/>
          <p:nvPr/>
        </p:nvSpPr>
        <p:spPr>
          <a:xfrm>
            <a:off x="777240"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19" name="Text 15"/>
          <p:cNvSpPr txBox="1"/>
          <p:nvPr/>
        </p:nvSpPr>
        <p:spPr>
          <a:xfrm>
            <a:off x="777240"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RevOps leaders</a:t>
            </a:r>
            <a:endParaRPr lang="en-US" sz="1150" dirty="0"/>
          </a:p>
        </p:txBody>
      </p:sp>
      <p:sp>
        <p:nvSpPr>
          <p:cNvPr id="20" name="Shape 16"/>
          <p:cNvSpPr/>
          <p:nvPr/>
        </p:nvSpPr>
        <p:spPr>
          <a:xfrm>
            <a:off x="3379394" y="1874520"/>
            <a:ext cx="2602154" cy="731520"/>
          </a:xfrm>
          <a:prstGeom prst="roundRect">
            <a:avLst>
              <a:gd name="adj" fmla="val 12500"/>
            </a:avLst>
          </a:prstGeom>
          <a:solidFill>
            <a:schemeClr val="tx1"/>
          </a:solidFill>
          <a:ln/>
        </p:spPr>
      </p:sp>
      <p:pic>
        <p:nvPicPr>
          <p:cNvPr id="21" name="Icon PiChatCircle C6F432" descr="preencoded.png">    </p:cNvPr>
          <p:cNvPicPr>
            <a:picLocks noChangeAspect="1"/>
          </p:cNvPicPr>
          <p:nvPr/>
        </p:nvPicPr>
        <p:blipFill>
          <a:blip r:embed="rId3">
            <a:extLst>
              <a:ext uri="{96DAC541-7B7A-43D3-8B79-37D633B846F1}">
                <asvg:svgBlip xmlns:asvg="http://schemas.microsoft.com/office/drawing/2016/SVG/main" r:embed="rId12"/>
              </a:ext>
            </a:extLst>
          </a:blip>
          <a:stretch>
            <a:fillRect/>
          </a:stretch>
        </p:blipFill>
        <p:spPr>
          <a:xfrm>
            <a:off x="3607994" y="2075688"/>
            <a:ext cx="329184" cy="329184"/>
          </a:xfrm>
          <a:prstGeom prst="rect">
            <a:avLst/>
          </a:prstGeom>
        </p:spPr>
      </p:pic>
      <p:sp>
        <p:nvSpPr>
          <p:cNvPr id="22" name="Text 17"/>
          <p:cNvSpPr txBox="1"/>
          <p:nvPr/>
        </p:nvSpPr>
        <p:spPr>
          <a:xfrm>
            <a:off x="4110914" y="1874520"/>
            <a:ext cx="1687754" cy="731520"/>
          </a:xfrm>
          <a:prstGeom prst="rect">
            <a:avLst/>
          </a:prstGeom>
          <a:noFill/>
          <a:ln/>
        </p:spPr>
        <p:txBody>
          <a:bodyPr wrap="square" lIns="0" tIns="0" rIns="0" bIns="0" rtlCol="0" anchor="ctr"/>
          <a:lstStyle/>
          <a:p>
            <a:pPr algn="l" indent="0" marL="0">
              <a:buNone/>
            </a:pPr>
            <a:r>
              <a:rPr lang="en-US" sz="1500" b="1" dirty="0">
                <a:solidFill>
                  <a:schemeClr val="bg1"/>
                </a:solidFill>
                <a:latin typeface="Manrope" pitchFamily="34" charset="0"/>
                <a:ea typeface="Manrope" pitchFamily="34" charset="-122"/>
                <a:cs typeface="Manrope" pitchFamily="34" charset="-120"/>
              </a:rPr>
              <a:t>Message</a:t>
            </a:r>
            <a:endParaRPr lang="en-US" sz="1500" dirty="0"/>
          </a:p>
        </p:txBody>
      </p:sp>
      <p:sp>
        <p:nvSpPr>
          <p:cNvPr id="23" name="Shape 18"/>
          <p:cNvSpPr/>
          <p:nvPr/>
        </p:nvSpPr>
        <p:spPr>
          <a:xfrm>
            <a:off x="5917540" y="2075688"/>
            <a:ext cx="329184" cy="329184"/>
          </a:xfrm>
          <a:prstGeom prst="ellipse">
            <a:avLst/>
          </a:prstGeom>
          <a:solidFill>
            <a:schemeClr val="bg1"/>
          </a:solidFill>
          <a:ln w="9525">
            <a:solidFill>
              <a:schemeClr val="accent4"/>
            </a:solidFill>
            <a:prstDash val="solid"/>
          </a:ln>
        </p:spPr>
      </p:sp>
      <p:pic>
        <p:nvPicPr>
          <p:cNvPr id="24" name="Icon PiArrowRight 0A1628" descr="preencoded.png">    </p:cNvPr>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5991606" y="2149754"/>
            <a:ext cx="181051" cy="181051"/>
          </a:xfrm>
          <a:prstGeom prst="rect">
            <a:avLst/>
          </a:prstGeom>
        </p:spPr>
      </p:pic>
      <p:sp>
        <p:nvSpPr>
          <p:cNvPr id="25" name="Shape 19"/>
          <p:cNvSpPr/>
          <p:nvPr/>
        </p:nvSpPr>
        <p:spPr>
          <a:xfrm>
            <a:off x="3379394" y="2834640"/>
            <a:ext cx="2602154" cy="960120"/>
          </a:xfrm>
          <a:prstGeom prst="roundRect">
            <a:avLst>
              <a:gd name="adj" fmla="val 9524"/>
            </a:avLst>
          </a:prstGeom>
          <a:solidFill>
            <a:schemeClr val="bg2"/>
          </a:solidFill>
          <a:ln/>
        </p:spPr>
      </p:sp>
      <p:sp>
        <p:nvSpPr>
          <p:cNvPr id="26" name="Text 20"/>
          <p:cNvSpPr txBox="1"/>
          <p:nvPr/>
        </p:nvSpPr>
        <p:spPr>
          <a:xfrm>
            <a:off x="3607994"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27" name="Text 21"/>
          <p:cNvSpPr txBox="1"/>
          <p:nvPr/>
        </p:nvSpPr>
        <p:spPr>
          <a:xfrm>
            <a:off x="3607994"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“Stop guessing your number”</a:t>
            </a:r>
            <a:endParaRPr lang="en-US" sz="1150" dirty="0"/>
          </a:p>
        </p:txBody>
      </p:sp>
      <p:sp>
        <p:nvSpPr>
          <p:cNvPr id="28" name="Shape 22"/>
          <p:cNvSpPr/>
          <p:nvPr/>
        </p:nvSpPr>
        <p:spPr>
          <a:xfrm>
            <a:off x="3379394" y="3931920"/>
            <a:ext cx="2602154" cy="960120"/>
          </a:xfrm>
          <a:prstGeom prst="roundRect">
            <a:avLst>
              <a:gd name="adj" fmla="val 9524"/>
            </a:avLst>
          </a:prstGeom>
          <a:solidFill>
            <a:schemeClr val="bg2"/>
          </a:solidFill>
          <a:ln/>
        </p:spPr>
      </p:sp>
      <p:sp>
        <p:nvSpPr>
          <p:cNvPr id="29" name="Text 23"/>
          <p:cNvSpPr txBox="1"/>
          <p:nvPr/>
        </p:nvSpPr>
        <p:spPr>
          <a:xfrm>
            <a:off x="3607994"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30" name="Text 24"/>
          <p:cNvSpPr txBox="1"/>
          <p:nvPr/>
        </p:nvSpPr>
        <p:spPr>
          <a:xfrm>
            <a:off x="3607994"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Forecast accuracy as a board metric</a:t>
            </a:r>
            <a:endParaRPr lang="en-US" sz="1150" dirty="0"/>
          </a:p>
        </p:txBody>
      </p:sp>
      <p:sp>
        <p:nvSpPr>
          <p:cNvPr id="31" name="Shape 25"/>
          <p:cNvSpPr/>
          <p:nvPr/>
        </p:nvSpPr>
        <p:spPr>
          <a:xfrm>
            <a:off x="3379394" y="5029200"/>
            <a:ext cx="2602154" cy="960120"/>
          </a:xfrm>
          <a:prstGeom prst="roundRect">
            <a:avLst>
              <a:gd name="adj" fmla="val 9524"/>
            </a:avLst>
          </a:prstGeom>
          <a:solidFill>
            <a:schemeClr val="bg2"/>
          </a:solidFill>
          <a:ln/>
        </p:spPr>
      </p:sp>
      <p:sp>
        <p:nvSpPr>
          <p:cNvPr id="32" name="Text 26"/>
          <p:cNvSpPr txBox="1"/>
          <p:nvPr/>
        </p:nvSpPr>
        <p:spPr>
          <a:xfrm>
            <a:off x="3607994"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33" name="Text 27"/>
          <p:cNvSpPr txBox="1"/>
          <p:nvPr/>
        </p:nvSpPr>
        <p:spPr>
          <a:xfrm>
            <a:off x="3607994"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Proof: 96% accuracy</a:t>
            </a:r>
            <a:endParaRPr lang="en-US" sz="1150" dirty="0"/>
          </a:p>
        </p:txBody>
      </p:sp>
      <p:sp>
        <p:nvSpPr>
          <p:cNvPr id="34" name="Shape 28"/>
          <p:cNvSpPr/>
          <p:nvPr/>
        </p:nvSpPr>
        <p:spPr>
          <a:xfrm>
            <a:off x="6210148" y="1874520"/>
            <a:ext cx="2602154" cy="731520"/>
          </a:xfrm>
          <a:prstGeom prst="roundRect">
            <a:avLst>
              <a:gd name="adj" fmla="val 12500"/>
            </a:avLst>
          </a:prstGeom>
          <a:solidFill>
            <a:schemeClr val="tx1"/>
          </a:solidFill>
          <a:ln/>
        </p:spPr>
      </p:sp>
      <p:pic>
        <p:nvPicPr>
          <p:cNvPr id="35" name="Icon PiMegaphone C6F432" descr="preencoded.png">    </p:cNvPr>
          <p:cNvPicPr>
            <a:picLocks noChangeAspect="1"/>
          </p:cNvPicPr>
          <p:nvPr/>
        </p:nvPicPr>
        <p:blipFill>
          <a:blip r:embed="rId5">
            <a:extLst>
              <a:ext uri="{96DAC541-7B7A-43D3-8B79-37D633B846F1}">
                <asvg:svgBlip xmlns:asvg="http://schemas.microsoft.com/office/drawing/2016/SVG/main" r:embed="rId14"/>
              </a:ext>
            </a:extLst>
          </a:blip>
          <a:stretch>
            <a:fillRect/>
          </a:stretch>
        </p:blipFill>
        <p:spPr>
          <a:xfrm>
            <a:off x="6438748" y="2075688"/>
            <a:ext cx="329184" cy="329184"/>
          </a:xfrm>
          <a:prstGeom prst="rect">
            <a:avLst/>
          </a:prstGeom>
        </p:spPr>
      </p:pic>
      <p:sp>
        <p:nvSpPr>
          <p:cNvPr id="36" name="Text 29"/>
          <p:cNvSpPr txBox="1"/>
          <p:nvPr/>
        </p:nvSpPr>
        <p:spPr>
          <a:xfrm>
            <a:off x="6941668" y="1874520"/>
            <a:ext cx="1687754" cy="731520"/>
          </a:xfrm>
          <a:prstGeom prst="rect">
            <a:avLst/>
          </a:prstGeom>
          <a:noFill/>
          <a:ln/>
        </p:spPr>
        <p:txBody>
          <a:bodyPr wrap="square" lIns="0" tIns="0" rIns="0" bIns="0" rtlCol="0" anchor="ctr"/>
          <a:lstStyle/>
          <a:p>
            <a:pPr algn="l" indent="0" marL="0">
              <a:buNone/>
            </a:pPr>
            <a:r>
              <a:rPr lang="en-US" sz="1500" b="1" dirty="0">
                <a:solidFill>
                  <a:schemeClr val="bg1"/>
                </a:solidFill>
                <a:latin typeface="Manrope" pitchFamily="34" charset="0"/>
                <a:ea typeface="Manrope" pitchFamily="34" charset="-122"/>
                <a:cs typeface="Manrope" pitchFamily="34" charset="-120"/>
              </a:rPr>
              <a:t>Channels</a:t>
            </a:r>
            <a:endParaRPr lang="en-US" sz="1500" dirty="0"/>
          </a:p>
        </p:txBody>
      </p:sp>
      <p:sp>
        <p:nvSpPr>
          <p:cNvPr id="37" name="Shape 30"/>
          <p:cNvSpPr/>
          <p:nvPr/>
        </p:nvSpPr>
        <p:spPr>
          <a:xfrm>
            <a:off x="8748293" y="2075688"/>
            <a:ext cx="329184" cy="329184"/>
          </a:xfrm>
          <a:prstGeom prst="ellipse">
            <a:avLst/>
          </a:prstGeom>
          <a:solidFill>
            <a:schemeClr val="bg1"/>
          </a:solidFill>
          <a:ln w="9525">
            <a:solidFill>
              <a:schemeClr val="accent4"/>
            </a:solidFill>
            <a:prstDash val="solid"/>
          </a:ln>
        </p:spPr>
      </p:sp>
      <p:pic>
        <p:nvPicPr>
          <p:cNvPr id="38" name="Icon PiArrowRight 0A1628" descr="preencoded.png">    </p:cNvPr>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8822360" y="2149754"/>
            <a:ext cx="181051" cy="181051"/>
          </a:xfrm>
          <a:prstGeom prst="rect">
            <a:avLst/>
          </a:prstGeom>
        </p:spPr>
      </p:pic>
      <p:sp>
        <p:nvSpPr>
          <p:cNvPr id="39" name="Shape 31"/>
          <p:cNvSpPr/>
          <p:nvPr/>
        </p:nvSpPr>
        <p:spPr>
          <a:xfrm>
            <a:off x="6210148" y="2834640"/>
            <a:ext cx="2602154" cy="960120"/>
          </a:xfrm>
          <a:prstGeom prst="roundRect">
            <a:avLst>
              <a:gd name="adj" fmla="val 9524"/>
            </a:avLst>
          </a:prstGeom>
          <a:solidFill>
            <a:schemeClr val="bg2"/>
          </a:solidFill>
          <a:ln/>
        </p:spPr>
      </p:sp>
      <p:sp>
        <p:nvSpPr>
          <p:cNvPr id="40" name="Text 32"/>
          <p:cNvSpPr txBox="1"/>
          <p:nvPr/>
        </p:nvSpPr>
        <p:spPr>
          <a:xfrm>
            <a:off x="6438748"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41" name="Text 33"/>
          <p:cNvSpPr txBox="1"/>
          <p:nvPr/>
        </p:nvSpPr>
        <p:spPr>
          <a:xfrm>
            <a:off x="6438748"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Partner co-marketing</a:t>
            </a:r>
            <a:endParaRPr lang="en-US" sz="1150" dirty="0"/>
          </a:p>
        </p:txBody>
      </p:sp>
      <p:sp>
        <p:nvSpPr>
          <p:cNvPr id="42" name="Shape 34"/>
          <p:cNvSpPr/>
          <p:nvPr/>
        </p:nvSpPr>
        <p:spPr>
          <a:xfrm>
            <a:off x="6210148" y="3931920"/>
            <a:ext cx="2602154" cy="960120"/>
          </a:xfrm>
          <a:prstGeom prst="roundRect">
            <a:avLst>
              <a:gd name="adj" fmla="val 9524"/>
            </a:avLst>
          </a:prstGeom>
          <a:solidFill>
            <a:schemeClr val="bg2"/>
          </a:solidFill>
          <a:ln/>
        </p:spPr>
      </p:sp>
      <p:sp>
        <p:nvSpPr>
          <p:cNvPr id="43" name="Text 35"/>
          <p:cNvSpPr txBox="1"/>
          <p:nvPr/>
        </p:nvSpPr>
        <p:spPr>
          <a:xfrm>
            <a:off x="6438748"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44" name="Text 36"/>
          <p:cNvSpPr txBox="1"/>
          <p:nvPr/>
        </p:nvSpPr>
        <p:spPr>
          <a:xfrm>
            <a:off x="6438748"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Executive events</a:t>
            </a:r>
            <a:endParaRPr lang="en-US" sz="1150" dirty="0"/>
          </a:p>
        </p:txBody>
      </p:sp>
      <p:sp>
        <p:nvSpPr>
          <p:cNvPr id="45" name="Shape 37"/>
          <p:cNvSpPr/>
          <p:nvPr/>
        </p:nvSpPr>
        <p:spPr>
          <a:xfrm>
            <a:off x="6210148" y="5029200"/>
            <a:ext cx="2602154" cy="960120"/>
          </a:xfrm>
          <a:prstGeom prst="roundRect">
            <a:avLst>
              <a:gd name="adj" fmla="val 9524"/>
            </a:avLst>
          </a:prstGeom>
          <a:solidFill>
            <a:schemeClr val="bg2"/>
          </a:solidFill>
          <a:ln/>
        </p:spPr>
      </p:sp>
      <p:sp>
        <p:nvSpPr>
          <p:cNvPr id="46" name="Text 38"/>
          <p:cNvSpPr txBox="1"/>
          <p:nvPr/>
        </p:nvSpPr>
        <p:spPr>
          <a:xfrm>
            <a:off x="6438748"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47" name="Text 39"/>
          <p:cNvSpPr txBox="1"/>
          <p:nvPr/>
        </p:nvSpPr>
        <p:spPr>
          <a:xfrm>
            <a:off x="6438748"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LinkedIn thought leadership</a:t>
            </a:r>
            <a:endParaRPr lang="en-US" sz="1150" dirty="0"/>
          </a:p>
        </p:txBody>
      </p:sp>
      <p:sp>
        <p:nvSpPr>
          <p:cNvPr id="48" name="Shape 40"/>
          <p:cNvSpPr/>
          <p:nvPr/>
        </p:nvSpPr>
        <p:spPr>
          <a:xfrm>
            <a:off x="9040901" y="1874520"/>
            <a:ext cx="2602154" cy="731520"/>
          </a:xfrm>
          <a:prstGeom prst="roundRect">
            <a:avLst>
              <a:gd name="adj" fmla="val 12500"/>
            </a:avLst>
          </a:prstGeom>
          <a:solidFill>
            <a:schemeClr val="accent1"/>
          </a:solidFill>
          <a:ln/>
        </p:spPr>
      </p:sp>
      <p:pic>
        <p:nvPicPr>
          <p:cNvPr id="49" name="Icon PiTarget 0A1628" descr="preencoded.png">    </p:cNvPr>
          <p:cNvPicPr>
            <a:picLocks noChangeAspect="1"/>
          </p:cNvPicPr>
          <p:nvPr/>
        </p:nvPicPr>
        <p:blipFill>
          <a:blip r:embed="rId7">
            <a:extLst>
              <a:ext uri="{96DAC541-7B7A-43D3-8B79-37D633B846F1}">
                <asvg:svgBlip xmlns:asvg="http://schemas.microsoft.com/office/drawing/2016/SVG/main" r:embed="rId16"/>
              </a:ext>
            </a:extLst>
          </a:blip>
          <a:stretch>
            <a:fillRect/>
          </a:stretch>
        </p:blipFill>
        <p:spPr>
          <a:xfrm>
            <a:off x="9269501" y="2075688"/>
            <a:ext cx="329184" cy="329184"/>
          </a:xfrm>
          <a:prstGeom prst="rect">
            <a:avLst/>
          </a:prstGeom>
        </p:spPr>
      </p:pic>
      <p:sp>
        <p:nvSpPr>
          <p:cNvPr id="50" name="Text 41"/>
          <p:cNvSpPr txBox="1"/>
          <p:nvPr/>
        </p:nvSpPr>
        <p:spPr>
          <a:xfrm>
            <a:off x="9772421" y="1874520"/>
            <a:ext cx="1687754" cy="73152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Goals</a:t>
            </a:r>
            <a:endParaRPr lang="en-US" sz="1500" dirty="0"/>
          </a:p>
        </p:txBody>
      </p:sp>
      <p:sp>
        <p:nvSpPr>
          <p:cNvPr id="51" name="Shape 42"/>
          <p:cNvSpPr/>
          <p:nvPr/>
        </p:nvSpPr>
        <p:spPr>
          <a:xfrm>
            <a:off x="9040901" y="2834640"/>
            <a:ext cx="2602154" cy="960120"/>
          </a:xfrm>
          <a:prstGeom prst="roundRect">
            <a:avLst>
              <a:gd name="adj" fmla="val 9524"/>
            </a:avLst>
          </a:prstGeom>
          <a:solidFill>
            <a:schemeClr val="bg2"/>
          </a:solidFill>
          <a:ln/>
        </p:spPr>
      </p:sp>
      <p:sp>
        <p:nvSpPr>
          <p:cNvPr id="52" name="Text 43"/>
          <p:cNvSpPr txBox="1"/>
          <p:nvPr/>
        </p:nvSpPr>
        <p:spPr>
          <a:xfrm>
            <a:off x="9269501"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53" name="Text 44"/>
          <p:cNvSpPr txBox="1"/>
          <p:nvPr/>
        </p:nvSpPr>
        <p:spPr>
          <a:xfrm>
            <a:off x="9269501"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9,500 MQLs</a:t>
            </a:r>
            <a:endParaRPr lang="en-US" sz="1150" dirty="0"/>
          </a:p>
        </p:txBody>
      </p:sp>
      <p:sp>
        <p:nvSpPr>
          <p:cNvPr id="54" name="Shape 45"/>
          <p:cNvSpPr/>
          <p:nvPr/>
        </p:nvSpPr>
        <p:spPr>
          <a:xfrm>
            <a:off x="9040901" y="3931920"/>
            <a:ext cx="2602154" cy="960120"/>
          </a:xfrm>
          <a:prstGeom prst="roundRect">
            <a:avLst>
              <a:gd name="adj" fmla="val 9524"/>
            </a:avLst>
          </a:prstGeom>
          <a:solidFill>
            <a:schemeClr val="bg2"/>
          </a:solidFill>
          <a:ln/>
        </p:spPr>
      </p:sp>
      <p:sp>
        <p:nvSpPr>
          <p:cNvPr id="55" name="Text 46"/>
          <p:cNvSpPr txBox="1"/>
          <p:nvPr/>
        </p:nvSpPr>
        <p:spPr>
          <a:xfrm>
            <a:off x="9269501"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56" name="Text 47"/>
          <p:cNvSpPr txBox="1"/>
          <p:nvPr/>
        </p:nvSpPr>
        <p:spPr>
          <a:xfrm>
            <a:off x="9269501"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$42M pipeline sourced</a:t>
            </a:r>
            <a:endParaRPr lang="en-US" sz="1150" dirty="0"/>
          </a:p>
        </p:txBody>
      </p:sp>
      <p:sp>
        <p:nvSpPr>
          <p:cNvPr id="57" name="Shape 48"/>
          <p:cNvSpPr/>
          <p:nvPr/>
        </p:nvSpPr>
        <p:spPr>
          <a:xfrm>
            <a:off x="9040901" y="5029200"/>
            <a:ext cx="2602154" cy="960120"/>
          </a:xfrm>
          <a:prstGeom prst="roundRect">
            <a:avLst>
              <a:gd name="adj" fmla="val 9524"/>
            </a:avLst>
          </a:prstGeom>
          <a:solidFill>
            <a:schemeClr val="bg2"/>
          </a:solidFill>
          <a:ln/>
        </p:spPr>
      </p:sp>
      <p:sp>
        <p:nvSpPr>
          <p:cNvPr id="58" name="Text 49"/>
          <p:cNvSpPr txBox="1"/>
          <p:nvPr/>
        </p:nvSpPr>
        <p:spPr>
          <a:xfrm>
            <a:off x="9269501"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59" name="Text 50"/>
          <p:cNvSpPr txBox="1"/>
          <p:nvPr/>
        </p:nvSpPr>
        <p:spPr>
          <a:xfrm>
            <a:off x="9269501"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CPL below $180</a:t>
            </a:r>
            <a:endParaRPr lang="en-US" sz="11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Campaign recap: “Know Your Number” beat its pipeline goal by 31%</a:t>
            </a:r>
            <a:endParaRPr lang="en-US" sz="2800" dirty="0"/>
          </a:p>
        </p:txBody>
      </p:sp>
      <p:sp>
        <p:nvSpPr>
          <p:cNvPr id="5" name="Shape 3"/>
          <p:cNvSpPr/>
          <p:nvPr/>
        </p:nvSpPr>
        <p:spPr>
          <a:xfrm>
            <a:off x="548640" y="1874520"/>
            <a:ext cx="3545738" cy="4160520"/>
          </a:xfrm>
          <a:prstGeom prst="roundRect">
            <a:avLst>
              <a:gd name="adj" fmla="val 2579"/>
            </a:avLst>
          </a:prstGeom>
          <a:solidFill>
            <a:schemeClr val="tx1"/>
          </a:solidFill>
          <a:ln/>
        </p:spPr>
      </p:sp>
      <p:sp>
        <p:nvSpPr>
          <p:cNvPr id="6" name="Shape 4"/>
          <p:cNvSpPr/>
          <p:nvPr/>
        </p:nvSpPr>
        <p:spPr>
          <a:xfrm>
            <a:off x="822960" y="2148840"/>
            <a:ext cx="1005840" cy="274320"/>
          </a:xfrm>
          <a:prstGeom prst="roundRect">
            <a:avLst>
              <a:gd name="adj" fmla="val 50000"/>
            </a:avLst>
          </a:prstGeom>
          <a:solidFill>
            <a:schemeClr val="accent1"/>
          </a:solidFill>
          <a:ln/>
        </p:spPr>
      </p:sp>
      <p:sp>
        <p:nvSpPr>
          <p:cNvPr id="7" name="Text 5"/>
          <p:cNvSpPr txBox="1"/>
          <p:nvPr/>
        </p:nvSpPr>
        <p:spPr>
          <a:xfrm>
            <a:off x="822960" y="2148840"/>
            <a:ext cx="100584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Completed</a:t>
            </a:r>
            <a:endParaRPr lang="en-US" sz="900" dirty="0"/>
          </a:p>
        </p:txBody>
      </p:sp>
      <p:sp>
        <p:nvSpPr>
          <p:cNvPr id="8" name="Text 6"/>
          <p:cNvSpPr txBox="1"/>
          <p:nvPr/>
        </p:nvSpPr>
        <p:spPr>
          <a:xfrm>
            <a:off x="822960" y="2606040"/>
            <a:ext cx="2997098" cy="457200"/>
          </a:xfrm>
          <a:prstGeom prst="rect">
            <a:avLst/>
          </a:prstGeom>
          <a:noFill/>
          <a:ln/>
        </p:spPr>
        <p:txBody>
          <a:bodyPr wrap="square" lIns="0" tIns="0" rIns="0" bIns="0" rtlCol="0" anchor="t"/>
          <a:lstStyle/>
          <a:p>
            <a:pPr algn="l" indent="0" marL="0">
              <a:buNone/>
            </a:pPr>
            <a:r>
              <a:rPr lang="en-US" sz="2200" b="1" dirty="0">
                <a:solidFill>
                  <a:schemeClr val="bg1"/>
                </a:solidFill>
                <a:latin typeface="Manrope" pitchFamily="34" charset="0"/>
                <a:ea typeface="Manrope" pitchFamily="34" charset="-122"/>
                <a:cs typeface="Manrope" pitchFamily="34" charset="-120"/>
              </a:rPr>
              <a:t>Know Your Number</a:t>
            </a:r>
            <a:endParaRPr lang="en-US" sz="2200" dirty="0"/>
          </a:p>
        </p:txBody>
      </p:sp>
      <p:sp>
        <p:nvSpPr>
          <p:cNvPr id="9" name="Text 7"/>
          <p:cNvSpPr txBox="1"/>
          <p:nvPr/>
        </p:nvSpPr>
        <p:spPr>
          <a:xfrm>
            <a:off x="822960" y="3108960"/>
            <a:ext cx="299709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4"/>
                </a:solidFill>
                <a:latin typeface="Inter" pitchFamily="34" charset="0"/>
                <a:ea typeface="Inter" pitchFamily="34" charset="-122"/>
                <a:cs typeface="Inter" pitchFamily="34" charset="-120"/>
              </a:rPr>
              <a:t>Integrated demand campaign for Q3 targeting mid-market CROs.</a:t>
            </a:r>
            <a:endParaRPr lang="en-US" sz="1100" dirty="0"/>
          </a:p>
        </p:txBody>
      </p:sp>
      <p:sp>
        <p:nvSpPr>
          <p:cNvPr id="10" name="Shape 8"/>
          <p:cNvSpPr/>
          <p:nvPr/>
        </p:nvSpPr>
        <p:spPr>
          <a:xfrm>
            <a:off x="822960" y="3931920"/>
            <a:ext cx="2997098" cy="0"/>
          </a:xfrm>
          <a:prstGeom prst="line">
            <a:avLst/>
          </a:prstGeom>
          <a:noFill/>
          <a:ln w="12700">
            <a:solidFill>
              <a:schemeClr val="accent5"/>
            </a:solidFill>
            <a:prstDash val="solid"/>
          </a:ln>
        </p:spPr>
      </p:sp>
      <p:sp>
        <p:nvSpPr>
          <p:cNvPr id="11" name="Text 9"/>
          <p:cNvSpPr txBox="1"/>
          <p:nvPr/>
        </p:nvSpPr>
        <p:spPr>
          <a:xfrm>
            <a:off x="822960" y="4023360"/>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Dates</a:t>
            </a:r>
            <a:endParaRPr lang="en-US" sz="1050" dirty="0"/>
          </a:p>
        </p:txBody>
      </p:sp>
      <p:sp>
        <p:nvSpPr>
          <p:cNvPr id="12" name="Text 10"/>
          <p:cNvSpPr txBox="1"/>
          <p:nvPr/>
        </p:nvSpPr>
        <p:spPr>
          <a:xfrm>
            <a:off x="2011680" y="4023360"/>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1 Jul – 30 Sep 2026</a:t>
            </a:r>
            <a:endParaRPr lang="en-US" sz="1050" dirty="0"/>
          </a:p>
        </p:txBody>
      </p:sp>
      <p:sp>
        <p:nvSpPr>
          <p:cNvPr id="13" name="Shape 11"/>
          <p:cNvSpPr/>
          <p:nvPr/>
        </p:nvSpPr>
        <p:spPr>
          <a:xfrm>
            <a:off x="822960" y="4407408"/>
            <a:ext cx="2997098" cy="0"/>
          </a:xfrm>
          <a:prstGeom prst="line">
            <a:avLst/>
          </a:prstGeom>
          <a:noFill/>
          <a:ln w="12700">
            <a:solidFill>
              <a:schemeClr val="accent5"/>
            </a:solidFill>
            <a:prstDash val="solid"/>
          </a:ln>
        </p:spPr>
      </p:sp>
      <p:sp>
        <p:nvSpPr>
          <p:cNvPr id="14" name="Text 12"/>
          <p:cNvSpPr txBox="1"/>
          <p:nvPr/>
        </p:nvSpPr>
        <p:spPr>
          <a:xfrm>
            <a:off x="822960" y="4498848"/>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Budget</a:t>
            </a:r>
            <a:endParaRPr lang="en-US" sz="1050" dirty="0"/>
          </a:p>
        </p:txBody>
      </p:sp>
      <p:sp>
        <p:nvSpPr>
          <p:cNvPr id="15" name="Text 13"/>
          <p:cNvSpPr txBox="1"/>
          <p:nvPr/>
        </p:nvSpPr>
        <p:spPr>
          <a:xfrm>
            <a:off x="2011680" y="4498848"/>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$640K</a:t>
            </a:r>
            <a:endParaRPr lang="en-US" sz="1050" dirty="0"/>
          </a:p>
        </p:txBody>
      </p:sp>
      <p:sp>
        <p:nvSpPr>
          <p:cNvPr id="16" name="Shape 14"/>
          <p:cNvSpPr/>
          <p:nvPr/>
        </p:nvSpPr>
        <p:spPr>
          <a:xfrm>
            <a:off x="822960" y="4882896"/>
            <a:ext cx="2997098" cy="0"/>
          </a:xfrm>
          <a:prstGeom prst="line">
            <a:avLst/>
          </a:prstGeom>
          <a:noFill/>
          <a:ln w="12700">
            <a:solidFill>
              <a:schemeClr val="accent5"/>
            </a:solidFill>
            <a:prstDash val="solid"/>
          </a:ln>
        </p:spPr>
      </p:sp>
      <p:sp>
        <p:nvSpPr>
          <p:cNvPr id="17" name="Text 15"/>
          <p:cNvSpPr txBox="1"/>
          <p:nvPr/>
        </p:nvSpPr>
        <p:spPr>
          <a:xfrm>
            <a:off x="822960" y="4974336"/>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Owner</a:t>
            </a:r>
            <a:endParaRPr lang="en-US" sz="1050" dirty="0"/>
          </a:p>
        </p:txBody>
      </p:sp>
      <p:sp>
        <p:nvSpPr>
          <p:cNvPr id="18" name="Text 16"/>
          <p:cNvSpPr txBox="1"/>
          <p:nvPr/>
        </p:nvSpPr>
        <p:spPr>
          <a:xfrm>
            <a:off x="2011680" y="4974336"/>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Demand generation</a:t>
            </a:r>
            <a:endParaRPr lang="en-US" sz="1050" dirty="0"/>
          </a:p>
        </p:txBody>
      </p:sp>
      <p:sp>
        <p:nvSpPr>
          <p:cNvPr id="19" name="Shape 17"/>
          <p:cNvSpPr/>
          <p:nvPr/>
        </p:nvSpPr>
        <p:spPr>
          <a:xfrm>
            <a:off x="822960" y="5358384"/>
            <a:ext cx="2997098" cy="0"/>
          </a:xfrm>
          <a:prstGeom prst="line">
            <a:avLst/>
          </a:prstGeom>
          <a:noFill/>
          <a:ln w="12700">
            <a:solidFill>
              <a:schemeClr val="accent5"/>
            </a:solidFill>
            <a:prstDash val="solid"/>
          </a:ln>
        </p:spPr>
      </p:sp>
      <p:sp>
        <p:nvSpPr>
          <p:cNvPr id="20" name="Text 18"/>
          <p:cNvSpPr txBox="1"/>
          <p:nvPr/>
        </p:nvSpPr>
        <p:spPr>
          <a:xfrm>
            <a:off x="822960" y="5449824"/>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Regions</a:t>
            </a:r>
            <a:endParaRPr lang="en-US" sz="1050" dirty="0"/>
          </a:p>
        </p:txBody>
      </p:sp>
      <p:sp>
        <p:nvSpPr>
          <p:cNvPr id="21" name="Text 19"/>
          <p:cNvSpPr txBox="1"/>
          <p:nvPr/>
        </p:nvSpPr>
        <p:spPr>
          <a:xfrm>
            <a:off x="2011680" y="5449824"/>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EU · North America</a:t>
            </a:r>
            <a:endParaRPr lang="en-US" sz="1050" dirty="0"/>
          </a:p>
        </p:txBody>
      </p:sp>
      <p:sp>
        <p:nvSpPr>
          <p:cNvPr id="22" name="Shape 20"/>
          <p:cNvSpPr/>
          <p:nvPr/>
        </p:nvSpPr>
        <p:spPr>
          <a:xfrm>
            <a:off x="4414418" y="1874520"/>
            <a:ext cx="1669999" cy="1325880"/>
          </a:xfrm>
          <a:prstGeom prst="roundRect">
            <a:avLst>
              <a:gd name="adj" fmla="val 6897"/>
            </a:avLst>
          </a:prstGeom>
          <a:solidFill>
            <a:schemeClr val="bg1"/>
          </a:solidFill>
          <a:ln w="9525">
            <a:solidFill>
              <a:schemeClr val="accent4"/>
            </a:solidFill>
            <a:prstDash val="solid"/>
          </a:ln>
        </p:spPr>
      </p:sp>
      <p:sp>
        <p:nvSpPr>
          <p:cNvPr id="23" name="Text 21"/>
          <p:cNvSpPr txBox="1"/>
          <p:nvPr/>
        </p:nvSpPr>
        <p:spPr>
          <a:xfrm>
            <a:off x="4615586"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Pipeline</a:t>
            </a:r>
            <a:endParaRPr lang="en-US" sz="1000" dirty="0"/>
          </a:p>
        </p:txBody>
      </p:sp>
      <p:sp>
        <p:nvSpPr>
          <p:cNvPr id="24" name="Text 22"/>
          <p:cNvSpPr txBox="1"/>
          <p:nvPr/>
        </p:nvSpPr>
        <p:spPr>
          <a:xfrm>
            <a:off x="4615586"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$5.9M</a:t>
            </a:r>
            <a:endParaRPr lang="en-US" sz="2400" dirty="0"/>
          </a:p>
        </p:txBody>
      </p:sp>
      <p:sp>
        <p:nvSpPr>
          <p:cNvPr id="25" name="Text 23"/>
          <p:cNvSpPr txBox="1"/>
          <p:nvPr/>
        </p:nvSpPr>
        <p:spPr>
          <a:xfrm>
            <a:off x="4615586"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31%</a:t>
            </a:r>
            <a:pPr algn="l" indent="0" marL="0">
              <a:buNone/>
            </a:pPr>
            <a:r>
              <a:rPr lang="en-US" sz="950" dirty="0">
                <a:solidFill>
                  <a:schemeClr val="accent3"/>
                </a:solidFill>
                <a:latin typeface="Inter" pitchFamily="34" charset="0"/>
                <a:ea typeface="Inter" pitchFamily="34" charset="-122"/>
                <a:cs typeface="Inter" pitchFamily="34" charset="-120"/>
              </a:rPr>
              <a:t>  vs goal</a:t>
            </a:r>
            <a:endParaRPr lang="en-US" sz="950" dirty="0"/>
          </a:p>
        </p:txBody>
      </p:sp>
      <p:sp>
        <p:nvSpPr>
          <p:cNvPr id="26" name="Shape 24"/>
          <p:cNvSpPr/>
          <p:nvPr/>
        </p:nvSpPr>
        <p:spPr>
          <a:xfrm>
            <a:off x="6267298" y="1874520"/>
            <a:ext cx="1669999" cy="1325880"/>
          </a:xfrm>
          <a:prstGeom prst="roundRect">
            <a:avLst>
              <a:gd name="adj" fmla="val 6897"/>
            </a:avLst>
          </a:prstGeom>
          <a:solidFill>
            <a:schemeClr val="bg1"/>
          </a:solidFill>
          <a:ln w="9525">
            <a:solidFill>
              <a:schemeClr val="accent4"/>
            </a:solidFill>
            <a:prstDash val="solid"/>
          </a:ln>
        </p:spPr>
      </p:sp>
      <p:sp>
        <p:nvSpPr>
          <p:cNvPr id="27" name="Text 25"/>
          <p:cNvSpPr txBox="1"/>
          <p:nvPr/>
        </p:nvSpPr>
        <p:spPr>
          <a:xfrm>
            <a:off x="6468466"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MQLs</a:t>
            </a:r>
            <a:endParaRPr lang="en-US" sz="1000" dirty="0"/>
          </a:p>
        </p:txBody>
      </p:sp>
      <p:sp>
        <p:nvSpPr>
          <p:cNvPr id="28" name="Text 26"/>
          <p:cNvSpPr txBox="1"/>
          <p:nvPr/>
        </p:nvSpPr>
        <p:spPr>
          <a:xfrm>
            <a:off x="6468466"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2,840</a:t>
            </a:r>
            <a:endParaRPr lang="en-US" sz="2400" dirty="0"/>
          </a:p>
        </p:txBody>
      </p:sp>
      <p:sp>
        <p:nvSpPr>
          <p:cNvPr id="29" name="Text 27"/>
          <p:cNvSpPr txBox="1"/>
          <p:nvPr/>
        </p:nvSpPr>
        <p:spPr>
          <a:xfrm>
            <a:off x="6468466"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22%</a:t>
            </a:r>
            <a:pPr algn="l" indent="0" marL="0">
              <a:buNone/>
            </a:pPr>
            <a:r>
              <a:rPr lang="en-US" sz="950" dirty="0">
                <a:solidFill>
                  <a:schemeClr val="accent3"/>
                </a:solidFill>
                <a:latin typeface="Inter" pitchFamily="34" charset="0"/>
                <a:ea typeface="Inter" pitchFamily="34" charset="-122"/>
                <a:cs typeface="Inter" pitchFamily="34" charset="-120"/>
              </a:rPr>
              <a:t>  vs goal</a:t>
            </a:r>
            <a:endParaRPr lang="en-US" sz="950" dirty="0"/>
          </a:p>
        </p:txBody>
      </p:sp>
      <p:sp>
        <p:nvSpPr>
          <p:cNvPr id="30" name="Shape 28"/>
          <p:cNvSpPr/>
          <p:nvPr/>
        </p:nvSpPr>
        <p:spPr>
          <a:xfrm>
            <a:off x="8120177" y="1874520"/>
            <a:ext cx="1669999" cy="1325880"/>
          </a:xfrm>
          <a:prstGeom prst="roundRect">
            <a:avLst>
              <a:gd name="adj" fmla="val 6897"/>
            </a:avLst>
          </a:prstGeom>
          <a:solidFill>
            <a:schemeClr val="bg1"/>
          </a:solidFill>
          <a:ln w="9525">
            <a:solidFill>
              <a:schemeClr val="accent4"/>
            </a:solidFill>
            <a:prstDash val="solid"/>
          </a:ln>
        </p:spPr>
      </p:sp>
      <p:sp>
        <p:nvSpPr>
          <p:cNvPr id="31" name="Text 29"/>
          <p:cNvSpPr txBox="1"/>
          <p:nvPr/>
        </p:nvSpPr>
        <p:spPr>
          <a:xfrm>
            <a:off x="8321345"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Cost per lead</a:t>
            </a:r>
            <a:endParaRPr lang="en-US" sz="1000" dirty="0"/>
          </a:p>
        </p:txBody>
      </p:sp>
      <p:sp>
        <p:nvSpPr>
          <p:cNvPr id="32" name="Text 30"/>
          <p:cNvSpPr txBox="1"/>
          <p:nvPr/>
        </p:nvSpPr>
        <p:spPr>
          <a:xfrm>
            <a:off x="8321345"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$225</a:t>
            </a:r>
            <a:endParaRPr lang="en-US" sz="2400" dirty="0"/>
          </a:p>
        </p:txBody>
      </p:sp>
      <p:sp>
        <p:nvSpPr>
          <p:cNvPr id="33" name="Text 31"/>
          <p:cNvSpPr txBox="1"/>
          <p:nvPr/>
        </p:nvSpPr>
        <p:spPr>
          <a:xfrm>
            <a:off x="8321345"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9%</a:t>
            </a:r>
            <a:pPr algn="l" indent="0" marL="0">
              <a:buNone/>
            </a:pPr>
            <a:r>
              <a:rPr lang="en-US" sz="950" dirty="0">
                <a:solidFill>
                  <a:schemeClr val="accent3"/>
                </a:solidFill>
                <a:latin typeface="Inter" pitchFamily="34" charset="0"/>
                <a:ea typeface="Inter" pitchFamily="34" charset="-122"/>
                <a:cs typeface="Inter" pitchFamily="34" charset="-120"/>
              </a:rPr>
              <a:t>  lower</a:t>
            </a:r>
            <a:endParaRPr lang="en-US" sz="950" dirty="0"/>
          </a:p>
        </p:txBody>
      </p:sp>
      <p:sp>
        <p:nvSpPr>
          <p:cNvPr id="34" name="Shape 32"/>
          <p:cNvSpPr/>
          <p:nvPr/>
        </p:nvSpPr>
        <p:spPr>
          <a:xfrm>
            <a:off x="9973056" y="1874520"/>
            <a:ext cx="1669999" cy="1325880"/>
          </a:xfrm>
          <a:prstGeom prst="roundRect">
            <a:avLst>
              <a:gd name="adj" fmla="val 6897"/>
            </a:avLst>
          </a:prstGeom>
          <a:solidFill>
            <a:schemeClr val="bg1"/>
          </a:solidFill>
          <a:ln w="9525">
            <a:solidFill>
              <a:schemeClr val="accent4"/>
            </a:solidFill>
            <a:prstDash val="solid"/>
          </a:ln>
        </p:spPr>
      </p:sp>
      <p:sp>
        <p:nvSpPr>
          <p:cNvPr id="35" name="Text 33"/>
          <p:cNvSpPr txBox="1"/>
          <p:nvPr/>
        </p:nvSpPr>
        <p:spPr>
          <a:xfrm>
            <a:off x="10174224"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ROI</a:t>
            </a:r>
            <a:endParaRPr lang="en-US" sz="1000" dirty="0"/>
          </a:p>
        </p:txBody>
      </p:sp>
      <p:sp>
        <p:nvSpPr>
          <p:cNvPr id="36" name="Text 34"/>
          <p:cNvSpPr txBox="1"/>
          <p:nvPr/>
        </p:nvSpPr>
        <p:spPr>
          <a:xfrm>
            <a:off x="10174224"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9.2×</a:t>
            </a:r>
            <a:endParaRPr lang="en-US" sz="2400" dirty="0"/>
          </a:p>
        </p:txBody>
      </p:sp>
      <p:sp>
        <p:nvSpPr>
          <p:cNvPr id="37" name="Text 35"/>
          <p:cNvSpPr txBox="1"/>
          <p:nvPr/>
        </p:nvSpPr>
        <p:spPr>
          <a:xfrm>
            <a:off x="10174224"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1.8×</a:t>
            </a:r>
            <a:pPr algn="l" indent="0" marL="0">
              <a:buNone/>
            </a:pPr>
            <a:r>
              <a:rPr lang="en-US" sz="950" dirty="0">
                <a:solidFill>
                  <a:schemeClr val="accent3"/>
                </a:solidFill>
                <a:latin typeface="Inter" pitchFamily="34" charset="0"/>
                <a:ea typeface="Inter" pitchFamily="34" charset="-122"/>
                <a:cs typeface="Inter" pitchFamily="34" charset="-120"/>
              </a:rPr>
              <a:t>  vs goal</a:t>
            </a:r>
            <a:endParaRPr lang="en-US" sz="950" dirty="0"/>
          </a:p>
        </p:txBody>
      </p:sp>
      <p:sp>
        <p:nvSpPr>
          <p:cNvPr id="38" name="Shape 36"/>
          <p:cNvSpPr/>
          <p:nvPr/>
        </p:nvSpPr>
        <p:spPr>
          <a:xfrm>
            <a:off x="4414418" y="3429000"/>
            <a:ext cx="7228637" cy="2606040"/>
          </a:xfrm>
          <a:prstGeom prst="roundRect">
            <a:avLst>
              <a:gd name="adj" fmla="val 3509"/>
            </a:avLst>
          </a:prstGeom>
          <a:solidFill>
            <a:schemeClr val="bg1"/>
          </a:solidFill>
          <a:ln/>
        </p:spPr>
      </p:sp>
      <p:sp>
        <p:nvSpPr>
          <p:cNvPr id="39" name="Text 37"/>
          <p:cNvSpPr txBox="1"/>
          <p:nvPr/>
        </p:nvSpPr>
        <p:spPr>
          <a:xfrm>
            <a:off x="4688738" y="3611880"/>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Weekly MQLs</a:t>
            </a:r>
            <a:endParaRPr lang="en-US" sz="1300" dirty="0"/>
          </a:p>
        </p:txBody>
      </p:sp>
      <p:graphicFrame>
        <p:nvGraphicFramePr>
          <p:cNvPr id="40" name="Chart 0" descr=""/>
          <p:cNvGraphicFramePr/>
          <p:nvPr/>
        </p:nvGraphicFramePr>
        <p:xfrm>
          <a:off x="4551578" y="3931920"/>
          <a:ext cx="6954317" cy="20116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are shifting spend from paid search to partners and events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Marketing spend by channel, $K per quarter.</a:t>
            </a:r>
            <a:endParaRPr lang="en-US" sz="1150" dirty="0"/>
          </a:p>
        </p:txBody>
      </p:sp>
      <p:graphicFrame>
        <p:nvGraphicFramePr>
          <p:cNvPr id="6" name="Chart 0" descr=""/>
          <p:cNvGraphicFramePr/>
          <p:nvPr/>
        </p:nvGraphicFramePr>
        <p:xfrm>
          <a:off x="548640" y="1874520"/>
          <a:ext cx="7320077" cy="4160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71637" y="1874520"/>
            <a:ext cx="3271418" cy="1280160"/>
          </a:xfrm>
          <a:prstGeom prst="roundRect">
            <a:avLst>
              <a:gd name="adj" fmla="val 7143"/>
            </a:avLst>
          </a:prstGeom>
          <a:solidFill>
            <a:schemeClr val="tx1"/>
          </a:solidFill>
          <a:ln/>
        </p:spPr>
      </p:sp>
      <p:sp>
        <p:nvSpPr>
          <p:cNvPr id="8" name="Text 5"/>
          <p:cNvSpPr txBox="1"/>
          <p:nvPr/>
        </p:nvSpPr>
        <p:spPr>
          <a:xfrm>
            <a:off x="8645957" y="2057400"/>
            <a:ext cx="2722778" cy="228600"/>
          </a:xfrm>
          <a:prstGeom prst="rect">
            <a:avLst/>
          </a:prstGeom>
          <a:noFill/>
          <a:ln/>
        </p:spPr>
        <p:txBody>
          <a:bodyPr wrap="square" lIns="0" tIns="0" rIns="0" bIns="0" rtlCol="0" anchor="t"/>
          <a:lstStyle/>
          <a:p>
            <a:pPr algn="l" indent="0" marL="0">
              <a:buNone/>
            </a:pPr>
            <a:r>
              <a:rPr lang="en-US" sz="1050" dirty="0">
                <a:solidFill>
                  <a:schemeClr val="accent4"/>
                </a:solidFill>
                <a:latin typeface="Inter Medium" pitchFamily="34" charset="0"/>
                <a:ea typeface="Inter Medium" pitchFamily="34" charset="-122"/>
                <a:cs typeface="Inter Medium" pitchFamily="34" charset="-120"/>
              </a:rPr>
              <a:t>Partners</a:t>
            </a:r>
            <a:endParaRPr lang="en-US" sz="1050" dirty="0"/>
          </a:p>
        </p:txBody>
      </p:sp>
      <p:sp>
        <p:nvSpPr>
          <p:cNvPr id="9" name="Text 6"/>
          <p:cNvSpPr txBox="1"/>
          <p:nvPr/>
        </p:nvSpPr>
        <p:spPr>
          <a:xfrm>
            <a:off x="8645957" y="2286000"/>
            <a:ext cx="1645920" cy="502920"/>
          </a:xfrm>
          <a:prstGeom prst="rect">
            <a:avLst/>
          </a:prstGeom>
          <a:noFill/>
          <a:ln/>
        </p:spPr>
        <p:txBody>
          <a:bodyPr wrap="square" lIns="0" tIns="0" rIns="0" bIns="0" rtlCol="0" anchor="t"/>
          <a:lstStyle/>
          <a:p>
            <a:pPr algn="l" indent="0" marL="0">
              <a:buNone/>
            </a:pPr>
            <a:r>
              <a:rPr lang="en-US" sz="2400" dirty="0">
                <a:solidFill>
                  <a:schemeClr val="accent1"/>
                </a:solidFill>
                <a:latin typeface="Manrope ExtraBold" pitchFamily="34" charset="0"/>
                <a:ea typeface="Manrope ExtraBold" pitchFamily="34" charset="-122"/>
                <a:cs typeface="Manrope ExtraBold" pitchFamily="34" charset="-120"/>
              </a:rPr>
              <a:t>+289%</a:t>
            </a:r>
            <a:endParaRPr lang="en-US" sz="2400" dirty="0"/>
          </a:p>
        </p:txBody>
      </p:sp>
      <p:sp>
        <p:nvSpPr>
          <p:cNvPr id="10" name="Text 7"/>
          <p:cNvSpPr txBox="1"/>
          <p:nvPr/>
        </p:nvSpPr>
        <p:spPr>
          <a:xfrm>
            <a:off x="8645957" y="2770632"/>
            <a:ext cx="2722778" cy="320040"/>
          </a:xfrm>
          <a:prstGeom prst="rect">
            <a:avLst/>
          </a:prstGeom>
          <a:noFill/>
          <a:ln/>
        </p:spPr>
        <p:txBody>
          <a:bodyPr wrap="square" lIns="0" tIns="0" rIns="0" bIns="0" rtlCol="0" anchor="t"/>
          <a:lstStyle/>
          <a:p>
            <a:pPr algn="l" indent="0" marL="0">
              <a:buNone/>
            </a:pPr>
            <a:r>
              <a:rPr lang="en-US" sz="950" dirty="0">
                <a:solidFill>
                  <a:schemeClr val="bg1"/>
                </a:solidFill>
                <a:latin typeface="Inter" pitchFamily="34" charset="0"/>
                <a:ea typeface="Inter" pitchFamily="34" charset="-122"/>
                <a:cs typeface="Inter" pitchFamily="34" charset="-120"/>
              </a:rPr>
              <a:t>spend growth since Q1 2025; lowest CAC of any channel.</a:t>
            </a:r>
            <a:endParaRPr lang="en-US" sz="950" dirty="0"/>
          </a:p>
        </p:txBody>
      </p:sp>
      <p:sp>
        <p:nvSpPr>
          <p:cNvPr id="11" name="Shape 8"/>
          <p:cNvSpPr/>
          <p:nvPr/>
        </p:nvSpPr>
        <p:spPr>
          <a:xfrm>
            <a:off x="8371637" y="3291840"/>
            <a:ext cx="3271418" cy="1280160"/>
          </a:xfrm>
          <a:prstGeom prst="roundRect">
            <a:avLst>
              <a:gd name="adj" fmla="val 7143"/>
            </a:avLst>
          </a:prstGeom>
          <a:solidFill>
            <a:schemeClr val="bg2"/>
          </a:solidFill>
          <a:ln/>
        </p:spPr>
      </p:sp>
      <p:sp>
        <p:nvSpPr>
          <p:cNvPr id="12" name="Text 9"/>
          <p:cNvSpPr txBox="1"/>
          <p:nvPr/>
        </p:nvSpPr>
        <p:spPr>
          <a:xfrm>
            <a:off x="8645957" y="3474720"/>
            <a:ext cx="2722778"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Events</a:t>
            </a:r>
            <a:endParaRPr lang="en-US" sz="1050" dirty="0"/>
          </a:p>
        </p:txBody>
      </p:sp>
      <p:sp>
        <p:nvSpPr>
          <p:cNvPr id="13" name="Text 10"/>
          <p:cNvSpPr txBox="1"/>
          <p:nvPr/>
        </p:nvSpPr>
        <p:spPr>
          <a:xfrm>
            <a:off x="8645957" y="3703320"/>
            <a:ext cx="1645920" cy="50292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+83%</a:t>
            </a:r>
            <a:endParaRPr lang="en-US" sz="2400" dirty="0"/>
          </a:p>
        </p:txBody>
      </p:sp>
      <p:sp>
        <p:nvSpPr>
          <p:cNvPr id="14" name="Text 11"/>
          <p:cNvSpPr txBox="1"/>
          <p:nvPr/>
        </p:nvSpPr>
        <p:spPr>
          <a:xfrm>
            <a:off x="8645957" y="4187952"/>
            <a:ext cx="2722778" cy="32004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growth; executive dinners convert at 3× webinars.</a:t>
            </a:r>
            <a:endParaRPr lang="en-US" sz="950" dirty="0"/>
          </a:p>
        </p:txBody>
      </p:sp>
      <p:sp>
        <p:nvSpPr>
          <p:cNvPr id="15" name="Shape 12"/>
          <p:cNvSpPr/>
          <p:nvPr/>
        </p:nvSpPr>
        <p:spPr>
          <a:xfrm>
            <a:off x="8371637" y="4709160"/>
            <a:ext cx="3271418" cy="1280160"/>
          </a:xfrm>
          <a:prstGeom prst="roundRect">
            <a:avLst>
              <a:gd name="adj" fmla="val 7143"/>
            </a:avLst>
          </a:prstGeom>
          <a:solidFill>
            <a:schemeClr val="bg2"/>
          </a:solidFill>
          <a:ln/>
        </p:spPr>
      </p:sp>
      <p:sp>
        <p:nvSpPr>
          <p:cNvPr id="16" name="Text 13"/>
          <p:cNvSpPr txBox="1"/>
          <p:nvPr/>
        </p:nvSpPr>
        <p:spPr>
          <a:xfrm>
            <a:off x="8645957" y="4892040"/>
            <a:ext cx="2722778"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Paid search</a:t>
            </a:r>
            <a:endParaRPr lang="en-US" sz="1050" dirty="0"/>
          </a:p>
        </p:txBody>
      </p:sp>
      <p:sp>
        <p:nvSpPr>
          <p:cNvPr id="17" name="Text 14"/>
          <p:cNvSpPr txBox="1"/>
          <p:nvPr/>
        </p:nvSpPr>
        <p:spPr>
          <a:xfrm>
            <a:off x="8645957" y="5120640"/>
            <a:ext cx="1645920" cy="50292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−43%</a:t>
            </a:r>
            <a:endParaRPr lang="en-US" sz="2400" dirty="0"/>
          </a:p>
        </p:txBody>
      </p:sp>
      <p:sp>
        <p:nvSpPr>
          <p:cNvPr id="18" name="Text 15"/>
          <p:cNvSpPr txBox="1"/>
          <p:nvPr/>
        </p:nvSpPr>
        <p:spPr>
          <a:xfrm>
            <a:off x="8645957" y="5605272"/>
            <a:ext cx="2722778" cy="32004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reduced as CPC rose 38% year over year.</a:t>
            </a:r>
            <a:endParaRPr lang="en-US" sz="9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The customer journey: where we win and where we lose buyers</a:t>
            </a:r>
            <a:endParaRPr lang="en-US" sz="2800" dirty="0"/>
          </a:p>
        </p:txBody>
      </p:sp>
      <p:sp>
        <p:nvSpPr>
          <p:cNvPr id="5" name="Shape 3"/>
          <p:cNvSpPr/>
          <p:nvPr/>
        </p:nvSpPr>
        <p:spPr>
          <a:xfrm>
            <a:off x="548640" y="1874520"/>
            <a:ext cx="2109155" cy="566928"/>
          </a:xfrm>
          <a:prstGeom prst="roundRect">
            <a:avLst>
              <a:gd name="adj" fmla="val 16129"/>
            </a:avLst>
          </a:prstGeom>
          <a:solidFill>
            <a:schemeClr val="tx1"/>
          </a:solidFill>
          <a:ln/>
        </p:spPr>
      </p:sp>
      <p:pic>
        <p:nvPicPr>
          <p:cNvPr id="6" name="Icon PiMagnifyingGlass C6F432"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731520" y="2020824"/>
            <a:ext cx="274320" cy="274320"/>
          </a:xfrm>
          <a:prstGeom prst="rect">
            <a:avLst/>
          </a:prstGeom>
        </p:spPr>
      </p:pic>
      <p:sp>
        <p:nvSpPr>
          <p:cNvPr id="7" name="Text 4"/>
          <p:cNvSpPr txBox="1"/>
          <p:nvPr/>
        </p:nvSpPr>
        <p:spPr>
          <a:xfrm>
            <a:off x="1115568"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Awareness</a:t>
            </a:r>
            <a:endParaRPr lang="en-US" sz="1250" dirty="0"/>
          </a:p>
        </p:txBody>
      </p:sp>
      <p:sp>
        <p:nvSpPr>
          <p:cNvPr id="8" name="Text 5"/>
          <p:cNvSpPr txBox="1"/>
          <p:nvPr/>
        </p:nvSpPr>
        <p:spPr>
          <a:xfrm>
            <a:off x="548640"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9" name="Text 6"/>
          <p:cNvSpPr txBox="1"/>
          <p:nvPr/>
        </p:nvSpPr>
        <p:spPr>
          <a:xfrm>
            <a:off x="548640"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Content, peer referrals, analyst reports</a:t>
            </a:r>
            <a:endParaRPr lang="en-US" sz="1000" dirty="0"/>
          </a:p>
        </p:txBody>
      </p:sp>
      <p:sp>
        <p:nvSpPr>
          <p:cNvPr id="10" name="Text 7"/>
          <p:cNvSpPr txBox="1"/>
          <p:nvPr/>
        </p:nvSpPr>
        <p:spPr>
          <a:xfrm>
            <a:off x="548640"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1.2M reach</a:t>
            </a:r>
            <a:endParaRPr lang="en-US" sz="1400" dirty="0"/>
          </a:p>
        </p:txBody>
      </p:sp>
      <p:sp>
        <p:nvSpPr>
          <p:cNvPr id="11" name="Text 8"/>
          <p:cNvSpPr txBox="1"/>
          <p:nvPr/>
        </p:nvSpPr>
        <p:spPr>
          <a:xfrm>
            <a:off x="548640"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12" name="Shape 9"/>
          <p:cNvSpPr/>
          <p:nvPr/>
        </p:nvSpPr>
        <p:spPr>
          <a:xfrm>
            <a:off x="2794955" y="1874520"/>
            <a:ext cx="2109155" cy="566928"/>
          </a:xfrm>
          <a:prstGeom prst="roundRect">
            <a:avLst>
              <a:gd name="adj" fmla="val 16129"/>
            </a:avLst>
          </a:prstGeom>
          <a:solidFill>
            <a:schemeClr val="tx1"/>
          </a:solidFill>
          <a:ln/>
        </p:spPr>
      </p:sp>
      <p:pic>
        <p:nvPicPr>
          <p:cNvPr id="13" name="Icon PiScales C6F432"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2977835" y="2020824"/>
            <a:ext cx="274320" cy="274320"/>
          </a:xfrm>
          <a:prstGeom prst="rect">
            <a:avLst/>
          </a:prstGeom>
        </p:spPr>
      </p:pic>
      <p:sp>
        <p:nvSpPr>
          <p:cNvPr id="14" name="Text 10"/>
          <p:cNvSpPr txBox="1"/>
          <p:nvPr/>
        </p:nvSpPr>
        <p:spPr>
          <a:xfrm>
            <a:off x="3361883"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Consideration</a:t>
            </a:r>
            <a:endParaRPr lang="en-US" sz="1250" dirty="0"/>
          </a:p>
        </p:txBody>
      </p:sp>
      <p:sp>
        <p:nvSpPr>
          <p:cNvPr id="15" name="Text 11"/>
          <p:cNvSpPr txBox="1"/>
          <p:nvPr/>
        </p:nvSpPr>
        <p:spPr>
          <a:xfrm>
            <a:off x="2794955"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16" name="Text 12"/>
          <p:cNvSpPr txBox="1"/>
          <p:nvPr/>
        </p:nvSpPr>
        <p:spPr>
          <a:xfrm>
            <a:off x="2794955"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Demo, ROI calculator, case studies</a:t>
            </a:r>
            <a:endParaRPr lang="en-US" sz="1000" dirty="0"/>
          </a:p>
        </p:txBody>
      </p:sp>
      <p:sp>
        <p:nvSpPr>
          <p:cNvPr id="17" name="Text 13"/>
          <p:cNvSpPr txBox="1"/>
          <p:nvPr/>
        </p:nvSpPr>
        <p:spPr>
          <a:xfrm>
            <a:off x="2794955"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9.6K MQLs</a:t>
            </a:r>
            <a:endParaRPr lang="en-US" sz="1400" dirty="0"/>
          </a:p>
        </p:txBody>
      </p:sp>
      <p:sp>
        <p:nvSpPr>
          <p:cNvPr id="18" name="Text 14"/>
          <p:cNvSpPr txBox="1"/>
          <p:nvPr/>
        </p:nvSpPr>
        <p:spPr>
          <a:xfrm>
            <a:off x="2794955"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19" name="Shape 15"/>
          <p:cNvSpPr/>
          <p:nvPr/>
        </p:nvSpPr>
        <p:spPr>
          <a:xfrm>
            <a:off x="5041270" y="1874520"/>
            <a:ext cx="2109155" cy="566928"/>
          </a:xfrm>
          <a:prstGeom prst="roundRect">
            <a:avLst>
              <a:gd name="adj" fmla="val 16129"/>
            </a:avLst>
          </a:prstGeom>
          <a:solidFill>
            <a:schemeClr val="accent1"/>
          </a:solidFill>
          <a:ln/>
        </p:spPr>
      </p:sp>
      <p:pic>
        <p:nvPicPr>
          <p:cNvPr id="20" name="Icon PiHandshake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5224150" y="2020824"/>
            <a:ext cx="274320" cy="274320"/>
          </a:xfrm>
          <a:prstGeom prst="rect">
            <a:avLst/>
          </a:prstGeom>
        </p:spPr>
      </p:pic>
      <p:sp>
        <p:nvSpPr>
          <p:cNvPr id="21" name="Text 16"/>
          <p:cNvSpPr txBox="1"/>
          <p:nvPr/>
        </p:nvSpPr>
        <p:spPr>
          <a:xfrm>
            <a:off x="5608198" y="1874520"/>
            <a:ext cx="1469075" cy="566928"/>
          </a:xfrm>
          <a:prstGeom prst="rect">
            <a:avLst/>
          </a:prstGeom>
          <a:noFill/>
          <a:ln/>
        </p:spPr>
        <p:txBody>
          <a:bodyPr wrap="square" lIns="0" tIns="0" rIns="0" bIns="0" rtlCol="0" anchor="ctr"/>
          <a:lstStyle/>
          <a:p>
            <a:pPr algn="l" indent="0" marL="0">
              <a:buNone/>
            </a:pPr>
            <a:r>
              <a:rPr lang="en-US" sz="1250" b="1" dirty="0">
                <a:solidFill>
                  <a:schemeClr val="tx1"/>
                </a:solidFill>
                <a:latin typeface="Manrope" pitchFamily="34" charset="0"/>
                <a:ea typeface="Manrope" pitchFamily="34" charset="-122"/>
                <a:cs typeface="Manrope" pitchFamily="34" charset="-120"/>
              </a:rPr>
              <a:t>Decision</a:t>
            </a:r>
            <a:endParaRPr lang="en-US" sz="1250" dirty="0"/>
          </a:p>
        </p:txBody>
      </p:sp>
      <p:sp>
        <p:nvSpPr>
          <p:cNvPr id="22" name="Text 17"/>
          <p:cNvSpPr txBox="1"/>
          <p:nvPr/>
        </p:nvSpPr>
        <p:spPr>
          <a:xfrm>
            <a:off x="5041270"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23" name="Text 18"/>
          <p:cNvSpPr txBox="1"/>
          <p:nvPr/>
        </p:nvSpPr>
        <p:spPr>
          <a:xfrm>
            <a:off x="5041270"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Proof of value, security review, pricing</a:t>
            </a:r>
            <a:endParaRPr lang="en-US" sz="1000" dirty="0"/>
          </a:p>
        </p:txBody>
      </p:sp>
      <p:sp>
        <p:nvSpPr>
          <p:cNvPr id="24" name="Text 19"/>
          <p:cNvSpPr txBox="1"/>
          <p:nvPr/>
        </p:nvSpPr>
        <p:spPr>
          <a:xfrm>
            <a:off x="5041270"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28% win rate</a:t>
            </a:r>
            <a:endParaRPr lang="en-US" sz="1400" dirty="0"/>
          </a:p>
        </p:txBody>
      </p:sp>
      <p:sp>
        <p:nvSpPr>
          <p:cNvPr id="25" name="Text 20"/>
          <p:cNvSpPr txBox="1"/>
          <p:nvPr/>
        </p:nvSpPr>
        <p:spPr>
          <a:xfrm>
            <a:off x="5041270"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26" name="Shape 21"/>
          <p:cNvSpPr/>
          <p:nvPr/>
        </p:nvSpPr>
        <p:spPr>
          <a:xfrm>
            <a:off x="7287585" y="1874520"/>
            <a:ext cx="2109155" cy="566928"/>
          </a:xfrm>
          <a:prstGeom prst="roundRect">
            <a:avLst>
              <a:gd name="adj" fmla="val 16129"/>
            </a:avLst>
          </a:prstGeom>
          <a:solidFill>
            <a:schemeClr val="tx1"/>
          </a:solidFill>
          <a:ln/>
        </p:spPr>
      </p:sp>
      <p:pic>
        <p:nvPicPr>
          <p:cNvPr id="27" name="Icon PiRocketLaunch C6F432"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7470465" y="2020824"/>
            <a:ext cx="274320" cy="274320"/>
          </a:xfrm>
          <a:prstGeom prst="rect">
            <a:avLst/>
          </a:prstGeom>
        </p:spPr>
      </p:pic>
      <p:sp>
        <p:nvSpPr>
          <p:cNvPr id="28" name="Text 22"/>
          <p:cNvSpPr txBox="1"/>
          <p:nvPr/>
        </p:nvSpPr>
        <p:spPr>
          <a:xfrm>
            <a:off x="7854513"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Onboarding</a:t>
            </a:r>
            <a:endParaRPr lang="en-US" sz="1250" dirty="0"/>
          </a:p>
        </p:txBody>
      </p:sp>
      <p:sp>
        <p:nvSpPr>
          <p:cNvPr id="29" name="Text 23"/>
          <p:cNvSpPr txBox="1"/>
          <p:nvPr/>
        </p:nvSpPr>
        <p:spPr>
          <a:xfrm>
            <a:off x="7287585"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30" name="Text 24"/>
          <p:cNvSpPr txBox="1"/>
          <p:nvPr/>
        </p:nvSpPr>
        <p:spPr>
          <a:xfrm>
            <a:off x="7287585"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Kick-off, data sync, admin training</a:t>
            </a:r>
            <a:endParaRPr lang="en-US" sz="1000" dirty="0"/>
          </a:p>
        </p:txBody>
      </p:sp>
      <p:sp>
        <p:nvSpPr>
          <p:cNvPr id="31" name="Text 25"/>
          <p:cNvSpPr txBox="1"/>
          <p:nvPr/>
        </p:nvSpPr>
        <p:spPr>
          <a:xfrm>
            <a:off x="7287585"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14 days to live</a:t>
            </a:r>
            <a:endParaRPr lang="en-US" sz="1400" dirty="0"/>
          </a:p>
        </p:txBody>
      </p:sp>
      <p:sp>
        <p:nvSpPr>
          <p:cNvPr id="32" name="Text 26"/>
          <p:cNvSpPr txBox="1"/>
          <p:nvPr/>
        </p:nvSpPr>
        <p:spPr>
          <a:xfrm>
            <a:off x="7287585"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33" name="Shape 27"/>
          <p:cNvSpPr/>
          <p:nvPr/>
        </p:nvSpPr>
        <p:spPr>
          <a:xfrm>
            <a:off x="9533900" y="1874520"/>
            <a:ext cx="2109155" cy="566928"/>
          </a:xfrm>
          <a:prstGeom prst="roundRect">
            <a:avLst>
              <a:gd name="adj" fmla="val 16129"/>
            </a:avLst>
          </a:prstGeom>
          <a:solidFill>
            <a:schemeClr val="tx1"/>
          </a:solidFill>
          <a:ln/>
        </p:spPr>
      </p:sp>
      <p:pic>
        <p:nvPicPr>
          <p:cNvPr id="34" name="Icon PiHeart C6F432"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9716780" y="2020824"/>
            <a:ext cx="274320" cy="274320"/>
          </a:xfrm>
          <a:prstGeom prst="rect">
            <a:avLst/>
          </a:prstGeom>
        </p:spPr>
      </p:pic>
      <p:sp>
        <p:nvSpPr>
          <p:cNvPr id="35" name="Text 28"/>
          <p:cNvSpPr txBox="1"/>
          <p:nvPr/>
        </p:nvSpPr>
        <p:spPr>
          <a:xfrm>
            <a:off x="10100828"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Advocacy</a:t>
            </a:r>
            <a:endParaRPr lang="en-US" sz="1250" dirty="0"/>
          </a:p>
        </p:txBody>
      </p:sp>
      <p:sp>
        <p:nvSpPr>
          <p:cNvPr id="36" name="Text 29"/>
          <p:cNvSpPr txBox="1"/>
          <p:nvPr/>
        </p:nvSpPr>
        <p:spPr>
          <a:xfrm>
            <a:off x="9533900"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37" name="Text 30"/>
          <p:cNvSpPr txBox="1"/>
          <p:nvPr/>
        </p:nvSpPr>
        <p:spPr>
          <a:xfrm>
            <a:off x="9533900"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Community, reviews, referrals</a:t>
            </a:r>
            <a:endParaRPr lang="en-US" sz="1000" dirty="0"/>
          </a:p>
        </p:txBody>
      </p:sp>
      <p:sp>
        <p:nvSpPr>
          <p:cNvPr id="38" name="Text 31"/>
          <p:cNvSpPr txBox="1"/>
          <p:nvPr/>
        </p:nvSpPr>
        <p:spPr>
          <a:xfrm>
            <a:off x="9533900"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NPS 72</a:t>
            </a:r>
            <a:endParaRPr lang="en-US" sz="1400" dirty="0"/>
          </a:p>
        </p:txBody>
      </p:sp>
      <p:sp>
        <p:nvSpPr>
          <p:cNvPr id="39" name="Text 32"/>
          <p:cNvSpPr txBox="1"/>
          <p:nvPr/>
        </p:nvSpPr>
        <p:spPr>
          <a:xfrm>
            <a:off x="9533900"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40" name="Text 33"/>
          <p:cNvSpPr txBox="1"/>
          <p:nvPr/>
        </p:nvSpPr>
        <p:spPr>
          <a:xfrm>
            <a:off x="548640" y="3520440"/>
            <a:ext cx="18288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Buyer sentiment</a:t>
            </a:r>
            <a:endParaRPr lang="en-US" sz="950" dirty="0"/>
          </a:p>
        </p:txBody>
      </p:sp>
      <p:graphicFrame>
        <p:nvGraphicFramePr>
          <p:cNvPr id="41" name="Chart 0" descr=""/>
          <p:cNvGraphicFramePr/>
          <p:nvPr/>
        </p:nvGraphicFramePr>
        <p:xfrm>
          <a:off x="502920" y="3703320"/>
          <a:ext cx="11185855" cy="1600200"/>
        </p:xfrm>
        <a:graphic xmlns:a="http://schemas.openxmlformats.org/drawingml/2006/main">
          <a:graphicData uri="http://schemas.openxmlformats.org/drawingml/2006/chart">
            <c:chart xmlns:c="http://schemas.openxmlformats.org/drawingml/2006/chart" r:id="rId6"/>
          </a:graphicData>
        </a:graphic>
      </p:graphicFrame>
      <p:sp>
        <p:nvSpPr>
          <p:cNvPr id="42" name="Shape 34"/>
          <p:cNvSpPr/>
          <p:nvPr/>
        </p:nvSpPr>
        <p:spPr>
          <a:xfrm>
            <a:off x="5132710" y="4983480"/>
            <a:ext cx="1874520" cy="274320"/>
          </a:xfrm>
          <a:prstGeom prst="roundRect">
            <a:avLst>
              <a:gd name="adj" fmla="val 50000"/>
            </a:avLst>
          </a:prstGeom>
          <a:solidFill>
            <a:schemeClr val="tx1"/>
          </a:solidFill>
          <a:ln/>
        </p:spPr>
      </p:sp>
      <p:sp>
        <p:nvSpPr>
          <p:cNvPr id="43" name="Text 35"/>
          <p:cNvSpPr txBox="1"/>
          <p:nvPr/>
        </p:nvSpPr>
        <p:spPr>
          <a:xfrm>
            <a:off x="5132710" y="4983480"/>
            <a:ext cx="1874520" cy="274320"/>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Pain point: security review</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Marketing funnel: volume, cost and velocity by stage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Q3 2026. Cost per stage = marketing spend ÷ volume at that stage.</a:t>
            </a:r>
            <a:endParaRPr lang="en-US" sz="1150" dirty="0"/>
          </a:p>
        </p:txBody>
      </p:sp>
      <p:sp>
        <p:nvSpPr>
          <p:cNvPr id="6" name="Text 4"/>
          <p:cNvSpPr txBox="1"/>
          <p:nvPr/>
        </p:nvSpPr>
        <p:spPr>
          <a:xfrm>
            <a:off x="548640" y="1828800"/>
            <a:ext cx="9144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STAGE</a:t>
            </a:r>
            <a:endParaRPr lang="en-US" sz="900" dirty="0"/>
          </a:p>
        </p:txBody>
      </p:sp>
      <p:sp>
        <p:nvSpPr>
          <p:cNvPr id="7" name="Text 5"/>
          <p:cNvSpPr txBox="1"/>
          <p:nvPr/>
        </p:nvSpPr>
        <p:spPr>
          <a:xfrm>
            <a:off x="8625535" y="1828800"/>
            <a:ext cx="146304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COST / UNIT</a:t>
            </a:r>
            <a:endParaRPr lang="en-US" sz="900" dirty="0"/>
          </a:p>
        </p:txBody>
      </p:sp>
      <p:sp>
        <p:nvSpPr>
          <p:cNvPr id="8" name="Text 6"/>
          <p:cNvSpPr txBox="1"/>
          <p:nvPr/>
        </p:nvSpPr>
        <p:spPr>
          <a:xfrm>
            <a:off x="10180015" y="1828800"/>
            <a:ext cx="146304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TIME IN STAGE</a:t>
            </a:r>
            <a:endParaRPr lang="en-US" sz="900" dirty="0"/>
          </a:p>
        </p:txBody>
      </p:sp>
      <p:sp>
        <p:nvSpPr>
          <p:cNvPr id="9" name="Shape 7"/>
          <p:cNvSpPr/>
          <p:nvPr/>
        </p:nvSpPr>
        <p:spPr>
          <a:xfrm>
            <a:off x="548640" y="2304288"/>
            <a:ext cx="731520" cy="274320"/>
          </a:xfrm>
          <a:prstGeom prst="roundRect">
            <a:avLst>
              <a:gd name="adj" fmla="val 50000"/>
            </a:avLst>
          </a:prstGeom>
          <a:solidFill>
            <a:schemeClr val="bg1"/>
          </a:solidFill>
          <a:ln/>
        </p:spPr>
      </p:sp>
      <p:sp>
        <p:nvSpPr>
          <p:cNvPr id="10" name="Text 8"/>
          <p:cNvSpPr txBox="1"/>
          <p:nvPr/>
        </p:nvSpPr>
        <p:spPr>
          <a:xfrm>
            <a:off x="548640" y="2304288"/>
            <a:ext cx="7315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TOFU</a:t>
            </a:r>
            <a:endParaRPr lang="en-US" sz="900" dirty="0"/>
          </a:p>
        </p:txBody>
      </p:sp>
      <p:sp>
        <p:nvSpPr>
          <p:cNvPr id="11" name="Shape 9"/>
          <p:cNvSpPr/>
          <p:nvPr/>
        </p:nvSpPr>
        <p:spPr>
          <a:xfrm>
            <a:off x="1554480" y="2221992"/>
            <a:ext cx="6376492" cy="585216"/>
          </a:xfrm>
          <a:prstGeom prst="roundRect">
            <a:avLst>
              <a:gd name="adj" fmla="val 12500"/>
            </a:avLst>
          </a:prstGeom>
          <a:solidFill>
            <a:schemeClr val="bg1"/>
          </a:solidFill>
          <a:ln/>
        </p:spPr>
      </p:sp>
      <p:sp>
        <p:nvSpPr>
          <p:cNvPr id="12" name="Text 10"/>
          <p:cNvSpPr txBox="1"/>
          <p:nvPr/>
        </p:nvSpPr>
        <p:spPr>
          <a:xfrm>
            <a:off x="1783080" y="222199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Visitors</a:t>
            </a:r>
            <a:endParaRPr lang="en-US" sz="1150" dirty="0"/>
          </a:p>
        </p:txBody>
      </p:sp>
      <p:sp>
        <p:nvSpPr>
          <p:cNvPr id="13" name="Text 11"/>
          <p:cNvSpPr txBox="1"/>
          <p:nvPr/>
        </p:nvSpPr>
        <p:spPr>
          <a:xfrm>
            <a:off x="6467932" y="222199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186,000</a:t>
            </a:r>
            <a:endParaRPr lang="en-US" sz="1500" dirty="0"/>
          </a:p>
        </p:txBody>
      </p:sp>
      <p:sp>
        <p:nvSpPr>
          <p:cNvPr id="14" name="Text 12"/>
          <p:cNvSpPr txBox="1"/>
          <p:nvPr/>
        </p:nvSpPr>
        <p:spPr>
          <a:xfrm>
            <a:off x="8625535" y="214884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$1.40</a:t>
            </a:r>
            <a:endParaRPr lang="en-US" sz="1300" dirty="0"/>
          </a:p>
        </p:txBody>
      </p:sp>
      <p:sp>
        <p:nvSpPr>
          <p:cNvPr id="15" name="Text 13"/>
          <p:cNvSpPr txBox="1"/>
          <p:nvPr/>
        </p:nvSpPr>
        <p:spPr>
          <a:xfrm>
            <a:off x="10180015" y="214884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a:t>
            </a:r>
            <a:endParaRPr lang="en-US" sz="1150" dirty="0"/>
          </a:p>
        </p:txBody>
      </p:sp>
      <p:sp>
        <p:nvSpPr>
          <p:cNvPr id="16" name="Shape 14"/>
          <p:cNvSpPr/>
          <p:nvPr/>
        </p:nvSpPr>
        <p:spPr>
          <a:xfrm>
            <a:off x="1554480" y="2953512"/>
            <a:ext cx="5605329" cy="585216"/>
          </a:xfrm>
          <a:prstGeom prst="roundRect">
            <a:avLst>
              <a:gd name="adj" fmla="val 12500"/>
            </a:avLst>
          </a:prstGeom>
          <a:solidFill>
            <a:schemeClr val="bg1"/>
          </a:solidFill>
          <a:ln/>
        </p:spPr>
      </p:sp>
      <p:sp>
        <p:nvSpPr>
          <p:cNvPr id="17" name="Text 15"/>
          <p:cNvSpPr txBox="1"/>
          <p:nvPr/>
        </p:nvSpPr>
        <p:spPr>
          <a:xfrm>
            <a:off x="1783080" y="295351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Engaged leads</a:t>
            </a:r>
            <a:endParaRPr lang="en-US" sz="1150" dirty="0"/>
          </a:p>
        </p:txBody>
      </p:sp>
      <p:sp>
        <p:nvSpPr>
          <p:cNvPr id="18" name="Text 16"/>
          <p:cNvSpPr txBox="1"/>
          <p:nvPr/>
        </p:nvSpPr>
        <p:spPr>
          <a:xfrm>
            <a:off x="5696769" y="295351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28,400</a:t>
            </a:r>
            <a:endParaRPr lang="en-US" sz="1500" dirty="0"/>
          </a:p>
        </p:txBody>
      </p:sp>
      <p:sp>
        <p:nvSpPr>
          <p:cNvPr id="19" name="Text 17"/>
          <p:cNvSpPr txBox="1"/>
          <p:nvPr/>
        </p:nvSpPr>
        <p:spPr>
          <a:xfrm>
            <a:off x="8625535" y="288036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$9</a:t>
            </a:r>
            <a:endParaRPr lang="en-US" sz="1300" dirty="0"/>
          </a:p>
        </p:txBody>
      </p:sp>
      <p:sp>
        <p:nvSpPr>
          <p:cNvPr id="20" name="Text 18"/>
          <p:cNvSpPr txBox="1"/>
          <p:nvPr/>
        </p:nvSpPr>
        <p:spPr>
          <a:xfrm>
            <a:off x="10180015" y="288036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4 days</a:t>
            </a:r>
            <a:endParaRPr lang="en-US" sz="1150" dirty="0"/>
          </a:p>
        </p:txBody>
      </p:sp>
      <p:sp>
        <p:nvSpPr>
          <p:cNvPr id="21" name="Shape 19"/>
          <p:cNvSpPr/>
          <p:nvPr/>
        </p:nvSpPr>
        <p:spPr>
          <a:xfrm>
            <a:off x="548640" y="3767328"/>
            <a:ext cx="731520" cy="274320"/>
          </a:xfrm>
          <a:prstGeom prst="roundRect">
            <a:avLst>
              <a:gd name="adj" fmla="val 50000"/>
            </a:avLst>
          </a:prstGeom>
          <a:solidFill>
            <a:schemeClr val="tx1"/>
          </a:solidFill>
          <a:ln/>
        </p:spPr>
      </p:sp>
      <p:sp>
        <p:nvSpPr>
          <p:cNvPr id="22" name="Text 20"/>
          <p:cNvSpPr txBox="1"/>
          <p:nvPr/>
        </p:nvSpPr>
        <p:spPr>
          <a:xfrm>
            <a:off x="548640" y="3767328"/>
            <a:ext cx="73152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MOFU</a:t>
            </a:r>
            <a:endParaRPr lang="en-US" sz="900" dirty="0"/>
          </a:p>
        </p:txBody>
      </p:sp>
      <p:sp>
        <p:nvSpPr>
          <p:cNvPr id="23" name="Shape 21"/>
          <p:cNvSpPr/>
          <p:nvPr/>
        </p:nvSpPr>
        <p:spPr>
          <a:xfrm>
            <a:off x="1554480" y="3685032"/>
            <a:ext cx="4834166" cy="585216"/>
          </a:xfrm>
          <a:prstGeom prst="roundRect">
            <a:avLst>
              <a:gd name="adj" fmla="val 12500"/>
            </a:avLst>
          </a:prstGeom>
          <a:solidFill>
            <a:schemeClr val="bg1"/>
          </a:solidFill>
          <a:ln/>
        </p:spPr>
      </p:sp>
      <p:sp>
        <p:nvSpPr>
          <p:cNvPr id="24" name="Text 22"/>
          <p:cNvSpPr txBox="1"/>
          <p:nvPr/>
        </p:nvSpPr>
        <p:spPr>
          <a:xfrm>
            <a:off x="1783080" y="368503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MQLs</a:t>
            </a:r>
            <a:endParaRPr lang="en-US" sz="1150" dirty="0"/>
          </a:p>
        </p:txBody>
      </p:sp>
      <p:sp>
        <p:nvSpPr>
          <p:cNvPr id="25" name="Text 23"/>
          <p:cNvSpPr txBox="1"/>
          <p:nvPr/>
        </p:nvSpPr>
        <p:spPr>
          <a:xfrm>
            <a:off x="4925606" y="368503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9,650</a:t>
            </a:r>
            <a:endParaRPr lang="en-US" sz="1500" dirty="0"/>
          </a:p>
        </p:txBody>
      </p:sp>
      <p:sp>
        <p:nvSpPr>
          <p:cNvPr id="26" name="Text 24"/>
          <p:cNvSpPr txBox="1"/>
          <p:nvPr/>
        </p:nvSpPr>
        <p:spPr>
          <a:xfrm>
            <a:off x="8625535" y="361188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$27</a:t>
            </a:r>
            <a:endParaRPr lang="en-US" sz="1300" dirty="0"/>
          </a:p>
        </p:txBody>
      </p:sp>
      <p:sp>
        <p:nvSpPr>
          <p:cNvPr id="27" name="Text 25"/>
          <p:cNvSpPr txBox="1"/>
          <p:nvPr/>
        </p:nvSpPr>
        <p:spPr>
          <a:xfrm>
            <a:off x="10180015" y="361188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11 days</a:t>
            </a:r>
            <a:endParaRPr lang="en-US" sz="1150" dirty="0"/>
          </a:p>
        </p:txBody>
      </p:sp>
      <p:sp>
        <p:nvSpPr>
          <p:cNvPr id="28" name="Shape 26"/>
          <p:cNvSpPr/>
          <p:nvPr/>
        </p:nvSpPr>
        <p:spPr>
          <a:xfrm>
            <a:off x="1554480" y="4416552"/>
            <a:ext cx="4063003" cy="585216"/>
          </a:xfrm>
          <a:prstGeom prst="roundRect">
            <a:avLst>
              <a:gd name="adj" fmla="val 12500"/>
            </a:avLst>
          </a:prstGeom>
          <a:solidFill>
            <a:schemeClr val="bg1"/>
          </a:solidFill>
          <a:ln/>
        </p:spPr>
      </p:sp>
      <p:sp>
        <p:nvSpPr>
          <p:cNvPr id="29" name="Text 27"/>
          <p:cNvSpPr txBox="1"/>
          <p:nvPr/>
        </p:nvSpPr>
        <p:spPr>
          <a:xfrm>
            <a:off x="1783080" y="441655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SQLs</a:t>
            </a:r>
            <a:endParaRPr lang="en-US" sz="1150" dirty="0"/>
          </a:p>
        </p:txBody>
      </p:sp>
      <p:sp>
        <p:nvSpPr>
          <p:cNvPr id="30" name="Text 28"/>
          <p:cNvSpPr txBox="1"/>
          <p:nvPr/>
        </p:nvSpPr>
        <p:spPr>
          <a:xfrm>
            <a:off x="4154443" y="441655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3,480</a:t>
            </a:r>
            <a:endParaRPr lang="en-US" sz="1500" dirty="0"/>
          </a:p>
        </p:txBody>
      </p:sp>
      <p:sp>
        <p:nvSpPr>
          <p:cNvPr id="31" name="Text 29"/>
          <p:cNvSpPr txBox="1"/>
          <p:nvPr/>
        </p:nvSpPr>
        <p:spPr>
          <a:xfrm>
            <a:off x="8625535" y="434340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$74</a:t>
            </a:r>
            <a:endParaRPr lang="en-US" sz="1300" dirty="0"/>
          </a:p>
        </p:txBody>
      </p:sp>
      <p:sp>
        <p:nvSpPr>
          <p:cNvPr id="32" name="Text 30"/>
          <p:cNvSpPr txBox="1"/>
          <p:nvPr/>
        </p:nvSpPr>
        <p:spPr>
          <a:xfrm>
            <a:off x="10180015" y="434340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9 days</a:t>
            </a:r>
            <a:endParaRPr lang="en-US" sz="1150" dirty="0"/>
          </a:p>
        </p:txBody>
      </p:sp>
      <p:sp>
        <p:nvSpPr>
          <p:cNvPr id="33" name="Shape 31"/>
          <p:cNvSpPr/>
          <p:nvPr/>
        </p:nvSpPr>
        <p:spPr>
          <a:xfrm>
            <a:off x="548640" y="5230368"/>
            <a:ext cx="731520" cy="274320"/>
          </a:xfrm>
          <a:prstGeom prst="roundRect">
            <a:avLst>
              <a:gd name="adj" fmla="val 50000"/>
            </a:avLst>
          </a:prstGeom>
          <a:solidFill>
            <a:schemeClr val="accent1"/>
          </a:solidFill>
          <a:ln/>
        </p:spPr>
      </p:sp>
      <p:sp>
        <p:nvSpPr>
          <p:cNvPr id="34" name="Text 32"/>
          <p:cNvSpPr txBox="1"/>
          <p:nvPr/>
        </p:nvSpPr>
        <p:spPr>
          <a:xfrm>
            <a:off x="548640" y="5230368"/>
            <a:ext cx="7315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BOFU</a:t>
            </a:r>
            <a:endParaRPr lang="en-US" sz="900" dirty="0"/>
          </a:p>
        </p:txBody>
      </p:sp>
      <p:sp>
        <p:nvSpPr>
          <p:cNvPr id="35" name="Shape 33"/>
          <p:cNvSpPr/>
          <p:nvPr/>
        </p:nvSpPr>
        <p:spPr>
          <a:xfrm>
            <a:off x="1554480" y="5148072"/>
            <a:ext cx="3291840" cy="585216"/>
          </a:xfrm>
          <a:prstGeom prst="roundRect">
            <a:avLst>
              <a:gd name="adj" fmla="val 12500"/>
            </a:avLst>
          </a:prstGeom>
          <a:solidFill>
            <a:schemeClr val="tx1"/>
          </a:solidFill>
          <a:ln/>
        </p:spPr>
      </p:sp>
      <p:sp>
        <p:nvSpPr>
          <p:cNvPr id="36" name="Text 34"/>
          <p:cNvSpPr txBox="1"/>
          <p:nvPr/>
        </p:nvSpPr>
        <p:spPr>
          <a:xfrm>
            <a:off x="1783080" y="5148072"/>
            <a:ext cx="2103120" cy="585216"/>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Opportunities</a:t>
            </a:r>
            <a:endParaRPr lang="en-US" sz="1150" dirty="0"/>
          </a:p>
        </p:txBody>
      </p:sp>
      <p:sp>
        <p:nvSpPr>
          <p:cNvPr id="37" name="Text 35"/>
          <p:cNvSpPr txBox="1"/>
          <p:nvPr/>
        </p:nvSpPr>
        <p:spPr>
          <a:xfrm>
            <a:off x="3383280" y="5148072"/>
            <a:ext cx="1234440" cy="585216"/>
          </a:xfrm>
          <a:prstGeom prst="rect">
            <a:avLst/>
          </a:prstGeom>
          <a:noFill/>
          <a:ln/>
        </p:spPr>
        <p:txBody>
          <a:bodyPr wrap="square" lIns="0" tIns="0" rIns="0" bIns="0" rtlCol="0" anchor="ctr"/>
          <a:lstStyle/>
          <a:p>
            <a:pPr algn="r" indent="0" marL="0">
              <a:buNone/>
            </a:pPr>
            <a:r>
              <a:rPr lang="en-US" sz="1500" dirty="0">
                <a:solidFill>
                  <a:schemeClr val="accent1"/>
                </a:solidFill>
                <a:latin typeface="Manrope ExtraBold" pitchFamily="34" charset="0"/>
                <a:ea typeface="Manrope ExtraBold" pitchFamily="34" charset="-122"/>
                <a:cs typeface="Manrope ExtraBold" pitchFamily="34" charset="-120"/>
              </a:rPr>
              <a:t>2,190</a:t>
            </a:r>
            <a:endParaRPr lang="en-US" sz="1500" dirty="0"/>
          </a:p>
        </p:txBody>
      </p:sp>
      <p:sp>
        <p:nvSpPr>
          <p:cNvPr id="38" name="Text 36"/>
          <p:cNvSpPr txBox="1"/>
          <p:nvPr/>
        </p:nvSpPr>
        <p:spPr>
          <a:xfrm>
            <a:off x="8625535" y="507492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$118</a:t>
            </a:r>
            <a:endParaRPr lang="en-US" sz="1300" dirty="0"/>
          </a:p>
        </p:txBody>
      </p:sp>
      <p:sp>
        <p:nvSpPr>
          <p:cNvPr id="39" name="Text 37"/>
          <p:cNvSpPr txBox="1"/>
          <p:nvPr/>
        </p:nvSpPr>
        <p:spPr>
          <a:xfrm>
            <a:off x="10180015" y="507492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16 days</a:t>
            </a:r>
            <a:endParaRPr lang="en-US" sz="1150" dirty="0"/>
          </a:p>
        </p:txBody>
      </p:sp>
      <p:sp>
        <p:nvSpPr>
          <p:cNvPr id="40" name="Text 38"/>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Bar lengths are stepped for readability and are not drawn to scale.</a:t>
            </a:r>
            <a:endParaRPr lang="en-US" sz="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Growth strategy: penetrate first, then develop new markets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Ansoff matrix with 2027 investment share and expected new ARR.</a:t>
            </a:r>
            <a:endParaRPr lang="en-US" sz="1150" dirty="0"/>
          </a:p>
        </p:txBody>
      </p:sp>
      <p:sp>
        <p:nvSpPr>
          <p:cNvPr id="6" name="Shape 4"/>
          <p:cNvSpPr/>
          <p:nvPr/>
        </p:nvSpPr>
        <p:spPr>
          <a:xfrm>
            <a:off x="1005840" y="2057400"/>
            <a:ext cx="3376574" cy="1819656"/>
          </a:xfrm>
          <a:prstGeom prst="roundRect">
            <a:avLst>
              <a:gd name="adj" fmla="val 5025"/>
            </a:avLst>
          </a:prstGeom>
          <a:solidFill>
            <a:schemeClr val="bg2"/>
          </a:solidFill>
          <a:ln/>
        </p:spPr>
      </p:sp>
      <p:sp>
        <p:nvSpPr>
          <p:cNvPr id="7" name="Text 5"/>
          <p:cNvSpPr txBox="1"/>
          <p:nvPr/>
        </p:nvSpPr>
        <p:spPr>
          <a:xfrm>
            <a:off x="1280160" y="2286000"/>
            <a:ext cx="2827934"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Market development</a:t>
            </a:r>
            <a:endParaRPr lang="en-US" sz="1500" dirty="0"/>
          </a:p>
        </p:txBody>
      </p:sp>
      <p:sp>
        <p:nvSpPr>
          <p:cNvPr id="8" name="Text 6"/>
          <p:cNvSpPr txBox="1"/>
          <p:nvPr/>
        </p:nvSpPr>
        <p:spPr>
          <a:xfrm>
            <a:off x="1280160" y="2606040"/>
            <a:ext cx="282793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Existing product, new markets</a:t>
            </a:r>
            <a:endParaRPr lang="en-US" sz="1000" dirty="0"/>
          </a:p>
        </p:txBody>
      </p:sp>
      <p:sp>
        <p:nvSpPr>
          <p:cNvPr id="9" name="Text 7"/>
          <p:cNvSpPr txBox="1"/>
          <p:nvPr/>
        </p:nvSpPr>
        <p:spPr>
          <a:xfrm>
            <a:off x="1280160" y="3008376"/>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25%</a:t>
            </a:r>
            <a:endParaRPr lang="en-US" sz="3000" dirty="0"/>
          </a:p>
        </p:txBody>
      </p:sp>
      <p:sp>
        <p:nvSpPr>
          <p:cNvPr id="10" name="Text 8"/>
          <p:cNvSpPr txBox="1"/>
          <p:nvPr/>
        </p:nvSpPr>
        <p:spPr>
          <a:xfrm>
            <a:off x="1280160" y="3511296"/>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of investment</a:t>
            </a:r>
            <a:endParaRPr lang="en-US" sz="900" dirty="0"/>
          </a:p>
        </p:txBody>
      </p:sp>
      <p:sp>
        <p:nvSpPr>
          <p:cNvPr id="11" name="Text 9"/>
          <p:cNvSpPr txBox="1"/>
          <p:nvPr/>
        </p:nvSpPr>
        <p:spPr>
          <a:xfrm>
            <a:off x="2462174" y="3008376"/>
            <a:ext cx="1645920" cy="548640"/>
          </a:xfrm>
          <a:prstGeom prst="rect">
            <a:avLst/>
          </a:prstGeom>
          <a:noFill/>
          <a:ln/>
        </p:spPr>
        <p:txBody>
          <a:bodyPr wrap="square" lIns="0" tIns="0" rIns="0" bIns="0" rtlCol="0" anchor="t"/>
          <a:lstStyle/>
          <a:p>
            <a:pPr algn="r" indent="0" marL="0">
              <a:buNone/>
            </a:pPr>
            <a:r>
              <a:rPr lang="en-US" sz="1800" b="1" dirty="0">
                <a:solidFill>
                  <a:schemeClr val="tx1"/>
                </a:solidFill>
                <a:latin typeface="Manrope" pitchFamily="34" charset="0"/>
                <a:ea typeface="Manrope" pitchFamily="34" charset="-122"/>
                <a:cs typeface="Manrope" pitchFamily="34" charset="-120"/>
              </a:rPr>
              <a:t>$6.8M</a:t>
            </a:r>
            <a:endParaRPr lang="en-US" sz="1800" dirty="0"/>
          </a:p>
        </p:txBody>
      </p:sp>
      <p:sp>
        <p:nvSpPr>
          <p:cNvPr id="12" name="Text 10"/>
          <p:cNvSpPr txBox="1"/>
          <p:nvPr/>
        </p:nvSpPr>
        <p:spPr>
          <a:xfrm>
            <a:off x="2462174" y="3511296"/>
            <a:ext cx="164592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new ARR</a:t>
            </a:r>
            <a:endParaRPr lang="en-US" sz="900" dirty="0"/>
          </a:p>
        </p:txBody>
      </p:sp>
      <p:sp>
        <p:nvSpPr>
          <p:cNvPr id="13" name="Shape 11"/>
          <p:cNvSpPr/>
          <p:nvPr/>
        </p:nvSpPr>
        <p:spPr>
          <a:xfrm>
            <a:off x="4492142" y="2057400"/>
            <a:ext cx="3376574" cy="1819656"/>
          </a:xfrm>
          <a:prstGeom prst="roundRect">
            <a:avLst>
              <a:gd name="adj" fmla="val 5025"/>
            </a:avLst>
          </a:prstGeom>
          <a:solidFill>
            <a:schemeClr val="bg2"/>
          </a:solidFill>
          <a:ln/>
        </p:spPr>
      </p:sp>
      <p:sp>
        <p:nvSpPr>
          <p:cNvPr id="14" name="Text 12"/>
          <p:cNvSpPr txBox="1"/>
          <p:nvPr/>
        </p:nvSpPr>
        <p:spPr>
          <a:xfrm>
            <a:off x="4766462" y="2286000"/>
            <a:ext cx="2827934"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Diversification</a:t>
            </a:r>
            <a:endParaRPr lang="en-US" sz="1500" dirty="0"/>
          </a:p>
        </p:txBody>
      </p:sp>
      <p:sp>
        <p:nvSpPr>
          <p:cNvPr id="15" name="Text 13"/>
          <p:cNvSpPr txBox="1"/>
          <p:nvPr/>
        </p:nvSpPr>
        <p:spPr>
          <a:xfrm>
            <a:off x="4766462" y="2606040"/>
            <a:ext cx="282793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New product, new markets</a:t>
            </a:r>
            <a:endParaRPr lang="en-US" sz="1000" dirty="0"/>
          </a:p>
        </p:txBody>
      </p:sp>
      <p:sp>
        <p:nvSpPr>
          <p:cNvPr id="16" name="Text 14"/>
          <p:cNvSpPr txBox="1"/>
          <p:nvPr/>
        </p:nvSpPr>
        <p:spPr>
          <a:xfrm>
            <a:off x="4766462" y="3008376"/>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5%</a:t>
            </a:r>
            <a:endParaRPr lang="en-US" sz="3000" dirty="0"/>
          </a:p>
        </p:txBody>
      </p:sp>
      <p:sp>
        <p:nvSpPr>
          <p:cNvPr id="17" name="Text 15"/>
          <p:cNvSpPr txBox="1"/>
          <p:nvPr/>
        </p:nvSpPr>
        <p:spPr>
          <a:xfrm>
            <a:off x="4766462" y="3511296"/>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of investment</a:t>
            </a:r>
            <a:endParaRPr lang="en-US" sz="900" dirty="0"/>
          </a:p>
        </p:txBody>
      </p:sp>
      <p:sp>
        <p:nvSpPr>
          <p:cNvPr id="18" name="Text 16"/>
          <p:cNvSpPr txBox="1"/>
          <p:nvPr/>
        </p:nvSpPr>
        <p:spPr>
          <a:xfrm>
            <a:off x="5948477" y="3008376"/>
            <a:ext cx="1645920" cy="548640"/>
          </a:xfrm>
          <a:prstGeom prst="rect">
            <a:avLst/>
          </a:prstGeom>
          <a:noFill/>
          <a:ln/>
        </p:spPr>
        <p:txBody>
          <a:bodyPr wrap="square" lIns="0" tIns="0" rIns="0" bIns="0" rtlCol="0" anchor="t"/>
          <a:lstStyle/>
          <a:p>
            <a:pPr algn="r" indent="0" marL="0">
              <a:buNone/>
            </a:pPr>
            <a:r>
              <a:rPr lang="en-US" sz="1800" b="1" dirty="0">
                <a:solidFill>
                  <a:schemeClr val="tx1"/>
                </a:solidFill>
                <a:latin typeface="Manrope" pitchFamily="34" charset="0"/>
                <a:ea typeface="Manrope" pitchFamily="34" charset="-122"/>
                <a:cs typeface="Manrope" pitchFamily="34" charset="-120"/>
              </a:rPr>
              <a:t>$0.9M</a:t>
            </a:r>
            <a:endParaRPr lang="en-US" sz="1800" dirty="0"/>
          </a:p>
        </p:txBody>
      </p:sp>
      <p:sp>
        <p:nvSpPr>
          <p:cNvPr id="19" name="Text 17"/>
          <p:cNvSpPr txBox="1"/>
          <p:nvPr/>
        </p:nvSpPr>
        <p:spPr>
          <a:xfrm>
            <a:off x="5948477" y="3511296"/>
            <a:ext cx="164592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new ARR</a:t>
            </a:r>
            <a:endParaRPr lang="en-US" sz="900" dirty="0"/>
          </a:p>
        </p:txBody>
      </p:sp>
      <p:sp>
        <p:nvSpPr>
          <p:cNvPr id="20" name="Shape 18"/>
          <p:cNvSpPr/>
          <p:nvPr/>
        </p:nvSpPr>
        <p:spPr>
          <a:xfrm>
            <a:off x="1005840" y="3986784"/>
            <a:ext cx="3376574" cy="1819656"/>
          </a:xfrm>
          <a:prstGeom prst="roundRect">
            <a:avLst>
              <a:gd name="adj" fmla="val 5025"/>
            </a:avLst>
          </a:prstGeom>
          <a:solidFill>
            <a:schemeClr val="tx1"/>
          </a:solidFill>
          <a:ln/>
        </p:spPr>
      </p:sp>
      <p:sp>
        <p:nvSpPr>
          <p:cNvPr id="21" name="Text 19"/>
          <p:cNvSpPr txBox="1"/>
          <p:nvPr/>
        </p:nvSpPr>
        <p:spPr>
          <a:xfrm>
            <a:off x="1280160" y="4215384"/>
            <a:ext cx="2827934" cy="320040"/>
          </a:xfrm>
          <a:prstGeom prst="rect">
            <a:avLst/>
          </a:prstGeom>
          <a:noFill/>
          <a:ln/>
        </p:spPr>
        <p:txBody>
          <a:bodyPr wrap="square" lIns="0" tIns="0" rIns="0" bIns="0" rtlCol="0" anchor="t"/>
          <a:lstStyle/>
          <a:p>
            <a:pPr algn="l" indent="0" marL="0">
              <a:buNone/>
            </a:pPr>
            <a:r>
              <a:rPr lang="en-US" sz="1500" b="1" dirty="0">
                <a:solidFill>
                  <a:schemeClr val="bg1"/>
                </a:solidFill>
                <a:latin typeface="Manrope" pitchFamily="34" charset="0"/>
                <a:ea typeface="Manrope" pitchFamily="34" charset="-122"/>
                <a:cs typeface="Manrope" pitchFamily="34" charset="-120"/>
              </a:rPr>
              <a:t>Market penetration</a:t>
            </a:r>
            <a:endParaRPr lang="en-US" sz="1500" dirty="0"/>
          </a:p>
        </p:txBody>
      </p:sp>
      <p:sp>
        <p:nvSpPr>
          <p:cNvPr id="22" name="Text 20"/>
          <p:cNvSpPr txBox="1"/>
          <p:nvPr/>
        </p:nvSpPr>
        <p:spPr>
          <a:xfrm>
            <a:off x="1280160" y="4535424"/>
            <a:ext cx="2827934"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Existing product, existing markets</a:t>
            </a:r>
            <a:endParaRPr lang="en-US" sz="1000" dirty="0"/>
          </a:p>
        </p:txBody>
      </p:sp>
      <p:sp>
        <p:nvSpPr>
          <p:cNvPr id="23" name="Text 21"/>
          <p:cNvSpPr txBox="1"/>
          <p:nvPr/>
        </p:nvSpPr>
        <p:spPr>
          <a:xfrm>
            <a:off x="1280160" y="4937760"/>
            <a:ext cx="1371600" cy="548640"/>
          </a:xfrm>
          <a:prstGeom prst="rect">
            <a:avLst/>
          </a:prstGeom>
          <a:noFill/>
          <a:ln/>
        </p:spPr>
        <p:txBody>
          <a:bodyPr wrap="square" lIns="0" tIns="0" rIns="0" bIns="0" rtlCol="0" anchor="t"/>
          <a:lstStyle/>
          <a:p>
            <a:pPr algn="l" indent="0" marL="0">
              <a:buNone/>
            </a:pPr>
            <a:r>
              <a:rPr lang="en-US" sz="3000" dirty="0">
                <a:solidFill>
                  <a:schemeClr val="accent1"/>
                </a:solidFill>
                <a:latin typeface="Manrope ExtraBold" pitchFamily="34" charset="0"/>
                <a:ea typeface="Manrope ExtraBold" pitchFamily="34" charset="-122"/>
                <a:cs typeface="Manrope ExtraBold" pitchFamily="34" charset="-120"/>
              </a:rPr>
              <a:t>50%</a:t>
            </a:r>
            <a:endParaRPr lang="en-US" sz="3000" dirty="0"/>
          </a:p>
        </p:txBody>
      </p:sp>
      <p:sp>
        <p:nvSpPr>
          <p:cNvPr id="24" name="Text 22"/>
          <p:cNvSpPr txBox="1"/>
          <p:nvPr/>
        </p:nvSpPr>
        <p:spPr>
          <a:xfrm>
            <a:off x="1280160" y="5440680"/>
            <a:ext cx="146304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of investment</a:t>
            </a:r>
            <a:endParaRPr lang="en-US" sz="900" dirty="0"/>
          </a:p>
        </p:txBody>
      </p:sp>
      <p:sp>
        <p:nvSpPr>
          <p:cNvPr id="25" name="Text 23"/>
          <p:cNvSpPr txBox="1"/>
          <p:nvPr/>
        </p:nvSpPr>
        <p:spPr>
          <a:xfrm>
            <a:off x="2462174" y="4937760"/>
            <a:ext cx="1645920" cy="548640"/>
          </a:xfrm>
          <a:prstGeom prst="rect">
            <a:avLst/>
          </a:prstGeom>
          <a:noFill/>
          <a:ln/>
        </p:spPr>
        <p:txBody>
          <a:bodyPr wrap="square" lIns="0" tIns="0" rIns="0" bIns="0" rtlCol="0" anchor="t"/>
          <a:lstStyle/>
          <a:p>
            <a:pPr algn="r" indent="0" marL="0">
              <a:buNone/>
            </a:pPr>
            <a:r>
              <a:rPr lang="en-US" sz="1800" b="1" dirty="0">
                <a:solidFill>
                  <a:schemeClr val="bg1"/>
                </a:solidFill>
                <a:latin typeface="Manrope" pitchFamily="34" charset="0"/>
                <a:ea typeface="Manrope" pitchFamily="34" charset="-122"/>
                <a:cs typeface="Manrope" pitchFamily="34" charset="-120"/>
              </a:rPr>
              <a:t>$14.2M</a:t>
            </a:r>
            <a:endParaRPr lang="en-US" sz="1800" dirty="0"/>
          </a:p>
        </p:txBody>
      </p:sp>
      <p:sp>
        <p:nvSpPr>
          <p:cNvPr id="26" name="Text 24"/>
          <p:cNvSpPr txBox="1"/>
          <p:nvPr/>
        </p:nvSpPr>
        <p:spPr>
          <a:xfrm>
            <a:off x="2462174" y="5440680"/>
            <a:ext cx="1645920" cy="201168"/>
          </a:xfrm>
          <a:prstGeom prst="rect">
            <a:avLst/>
          </a:prstGeom>
          <a:noFill/>
          <a:ln/>
        </p:spPr>
        <p:txBody>
          <a:bodyPr wrap="square" lIns="0" tIns="0" rIns="0" bIns="0" rtlCol="0" anchor="t"/>
          <a:lstStyle/>
          <a:p>
            <a:pPr algn="r" indent="0" marL="0">
              <a:buNone/>
            </a:pPr>
            <a:r>
              <a:rPr lang="en-US" sz="900" dirty="0">
                <a:solidFill>
                  <a:schemeClr val="accent4"/>
                </a:solidFill>
                <a:latin typeface="Inter" pitchFamily="34" charset="0"/>
                <a:ea typeface="Inter" pitchFamily="34" charset="-122"/>
                <a:cs typeface="Inter" pitchFamily="34" charset="-120"/>
              </a:rPr>
              <a:t>new ARR</a:t>
            </a:r>
            <a:endParaRPr lang="en-US" sz="900" dirty="0"/>
          </a:p>
        </p:txBody>
      </p:sp>
      <p:sp>
        <p:nvSpPr>
          <p:cNvPr id="27" name="Shape 25"/>
          <p:cNvSpPr/>
          <p:nvPr/>
        </p:nvSpPr>
        <p:spPr>
          <a:xfrm>
            <a:off x="4492142" y="3986784"/>
            <a:ext cx="3376574" cy="1819656"/>
          </a:xfrm>
          <a:prstGeom prst="roundRect">
            <a:avLst>
              <a:gd name="adj" fmla="val 5025"/>
            </a:avLst>
          </a:prstGeom>
          <a:solidFill>
            <a:schemeClr val="accent1"/>
          </a:solidFill>
          <a:ln/>
        </p:spPr>
      </p:sp>
      <p:sp>
        <p:nvSpPr>
          <p:cNvPr id="28" name="Text 26"/>
          <p:cNvSpPr txBox="1"/>
          <p:nvPr/>
        </p:nvSpPr>
        <p:spPr>
          <a:xfrm>
            <a:off x="4766462" y="4215384"/>
            <a:ext cx="2827934"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Product development</a:t>
            </a:r>
            <a:endParaRPr lang="en-US" sz="1500" dirty="0"/>
          </a:p>
        </p:txBody>
      </p:sp>
      <p:sp>
        <p:nvSpPr>
          <p:cNvPr id="29" name="Text 27"/>
          <p:cNvSpPr txBox="1"/>
          <p:nvPr/>
        </p:nvSpPr>
        <p:spPr>
          <a:xfrm>
            <a:off x="4766462" y="4535424"/>
            <a:ext cx="2827934"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pitchFamily="34" charset="0"/>
                <a:ea typeface="Inter" pitchFamily="34" charset="-122"/>
                <a:cs typeface="Inter" pitchFamily="34" charset="-120"/>
              </a:rPr>
              <a:t>New product, existing markets</a:t>
            </a:r>
            <a:endParaRPr lang="en-US" sz="1000" dirty="0"/>
          </a:p>
        </p:txBody>
      </p:sp>
      <p:sp>
        <p:nvSpPr>
          <p:cNvPr id="30" name="Text 28"/>
          <p:cNvSpPr txBox="1"/>
          <p:nvPr/>
        </p:nvSpPr>
        <p:spPr>
          <a:xfrm>
            <a:off x="4766462" y="4937760"/>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20%</a:t>
            </a:r>
            <a:endParaRPr lang="en-US" sz="3000" dirty="0"/>
          </a:p>
        </p:txBody>
      </p:sp>
      <p:sp>
        <p:nvSpPr>
          <p:cNvPr id="31" name="Text 29"/>
          <p:cNvSpPr txBox="1"/>
          <p:nvPr/>
        </p:nvSpPr>
        <p:spPr>
          <a:xfrm>
            <a:off x="4766462" y="5440680"/>
            <a:ext cx="1463040" cy="201168"/>
          </a:xfrm>
          <a:prstGeom prst="rect">
            <a:avLst/>
          </a:prstGeom>
          <a:noFill/>
          <a:ln/>
        </p:spPr>
        <p:txBody>
          <a:bodyPr wrap="square" lIns="0" tIns="0" rIns="0" bIns="0" rtlCol="0" anchor="t"/>
          <a:lstStyle/>
          <a:p>
            <a:pPr algn="l" indent="0" marL="0">
              <a:buNone/>
            </a:pPr>
            <a:r>
              <a:rPr lang="en-US" sz="900" dirty="0">
                <a:solidFill>
                  <a:schemeClr val="tx1"/>
                </a:solidFill>
                <a:latin typeface="Inter" pitchFamily="34" charset="0"/>
                <a:ea typeface="Inter" pitchFamily="34" charset="-122"/>
                <a:cs typeface="Inter" pitchFamily="34" charset="-120"/>
              </a:rPr>
              <a:t>of investment</a:t>
            </a:r>
            <a:endParaRPr lang="en-US" sz="900" dirty="0"/>
          </a:p>
        </p:txBody>
      </p:sp>
      <p:sp>
        <p:nvSpPr>
          <p:cNvPr id="32" name="Text 30"/>
          <p:cNvSpPr txBox="1"/>
          <p:nvPr/>
        </p:nvSpPr>
        <p:spPr>
          <a:xfrm>
            <a:off x="5948477" y="4937760"/>
            <a:ext cx="1645920" cy="548640"/>
          </a:xfrm>
          <a:prstGeom prst="rect">
            <a:avLst/>
          </a:prstGeom>
          <a:noFill/>
          <a:ln/>
        </p:spPr>
        <p:txBody>
          <a:bodyPr wrap="square" lIns="0" tIns="0" rIns="0" bIns="0" rtlCol="0" anchor="t"/>
          <a:lstStyle/>
          <a:p>
            <a:pPr algn="r" indent="0" marL="0">
              <a:buNone/>
            </a:pPr>
            <a:r>
              <a:rPr lang="en-US" sz="1800" b="1" dirty="0">
                <a:solidFill>
                  <a:schemeClr val="tx1"/>
                </a:solidFill>
                <a:latin typeface="Manrope" pitchFamily="34" charset="0"/>
                <a:ea typeface="Manrope" pitchFamily="34" charset="-122"/>
                <a:cs typeface="Manrope" pitchFamily="34" charset="-120"/>
              </a:rPr>
              <a:t>$5.1M</a:t>
            </a:r>
            <a:endParaRPr lang="en-US" sz="1800" dirty="0"/>
          </a:p>
        </p:txBody>
      </p:sp>
      <p:sp>
        <p:nvSpPr>
          <p:cNvPr id="33" name="Text 31"/>
          <p:cNvSpPr txBox="1"/>
          <p:nvPr/>
        </p:nvSpPr>
        <p:spPr>
          <a:xfrm>
            <a:off x="5948477" y="5440680"/>
            <a:ext cx="1645920" cy="201168"/>
          </a:xfrm>
          <a:prstGeom prst="rect">
            <a:avLst/>
          </a:prstGeom>
          <a:noFill/>
          <a:ln/>
        </p:spPr>
        <p:txBody>
          <a:bodyPr wrap="square" lIns="0" tIns="0" rIns="0" bIns="0" rtlCol="0" anchor="t"/>
          <a:lstStyle/>
          <a:p>
            <a:pPr algn="r" indent="0" marL="0">
              <a:buNone/>
            </a:pPr>
            <a:r>
              <a:rPr lang="en-US" sz="900" dirty="0">
                <a:solidFill>
                  <a:schemeClr val="tx1"/>
                </a:solidFill>
                <a:latin typeface="Inter" pitchFamily="34" charset="0"/>
                <a:ea typeface="Inter" pitchFamily="34" charset="-122"/>
                <a:cs typeface="Inter" pitchFamily="34" charset="-120"/>
              </a:rPr>
              <a:t>new ARR</a:t>
            </a:r>
            <a:endParaRPr lang="en-US" sz="900" dirty="0"/>
          </a:p>
        </p:txBody>
      </p:sp>
      <p:sp>
        <p:nvSpPr>
          <p:cNvPr id="34" name="Text 32"/>
          <p:cNvSpPr txBox="1"/>
          <p:nvPr/>
        </p:nvSpPr>
        <p:spPr>
          <a:xfrm>
            <a:off x="1005840" y="5879592"/>
            <a:ext cx="6862877" cy="228600"/>
          </a:xfrm>
          <a:prstGeom prst="rect">
            <a:avLst/>
          </a:prstGeom>
          <a:noFill/>
          <a:ln/>
        </p:spPr>
        <p:txBody>
          <a:bodyPr wrap="square" lIns="0" tIns="0" rIns="0" bIns="0" rtlCol="0" anchor="t"/>
          <a:lstStyle/>
          <a:p>
            <a:pPr algn="ctr" indent="0" marL="0">
              <a:buNone/>
            </a:pPr>
            <a:r>
              <a:rPr lang="en-US" sz="900" spc="100" kern="0" dirty="0">
                <a:solidFill>
                  <a:schemeClr val="accent3"/>
                </a:solidFill>
                <a:latin typeface="Inter Medium" pitchFamily="34" charset="0"/>
                <a:ea typeface="Inter Medium" pitchFamily="34" charset="-122"/>
                <a:cs typeface="Inter Medium" pitchFamily="34" charset="-120"/>
              </a:rPr>
              <a:t>Existing  ·  PRODUCTS  ·  New</a:t>
            </a:r>
            <a:endParaRPr lang="en-US" sz="900" dirty="0"/>
          </a:p>
        </p:txBody>
      </p:sp>
      <p:sp>
        <p:nvSpPr>
          <p:cNvPr id="35" name="Text 33"/>
          <p:cNvSpPr txBox="1"/>
          <p:nvPr/>
        </p:nvSpPr>
        <p:spPr>
          <a:xfrm rot="16200000">
            <a:off x="-1143000" y="3822192"/>
            <a:ext cx="3749040" cy="228600"/>
          </a:xfrm>
          <a:prstGeom prst="rect">
            <a:avLst/>
          </a:prstGeom>
          <a:noFill/>
          <a:ln/>
        </p:spPr>
        <p:txBody>
          <a:bodyPr wrap="square" lIns="0" tIns="0" rIns="0" bIns="0" rtlCol="0" anchor="t"/>
          <a:lstStyle/>
          <a:p>
            <a:pPr algn="ctr" indent="0" marL="0">
              <a:buNone/>
            </a:pPr>
            <a:r>
              <a:rPr lang="en-US" sz="900" spc="100" kern="0" dirty="0">
                <a:solidFill>
                  <a:schemeClr val="accent3"/>
                </a:solidFill>
                <a:latin typeface="Inter Medium" pitchFamily="34" charset="0"/>
                <a:ea typeface="Inter Medium" pitchFamily="34" charset="-122"/>
                <a:cs typeface="Inter Medium" pitchFamily="34" charset="-120"/>
              </a:rPr>
              <a:t>Existing  ·  MARKETS  ·  New</a:t>
            </a:r>
            <a:endParaRPr lang="en-US" sz="900" dirty="0"/>
          </a:p>
        </p:txBody>
      </p:sp>
      <p:sp>
        <p:nvSpPr>
          <p:cNvPr id="36" name="Text 34"/>
          <p:cNvSpPr txBox="1"/>
          <p:nvPr/>
        </p:nvSpPr>
        <p:spPr>
          <a:xfrm>
            <a:off x="8371637" y="2057400"/>
            <a:ext cx="3271418" cy="822960"/>
          </a:xfrm>
          <a:prstGeom prst="rect">
            <a:avLst/>
          </a:prstGeom>
          <a:noFill/>
          <a:ln/>
        </p:spPr>
        <p:txBody>
          <a:bodyPr wrap="square" lIns="0" tIns="0" rIns="0" bIns="0" rtlCol="0" anchor="t"/>
          <a:lstStyle/>
          <a:p>
            <a:pPr algn="l" indent="0" marL="0">
              <a:buNone/>
            </a:pPr>
            <a:r>
              <a:rPr lang="en-US" sz="5000" dirty="0">
                <a:solidFill>
                  <a:schemeClr val="tx1"/>
                </a:solidFill>
                <a:latin typeface="Manrope ExtraBold" pitchFamily="34" charset="0"/>
                <a:ea typeface="Manrope ExtraBold" pitchFamily="34" charset="-122"/>
                <a:cs typeface="Manrope ExtraBold" pitchFamily="34" charset="-120"/>
              </a:rPr>
              <a:t>$27M</a:t>
            </a:r>
            <a:endParaRPr lang="en-US" sz="5000" dirty="0"/>
          </a:p>
        </p:txBody>
      </p:sp>
      <p:sp>
        <p:nvSpPr>
          <p:cNvPr id="37" name="Text 35"/>
          <p:cNvSpPr txBox="1"/>
          <p:nvPr/>
        </p:nvSpPr>
        <p:spPr>
          <a:xfrm>
            <a:off x="8371637" y="2880360"/>
            <a:ext cx="3271418" cy="45720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new ARR targeted in 2027 across all four vectors</a:t>
            </a:r>
            <a:endParaRPr lang="en-US" sz="1100" dirty="0"/>
          </a:p>
        </p:txBody>
      </p:sp>
      <p:sp>
        <p:nvSpPr>
          <p:cNvPr id="38" name="Shape 36"/>
          <p:cNvSpPr/>
          <p:nvPr/>
        </p:nvSpPr>
        <p:spPr>
          <a:xfrm>
            <a:off x="8371637" y="3520440"/>
            <a:ext cx="3271418" cy="0"/>
          </a:xfrm>
          <a:prstGeom prst="line">
            <a:avLst/>
          </a:prstGeom>
          <a:noFill/>
          <a:ln w="9525">
            <a:solidFill>
              <a:schemeClr val="accent4"/>
            </a:solidFill>
            <a:prstDash val="solid"/>
          </a:ln>
        </p:spPr>
      </p:sp>
      <p:sp>
        <p:nvSpPr>
          <p:cNvPr id="39" name="Text 37"/>
          <p:cNvSpPr txBox="1"/>
          <p:nvPr/>
        </p:nvSpPr>
        <p:spPr>
          <a:xfrm>
            <a:off x="8371637" y="3703320"/>
            <a:ext cx="3271418" cy="2011680"/>
          </a:xfrm>
          <a:prstGeom prst="rect">
            <a:avLst/>
          </a:prstGeom>
          <a:noFill/>
          <a:ln/>
        </p:spPr>
        <p:txBody>
          <a:bodyPr wrap="square" lIns="0" tIns="0" rIns="0" bIns="0" rtlCol="0" anchor="t"/>
          <a:lstStyle/>
          <a:p>
            <a:pPr algn="l" indent="0" marL="0">
              <a:lnSpc>
                <a:spcPct val="115000"/>
              </a:lnSpc>
              <a:spcAft>
                <a:spcPts val="1000"/>
              </a:spcAft>
              <a:buNone/>
            </a:pPr>
            <a:r>
              <a:rPr lang="en-US" sz="1100" b="1" dirty="0">
                <a:solidFill>
                  <a:schemeClr val="tx1"/>
                </a:solidFill>
                <a:latin typeface="Inter" pitchFamily="34" charset="0"/>
                <a:ea typeface="Inter" pitchFamily="34" charset="-122"/>
                <a:cs typeface="Inter" pitchFamily="34" charset="-120"/>
              </a:rPr>
              <a:t>Penetration: </a:t>
            </a:r>
            <a:pPr algn="l" indent="0" marL="0">
              <a:lnSpc>
                <a:spcPct val="115000"/>
              </a:lnSpc>
              <a:spcAft>
                <a:spcPts val="1000"/>
              </a:spcAft>
              <a:buNone/>
            </a:pPr>
            <a:r>
              <a:rPr lang="en-US" sz="1100" dirty="0">
                <a:solidFill>
                  <a:schemeClr val="tx2"/>
                </a:solidFill>
                <a:latin typeface="Inter" pitchFamily="34" charset="0"/>
                <a:ea typeface="Inter" pitchFamily="34" charset="-122"/>
                <a:cs typeface="Inter" pitchFamily="34" charset="-120"/>
              </a:rPr>
              <a:t>seat expansion and competitive displacement.</a:t>
            </a:r>
            <a:endParaRPr lang="en-US" sz="1100" dirty="0"/>
          </a:p>
          <a:p>
            <a:pPr algn="l" indent="0" marL="0">
              <a:lnSpc>
                <a:spcPct val="115000"/>
              </a:lnSpc>
              <a:spcAft>
                <a:spcPts val="1000"/>
              </a:spcAft>
              <a:buNone/>
            </a:pPr>
            <a:r>
              <a:rPr lang="en-US" sz="1100" b="1" dirty="0">
                <a:solidFill>
                  <a:schemeClr val="tx1"/>
                </a:solidFill>
                <a:latin typeface="Inter" pitchFamily="34" charset="0"/>
                <a:ea typeface="Inter" pitchFamily="34" charset="-122"/>
                <a:cs typeface="Inter" pitchFamily="34" charset="-120"/>
              </a:rPr>
              <a:t>Product: </a:t>
            </a:r>
            <a:pPr algn="l" indent="0" marL="0">
              <a:lnSpc>
                <a:spcPct val="115000"/>
              </a:lnSpc>
              <a:spcAft>
                <a:spcPts val="1000"/>
              </a:spcAft>
              <a:buNone/>
            </a:pPr>
            <a:r>
              <a:rPr lang="en-US" sz="1100" dirty="0">
                <a:solidFill>
                  <a:schemeClr val="tx2"/>
                </a:solidFill>
                <a:latin typeface="Inter" pitchFamily="34" charset="0"/>
                <a:ea typeface="Inter" pitchFamily="34" charset="-122"/>
                <a:cs typeface="Inter" pitchFamily="34" charset="-120"/>
              </a:rPr>
              <a:t>coaching and planning modules.</a:t>
            </a:r>
            <a:endParaRPr lang="en-US" sz="1100" dirty="0"/>
          </a:p>
          <a:p>
            <a:pPr algn="l" indent="0" marL="0">
              <a:lnSpc>
                <a:spcPct val="115000"/>
              </a:lnSpc>
              <a:spcAft>
                <a:spcPts val="1000"/>
              </a:spcAft>
              <a:buNone/>
            </a:pPr>
            <a:r>
              <a:rPr lang="en-US" sz="1100" b="1" dirty="0">
                <a:solidFill>
                  <a:schemeClr val="tx1"/>
                </a:solidFill>
                <a:latin typeface="Inter" pitchFamily="34" charset="0"/>
                <a:ea typeface="Inter" pitchFamily="34" charset="-122"/>
                <a:cs typeface="Inter" pitchFamily="34" charset="-120"/>
              </a:rPr>
              <a:t>Markets: </a:t>
            </a:r>
            <a:pPr algn="l" indent="0" marL="0">
              <a:lnSpc>
                <a:spcPct val="115000"/>
              </a:lnSpc>
              <a:spcAft>
                <a:spcPts val="1000"/>
              </a:spcAft>
              <a:buNone/>
            </a:pPr>
            <a:r>
              <a:rPr lang="en-US" sz="1100" dirty="0">
                <a:solidFill>
                  <a:schemeClr val="tx2"/>
                </a:solidFill>
                <a:latin typeface="Inter" pitchFamily="34" charset="0"/>
                <a:ea typeface="Inter" pitchFamily="34" charset="-122"/>
                <a:cs typeface="Inter" pitchFamily="34" charset="-120"/>
              </a:rPr>
              <a:t>France, Spain and Australia.</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KPI dashboard: ahead of plan on growth, watching margin</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Year to date, as of 30 September 2026.</a:t>
            </a:r>
            <a:endParaRPr lang="en-US" sz="1150" dirty="0"/>
          </a:p>
        </p:txBody>
      </p:sp>
      <p:sp>
        <p:nvSpPr>
          <p:cNvPr id="6" name="Shape 4"/>
          <p:cNvSpPr/>
          <p:nvPr/>
        </p:nvSpPr>
        <p:spPr>
          <a:xfrm>
            <a:off x="548640" y="1874520"/>
            <a:ext cx="2602154" cy="1371600"/>
          </a:xfrm>
          <a:prstGeom prst="roundRect">
            <a:avLst>
              <a:gd name="adj" fmla="val 6667"/>
            </a:avLst>
          </a:prstGeom>
          <a:solidFill>
            <a:schemeClr val="tx1"/>
          </a:solidFill>
          <a:ln/>
        </p:spPr>
      </p:sp>
      <p:sp>
        <p:nvSpPr>
          <p:cNvPr id="7" name="Text 5"/>
          <p:cNvSpPr txBox="1"/>
          <p:nvPr/>
        </p:nvSpPr>
        <p:spPr>
          <a:xfrm>
            <a:off x="777240" y="2103120"/>
            <a:ext cx="2144954"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ARR</a:t>
            </a:r>
            <a:endParaRPr lang="en-US" sz="1000" dirty="0"/>
          </a:p>
        </p:txBody>
      </p:sp>
      <p:pic>
        <p:nvPicPr>
          <p:cNvPr id="8" name="Icon PiChartLineUp C6F432" descr="preencoded.png">    </p:cNvPr>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2647874" y="2075688"/>
            <a:ext cx="274320" cy="274320"/>
          </a:xfrm>
          <a:prstGeom prst="rect">
            <a:avLst/>
          </a:prstGeom>
        </p:spPr>
      </p:pic>
      <p:sp>
        <p:nvSpPr>
          <p:cNvPr id="9" name="Text 6"/>
          <p:cNvSpPr txBox="1"/>
          <p:nvPr/>
        </p:nvSpPr>
        <p:spPr>
          <a:xfrm>
            <a:off x="777240" y="2350008"/>
            <a:ext cx="2144954" cy="444500"/>
          </a:xfrm>
          <a:prstGeom prst="rect">
            <a:avLst/>
          </a:prstGeom>
          <a:noFill/>
          <a:ln/>
        </p:spPr>
        <p:txBody>
          <a:bodyPr wrap="square" lIns="0" tIns="0" rIns="0" bIns="0" rtlCol="0" anchor="t"/>
          <a:lstStyle/>
          <a:p>
            <a:pPr algn="l" indent="0" marL="0">
              <a:buNone/>
            </a:pPr>
            <a:r>
              <a:rPr lang="en-US" sz="2800" dirty="0">
                <a:solidFill>
                  <a:schemeClr val="bg1"/>
                </a:solidFill>
                <a:latin typeface="Manrope ExtraBold" pitchFamily="34" charset="0"/>
                <a:ea typeface="Manrope ExtraBold" pitchFamily="34" charset="-122"/>
                <a:cs typeface="Manrope ExtraBold" pitchFamily="34" charset="-120"/>
              </a:rPr>
              <a:t>$48.6M</a:t>
            </a:r>
            <a:endParaRPr lang="en-US" sz="2800" dirty="0"/>
          </a:p>
        </p:txBody>
      </p:sp>
      <p:sp>
        <p:nvSpPr>
          <p:cNvPr id="10" name="Text 7"/>
          <p:cNvSpPr txBox="1"/>
          <p:nvPr/>
        </p:nvSpPr>
        <p:spPr>
          <a:xfrm>
            <a:off x="777240" y="2816352"/>
            <a:ext cx="2144954"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62%</a:t>
            </a:r>
            <a:pPr algn="l" indent="0" marL="0">
              <a:buNone/>
            </a:pPr>
            <a:r>
              <a:rPr lang="en-US" sz="950" dirty="0">
                <a:solidFill>
                  <a:schemeClr val="accent4"/>
                </a:solidFill>
                <a:latin typeface="Inter" pitchFamily="34" charset="0"/>
                <a:ea typeface="Inter" pitchFamily="34" charset="-122"/>
                <a:cs typeface="Inter" pitchFamily="34" charset="-120"/>
              </a:rPr>
              <a:t>  YoY</a:t>
            </a:r>
            <a:endParaRPr lang="en-US" sz="950" dirty="0"/>
          </a:p>
        </p:txBody>
      </p:sp>
      <p:sp>
        <p:nvSpPr>
          <p:cNvPr id="11" name="Shape 8"/>
          <p:cNvSpPr/>
          <p:nvPr/>
        </p:nvSpPr>
        <p:spPr>
          <a:xfrm>
            <a:off x="3379394" y="1874520"/>
            <a:ext cx="2602154" cy="1371600"/>
          </a:xfrm>
          <a:prstGeom prst="roundRect">
            <a:avLst>
              <a:gd name="adj" fmla="val 6667"/>
            </a:avLst>
          </a:prstGeom>
          <a:solidFill>
            <a:schemeClr val="bg1"/>
          </a:solidFill>
          <a:ln w="9525">
            <a:solidFill>
              <a:schemeClr val="accent4"/>
            </a:solidFill>
            <a:prstDash val="solid"/>
          </a:ln>
        </p:spPr>
      </p:sp>
      <p:sp>
        <p:nvSpPr>
          <p:cNvPr id="12" name="Text 9"/>
          <p:cNvSpPr txBox="1"/>
          <p:nvPr/>
        </p:nvSpPr>
        <p:spPr>
          <a:xfrm>
            <a:off x="3607994" y="2103120"/>
            <a:ext cx="2144954"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Net revenue retention</a:t>
            </a:r>
            <a:endParaRPr lang="en-US" sz="1000" dirty="0"/>
          </a:p>
        </p:txBody>
      </p:sp>
      <p:pic>
        <p:nvPicPr>
          <p:cNvPr id="13" name="Icon PiArrowsClockwise 0A1628" descr="preencoded.png">    </p:cNvPr>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5478628" y="2075688"/>
            <a:ext cx="274320" cy="274320"/>
          </a:xfrm>
          <a:prstGeom prst="rect">
            <a:avLst/>
          </a:prstGeom>
        </p:spPr>
      </p:pic>
      <p:sp>
        <p:nvSpPr>
          <p:cNvPr id="14" name="Text 10"/>
          <p:cNvSpPr txBox="1"/>
          <p:nvPr/>
        </p:nvSpPr>
        <p:spPr>
          <a:xfrm>
            <a:off x="3607994" y="2350008"/>
            <a:ext cx="2144954" cy="44450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128%</a:t>
            </a:r>
            <a:endParaRPr lang="en-US" sz="2800" dirty="0"/>
          </a:p>
        </p:txBody>
      </p:sp>
      <p:sp>
        <p:nvSpPr>
          <p:cNvPr id="15" name="Text 11"/>
          <p:cNvSpPr txBox="1"/>
          <p:nvPr/>
        </p:nvSpPr>
        <p:spPr>
          <a:xfrm>
            <a:off x="3607994" y="2816352"/>
            <a:ext cx="2144954"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6 pts</a:t>
            </a:r>
            <a:pPr algn="l" indent="0" marL="0">
              <a:buNone/>
            </a:pP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16" name="Shape 12"/>
          <p:cNvSpPr/>
          <p:nvPr/>
        </p:nvSpPr>
        <p:spPr>
          <a:xfrm>
            <a:off x="6210148" y="1874520"/>
            <a:ext cx="2602154" cy="1371600"/>
          </a:xfrm>
          <a:prstGeom prst="roundRect">
            <a:avLst>
              <a:gd name="adj" fmla="val 6667"/>
            </a:avLst>
          </a:prstGeom>
          <a:solidFill>
            <a:schemeClr val="bg1"/>
          </a:solidFill>
          <a:ln w="9525">
            <a:solidFill>
              <a:schemeClr val="accent4"/>
            </a:solidFill>
            <a:prstDash val="solid"/>
          </a:ln>
        </p:spPr>
      </p:sp>
      <p:sp>
        <p:nvSpPr>
          <p:cNvPr id="17" name="Text 13"/>
          <p:cNvSpPr txBox="1"/>
          <p:nvPr/>
        </p:nvSpPr>
        <p:spPr>
          <a:xfrm>
            <a:off x="6438748" y="2103120"/>
            <a:ext cx="2144954"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Gross margin</a:t>
            </a:r>
            <a:endParaRPr lang="en-US" sz="1000" dirty="0"/>
          </a:p>
        </p:txBody>
      </p:sp>
      <p:pic>
        <p:nvPicPr>
          <p:cNvPr id="18" name="Icon PiPercent 0A1628" descr="preencoded.png">    </p:cNvPr>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8309381" y="2075688"/>
            <a:ext cx="274320" cy="274320"/>
          </a:xfrm>
          <a:prstGeom prst="rect">
            <a:avLst/>
          </a:prstGeom>
        </p:spPr>
      </p:pic>
      <p:sp>
        <p:nvSpPr>
          <p:cNvPr id="19" name="Text 14"/>
          <p:cNvSpPr txBox="1"/>
          <p:nvPr/>
        </p:nvSpPr>
        <p:spPr>
          <a:xfrm>
            <a:off x="6438748" y="2350008"/>
            <a:ext cx="2144954" cy="44450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78%</a:t>
            </a:r>
            <a:endParaRPr lang="en-US" sz="2800" dirty="0"/>
          </a:p>
        </p:txBody>
      </p:sp>
      <p:sp>
        <p:nvSpPr>
          <p:cNvPr id="20" name="Text 15"/>
          <p:cNvSpPr txBox="1"/>
          <p:nvPr/>
        </p:nvSpPr>
        <p:spPr>
          <a:xfrm>
            <a:off x="6438748" y="2816352"/>
            <a:ext cx="2144954"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 2 pts</a:t>
            </a:r>
            <a:pPr algn="l" indent="0" marL="0">
              <a:buNone/>
            </a:pP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21" name="Shape 16"/>
          <p:cNvSpPr/>
          <p:nvPr/>
        </p:nvSpPr>
        <p:spPr>
          <a:xfrm>
            <a:off x="9040901" y="1874520"/>
            <a:ext cx="2602154" cy="1371600"/>
          </a:xfrm>
          <a:prstGeom prst="roundRect">
            <a:avLst>
              <a:gd name="adj" fmla="val 6667"/>
            </a:avLst>
          </a:prstGeom>
          <a:solidFill>
            <a:schemeClr val="bg1"/>
          </a:solidFill>
          <a:ln w="9525">
            <a:solidFill>
              <a:schemeClr val="accent4"/>
            </a:solidFill>
            <a:prstDash val="solid"/>
          </a:ln>
        </p:spPr>
      </p:sp>
      <p:sp>
        <p:nvSpPr>
          <p:cNvPr id="22" name="Text 17"/>
          <p:cNvSpPr txBox="1"/>
          <p:nvPr/>
        </p:nvSpPr>
        <p:spPr>
          <a:xfrm>
            <a:off x="9269501" y="2103120"/>
            <a:ext cx="2144954"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Burn multiple</a:t>
            </a:r>
            <a:endParaRPr lang="en-US" sz="1000" dirty="0"/>
          </a:p>
        </p:txBody>
      </p:sp>
      <p:pic>
        <p:nvPicPr>
          <p:cNvPr id="23" name="Icon PiGauge 0A1628" descr="preencoded.png">    </p:cNvPr>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11140135" y="2075688"/>
            <a:ext cx="274320" cy="274320"/>
          </a:xfrm>
          <a:prstGeom prst="rect">
            <a:avLst/>
          </a:prstGeom>
        </p:spPr>
      </p:pic>
      <p:sp>
        <p:nvSpPr>
          <p:cNvPr id="24" name="Text 18"/>
          <p:cNvSpPr txBox="1"/>
          <p:nvPr/>
        </p:nvSpPr>
        <p:spPr>
          <a:xfrm>
            <a:off x="9269501" y="2350008"/>
            <a:ext cx="2144954" cy="44450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0.9×</a:t>
            </a:r>
            <a:endParaRPr lang="en-US" sz="2800" dirty="0"/>
          </a:p>
        </p:txBody>
      </p:sp>
      <p:sp>
        <p:nvSpPr>
          <p:cNvPr id="25" name="Text 19"/>
          <p:cNvSpPr txBox="1"/>
          <p:nvPr/>
        </p:nvSpPr>
        <p:spPr>
          <a:xfrm>
            <a:off x="9269501" y="2816352"/>
            <a:ext cx="2144954"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0.4×</a:t>
            </a:r>
            <a:pPr algn="l" indent="0" marL="0">
              <a:buNone/>
            </a:pPr>
            <a:r>
              <a:rPr lang="en-US" sz="950" dirty="0">
                <a:solidFill>
                  <a:schemeClr val="accent3"/>
                </a:solidFill>
                <a:latin typeface="Inter" pitchFamily="34" charset="0"/>
                <a:ea typeface="Inter" pitchFamily="34" charset="-122"/>
                <a:cs typeface="Inter" pitchFamily="34" charset="-120"/>
              </a:rPr>
              <a:t>  better</a:t>
            </a:r>
            <a:endParaRPr lang="en-US" sz="950" dirty="0"/>
          </a:p>
        </p:txBody>
      </p:sp>
      <p:sp>
        <p:nvSpPr>
          <p:cNvPr id="26" name="Shape 20"/>
          <p:cNvSpPr/>
          <p:nvPr/>
        </p:nvSpPr>
        <p:spPr>
          <a:xfrm>
            <a:off x="548640" y="3474720"/>
            <a:ext cx="7320077" cy="2560320"/>
          </a:xfrm>
          <a:prstGeom prst="roundRect">
            <a:avLst>
              <a:gd name="adj" fmla="val 3571"/>
            </a:avLst>
          </a:prstGeom>
          <a:solidFill>
            <a:schemeClr val="bg1"/>
          </a:solidFill>
          <a:ln/>
        </p:spPr>
      </p:sp>
      <p:sp>
        <p:nvSpPr>
          <p:cNvPr id="27" name="Text 21"/>
          <p:cNvSpPr txBox="1"/>
          <p:nvPr/>
        </p:nvSpPr>
        <p:spPr>
          <a:xfrm>
            <a:off x="822960" y="3657600"/>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ARR vs plan, $M</a:t>
            </a:r>
            <a:endParaRPr lang="en-US" sz="1300" dirty="0"/>
          </a:p>
        </p:txBody>
      </p:sp>
      <p:sp>
        <p:nvSpPr>
          <p:cNvPr id="28" name="Shape 22"/>
          <p:cNvSpPr/>
          <p:nvPr/>
        </p:nvSpPr>
        <p:spPr>
          <a:xfrm>
            <a:off x="5399837" y="3776472"/>
            <a:ext cx="274320" cy="36576"/>
          </a:xfrm>
          <a:prstGeom prst="rect">
            <a:avLst/>
          </a:prstGeom>
          <a:solidFill>
            <a:schemeClr val="tx1"/>
          </a:solidFill>
          <a:ln/>
        </p:spPr>
      </p:sp>
      <p:sp>
        <p:nvSpPr>
          <p:cNvPr id="29" name="Text 23"/>
          <p:cNvSpPr txBox="1"/>
          <p:nvPr/>
        </p:nvSpPr>
        <p:spPr>
          <a:xfrm>
            <a:off x="5765597" y="3675888"/>
            <a:ext cx="73152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Actual</a:t>
            </a:r>
            <a:endParaRPr lang="en-US" sz="950" dirty="0"/>
          </a:p>
        </p:txBody>
      </p:sp>
      <p:sp>
        <p:nvSpPr>
          <p:cNvPr id="30" name="Shape 24"/>
          <p:cNvSpPr/>
          <p:nvPr/>
        </p:nvSpPr>
        <p:spPr>
          <a:xfrm>
            <a:off x="6588557" y="3776472"/>
            <a:ext cx="274320" cy="36576"/>
          </a:xfrm>
          <a:prstGeom prst="rect">
            <a:avLst/>
          </a:prstGeom>
          <a:solidFill>
            <a:schemeClr val="accent3"/>
          </a:solidFill>
          <a:ln/>
        </p:spPr>
      </p:sp>
      <p:sp>
        <p:nvSpPr>
          <p:cNvPr id="31" name="Text 25"/>
          <p:cNvSpPr txBox="1"/>
          <p:nvPr/>
        </p:nvSpPr>
        <p:spPr>
          <a:xfrm>
            <a:off x="6954317" y="3675888"/>
            <a:ext cx="73152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Plan</a:t>
            </a:r>
            <a:endParaRPr lang="en-US" sz="950" dirty="0"/>
          </a:p>
        </p:txBody>
      </p:sp>
      <p:graphicFrame>
        <p:nvGraphicFramePr>
          <p:cNvPr id="32" name="Chart 0" descr=""/>
          <p:cNvGraphicFramePr/>
          <p:nvPr/>
        </p:nvGraphicFramePr>
        <p:xfrm>
          <a:off x="640080" y="3977640"/>
          <a:ext cx="7137197" cy="1965960"/>
        </p:xfrm>
        <a:graphic xmlns:a="http://schemas.openxmlformats.org/drawingml/2006/main">
          <a:graphicData uri="http://schemas.openxmlformats.org/drawingml/2006/chart">
            <c:chart xmlns:c="http://schemas.openxmlformats.org/drawingml/2006/chart" r:id="rId5"/>
          </a:graphicData>
        </a:graphic>
      </p:graphicFrame>
      <p:sp>
        <p:nvSpPr>
          <p:cNvPr id="33" name="Shape 26"/>
          <p:cNvSpPr/>
          <p:nvPr/>
        </p:nvSpPr>
        <p:spPr>
          <a:xfrm>
            <a:off x="8325917" y="3474720"/>
            <a:ext cx="3317138" cy="2560320"/>
          </a:xfrm>
          <a:prstGeom prst="roundRect">
            <a:avLst>
              <a:gd name="adj" fmla="val 3571"/>
            </a:avLst>
          </a:prstGeom>
          <a:solidFill>
            <a:schemeClr val="bg1"/>
          </a:solidFill>
          <a:ln/>
        </p:spPr>
      </p:sp>
      <p:sp>
        <p:nvSpPr>
          <p:cNvPr id="34" name="Text 27"/>
          <p:cNvSpPr txBox="1"/>
          <p:nvPr/>
        </p:nvSpPr>
        <p:spPr>
          <a:xfrm>
            <a:off x="8600237" y="3657600"/>
            <a:ext cx="27684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Annual goals</a:t>
            </a:r>
            <a:endParaRPr lang="en-US" sz="1300" dirty="0"/>
          </a:p>
        </p:txBody>
      </p:sp>
      <p:sp>
        <p:nvSpPr>
          <p:cNvPr id="35" name="Text 28"/>
          <p:cNvSpPr txBox="1"/>
          <p:nvPr/>
        </p:nvSpPr>
        <p:spPr>
          <a:xfrm>
            <a:off x="8600237" y="41148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New ARR</a:t>
            </a:r>
            <a:endParaRPr lang="en-US" sz="1000" dirty="0"/>
          </a:p>
        </p:txBody>
      </p:sp>
      <p:sp>
        <p:nvSpPr>
          <p:cNvPr id="36" name="Text 29"/>
          <p:cNvSpPr txBox="1"/>
          <p:nvPr/>
        </p:nvSpPr>
        <p:spPr>
          <a:xfrm>
            <a:off x="10637215" y="41148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81%</a:t>
            </a:r>
            <a:endParaRPr lang="en-US" sz="1000" dirty="0"/>
          </a:p>
        </p:txBody>
      </p:sp>
      <p:sp>
        <p:nvSpPr>
          <p:cNvPr id="37" name="Shape 30"/>
          <p:cNvSpPr/>
          <p:nvPr/>
        </p:nvSpPr>
        <p:spPr>
          <a:xfrm>
            <a:off x="8600237" y="4361688"/>
            <a:ext cx="2768498" cy="82296"/>
          </a:xfrm>
          <a:prstGeom prst="roundRect">
            <a:avLst>
              <a:gd name="adj" fmla="val 50000"/>
            </a:avLst>
          </a:prstGeom>
          <a:solidFill>
            <a:schemeClr val="bg2"/>
          </a:solidFill>
          <a:ln/>
        </p:spPr>
      </p:sp>
      <p:sp>
        <p:nvSpPr>
          <p:cNvPr id="38" name="Shape 31"/>
          <p:cNvSpPr/>
          <p:nvPr/>
        </p:nvSpPr>
        <p:spPr>
          <a:xfrm>
            <a:off x="8600237" y="4361688"/>
            <a:ext cx="2242484" cy="82296"/>
          </a:xfrm>
          <a:prstGeom prst="roundRect">
            <a:avLst>
              <a:gd name="adj" fmla="val 50000"/>
            </a:avLst>
          </a:prstGeom>
          <a:solidFill>
            <a:schemeClr val="tx1"/>
          </a:solidFill>
          <a:ln/>
        </p:spPr>
      </p:sp>
      <p:sp>
        <p:nvSpPr>
          <p:cNvPr id="39" name="Text 32"/>
          <p:cNvSpPr txBox="1"/>
          <p:nvPr/>
        </p:nvSpPr>
        <p:spPr>
          <a:xfrm>
            <a:off x="8600237" y="45720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New logos</a:t>
            </a:r>
            <a:endParaRPr lang="en-US" sz="1000" dirty="0"/>
          </a:p>
        </p:txBody>
      </p:sp>
      <p:sp>
        <p:nvSpPr>
          <p:cNvPr id="40" name="Text 33"/>
          <p:cNvSpPr txBox="1"/>
          <p:nvPr/>
        </p:nvSpPr>
        <p:spPr>
          <a:xfrm>
            <a:off x="10637215" y="45720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74%</a:t>
            </a:r>
            <a:endParaRPr lang="en-US" sz="1000" dirty="0"/>
          </a:p>
        </p:txBody>
      </p:sp>
      <p:sp>
        <p:nvSpPr>
          <p:cNvPr id="41" name="Shape 34"/>
          <p:cNvSpPr/>
          <p:nvPr/>
        </p:nvSpPr>
        <p:spPr>
          <a:xfrm>
            <a:off x="8600237" y="4818888"/>
            <a:ext cx="2768498" cy="82296"/>
          </a:xfrm>
          <a:prstGeom prst="roundRect">
            <a:avLst>
              <a:gd name="adj" fmla="val 50000"/>
            </a:avLst>
          </a:prstGeom>
          <a:solidFill>
            <a:schemeClr val="bg2"/>
          </a:solidFill>
          <a:ln/>
        </p:spPr>
      </p:sp>
      <p:sp>
        <p:nvSpPr>
          <p:cNvPr id="42" name="Shape 35"/>
          <p:cNvSpPr/>
          <p:nvPr/>
        </p:nvSpPr>
        <p:spPr>
          <a:xfrm>
            <a:off x="8600237" y="4818888"/>
            <a:ext cx="2048689" cy="82296"/>
          </a:xfrm>
          <a:prstGeom prst="roundRect">
            <a:avLst>
              <a:gd name="adj" fmla="val 50000"/>
            </a:avLst>
          </a:prstGeom>
          <a:solidFill>
            <a:schemeClr val="accent3"/>
          </a:solidFill>
          <a:ln/>
        </p:spPr>
      </p:sp>
      <p:sp>
        <p:nvSpPr>
          <p:cNvPr id="43" name="Text 36"/>
          <p:cNvSpPr txBox="1"/>
          <p:nvPr/>
        </p:nvSpPr>
        <p:spPr>
          <a:xfrm>
            <a:off x="8600237" y="50292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Expansion</a:t>
            </a:r>
            <a:endParaRPr lang="en-US" sz="1000" dirty="0"/>
          </a:p>
        </p:txBody>
      </p:sp>
      <p:sp>
        <p:nvSpPr>
          <p:cNvPr id="44" name="Text 37"/>
          <p:cNvSpPr txBox="1"/>
          <p:nvPr/>
        </p:nvSpPr>
        <p:spPr>
          <a:xfrm>
            <a:off x="10637215" y="50292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92%</a:t>
            </a:r>
            <a:endParaRPr lang="en-US" sz="1000" dirty="0"/>
          </a:p>
        </p:txBody>
      </p:sp>
      <p:sp>
        <p:nvSpPr>
          <p:cNvPr id="45" name="Shape 38"/>
          <p:cNvSpPr/>
          <p:nvPr/>
        </p:nvSpPr>
        <p:spPr>
          <a:xfrm>
            <a:off x="8600237" y="5276088"/>
            <a:ext cx="2768498" cy="82296"/>
          </a:xfrm>
          <a:prstGeom prst="roundRect">
            <a:avLst>
              <a:gd name="adj" fmla="val 50000"/>
            </a:avLst>
          </a:prstGeom>
          <a:solidFill>
            <a:schemeClr val="bg2"/>
          </a:solidFill>
          <a:ln/>
        </p:spPr>
      </p:sp>
      <p:sp>
        <p:nvSpPr>
          <p:cNvPr id="46" name="Shape 39"/>
          <p:cNvSpPr/>
          <p:nvPr/>
        </p:nvSpPr>
        <p:spPr>
          <a:xfrm>
            <a:off x="8600237" y="5276088"/>
            <a:ext cx="2547019" cy="82296"/>
          </a:xfrm>
          <a:prstGeom prst="roundRect">
            <a:avLst>
              <a:gd name="adj" fmla="val 50000"/>
            </a:avLst>
          </a:prstGeom>
          <a:solidFill>
            <a:schemeClr val="tx1"/>
          </a:solidFill>
          <a:ln/>
        </p:spPr>
      </p:sp>
      <p:sp>
        <p:nvSpPr>
          <p:cNvPr id="47" name="Text 40"/>
          <p:cNvSpPr txBox="1"/>
          <p:nvPr/>
        </p:nvSpPr>
        <p:spPr>
          <a:xfrm>
            <a:off x="8600237" y="54864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Hiring plan</a:t>
            </a:r>
            <a:endParaRPr lang="en-US" sz="1000" dirty="0"/>
          </a:p>
        </p:txBody>
      </p:sp>
      <p:sp>
        <p:nvSpPr>
          <p:cNvPr id="48" name="Text 41"/>
          <p:cNvSpPr txBox="1"/>
          <p:nvPr/>
        </p:nvSpPr>
        <p:spPr>
          <a:xfrm>
            <a:off x="10637215" y="54864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63%</a:t>
            </a:r>
            <a:endParaRPr lang="en-US" sz="1000" dirty="0"/>
          </a:p>
        </p:txBody>
      </p:sp>
      <p:sp>
        <p:nvSpPr>
          <p:cNvPr id="49" name="Shape 42"/>
          <p:cNvSpPr/>
          <p:nvPr/>
        </p:nvSpPr>
        <p:spPr>
          <a:xfrm>
            <a:off x="8600237" y="5733288"/>
            <a:ext cx="2768498" cy="82296"/>
          </a:xfrm>
          <a:prstGeom prst="roundRect">
            <a:avLst>
              <a:gd name="adj" fmla="val 50000"/>
            </a:avLst>
          </a:prstGeom>
          <a:solidFill>
            <a:schemeClr val="bg2"/>
          </a:solidFill>
          <a:ln/>
        </p:spPr>
      </p:sp>
      <p:sp>
        <p:nvSpPr>
          <p:cNvPr id="50" name="Shape 43"/>
          <p:cNvSpPr/>
          <p:nvPr/>
        </p:nvSpPr>
        <p:spPr>
          <a:xfrm>
            <a:off x="8600237" y="5733288"/>
            <a:ext cx="1744154" cy="82296"/>
          </a:xfrm>
          <a:prstGeom prst="roundRect">
            <a:avLst>
              <a:gd name="adj" fmla="val 50000"/>
            </a:avLst>
          </a:prstGeom>
          <a:solidFill>
            <a:schemeClr val="accent3"/>
          </a:solidFill>
          <a:ln/>
        </p:spPr>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Executive dashboard — Q3 2026</a:t>
            </a:r>
            <a:endParaRPr lang="en-US" sz="2800" dirty="0"/>
          </a:p>
        </p:txBody>
      </p:sp>
      <p:sp>
        <p:nvSpPr>
          <p:cNvPr id="5" name="Shape 3"/>
          <p:cNvSpPr/>
          <p:nvPr/>
        </p:nvSpPr>
        <p:spPr>
          <a:xfrm>
            <a:off x="9448495" y="777240"/>
            <a:ext cx="2194560" cy="274320"/>
          </a:xfrm>
          <a:prstGeom prst="roundRect">
            <a:avLst>
              <a:gd name="adj" fmla="val 50000"/>
            </a:avLst>
          </a:prstGeom>
          <a:solidFill>
            <a:schemeClr val="accent1"/>
          </a:solidFill>
          <a:ln/>
        </p:spPr>
      </p:sp>
      <p:sp>
        <p:nvSpPr>
          <p:cNvPr id="6" name="Text 4"/>
          <p:cNvSpPr txBox="1"/>
          <p:nvPr/>
        </p:nvSpPr>
        <p:spPr>
          <a:xfrm>
            <a:off x="9448495" y="777240"/>
            <a:ext cx="219456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Overall status: on track</a:t>
            </a:r>
            <a:endParaRPr lang="en-US" sz="900" dirty="0"/>
          </a:p>
        </p:txBody>
      </p:sp>
      <p:sp>
        <p:nvSpPr>
          <p:cNvPr id="7" name="Text 5"/>
          <p:cNvSpPr txBox="1"/>
          <p:nvPr/>
        </p:nvSpPr>
        <p:spPr>
          <a:xfrm>
            <a:off x="548640"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Revenue</a:t>
            </a:r>
            <a:endParaRPr lang="en-US" sz="950" dirty="0"/>
          </a:p>
        </p:txBody>
      </p:sp>
      <p:sp>
        <p:nvSpPr>
          <p:cNvPr id="8" name="Text 6"/>
          <p:cNvSpPr txBox="1"/>
          <p:nvPr/>
        </p:nvSpPr>
        <p:spPr>
          <a:xfrm>
            <a:off x="548640"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$12.9M</a:t>
            </a:r>
            <a:endParaRPr lang="en-US" sz="2200" dirty="0"/>
          </a:p>
        </p:txBody>
      </p:sp>
      <p:sp>
        <p:nvSpPr>
          <p:cNvPr id="9" name="Text 7"/>
          <p:cNvSpPr txBox="1"/>
          <p:nvPr/>
        </p:nvSpPr>
        <p:spPr>
          <a:xfrm>
            <a:off x="548640"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+58%</a:t>
            </a:r>
            <a:endParaRPr lang="en-US" sz="950" dirty="0"/>
          </a:p>
        </p:txBody>
      </p:sp>
      <p:sp>
        <p:nvSpPr>
          <p:cNvPr id="10" name="Shape 8"/>
          <p:cNvSpPr/>
          <p:nvPr/>
        </p:nvSpPr>
        <p:spPr>
          <a:xfrm>
            <a:off x="2397709" y="1828800"/>
            <a:ext cx="0" cy="868680"/>
          </a:xfrm>
          <a:prstGeom prst="line">
            <a:avLst/>
          </a:prstGeom>
          <a:noFill/>
          <a:ln w="9525">
            <a:solidFill>
              <a:schemeClr val="accent4"/>
            </a:solidFill>
            <a:prstDash val="solid"/>
          </a:ln>
        </p:spPr>
      </p:sp>
      <p:sp>
        <p:nvSpPr>
          <p:cNvPr id="11" name="Text 9"/>
          <p:cNvSpPr txBox="1"/>
          <p:nvPr/>
        </p:nvSpPr>
        <p:spPr>
          <a:xfrm>
            <a:off x="2626309"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Bookings</a:t>
            </a:r>
            <a:endParaRPr lang="en-US" sz="950" dirty="0"/>
          </a:p>
        </p:txBody>
      </p:sp>
      <p:sp>
        <p:nvSpPr>
          <p:cNvPr id="12" name="Text 10"/>
          <p:cNvSpPr txBox="1"/>
          <p:nvPr/>
        </p:nvSpPr>
        <p:spPr>
          <a:xfrm>
            <a:off x="2626309"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$6.1M</a:t>
            </a:r>
            <a:endParaRPr lang="en-US" sz="2200" dirty="0"/>
          </a:p>
        </p:txBody>
      </p:sp>
      <p:sp>
        <p:nvSpPr>
          <p:cNvPr id="13" name="Text 11"/>
          <p:cNvSpPr txBox="1"/>
          <p:nvPr/>
        </p:nvSpPr>
        <p:spPr>
          <a:xfrm>
            <a:off x="2626309"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+18%</a:t>
            </a:r>
            <a:endParaRPr lang="en-US" sz="950" dirty="0"/>
          </a:p>
        </p:txBody>
      </p:sp>
      <p:sp>
        <p:nvSpPr>
          <p:cNvPr id="14" name="Shape 12"/>
          <p:cNvSpPr/>
          <p:nvPr/>
        </p:nvSpPr>
        <p:spPr>
          <a:xfrm>
            <a:off x="4246778" y="1828800"/>
            <a:ext cx="0" cy="868680"/>
          </a:xfrm>
          <a:prstGeom prst="line">
            <a:avLst/>
          </a:prstGeom>
          <a:noFill/>
          <a:ln w="9525">
            <a:solidFill>
              <a:schemeClr val="accent4"/>
            </a:solidFill>
            <a:prstDash val="solid"/>
          </a:ln>
        </p:spPr>
      </p:sp>
      <p:sp>
        <p:nvSpPr>
          <p:cNvPr id="15" name="Text 13"/>
          <p:cNvSpPr txBox="1"/>
          <p:nvPr/>
        </p:nvSpPr>
        <p:spPr>
          <a:xfrm>
            <a:off x="4475378"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Pipeline</a:t>
            </a:r>
            <a:endParaRPr lang="en-US" sz="950" dirty="0"/>
          </a:p>
        </p:txBody>
      </p:sp>
      <p:sp>
        <p:nvSpPr>
          <p:cNvPr id="16" name="Text 14"/>
          <p:cNvSpPr txBox="1"/>
          <p:nvPr/>
        </p:nvSpPr>
        <p:spPr>
          <a:xfrm>
            <a:off x="4475378"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$31.4M</a:t>
            </a:r>
            <a:endParaRPr lang="en-US" sz="2200" dirty="0"/>
          </a:p>
        </p:txBody>
      </p:sp>
      <p:sp>
        <p:nvSpPr>
          <p:cNvPr id="17" name="Text 15"/>
          <p:cNvSpPr txBox="1"/>
          <p:nvPr/>
        </p:nvSpPr>
        <p:spPr>
          <a:xfrm>
            <a:off x="4475378"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+34%</a:t>
            </a:r>
            <a:endParaRPr lang="en-US" sz="950" dirty="0"/>
          </a:p>
        </p:txBody>
      </p:sp>
      <p:sp>
        <p:nvSpPr>
          <p:cNvPr id="18" name="Shape 16"/>
          <p:cNvSpPr/>
          <p:nvPr/>
        </p:nvSpPr>
        <p:spPr>
          <a:xfrm>
            <a:off x="6095848" y="1828800"/>
            <a:ext cx="0" cy="868680"/>
          </a:xfrm>
          <a:prstGeom prst="line">
            <a:avLst/>
          </a:prstGeom>
          <a:noFill/>
          <a:ln w="9525">
            <a:solidFill>
              <a:schemeClr val="accent4"/>
            </a:solidFill>
            <a:prstDash val="solid"/>
          </a:ln>
        </p:spPr>
      </p:sp>
      <p:sp>
        <p:nvSpPr>
          <p:cNvPr id="19" name="Text 17"/>
          <p:cNvSpPr txBox="1"/>
          <p:nvPr/>
        </p:nvSpPr>
        <p:spPr>
          <a:xfrm>
            <a:off x="6324448"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Win rate</a:t>
            </a:r>
            <a:endParaRPr lang="en-US" sz="950" dirty="0"/>
          </a:p>
        </p:txBody>
      </p:sp>
      <p:sp>
        <p:nvSpPr>
          <p:cNvPr id="20" name="Text 18"/>
          <p:cNvSpPr txBox="1"/>
          <p:nvPr/>
        </p:nvSpPr>
        <p:spPr>
          <a:xfrm>
            <a:off x="6324448"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28%</a:t>
            </a:r>
            <a:endParaRPr lang="en-US" sz="2200" dirty="0"/>
          </a:p>
        </p:txBody>
      </p:sp>
      <p:sp>
        <p:nvSpPr>
          <p:cNvPr id="21" name="Text 19"/>
          <p:cNvSpPr txBox="1"/>
          <p:nvPr/>
        </p:nvSpPr>
        <p:spPr>
          <a:xfrm>
            <a:off x="6324448"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+3 pts</a:t>
            </a:r>
            <a:endParaRPr lang="en-US" sz="950" dirty="0"/>
          </a:p>
        </p:txBody>
      </p:sp>
      <p:sp>
        <p:nvSpPr>
          <p:cNvPr id="22" name="Shape 20"/>
          <p:cNvSpPr/>
          <p:nvPr/>
        </p:nvSpPr>
        <p:spPr>
          <a:xfrm>
            <a:off x="7944917" y="1828800"/>
            <a:ext cx="0" cy="868680"/>
          </a:xfrm>
          <a:prstGeom prst="line">
            <a:avLst/>
          </a:prstGeom>
          <a:noFill/>
          <a:ln w="9525">
            <a:solidFill>
              <a:schemeClr val="accent4"/>
            </a:solidFill>
            <a:prstDash val="solid"/>
          </a:ln>
        </p:spPr>
      </p:sp>
      <p:sp>
        <p:nvSpPr>
          <p:cNvPr id="23" name="Text 21"/>
          <p:cNvSpPr txBox="1"/>
          <p:nvPr/>
        </p:nvSpPr>
        <p:spPr>
          <a:xfrm>
            <a:off x="8173517"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NRR</a:t>
            </a:r>
            <a:endParaRPr lang="en-US" sz="950" dirty="0"/>
          </a:p>
        </p:txBody>
      </p:sp>
      <p:sp>
        <p:nvSpPr>
          <p:cNvPr id="24" name="Text 22"/>
          <p:cNvSpPr txBox="1"/>
          <p:nvPr/>
        </p:nvSpPr>
        <p:spPr>
          <a:xfrm>
            <a:off x="8173517"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128%</a:t>
            </a:r>
            <a:endParaRPr lang="en-US" sz="2200" dirty="0"/>
          </a:p>
        </p:txBody>
      </p:sp>
      <p:sp>
        <p:nvSpPr>
          <p:cNvPr id="25" name="Text 23"/>
          <p:cNvSpPr txBox="1"/>
          <p:nvPr/>
        </p:nvSpPr>
        <p:spPr>
          <a:xfrm>
            <a:off x="8173517"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+6 pts</a:t>
            </a:r>
            <a:endParaRPr lang="en-US" sz="950" dirty="0"/>
          </a:p>
        </p:txBody>
      </p:sp>
      <p:sp>
        <p:nvSpPr>
          <p:cNvPr id="26" name="Shape 24"/>
          <p:cNvSpPr/>
          <p:nvPr/>
        </p:nvSpPr>
        <p:spPr>
          <a:xfrm>
            <a:off x="9793986" y="1828800"/>
            <a:ext cx="0" cy="868680"/>
          </a:xfrm>
          <a:prstGeom prst="line">
            <a:avLst/>
          </a:prstGeom>
          <a:noFill/>
          <a:ln w="9525">
            <a:solidFill>
              <a:schemeClr val="accent4"/>
            </a:solidFill>
            <a:prstDash val="solid"/>
          </a:ln>
        </p:spPr>
      </p:sp>
      <p:sp>
        <p:nvSpPr>
          <p:cNvPr id="27" name="Text 25"/>
          <p:cNvSpPr txBox="1"/>
          <p:nvPr/>
        </p:nvSpPr>
        <p:spPr>
          <a:xfrm>
            <a:off x="10022586"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Headcount</a:t>
            </a:r>
            <a:endParaRPr lang="en-US" sz="950" dirty="0"/>
          </a:p>
        </p:txBody>
      </p:sp>
      <p:sp>
        <p:nvSpPr>
          <p:cNvPr id="28" name="Text 26"/>
          <p:cNvSpPr txBox="1"/>
          <p:nvPr/>
        </p:nvSpPr>
        <p:spPr>
          <a:xfrm>
            <a:off x="10022586"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320</a:t>
            </a:r>
            <a:endParaRPr lang="en-US" sz="2200" dirty="0"/>
          </a:p>
        </p:txBody>
      </p:sp>
      <p:sp>
        <p:nvSpPr>
          <p:cNvPr id="29" name="Text 27"/>
          <p:cNvSpPr txBox="1"/>
          <p:nvPr/>
        </p:nvSpPr>
        <p:spPr>
          <a:xfrm>
            <a:off x="10022586"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+41</a:t>
            </a:r>
            <a:endParaRPr lang="en-US" sz="950" dirty="0"/>
          </a:p>
        </p:txBody>
      </p:sp>
      <p:sp>
        <p:nvSpPr>
          <p:cNvPr id="30" name="Shape 28"/>
          <p:cNvSpPr/>
          <p:nvPr/>
        </p:nvSpPr>
        <p:spPr>
          <a:xfrm>
            <a:off x="548640" y="2971800"/>
            <a:ext cx="4489323" cy="3063240"/>
          </a:xfrm>
          <a:prstGeom prst="roundRect">
            <a:avLst>
              <a:gd name="adj" fmla="val 2985"/>
            </a:avLst>
          </a:prstGeom>
          <a:solidFill>
            <a:schemeClr val="bg2"/>
          </a:solidFill>
          <a:ln/>
        </p:spPr>
      </p:sp>
      <p:sp>
        <p:nvSpPr>
          <p:cNvPr id="31" name="Text 29"/>
          <p:cNvSpPr txBox="1"/>
          <p:nvPr/>
        </p:nvSpPr>
        <p:spPr>
          <a:xfrm>
            <a:off x="777240" y="3154680"/>
            <a:ext cx="4032123"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Quarterly revenue, $M</a:t>
            </a:r>
            <a:endParaRPr lang="en-US" sz="1200" dirty="0"/>
          </a:p>
        </p:txBody>
      </p:sp>
      <p:graphicFrame>
        <p:nvGraphicFramePr>
          <p:cNvPr id="32" name="Chart 0" descr=""/>
          <p:cNvGraphicFramePr/>
          <p:nvPr/>
        </p:nvGraphicFramePr>
        <p:xfrm>
          <a:off x="640080" y="3474720"/>
          <a:ext cx="4306443" cy="2423160"/>
        </p:xfrm>
        <a:graphic xmlns:a="http://schemas.openxmlformats.org/drawingml/2006/main">
          <a:graphicData uri="http://schemas.openxmlformats.org/drawingml/2006/chart">
            <c:chart xmlns:c="http://schemas.openxmlformats.org/drawingml/2006/chart" r:id="rId1"/>
          </a:graphicData>
        </a:graphic>
      </p:graphicFrame>
      <p:sp>
        <p:nvSpPr>
          <p:cNvPr id="33" name="Shape 30"/>
          <p:cNvSpPr/>
          <p:nvPr/>
        </p:nvSpPr>
        <p:spPr>
          <a:xfrm>
            <a:off x="5266563" y="2971800"/>
            <a:ext cx="2602154" cy="3063240"/>
          </a:xfrm>
          <a:prstGeom prst="roundRect">
            <a:avLst>
              <a:gd name="adj" fmla="val 3514"/>
            </a:avLst>
          </a:prstGeom>
          <a:solidFill>
            <a:schemeClr val="bg2"/>
          </a:solidFill>
          <a:ln/>
        </p:spPr>
      </p:sp>
      <p:sp>
        <p:nvSpPr>
          <p:cNvPr id="34" name="Text 31"/>
          <p:cNvSpPr txBox="1"/>
          <p:nvPr/>
        </p:nvSpPr>
        <p:spPr>
          <a:xfrm>
            <a:off x="5495163" y="3154680"/>
            <a:ext cx="2144954"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Revenue mix</a:t>
            </a:r>
            <a:endParaRPr lang="en-US" sz="1200" dirty="0"/>
          </a:p>
        </p:txBody>
      </p:sp>
      <p:graphicFrame>
        <p:nvGraphicFramePr>
          <p:cNvPr id="35" name="Chart 1" descr=""/>
          <p:cNvGraphicFramePr/>
          <p:nvPr/>
        </p:nvGraphicFramePr>
        <p:xfrm>
          <a:off x="5403723" y="3429000"/>
          <a:ext cx="2327834" cy="1737360"/>
        </p:xfrm>
        <a:graphic xmlns:a="http://schemas.openxmlformats.org/drawingml/2006/main">
          <a:graphicData uri="http://schemas.openxmlformats.org/drawingml/2006/chart">
            <c:chart xmlns:c="http://schemas.openxmlformats.org/drawingml/2006/chart" r:id="rId2"/>
          </a:graphicData>
        </a:graphic>
      </p:graphicFrame>
      <p:sp>
        <p:nvSpPr>
          <p:cNvPr id="36" name="Shape 32"/>
          <p:cNvSpPr/>
          <p:nvPr/>
        </p:nvSpPr>
        <p:spPr>
          <a:xfrm>
            <a:off x="5495163" y="5303520"/>
            <a:ext cx="118872" cy="118872"/>
          </a:xfrm>
          <a:prstGeom prst="roundRect">
            <a:avLst>
              <a:gd name="adj" fmla="val 15385"/>
            </a:avLst>
          </a:prstGeom>
          <a:solidFill>
            <a:schemeClr val="tx1"/>
          </a:solidFill>
          <a:ln/>
        </p:spPr>
      </p:sp>
      <p:sp>
        <p:nvSpPr>
          <p:cNvPr id="37" name="Text 33"/>
          <p:cNvSpPr txBox="1"/>
          <p:nvPr/>
        </p:nvSpPr>
        <p:spPr>
          <a:xfrm>
            <a:off x="5723763" y="5257800"/>
            <a:ext cx="128016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Subscription</a:t>
            </a:r>
            <a:endParaRPr lang="en-US" sz="950" dirty="0"/>
          </a:p>
        </p:txBody>
      </p:sp>
      <p:sp>
        <p:nvSpPr>
          <p:cNvPr id="38" name="Text 34"/>
          <p:cNvSpPr txBox="1"/>
          <p:nvPr/>
        </p:nvSpPr>
        <p:spPr>
          <a:xfrm>
            <a:off x="7045757" y="5257800"/>
            <a:ext cx="594360" cy="201168"/>
          </a:xfrm>
          <a:prstGeom prst="rect">
            <a:avLst/>
          </a:prstGeom>
          <a:noFill/>
          <a:ln/>
        </p:spPr>
        <p:txBody>
          <a:bodyPr wrap="square" lIns="0" tIns="0" rIns="0" bIns="0" rtlCol="0" anchor="t"/>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81%</a:t>
            </a:r>
            <a:endParaRPr lang="en-US" sz="950" dirty="0"/>
          </a:p>
        </p:txBody>
      </p:sp>
      <p:sp>
        <p:nvSpPr>
          <p:cNvPr id="39" name="Shape 35"/>
          <p:cNvSpPr/>
          <p:nvPr/>
        </p:nvSpPr>
        <p:spPr>
          <a:xfrm>
            <a:off x="5495163" y="5541264"/>
            <a:ext cx="118872" cy="118872"/>
          </a:xfrm>
          <a:prstGeom prst="roundRect">
            <a:avLst>
              <a:gd name="adj" fmla="val 15385"/>
            </a:avLst>
          </a:prstGeom>
          <a:solidFill>
            <a:schemeClr val="accent1"/>
          </a:solidFill>
          <a:ln/>
        </p:spPr>
      </p:sp>
      <p:sp>
        <p:nvSpPr>
          <p:cNvPr id="40" name="Text 36"/>
          <p:cNvSpPr txBox="1"/>
          <p:nvPr/>
        </p:nvSpPr>
        <p:spPr>
          <a:xfrm>
            <a:off x="5723763" y="5495544"/>
            <a:ext cx="128016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Services</a:t>
            </a:r>
            <a:endParaRPr lang="en-US" sz="950" dirty="0"/>
          </a:p>
        </p:txBody>
      </p:sp>
      <p:sp>
        <p:nvSpPr>
          <p:cNvPr id="41" name="Text 37"/>
          <p:cNvSpPr txBox="1"/>
          <p:nvPr/>
        </p:nvSpPr>
        <p:spPr>
          <a:xfrm>
            <a:off x="7045757" y="5495544"/>
            <a:ext cx="594360" cy="201168"/>
          </a:xfrm>
          <a:prstGeom prst="rect">
            <a:avLst/>
          </a:prstGeom>
          <a:noFill/>
          <a:ln/>
        </p:spPr>
        <p:txBody>
          <a:bodyPr wrap="square" lIns="0" tIns="0" rIns="0" bIns="0" rtlCol="0" anchor="t"/>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12%</a:t>
            </a:r>
            <a:endParaRPr lang="en-US" sz="950" dirty="0"/>
          </a:p>
        </p:txBody>
      </p:sp>
      <p:sp>
        <p:nvSpPr>
          <p:cNvPr id="42" name="Shape 38"/>
          <p:cNvSpPr/>
          <p:nvPr/>
        </p:nvSpPr>
        <p:spPr>
          <a:xfrm>
            <a:off x="5495163" y="5779008"/>
            <a:ext cx="118872" cy="118872"/>
          </a:xfrm>
          <a:prstGeom prst="roundRect">
            <a:avLst>
              <a:gd name="adj" fmla="val 15385"/>
            </a:avLst>
          </a:prstGeom>
          <a:solidFill>
            <a:schemeClr val="accent3"/>
          </a:solidFill>
          <a:ln/>
        </p:spPr>
      </p:sp>
      <p:sp>
        <p:nvSpPr>
          <p:cNvPr id="43" name="Text 39"/>
          <p:cNvSpPr txBox="1"/>
          <p:nvPr/>
        </p:nvSpPr>
        <p:spPr>
          <a:xfrm>
            <a:off x="5723763" y="5733288"/>
            <a:ext cx="128016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Marketplace</a:t>
            </a:r>
            <a:endParaRPr lang="en-US" sz="950" dirty="0"/>
          </a:p>
        </p:txBody>
      </p:sp>
      <p:sp>
        <p:nvSpPr>
          <p:cNvPr id="44" name="Text 40"/>
          <p:cNvSpPr txBox="1"/>
          <p:nvPr/>
        </p:nvSpPr>
        <p:spPr>
          <a:xfrm>
            <a:off x="7045757" y="5733288"/>
            <a:ext cx="594360" cy="201168"/>
          </a:xfrm>
          <a:prstGeom prst="rect">
            <a:avLst/>
          </a:prstGeom>
          <a:noFill/>
          <a:ln/>
        </p:spPr>
        <p:txBody>
          <a:bodyPr wrap="square" lIns="0" tIns="0" rIns="0" bIns="0" rtlCol="0" anchor="t"/>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7%</a:t>
            </a:r>
            <a:endParaRPr lang="en-US" sz="950" dirty="0"/>
          </a:p>
        </p:txBody>
      </p:sp>
      <p:sp>
        <p:nvSpPr>
          <p:cNvPr id="45" name="Shape 41"/>
          <p:cNvSpPr/>
          <p:nvPr/>
        </p:nvSpPr>
        <p:spPr>
          <a:xfrm>
            <a:off x="8097317" y="2971800"/>
            <a:ext cx="3545738" cy="3063240"/>
          </a:xfrm>
          <a:prstGeom prst="roundRect">
            <a:avLst>
              <a:gd name="adj" fmla="val 2985"/>
            </a:avLst>
          </a:prstGeom>
          <a:solidFill>
            <a:schemeClr val="bg2"/>
          </a:solidFill>
          <a:ln/>
        </p:spPr>
      </p:sp>
      <p:sp>
        <p:nvSpPr>
          <p:cNvPr id="46" name="Text 42"/>
          <p:cNvSpPr txBox="1"/>
          <p:nvPr/>
        </p:nvSpPr>
        <p:spPr>
          <a:xfrm>
            <a:off x="8325917" y="3154680"/>
            <a:ext cx="3088538"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Initiatives</a:t>
            </a:r>
            <a:endParaRPr lang="en-US" sz="1200" dirty="0"/>
          </a:p>
        </p:txBody>
      </p:sp>
      <p:sp>
        <p:nvSpPr>
          <p:cNvPr id="47" name="Text 43"/>
          <p:cNvSpPr txBox="1"/>
          <p:nvPr/>
        </p:nvSpPr>
        <p:spPr>
          <a:xfrm>
            <a:off x="8325917" y="3566160"/>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US expansion</a:t>
            </a:r>
            <a:endParaRPr lang="en-US" sz="1050" dirty="0"/>
          </a:p>
        </p:txBody>
      </p:sp>
      <p:sp>
        <p:nvSpPr>
          <p:cNvPr id="48" name="Shape 44"/>
          <p:cNvSpPr/>
          <p:nvPr/>
        </p:nvSpPr>
        <p:spPr>
          <a:xfrm>
            <a:off x="10454335" y="3602736"/>
            <a:ext cx="960120" cy="256032"/>
          </a:xfrm>
          <a:prstGeom prst="roundRect">
            <a:avLst>
              <a:gd name="adj" fmla="val 50000"/>
            </a:avLst>
          </a:prstGeom>
          <a:solidFill>
            <a:schemeClr val="accent1"/>
          </a:solidFill>
          <a:ln/>
        </p:spPr>
      </p:sp>
      <p:sp>
        <p:nvSpPr>
          <p:cNvPr id="49" name="Text 45"/>
          <p:cNvSpPr txBox="1"/>
          <p:nvPr/>
        </p:nvSpPr>
        <p:spPr>
          <a:xfrm>
            <a:off x="10454335" y="3602736"/>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50" name="Shape 46"/>
          <p:cNvSpPr/>
          <p:nvPr/>
        </p:nvSpPr>
        <p:spPr>
          <a:xfrm>
            <a:off x="8325917" y="3977640"/>
            <a:ext cx="3088538" cy="0"/>
          </a:xfrm>
          <a:prstGeom prst="line">
            <a:avLst/>
          </a:prstGeom>
          <a:noFill/>
          <a:ln w="9525">
            <a:solidFill>
              <a:schemeClr val="accent4"/>
            </a:solidFill>
            <a:prstDash val="solid"/>
          </a:ln>
        </p:spPr>
      </p:sp>
      <p:sp>
        <p:nvSpPr>
          <p:cNvPr id="51" name="Text 47"/>
          <p:cNvSpPr txBox="1"/>
          <p:nvPr/>
        </p:nvSpPr>
        <p:spPr>
          <a:xfrm>
            <a:off x="8325917" y="4041648"/>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Partner programme</a:t>
            </a:r>
            <a:endParaRPr lang="en-US" sz="1050" dirty="0"/>
          </a:p>
        </p:txBody>
      </p:sp>
      <p:sp>
        <p:nvSpPr>
          <p:cNvPr id="52" name="Shape 48"/>
          <p:cNvSpPr/>
          <p:nvPr/>
        </p:nvSpPr>
        <p:spPr>
          <a:xfrm>
            <a:off x="10454335" y="4078224"/>
            <a:ext cx="960120" cy="256032"/>
          </a:xfrm>
          <a:prstGeom prst="roundRect">
            <a:avLst>
              <a:gd name="adj" fmla="val 50000"/>
            </a:avLst>
          </a:prstGeom>
          <a:solidFill>
            <a:schemeClr val="accent1"/>
          </a:solidFill>
          <a:ln/>
        </p:spPr>
      </p:sp>
      <p:sp>
        <p:nvSpPr>
          <p:cNvPr id="53" name="Text 49"/>
          <p:cNvSpPr txBox="1"/>
          <p:nvPr/>
        </p:nvSpPr>
        <p:spPr>
          <a:xfrm>
            <a:off x="10454335" y="4078224"/>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54" name="Shape 50"/>
          <p:cNvSpPr/>
          <p:nvPr/>
        </p:nvSpPr>
        <p:spPr>
          <a:xfrm>
            <a:off x="8325917" y="4453128"/>
            <a:ext cx="3088538" cy="0"/>
          </a:xfrm>
          <a:prstGeom prst="line">
            <a:avLst/>
          </a:prstGeom>
          <a:noFill/>
          <a:ln w="9525">
            <a:solidFill>
              <a:schemeClr val="accent4"/>
            </a:solidFill>
            <a:prstDash val="solid"/>
          </a:ln>
        </p:spPr>
      </p:sp>
      <p:sp>
        <p:nvSpPr>
          <p:cNvPr id="55" name="Text 51"/>
          <p:cNvSpPr txBox="1"/>
          <p:nvPr/>
        </p:nvSpPr>
        <p:spPr>
          <a:xfrm>
            <a:off x="8325917" y="4517136"/>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Pricing refresh</a:t>
            </a:r>
            <a:endParaRPr lang="en-US" sz="1050" dirty="0"/>
          </a:p>
        </p:txBody>
      </p:sp>
      <p:sp>
        <p:nvSpPr>
          <p:cNvPr id="56" name="Shape 52"/>
          <p:cNvSpPr/>
          <p:nvPr/>
        </p:nvSpPr>
        <p:spPr>
          <a:xfrm>
            <a:off x="10454335" y="4553712"/>
            <a:ext cx="960120" cy="256032"/>
          </a:xfrm>
          <a:prstGeom prst="roundRect">
            <a:avLst>
              <a:gd name="adj" fmla="val 50000"/>
            </a:avLst>
          </a:prstGeom>
          <a:solidFill>
            <a:schemeClr val="bg1"/>
          </a:solidFill>
          <a:ln/>
        </p:spPr>
      </p:sp>
      <p:sp>
        <p:nvSpPr>
          <p:cNvPr id="57" name="Text 53"/>
          <p:cNvSpPr txBox="1"/>
          <p:nvPr/>
        </p:nvSpPr>
        <p:spPr>
          <a:xfrm>
            <a:off x="10454335" y="4553712"/>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Watch</a:t>
            </a:r>
            <a:endParaRPr lang="en-US" sz="850" dirty="0"/>
          </a:p>
        </p:txBody>
      </p:sp>
      <p:sp>
        <p:nvSpPr>
          <p:cNvPr id="58" name="Shape 54"/>
          <p:cNvSpPr/>
          <p:nvPr/>
        </p:nvSpPr>
        <p:spPr>
          <a:xfrm>
            <a:off x="8325917" y="4928616"/>
            <a:ext cx="3088538" cy="0"/>
          </a:xfrm>
          <a:prstGeom prst="line">
            <a:avLst/>
          </a:prstGeom>
          <a:noFill/>
          <a:ln w="9525">
            <a:solidFill>
              <a:schemeClr val="accent4"/>
            </a:solidFill>
            <a:prstDash val="solid"/>
          </a:ln>
        </p:spPr>
      </p:sp>
      <p:sp>
        <p:nvSpPr>
          <p:cNvPr id="59" name="Text 55"/>
          <p:cNvSpPr txBox="1"/>
          <p:nvPr/>
        </p:nvSpPr>
        <p:spPr>
          <a:xfrm>
            <a:off x="8325917" y="4992624"/>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ERP migration</a:t>
            </a:r>
            <a:endParaRPr lang="en-US" sz="1050" dirty="0"/>
          </a:p>
        </p:txBody>
      </p:sp>
      <p:sp>
        <p:nvSpPr>
          <p:cNvPr id="60" name="Shape 56"/>
          <p:cNvSpPr/>
          <p:nvPr/>
        </p:nvSpPr>
        <p:spPr>
          <a:xfrm>
            <a:off x="10454335" y="5029200"/>
            <a:ext cx="960120" cy="256032"/>
          </a:xfrm>
          <a:prstGeom prst="roundRect">
            <a:avLst>
              <a:gd name="adj" fmla="val 50000"/>
            </a:avLst>
          </a:prstGeom>
          <a:solidFill>
            <a:schemeClr val="tx1"/>
          </a:solidFill>
          <a:ln/>
        </p:spPr>
      </p:sp>
      <p:sp>
        <p:nvSpPr>
          <p:cNvPr id="61" name="Text 57"/>
          <p:cNvSpPr txBox="1"/>
          <p:nvPr/>
        </p:nvSpPr>
        <p:spPr>
          <a:xfrm>
            <a:off x="10454335" y="5029200"/>
            <a:ext cx="960120" cy="256032"/>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At risk</a:t>
            </a:r>
            <a:endParaRPr lang="en-US" sz="850" dirty="0"/>
          </a:p>
        </p:txBody>
      </p:sp>
      <p:sp>
        <p:nvSpPr>
          <p:cNvPr id="62" name="Shape 58"/>
          <p:cNvSpPr/>
          <p:nvPr/>
        </p:nvSpPr>
        <p:spPr>
          <a:xfrm>
            <a:off x="8325917" y="5404104"/>
            <a:ext cx="3088538" cy="0"/>
          </a:xfrm>
          <a:prstGeom prst="line">
            <a:avLst/>
          </a:prstGeom>
          <a:noFill/>
          <a:ln w="9525">
            <a:solidFill>
              <a:schemeClr val="accent4"/>
            </a:solidFill>
            <a:prstDash val="solid"/>
          </a:ln>
        </p:spPr>
      </p:sp>
      <p:sp>
        <p:nvSpPr>
          <p:cNvPr id="63" name="Text 59"/>
          <p:cNvSpPr txBox="1"/>
          <p:nvPr/>
        </p:nvSpPr>
        <p:spPr>
          <a:xfrm>
            <a:off x="8325917" y="5468112"/>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AI call summaries</a:t>
            </a:r>
            <a:endParaRPr lang="en-US" sz="1050" dirty="0"/>
          </a:p>
        </p:txBody>
      </p:sp>
      <p:sp>
        <p:nvSpPr>
          <p:cNvPr id="64" name="Shape 60"/>
          <p:cNvSpPr/>
          <p:nvPr/>
        </p:nvSpPr>
        <p:spPr>
          <a:xfrm>
            <a:off x="10454335" y="5504688"/>
            <a:ext cx="960120" cy="256032"/>
          </a:xfrm>
          <a:prstGeom prst="roundRect">
            <a:avLst>
              <a:gd name="adj" fmla="val 50000"/>
            </a:avLst>
          </a:prstGeom>
          <a:solidFill>
            <a:schemeClr val="accent1"/>
          </a:solidFill>
          <a:ln/>
        </p:spPr>
      </p:sp>
      <p:sp>
        <p:nvSpPr>
          <p:cNvPr id="65" name="Text 61"/>
          <p:cNvSpPr txBox="1"/>
          <p:nvPr/>
        </p:nvSpPr>
        <p:spPr>
          <a:xfrm>
            <a:off x="10454335" y="5504688"/>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Monthly recurring revenue grew every month this year</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MRR, $K. Annotations mark the events behind the step changes.</a:t>
            </a:r>
            <a:endParaRPr lang="en-US" sz="1150" dirty="0"/>
          </a:p>
        </p:txBody>
      </p:sp>
      <p:graphicFrame>
        <p:nvGraphicFramePr>
          <p:cNvPr id="6" name="Chart 0" descr=""/>
          <p:cNvGraphicFramePr/>
          <p:nvPr/>
        </p:nvGraphicFramePr>
        <p:xfrm>
          <a:off x="548640" y="1920240"/>
          <a:ext cx="8263661"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2694289" y="2939156"/>
            <a:ext cx="0" cy="566928"/>
          </a:xfrm>
          <a:prstGeom prst="line">
            <a:avLst/>
          </a:prstGeom>
          <a:noFill/>
          <a:ln w="9525">
            <a:solidFill>
              <a:schemeClr val="tx1"/>
            </a:solidFill>
            <a:prstDash val="solid"/>
          </a:ln>
        </p:spPr>
      </p:sp>
      <p:sp>
        <p:nvSpPr>
          <p:cNvPr id="8" name="Shape 5"/>
          <p:cNvSpPr/>
          <p:nvPr/>
        </p:nvSpPr>
        <p:spPr>
          <a:xfrm>
            <a:off x="2630281" y="3506084"/>
            <a:ext cx="128016" cy="128016"/>
          </a:xfrm>
          <a:prstGeom prst="ellipse">
            <a:avLst/>
          </a:prstGeom>
          <a:solidFill>
            <a:schemeClr val="accent1"/>
          </a:solidFill>
          <a:ln w="12700">
            <a:solidFill>
              <a:schemeClr val="tx1"/>
            </a:solidFill>
            <a:prstDash val="solid"/>
          </a:ln>
        </p:spPr>
      </p:sp>
      <p:sp>
        <p:nvSpPr>
          <p:cNvPr id="9" name="Shape 6"/>
          <p:cNvSpPr/>
          <p:nvPr/>
        </p:nvSpPr>
        <p:spPr>
          <a:xfrm>
            <a:off x="1825609" y="2637404"/>
            <a:ext cx="1737360" cy="274320"/>
          </a:xfrm>
          <a:prstGeom prst="roundRect">
            <a:avLst>
              <a:gd name="adj" fmla="val 50000"/>
            </a:avLst>
          </a:prstGeom>
          <a:solidFill>
            <a:schemeClr val="bg1"/>
          </a:solidFill>
          <a:ln/>
        </p:spPr>
      </p:sp>
      <p:sp>
        <p:nvSpPr>
          <p:cNvPr id="10" name="Text 7"/>
          <p:cNvSpPr txBox="1"/>
          <p:nvPr/>
        </p:nvSpPr>
        <p:spPr>
          <a:xfrm>
            <a:off x="1825609" y="2637404"/>
            <a:ext cx="1737360" cy="274320"/>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Year-end enterprise deals</a:t>
            </a:r>
            <a:endParaRPr lang="en-US" sz="850" dirty="0"/>
          </a:p>
        </p:txBody>
      </p:sp>
      <p:sp>
        <p:nvSpPr>
          <p:cNvPr id="11" name="Shape 8"/>
          <p:cNvSpPr/>
          <p:nvPr/>
        </p:nvSpPr>
        <p:spPr>
          <a:xfrm>
            <a:off x="4588754" y="2679101"/>
            <a:ext cx="0" cy="566928"/>
          </a:xfrm>
          <a:prstGeom prst="line">
            <a:avLst/>
          </a:prstGeom>
          <a:noFill/>
          <a:ln w="9525">
            <a:solidFill>
              <a:schemeClr val="tx1"/>
            </a:solidFill>
            <a:prstDash val="solid"/>
          </a:ln>
        </p:spPr>
      </p:sp>
      <p:sp>
        <p:nvSpPr>
          <p:cNvPr id="12" name="Shape 9"/>
          <p:cNvSpPr/>
          <p:nvPr/>
        </p:nvSpPr>
        <p:spPr>
          <a:xfrm>
            <a:off x="4524746" y="3246029"/>
            <a:ext cx="128016" cy="128016"/>
          </a:xfrm>
          <a:prstGeom prst="ellipse">
            <a:avLst/>
          </a:prstGeom>
          <a:solidFill>
            <a:schemeClr val="accent1"/>
          </a:solidFill>
          <a:ln w="12700">
            <a:solidFill>
              <a:schemeClr val="tx1"/>
            </a:solidFill>
            <a:prstDash val="solid"/>
          </a:ln>
        </p:spPr>
      </p:sp>
      <p:sp>
        <p:nvSpPr>
          <p:cNvPr id="13" name="Shape 10"/>
          <p:cNvSpPr/>
          <p:nvPr/>
        </p:nvSpPr>
        <p:spPr>
          <a:xfrm>
            <a:off x="3720074" y="2377349"/>
            <a:ext cx="1737360" cy="274320"/>
          </a:xfrm>
          <a:prstGeom prst="roundRect">
            <a:avLst>
              <a:gd name="adj" fmla="val 50000"/>
            </a:avLst>
          </a:prstGeom>
          <a:solidFill>
            <a:schemeClr val="bg1"/>
          </a:solidFill>
          <a:ln/>
        </p:spPr>
      </p:sp>
      <p:sp>
        <p:nvSpPr>
          <p:cNvPr id="14" name="Text 11"/>
          <p:cNvSpPr txBox="1"/>
          <p:nvPr/>
        </p:nvSpPr>
        <p:spPr>
          <a:xfrm>
            <a:off x="3720074" y="2377349"/>
            <a:ext cx="1737360" cy="274320"/>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Price increase</a:t>
            </a:r>
            <a:endParaRPr lang="en-US" sz="850" dirty="0"/>
          </a:p>
        </p:txBody>
      </p:sp>
      <p:sp>
        <p:nvSpPr>
          <p:cNvPr id="15" name="Shape 12"/>
          <p:cNvSpPr/>
          <p:nvPr/>
        </p:nvSpPr>
        <p:spPr>
          <a:xfrm>
            <a:off x="6483220" y="2368479"/>
            <a:ext cx="0" cy="566928"/>
          </a:xfrm>
          <a:prstGeom prst="line">
            <a:avLst/>
          </a:prstGeom>
          <a:noFill/>
          <a:ln w="9525">
            <a:solidFill>
              <a:schemeClr val="tx1"/>
            </a:solidFill>
            <a:prstDash val="solid"/>
          </a:ln>
        </p:spPr>
      </p:sp>
      <p:sp>
        <p:nvSpPr>
          <p:cNvPr id="16" name="Shape 13"/>
          <p:cNvSpPr/>
          <p:nvPr/>
        </p:nvSpPr>
        <p:spPr>
          <a:xfrm>
            <a:off x="6419212" y="2935407"/>
            <a:ext cx="128016" cy="128016"/>
          </a:xfrm>
          <a:prstGeom prst="ellipse">
            <a:avLst/>
          </a:prstGeom>
          <a:solidFill>
            <a:schemeClr val="accent1"/>
          </a:solidFill>
          <a:ln w="12700">
            <a:solidFill>
              <a:schemeClr val="tx1"/>
            </a:solidFill>
            <a:prstDash val="solid"/>
          </a:ln>
        </p:spPr>
      </p:sp>
      <p:sp>
        <p:nvSpPr>
          <p:cNvPr id="17" name="Shape 14"/>
          <p:cNvSpPr/>
          <p:nvPr/>
        </p:nvSpPr>
        <p:spPr>
          <a:xfrm>
            <a:off x="5614540" y="2066727"/>
            <a:ext cx="1737360" cy="274320"/>
          </a:xfrm>
          <a:prstGeom prst="roundRect">
            <a:avLst>
              <a:gd name="adj" fmla="val 50000"/>
            </a:avLst>
          </a:prstGeom>
          <a:solidFill>
            <a:schemeClr val="bg1"/>
          </a:solidFill>
          <a:ln/>
        </p:spPr>
      </p:sp>
      <p:sp>
        <p:nvSpPr>
          <p:cNvPr id="18" name="Text 15"/>
          <p:cNvSpPr txBox="1"/>
          <p:nvPr/>
        </p:nvSpPr>
        <p:spPr>
          <a:xfrm>
            <a:off x="5614540" y="2066727"/>
            <a:ext cx="1737360" cy="274320"/>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Partner launch</a:t>
            </a:r>
            <a:endParaRPr lang="en-US" sz="850" dirty="0"/>
          </a:p>
        </p:txBody>
      </p:sp>
      <p:sp>
        <p:nvSpPr>
          <p:cNvPr id="19" name="Text 16"/>
          <p:cNvSpPr txBox="1"/>
          <p:nvPr/>
        </p:nvSpPr>
        <p:spPr>
          <a:xfrm>
            <a:off x="9315221" y="1920240"/>
            <a:ext cx="2327834" cy="50292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$4.05M</a:t>
            </a:r>
            <a:endParaRPr lang="en-US" sz="2800" dirty="0"/>
          </a:p>
        </p:txBody>
      </p:sp>
      <p:sp>
        <p:nvSpPr>
          <p:cNvPr id="20" name="Text 17"/>
          <p:cNvSpPr txBox="1"/>
          <p:nvPr/>
        </p:nvSpPr>
        <p:spPr>
          <a:xfrm>
            <a:off x="9315221" y="242316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MRR in September</a:t>
            </a:r>
            <a:endParaRPr lang="en-US" sz="1050" dirty="0"/>
          </a:p>
        </p:txBody>
      </p:sp>
      <p:sp>
        <p:nvSpPr>
          <p:cNvPr id="21" name="Shape 18"/>
          <p:cNvSpPr/>
          <p:nvPr/>
        </p:nvSpPr>
        <p:spPr>
          <a:xfrm>
            <a:off x="9315221" y="2880360"/>
            <a:ext cx="2327834" cy="0"/>
          </a:xfrm>
          <a:prstGeom prst="line">
            <a:avLst/>
          </a:prstGeom>
          <a:noFill/>
          <a:ln w="9525">
            <a:solidFill>
              <a:schemeClr val="accent4"/>
            </a:solidFill>
            <a:prstDash val="solid"/>
          </a:ln>
        </p:spPr>
      </p:sp>
      <p:sp>
        <p:nvSpPr>
          <p:cNvPr id="22" name="Text 19"/>
          <p:cNvSpPr txBox="1"/>
          <p:nvPr/>
        </p:nvSpPr>
        <p:spPr>
          <a:xfrm>
            <a:off x="9315221" y="2971800"/>
            <a:ext cx="2327834" cy="50292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+61%</a:t>
            </a:r>
            <a:endParaRPr lang="en-US" sz="2200" dirty="0"/>
          </a:p>
        </p:txBody>
      </p:sp>
      <p:sp>
        <p:nvSpPr>
          <p:cNvPr id="23" name="Text 20"/>
          <p:cNvSpPr txBox="1"/>
          <p:nvPr/>
        </p:nvSpPr>
        <p:spPr>
          <a:xfrm>
            <a:off x="9315221" y="347472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growth in 12 months</a:t>
            </a:r>
            <a:endParaRPr lang="en-US" sz="1050" dirty="0"/>
          </a:p>
        </p:txBody>
      </p:sp>
      <p:sp>
        <p:nvSpPr>
          <p:cNvPr id="24" name="Shape 21"/>
          <p:cNvSpPr/>
          <p:nvPr/>
        </p:nvSpPr>
        <p:spPr>
          <a:xfrm>
            <a:off x="9315221" y="3931920"/>
            <a:ext cx="2327834" cy="0"/>
          </a:xfrm>
          <a:prstGeom prst="line">
            <a:avLst/>
          </a:prstGeom>
          <a:noFill/>
          <a:ln w="9525">
            <a:solidFill>
              <a:schemeClr val="accent4"/>
            </a:solidFill>
            <a:prstDash val="solid"/>
          </a:ln>
        </p:spPr>
      </p:sp>
      <p:sp>
        <p:nvSpPr>
          <p:cNvPr id="25" name="Text 22"/>
          <p:cNvSpPr txBox="1"/>
          <p:nvPr/>
        </p:nvSpPr>
        <p:spPr>
          <a:xfrm>
            <a:off x="9315221" y="4023360"/>
            <a:ext cx="2327834" cy="50292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4.4%</a:t>
            </a:r>
            <a:endParaRPr lang="en-US" sz="2200" dirty="0"/>
          </a:p>
        </p:txBody>
      </p:sp>
      <p:sp>
        <p:nvSpPr>
          <p:cNvPr id="26" name="Text 23"/>
          <p:cNvSpPr txBox="1"/>
          <p:nvPr/>
        </p:nvSpPr>
        <p:spPr>
          <a:xfrm>
            <a:off x="9315221" y="452628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average monthly growth</a:t>
            </a:r>
            <a:endParaRPr lang="en-US" sz="1050" dirty="0"/>
          </a:p>
        </p:txBody>
      </p:sp>
      <p:sp>
        <p:nvSpPr>
          <p:cNvPr id="27" name="Shape 24"/>
          <p:cNvSpPr/>
          <p:nvPr/>
        </p:nvSpPr>
        <p:spPr>
          <a:xfrm>
            <a:off x="9315221" y="4983480"/>
            <a:ext cx="2327834" cy="0"/>
          </a:xfrm>
          <a:prstGeom prst="line">
            <a:avLst/>
          </a:prstGeom>
          <a:noFill/>
          <a:ln w="9525">
            <a:solidFill>
              <a:schemeClr val="accent4"/>
            </a:solidFill>
            <a:prstDash val="solid"/>
          </a:ln>
        </p:spPr>
      </p:sp>
      <p:sp>
        <p:nvSpPr>
          <p:cNvPr id="28" name="Text 25"/>
          <p:cNvSpPr txBox="1"/>
          <p:nvPr/>
        </p:nvSpPr>
        <p:spPr>
          <a:xfrm>
            <a:off x="9315221" y="5074920"/>
            <a:ext cx="2327834" cy="50292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 months</a:t>
            </a:r>
            <a:endParaRPr lang="en-US" sz="2200" dirty="0"/>
          </a:p>
        </p:txBody>
      </p:sp>
      <p:sp>
        <p:nvSpPr>
          <p:cNvPr id="29" name="Text 26"/>
          <p:cNvSpPr txBox="1"/>
          <p:nvPr/>
        </p:nvSpPr>
        <p:spPr>
          <a:xfrm>
            <a:off x="9315221" y="557784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with negative growth</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Every quarter of 2026 outgrew the same quarter of 2025</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Revenue by quarter, $M, with year-over-year growth.</a:t>
            </a:r>
            <a:endParaRPr lang="en-US" sz="1150" dirty="0"/>
          </a:p>
        </p:txBody>
      </p:sp>
      <p:sp>
        <p:nvSpPr>
          <p:cNvPr id="6" name="Shape 4"/>
          <p:cNvSpPr/>
          <p:nvPr/>
        </p:nvSpPr>
        <p:spPr>
          <a:xfrm>
            <a:off x="548640" y="1874520"/>
            <a:ext cx="11094415" cy="2514600"/>
          </a:xfrm>
          <a:prstGeom prst="roundRect">
            <a:avLst>
              <a:gd name="adj" fmla="val 3636"/>
            </a:avLst>
          </a:prstGeom>
          <a:solidFill>
            <a:schemeClr val="bg1"/>
          </a:solidFill>
          <a:ln/>
        </p:spPr>
      </p:sp>
      <p:graphicFrame>
        <p:nvGraphicFramePr>
          <p:cNvPr id="7" name="Chart 0" descr=""/>
          <p:cNvGraphicFramePr/>
          <p:nvPr/>
        </p:nvGraphicFramePr>
        <p:xfrm>
          <a:off x="731520" y="1965960"/>
          <a:ext cx="10728655" cy="23317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48640" y="4617720"/>
            <a:ext cx="2602154" cy="1417320"/>
          </a:xfrm>
          <a:prstGeom prst="roundRect">
            <a:avLst>
              <a:gd name="adj" fmla="val 6452"/>
            </a:avLst>
          </a:prstGeom>
          <a:solidFill>
            <a:schemeClr val="bg1"/>
          </a:solidFill>
          <a:ln/>
        </p:spPr>
      </p:sp>
      <p:sp>
        <p:nvSpPr>
          <p:cNvPr id="9" name="Text 6"/>
          <p:cNvSpPr txBox="1"/>
          <p:nvPr/>
        </p:nvSpPr>
        <p:spPr>
          <a:xfrm>
            <a:off x="777240" y="4800600"/>
            <a:ext cx="9144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Q1</a:t>
            </a:r>
            <a:endParaRPr lang="en-US" sz="1300" dirty="0"/>
          </a:p>
        </p:txBody>
      </p:sp>
      <p:sp>
        <p:nvSpPr>
          <p:cNvPr id="10" name="Text 7"/>
          <p:cNvSpPr txBox="1"/>
          <p:nvPr/>
        </p:nvSpPr>
        <p:spPr>
          <a:xfrm>
            <a:off x="1824914" y="4782312"/>
            <a:ext cx="1097280" cy="320040"/>
          </a:xfrm>
          <a:prstGeom prst="rect">
            <a:avLst/>
          </a:prstGeom>
          <a:noFill/>
          <a:ln/>
        </p:spPr>
        <p:txBody>
          <a:bodyPr wrap="square" lIns="0" tIns="0" rIns="0" bIns="0" rtlCol="0" anchor="t"/>
          <a:lstStyle/>
          <a:p>
            <a:pPr algn="r" indent="0" marL="0">
              <a:buNone/>
            </a:pPr>
            <a:r>
              <a:rPr lang="en-US" sz="1600" dirty="0">
                <a:solidFill>
                  <a:schemeClr val="accent6"/>
                </a:solidFill>
                <a:latin typeface="Manrope ExtraBold" pitchFamily="34" charset="0"/>
                <a:ea typeface="Manrope ExtraBold" pitchFamily="34" charset="-122"/>
                <a:cs typeface="Manrope ExtraBold" pitchFamily="34" charset="-120"/>
              </a:rPr>
              <a:t>+57%</a:t>
            </a:r>
            <a:endParaRPr lang="en-US" sz="1600" dirty="0"/>
          </a:p>
        </p:txBody>
      </p:sp>
      <p:sp>
        <p:nvSpPr>
          <p:cNvPr id="11" name="Text 8"/>
          <p:cNvSpPr txBox="1"/>
          <p:nvPr/>
        </p:nvSpPr>
        <p:spPr>
          <a:xfrm>
            <a:off x="777240"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Strongest new-logo quarter on record.</a:t>
            </a:r>
            <a:endParaRPr lang="en-US" sz="1050" dirty="0"/>
          </a:p>
        </p:txBody>
      </p:sp>
      <p:sp>
        <p:nvSpPr>
          <p:cNvPr id="12" name="Shape 9"/>
          <p:cNvSpPr/>
          <p:nvPr/>
        </p:nvSpPr>
        <p:spPr>
          <a:xfrm>
            <a:off x="3379394" y="4617720"/>
            <a:ext cx="2602154" cy="1417320"/>
          </a:xfrm>
          <a:prstGeom prst="roundRect">
            <a:avLst>
              <a:gd name="adj" fmla="val 6452"/>
            </a:avLst>
          </a:prstGeom>
          <a:solidFill>
            <a:schemeClr val="bg1"/>
          </a:solidFill>
          <a:ln/>
        </p:spPr>
      </p:sp>
      <p:sp>
        <p:nvSpPr>
          <p:cNvPr id="13" name="Text 10"/>
          <p:cNvSpPr txBox="1"/>
          <p:nvPr/>
        </p:nvSpPr>
        <p:spPr>
          <a:xfrm>
            <a:off x="3607994" y="4800600"/>
            <a:ext cx="9144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Q2</a:t>
            </a:r>
            <a:endParaRPr lang="en-US" sz="1300" dirty="0"/>
          </a:p>
        </p:txBody>
      </p:sp>
      <p:sp>
        <p:nvSpPr>
          <p:cNvPr id="14" name="Text 11"/>
          <p:cNvSpPr txBox="1"/>
          <p:nvPr/>
        </p:nvSpPr>
        <p:spPr>
          <a:xfrm>
            <a:off x="4655668" y="4782312"/>
            <a:ext cx="1097280" cy="320040"/>
          </a:xfrm>
          <a:prstGeom prst="rect">
            <a:avLst/>
          </a:prstGeom>
          <a:noFill/>
          <a:ln/>
        </p:spPr>
        <p:txBody>
          <a:bodyPr wrap="square" lIns="0" tIns="0" rIns="0" bIns="0" rtlCol="0" anchor="t"/>
          <a:lstStyle/>
          <a:p>
            <a:pPr algn="r" indent="0" marL="0">
              <a:buNone/>
            </a:pPr>
            <a:r>
              <a:rPr lang="en-US" sz="1600" dirty="0">
                <a:solidFill>
                  <a:schemeClr val="accent6"/>
                </a:solidFill>
                <a:latin typeface="Manrope ExtraBold" pitchFamily="34" charset="0"/>
                <a:ea typeface="Manrope ExtraBold" pitchFamily="34" charset="-122"/>
                <a:cs typeface="Manrope ExtraBold" pitchFamily="34" charset="-120"/>
              </a:rPr>
              <a:t>+63%</a:t>
            </a:r>
            <a:endParaRPr lang="en-US" sz="1600" dirty="0"/>
          </a:p>
        </p:txBody>
      </p:sp>
      <p:sp>
        <p:nvSpPr>
          <p:cNvPr id="15" name="Text 12"/>
          <p:cNvSpPr txBox="1"/>
          <p:nvPr/>
        </p:nvSpPr>
        <p:spPr>
          <a:xfrm>
            <a:off x="3607994"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Partner programme contributes first $1M.</a:t>
            </a:r>
            <a:endParaRPr lang="en-US" sz="1050" dirty="0"/>
          </a:p>
        </p:txBody>
      </p:sp>
      <p:sp>
        <p:nvSpPr>
          <p:cNvPr id="16" name="Shape 13"/>
          <p:cNvSpPr/>
          <p:nvPr/>
        </p:nvSpPr>
        <p:spPr>
          <a:xfrm>
            <a:off x="6210148" y="4617720"/>
            <a:ext cx="2602154" cy="1417320"/>
          </a:xfrm>
          <a:prstGeom prst="roundRect">
            <a:avLst>
              <a:gd name="adj" fmla="val 6452"/>
            </a:avLst>
          </a:prstGeom>
          <a:solidFill>
            <a:schemeClr val="tx1"/>
          </a:solidFill>
          <a:ln/>
        </p:spPr>
      </p:sp>
      <p:sp>
        <p:nvSpPr>
          <p:cNvPr id="17" name="Text 14"/>
          <p:cNvSpPr txBox="1"/>
          <p:nvPr/>
        </p:nvSpPr>
        <p:spPr>
          <a:xfrm>
            <a:off x="6438748" y="4800600"/>
            <a:ext cx="914400" cy="274320"/>
          </a:xfrm>
          <a:prstGeom prst="rect">
            <a:avLst/>
          </a:prstGeom>
          <a:noFill/>
          <a:ln/>
        </p:spPr>
        <p:txBody>
          <a:bodyPr wrap="square" lIns="0" tIns="0" rIns="0" bIns="0" rtlCol="0" anchor="t"/>
          <a:lstStyle/>
          <a:p>
            <a:pPr algn="l" indent="0" marL="0">
              <a:buNone/>
            </a:pPr>
            <a:r>
              <a:rPr lang="en-US" sz="1300" b="1" dirty="0">
                <a:solidFill>
                  <a:schemeClr val="bg1"/>
                </a:solidFill>
                <a:latin typeface="Manrope" pitchFamily="34" charset="0"/>
                <a:ea typeface="Manrope" pitchFamily="34" charset="-122"/>
                <a:cs typeface="Manrope" pitchFamily="34" charset="-120"/>
              </a:rPr>
              <a:t>Q3</a:t>
            </a:r>
            <a:endParaRPr lang="en-US" sz="1300" dirty="0"/>
          </a:p>
        </p:txBody>
      </p:sp>
      <p:sp>
        <p:nvSpPr>
          <p:cNvPr id="18" name="Text 15"/>
          <p:cNvSpPr txBox="1"/>
          <p:nvPr/>
        </p:nvSpPr>
        <p:spPr>
          <a:xfrm>
            <a:off x="7486421" y="4782312"/>
            <a:ext cx="1097280" cy="320040"/>
          </a:xfrm>
          <a:prstGeom prst="rect">
            <a:avLst/>
          </a:prstGeom>
          <a:noFill/>
          <a:ln/>
        </p:spPr>
        <p:txBody>
          <a:bodyPr wrap="square" lIns="0" tIns="0" rIns="0" bIns="0" rtlCol="0" anchor="t"/>
          <a:lstStyle/>
          <a:p>
            <a:pPr algn="r" indent="0" marL="0">
              <a:buNone/>
            </a:pPr>
            <a:r>
              <a:rPr lang="en-US" sz="1600" dirty="0">
                <a:solidFill>
                  <a:schemeClr val="accent1"/>
                </a:solidFill>
                <a:latin typeface="Manrope ExtraBold" pitchFamily="34" charset="0"/>
                <a:ea typeface="Manrope ExtraBold" pitchFamily="34" charset="-122"/>
                <a:cs typeface="Manrope ExtraBold" pitchFamily="34" charset="-120"/>
              </a:rPr>
              <a:t>+74%</a:t>
            </a:r>
            <a:endParaRPr lang="en-US" sz="1600" dirty="0"/>
          </a:p>
        </p:txBody>
      </p:sp>
      <p:sp>
        <p:nvSpPr>
          <p:cNvPr id="19" name="Text 16"/>
          <p:cNvSpPr txBox="1"/>
          <p:nvPr/>
        </p:nvSpPr>
        <p:spPr>
          <a:xfrm>
            <a:off x="6438748"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4"/>
                </a:solidFill>
                <a:latin typeface="Inter" pitchFamily="34" charset="0"/>
                <a:ea typeface="Inter" pitchFamily="34" charset="-122"/>
                <a:cs typeface="Inter" pitchFamily="34" charset="-120"/>
              </a:rPr>
              <a:t>US revenue passes $10M run-rate.</a:t>
            </a:r>
            <a:endParaRPr lang="en-US" sz="1050" dirty="0"/>
          </a:p>
        </p:txBody>
      </p:sp>
      <p:sp>
        <p:nvSpPr>
          <p:cNvPr id="20" name="Shape 17"/>
          <p:cNvSpPr/>
          <p:nvPr/>
        </p:nvSpPr>
        <p:spPr>
          <a:xfrm>
            <a:off x="9040901" y="4617720"/>
            <a:ext cx="2602154" cy="1417320"/>
          </a:xfrm>
          <a:prstGeom prst="roundRect">
            <a:avLst>
              <a:gd name="adj" fmla="val 6452"/>
            </a:avLst>
          </a:prstGeom>
          <a:solidFill>
            <a:schemeClr val="bg1"/>
          </a:solidFill>
          <a:ln/>
        </p:spPr>
      </p:sp>
      <p:sp>
        <p:nvSpPr>
          <p:cNvPr id="21" name="Text 18"/>
          <p:cNvSpPr txBox="1"/>
          <p:nvPr/>
        </p:nvSpPr>
        <p:spPr>
          <a:xfrm>
            <a:off x="9269501" y="4800600"/>
            <a:ext cx="9144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Q4F</a:t>
            </a:r>
            <a:endParaRPr lang="en-US" sz="1300" dirty="0"/>
          </a:p>
        </p:txBody>
      </p:sp>
      <p:sp>
        <p:nvSpPr>
          <p:cNvPr id="22" name="Text 19"/>
          <p:cNvSpPr txBox="1"/>
          <p:nvPr/>
        </p:nvSpPr>
        <p:spPr>
          <a:xfrm>
            <a:off x="10317175" y="4782312"/>
            <a:ext cx="1097280" cy="320040"/>
          </a:xfrm>
          <a:prstGeom prst="rect">
            <a:avLst/>
          </a:prstGeom>
          <a:noFill/>
          <a:ln/>
        </p:spPr>
        <p:txBody>
          <a:bodyPr wrap="square" lIns="0" tIns="0" rIns="0" bIns="0" rtlCol="0" anchor="t"/>
          <a:lstStyle/>
          <a:p>
            <a:pPr algn="r" indent="0" marL="0">
              <a:buNone/>
            </a:pPr>
            <a:r>
              <a:rPr lang="en-US" sz="1600" dirty="0">
                <a:solidFill>
                  <a:schemeClr val="accent6"/>
                </a:solidFill>
                <a:latin typeface="Manrope ExtraBold" pitchFamily="34" charset="0"/>
                <a:ea typeface="Manrope ExtraBold" pitchFamily="34" charset="-122"/>
                <a:cs typeface="Manrope ExtraBold" pitchFamily="34" charset="-120"/>
              </a:rPr>
              <a:t>+73%</a:t>
            </a:r>
            <a:endParaRPr lang="en-US" sz="1600" dirty="0"/>
          </a:p>
        </p:txBody>
      </p:sp>
      <p:sp>
        <p:nvSpPr>
          <p:cNvPr id="23" name="Text 20"/>
          <p:cNvSpPr txBox="1"/>
          <p:nvPr/>
        </p:nvSpPr>
        <p:spPr>
          <a:xfrm>
            <a:off x="9269501"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Forecast includes $2.2M in commit.</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Three years of compounding growth</a:t>
            </a:r>
            <a:endParaRPr lang="en-US" sz="2800" dirty="0"/>
          </a:p>
        </p:txBody>
      </p:sp>
      <p:sp>
        <p:nvSpPr>
          <p:cNvPr id="5" name="Text 3"/>
          <p:cNvSpPr txBox="1"/>
          <p:nvPr/>
        </p:nvSpPr>
        <p:spPr>
          <a:xfrm>
            <a:off x="3749040" y="1920240"/>
            <a:ext cx="2174138" cy="411480"/>
          </a:xfrm>
          <a:prstGeom prst="rect">
            <a:avLst/>
          </a:prstGeom>
          <a:noFill/>
          <a:ln/>
        </p:spPr>
        <p:txBody>
          <a:bodyPr wrap="square" lIns="0" tIns="0" rIns="0" bIns="0" rtlCol="0" anchor="t"/>
          <a:lstStyle/>
          <a:p>
            <a:pPr algn="l" indent="0" marL="0">
              <a:buNone/>
            </a:pPr>
            <a:r>
              <a:rPr lang="en-US" sz="1600" b="1" dirty="0">
                <a:solidFill>
                  <a:schemeClr val="accent4"/>
                </a:solidFill>
                <a:latin typeface="Manrope" pitchFamily="34" charset="0"/>
                <a:ea typeface="Manrope" pitchFamily="34" charset="-122"/>
                <a:cs typeface="Manrope" pitchFamily="34" charset="-120"/>
              </a:rPr>
              <a:t>2024</a:t>
            </a:r>
            <a:endParaRPr lang="en-US" sz="1600" dirty="0"/>
          </a:p>
        </p:txBody>
      </p:sp>
      <p:sp>
        <p:nvSpPr>
          <p:cNvPr id="6" name="Text 4"/>
          <p:cNvSpPr txBox="1"/>
          <p:nvPr/>
        </p:nvSpPr>
        <p:spPr>
          <a:xfrm>
            <a:off x="6471818" y="1920240"/>
            <a:ext cx="2174138" cy="411480"/>
          </a:xfrm>
          <a:prstGeom prst="rect">
            <a:avLst/>
          </a:prstGeom>
          <a:noFill/>
          <a:ln/>
        </p:spPr>
        <p:txBody>
          <a:bodyPr wrap="square" lIns="0" tIns="0" rIns="0" bIns="0" rtlCol="0" anchor="t"/>
          <a:lstStyle/>
          <a:p>
            <a:pPr algn="l" indent="0" marL="0">
              <a:buNone/>
            </a:pPr>
            <a:r>
              <a:rPr lang="en-US" sz="1600" b="1" dirty="0">
                <a:solidFill>
                  <a:schemeClr val="accent4"/>
                </a:solidFill>
                <a:latin typeface="Manrope" pitchFamily="34" charset="0"/>
                <a:ea typeface="Manrope" pitchFamily="34" charset="-122"/>
                <a:cs typeface="Manrope" pitchFamily="34" charset="-120"/>
              </a:rPr>
              <a:t>2025</a:t>
            </a:r>
            <a:endParaRPr lang="en-US" sz="1600" dirty="0"/>
          </a:p>
        </p:txBody>
      </p:sp>
      <p:sp>
        <p:nvSpPr>
          <p:cNvPr id="7" name="Shape 5"/>
          <p:cNvSpPr/>
          <p:nvPr/>
        </p:nvSpPr>
        <p:spPr>
          <a:xfrm>
            <a:off x="8920277" y="1828800"/>
            <a:ext cx="2722778" cy="4206240"/>
          </a:xfrm>
          <a:prstGeom prst="roundRect">
            <a:avLst>
              <a:gd name="adj" fmla="val 3358"/>
            </a:avLst>
          </a:prstGeom>
          <a:solidFill>
            <a:schemeClr val="accent5"/>
          </a:solidFill>
          <a:ln/>
        </p:spPr>
      </p:sp>
      <p:sp>
        <p:nvSpPr>
          <p:cNvPr id="8" name="Text 6"/>
          <p:cNvSpPr txBox="1"/>
          <p:nvPr/>
        </p:nvSpPr>
        <p:spPr>
          <a:xfrm>
            <a:off x="9194597" y="1920240"/>
            <a:ext cx="2174138" cy="411480"/>
          </a:xfrm>
          <a:prstGeom prst="rect">
            <a:avLst/>
          </a:prstGeom>
          <a:noFill/>
          <a:ln/>
        </p:spPr>
        <p:txBody>
          <a:bodyPr wrap="square" lIns="0" tIns="0" rIns="0" bIns="0" rtlCol="0" anchor="t"/>
          <a:lstStyle/>
          <a:p>
            <a:pPr algn="l" indent="0" marL="0">
              <a:buNone/>
            </a:pPr>
            <a:r>
              <a:rPr lang="en-US" sz="1600" b="1" dirty="0">
                <a:solidFill>
                  <a:schemeClr val="accent1"/>
                </a:solidFill>
                <a:latin typeface="Manrope" pitchFamily="34" charset="0"/>
                <a:ea typeface="Manrope" pitchFamily="34" charset="-122"/>
                <a:cs typeface="Manrope" pitchFamily="34" charset="-120"/>
              </a:rPr>
              <a:t>2026</a:t>
            </a:r>
            <a:endParaRPr lang="en-US" sz="1600" dirty="0"/>
          </a:p>
        </p:txBody>
      </p:sp>
      <p:sp>
        <p:nvSpPr>
          <p:cNvPr id="9" name="Shape 7"/>
          <p:cNvSpPr/>
          <p:nvPr/>
        </p:nvSpPr>
        <p:spPr>
          <a:xfrm>
            <a:off x="548640" y="2560320"/>
            <a:ext cx="8371637" cy="0"/>
          </a:xfrm>
          <a:prstGeom prst="line">
            <a:avLst/>
          </a:prstGeom>
          <a:noFill/>
          <a:ln w="12700">
            <a:solidFill>
              <a:schemeClr val="accent5"/>
            </a:solidFill>
            <a:prstDash val="solid"/>
          </a:ln>
        </p:spPr>
      </p:sp>
      <p:sp>
        <p:nvSpPr>
          <p:cNvPr id="10" name="Text 8"/>
          <p:cNvSpPr txBox="1"/>
          <p:nvPr/>
        </p:nvSpPr>
        <p:spPr>
          <a:xfrm>
            <a:off x="548640" y="256032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ARR</a:t>
            </a:r>
            <a:endParaRPr lang="en-US" sz="1200" dirty="0"/>
          </a:p>
        </p:txBody>
      </p:sp>
      <p:sp>
        <p:nvSpPr>
          <p:cNvPr id="11" name="Text 9"/>
          <p:cNvSpPr txBox="1"/>
          <p:nvPr/>
        </p:nvSpPr>
        <p:spPr>
          <a:xfrm>
            <a:off x="3749040" y="256032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$18.4M</a:t>
            </a:r>
            <a:endParaRPr lang="en-US" sz="2400" dirty="0"/>
          </a:p>
        </p:txBody>
      </p:sp>
      <p:sp>
        <p:nvSpPr>
          <p:cNvPr id="12" name="Text 10"/>
          <p:cNvSpPr txBox="1"/>
          <p:nvPr/>
        </p:nvSpPr>
        <p:spPr>
          <a:xfrm>
            <a:off x="6471818" y="256032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$30.0M</a:t>
            </a:r>
            <a:endParaRPr lang="en-US" sz="2400" dirty="0"/>
          </a:p>
        </p:txBody>
      </p:sp>
      <p:sp>
        <p:nvSpPr>
          <p:cNvPr id="13" name="Text 11"/>
          <p:cNvSpPr txBox="1"/>
          <p:nvPr/>
        </p:nvSpPr>
        <p:spPr>
          <a:xfrm>
            <a:off x="9194597" y="256032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$48.6M</a:t>
            </a:r>
            <a:endParaRPr lang="en-US" sz="3000" dirty="0"/>
          </a:p>
        </p:txBody>
      </p:sp>
      <p:sp>
        <p:nvSpPr>
          <p:cNvPr id="14" name="Shape 12"/>
          <p:cNvSpPr/>
          <p:nvPr/>
        </p:nvSpPr>
        <p:spPr>
          <a:xfrm>
            <a:off x="548640" y="3429000"/>
            <a:ext cx="8371637" cy="0"/>
          </a:xfrm>
          <a:prstGeom prst="line">
            <a:avLst/>
          </a:prstGeom>
          <a:noFill/>
          <a:ln w="12700">
            <a:solidFill>
              <a:schemeClr val="accent5"/>
            </a:solidFill>
            <a:prstDash val="solid"/>
          </a:ln>
        </p:spPr>
      </p:sp>
      <p:sp>
        <p:nvSpPr>
          <p:cNvPr id="15" name="Text 13"/>
          <p:cNvSpPr txBox="1"/>
          <p:nvPr/>
        </p:nvSpPr>
        <p:spPr>
          <a:xfrm>
            <a:off x="548640" y="342900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Customers</a:t>
            </a:r>
            <a:endParaRPr lang="en-US" sz="1200" dirty="0"/>
          </a:p>
        </p:txBody>
      </p:sp>
      <p:sp>
        <p:nvSpPr>
          <p:cNvPr id="16" name="Text 14"/>
          <p:cNvSpPr txBox="1"/>
          <p:nvPr/>
        </p:nvSpPr>
        <p:spPr>
          <a:xfrm>
            <a:off x="3749040" y="342900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560</a:t>
            </a:r>
            <a:endParaRPr lang="en-US" sz="2400" dirty="0"/>
          </a:p>
        </p:txBody>
      </p:sp>
      <p:sp>
        <p:nvSpPr>
          <p:cNvPr id="17" name="Text 15"/>
          <p:cNvSpPr txBox="1"/>
          <p:nvPr/>
        </p:nvSpPr>
        <p:spPr>
          <a:xfrm>
            <a:off x="6471818" y="342900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930</a:t>
            </a:r>
            <a:endParaRPr lang="en-US" sz="2400" dirty="0"/>
          </a:p>
        </p:txBody>
      </p:sp>
      <p:sp>
        <p:nvSpPr>
          <p:cNvPr id="18" name="Text 16"/>
          <p:cNvSpPr txBox="1"/>
          <p:nvPr/>
        </p:nvSpPr>
        <p:spPr>
          <a:xfrm>
            <a:off x="9194597" y="342900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1,240</a:t>
            </a:r>
            <a:endParaRPr lang="en-US" sz="3000" dirty="0"/>
          </a:p>
        </p:txBody>
      </p:sp>
      <p:sp>
        <p:nvSpPr>
          <p:cNvPr id="19" name="Shape 17"/>
          <p:cNvSpPr/>
          <p:nvPr/>
        </p:nvSpPr>
        <p:spPr>
          <a:xfrm>
            <a:off x="548640" y="4297680"/>
            <a:ext cx="8371637" cy="0"/>
          </a:xfrm>
          <a:prstGeom prst="line">
            <a:avLst/>
          </a:prstGeom>
          <a:noFill/>
          <a:ln w="12700">
            <a:solidFill>
              <a:schemeClr val="accent5"/>
            </a:solidFill>
            <a:prstDash val="solid"/>
          </a:ln>
        </p:spPr>
      </p:sp>
      <p:sp>
        <p:nvSpPr>
          <p:cNvPr id="20" name="Text 18"/>
          <p:cNvSpPr txBox="1"/>
          <p:nvPr/>
        </p:nvSpPr>
        <p:spPr>
          <a:xfrm>
            <a:off x="548640" y="429768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Net revenue retention</a:t>
            </a:r>
            <a:endParaRPr lang="en-US" sz="1200" dirty="0"/>
          </a:p>
        </p:txBody>
      </p:sp>
      <p:sp>
        <p:nvSpPr>
          <p:cNvPr id="21" name="Text 19"/>
          <p:cNvSpPr txBox="1"/>
          <p:nvPr/>
        </p:nvSpPr>
        <p:spPr>
          <a:xfrm>
            <a:off x="3749040" y="429768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114%</a:t>
            </a:r>
            <a:endParaRPr lang="en-US" sz="2400" dirty="0"/>
          </a:p>
        </p:txBody>
      </p:sp>
      <p:sp>
        <p:nvSpPr>
          <p:cNvPr id="22" name="Text 20"/>
          <p:cNvSpPr txBox="1"/>
          <p:nvPr/>
        </p:nvSpPr>
        <p:spPr>
          <a:xfrm>
            <a:off x="6471818" y="429768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122%</a:t>
            </a:r>
            <a:endParaRPr lang="en-US" sz="2400" dirty="0"/>
          </a:p>
        </p:txBody>
      </p:sp>
      <p:sp>
        <p:nvSpPr>
          <p:cNvPr id="23" name="Text 21"/>
          <p:cNvSpPr txBox="1"/>
          <p:nvPr/>
        </p:nvSpPr>
        <p:spPr>
          <a:xfrm>
            <a:off x="9194597" y="429768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128%</a:t>
            </a:r>
            <a:endParaRPr lang="en-US" sz="3000" dirty="0"/>
          </a:p>
        </p:txBody>
      </p:sp>
      <p:sp>
        <p:nvSpPr>
          <p:cNvPr id="24" name="Shape 22"/>
          <p:cNvSpPr/>
          <p:nvPr/>
        </p:nvSpPr>
        <p:spPr>
          <a:xfrm>
            <a:off x="548640" y="5166360"/>
            <a:ext cx="8371637" cy="0"/>
          </a:xfrm>
          <a:prstGeom prst="line">
            <a:avLst/>
          </a:prstGeom>
          <a:noFill/>
          <a:ln w="12700">
            <a:solidFill>
              <a:schemeClr val="accent5"/>
            </a:solidFill>
            <a:prstDash val="solid"/>
          </a:ln>
        </p:spPr>
      </p:sp>
      <p:sp>
        <p:nvSpPr>
          <p:cNvPr id="25" name="Text 23"/>
          <p:cNvSpPr txBox="1"/>
          <p:nvPr/>
        </p:nvSpPr>
        <p:spPr>
          <a:xfrm>
            <a:off x="548640" y="516636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Employees</a:t>
            </a:r>
            <a:endParaRPr lang="en-US" sz="1200" dirty="0"/>
          </a:p>
        </p:txBody>
      </p:sp>
      <p:sp>
        <p:nvSpPr>
          <p:cNvPr id="26" name="Text 24"/>
          <p:cNvSpPr txBox="1"/>
          <p:nvPr/>
        </p:nvSpPr>
        <p:spPr>
          <a:xfrm>
            <a:off x="3749040" y="516636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140</a:t>
            </a:r>
            <a:endParaRPr lang="en-US" sz="2400" dirty="0"/>
          </a:p>
        </p:txBody>
      </p:sp>
      <p:sp>
        <p:nvSpPr>
          <p:cNvPr id="27" name="Text 25"/>
          <p:cNvSpPr txBox="1"/>
          <p:nvPr/>
        </p:nvSpPr>
        <p:spPr>
          <a:xfrm>
            <a:off x="6471818" y="516636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230</a:t>
            </a:r>
            <a:endParaRPr lang="en-US" sz="2400" dirty="0"/>
          </a:p>
        </p:txBody>
      </p:sp>
      <p:sp>
        <p:nvSpPr>
          <p:cNvPr id="28" name="Text 26"/>
          <p:cNvSpPr txBox="1"/>
          <p:nvPr/>
        </p:nvSpPr>
        <p:spPr>
          <a:xfrm>
            <a:off x="9194597" y="516636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320</a:t>
            </a:r>
            <a:endParaRPr lang="en-US" sz="3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Scorecard: 7 of 9 KPIs on or above target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Status: ● on track  ◐ watch  ○ off track.</a:t>
            </a:r>
            <a:endParaRPr lang="en-US" sz="11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108960"/>
                <a:gridCol w="1097280"/>
                <a:gridCol w="1417320"/>
                <a:gridCol w="1417320"/>
                <a:gridCol w="1463040"/>
                <a:gridCol w="1188720"/>
                <a:gridCol w="1401775"/>
              </a:tblGrid>
              <a:tr h="402336">
                <a:tc>
                  <a:txBody>
                    <a:bodyPr/>
                    <a:lstStyle/>
                    <a:p>
                      <a:pPr algn="l" indent="0" marL="0">
                        <a:buNone/>
                      </a:pPr>
                      <a:r>
                        <a:rPr lang="en-US" sz="900" spc="100" kern="0" dirty="0">
                          <a:solidFill>
                            <a:schemeClr val="bg1"/>
                          </a:solidFill>
                          <a:latin typeface="Inter Medium" pitchFamily="34" charset="0"/>
                          <a:ea typeface="Inter Medium" pitchFamily="34" charset="-122"/>
                          <a:cs typeface="Inter Medium" pitchFamily="34" charset="-120"/>
                        </a:rPr>
                        <a:t>METRIC</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900" spc="100" kern="0" dirty="0">
                          <a:solidFill>
                            <a:schemeClr val="bg1"/>
                          </a:solidFill>
                          <a:latin typeface="Inter Medium" pitchFamily="34" charset="0"/>
                          <a:ea typeface="Inter Medium" pitchFamily="34" charset="-122"/>
                          <a:cs typeface="Inter Medium" pitchFamily="34" charset="-120"/>
                        </a:rPr>
                        <a:t>OWNER</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900" spc="100" kern="0" dirty="0">
                          <a:solidFill>
                            <a:schemeClr val="bg1"/>
                          </a:solidFill>
                          <a:latin typeface="Inter Medium" pitchFamily="34" charset="0"/>
                          <a:ea typeface="Inter Medium" pitchFamily="34" charset="-122"/>
                          <a:cs typeface="Inter Medium" pitchFamily="34" charset="-120"/>
                        </a:rPr>
                        <a:t>Q3 ACTUAL</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900" spc="100" kern="0" dirty="0">
                          <a:solidFill>
                            <a:schemeClr val="bg1"/>
                          </a:solidFill>
                          <a:latin typeface="Inter Medium" pitchFamily="34" charset="0"/>
                          <a:ea typeface="Inter Medium" pitchFamily="34" charset="-122"/>
                          <a:cs typeface="Inter Medium" pitchFamily="34" charset="-120"/>
                        </a:rPr>
                        <a:t>Q3 TARGET</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900" spc="100" kern="0" dirty="0">
                          <a:solidFill>
                            <a:schemeClr val="bg1"/>
                          </a:solidFill>
                          <a:latin typeface="Inter Medium" pitchFamily="34" charset="0"/>
                          <a:ea typeface="Inter Medium" pitchFamily="34" charset="-122"/>
                          <a:cs typeface="Inter Medium" pitchFamily="34" charset="-120"/>
                        </a:rPr>
                        <a:t>VS TARGET</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900" spc="100" kern="0" dirty="0">
                          <a:solidFill>
                            <a:schemeClr val="bg1"/>
                          </a:solidFill>
                          <a:latin typeface="Inter Medium" pitchFamily="34" charset="0"/>
                          <a:ea typeface="Inter Medium" pitchFamily="34" charset="-122"/>
                          <a:cs typeface="Inter Medium" pitchFamily="34" charset="-120"/>
                        </a:rPr>
                        <a:t>TREND</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900" spc="100" kern="0" dirty="0">
                          <a:solidFill>
                            <a:schemeClr val="bg1"/>
                          </a:solidFill>
                          <a:latin typeface="Inter Medium" pitchFamily="34" charset="0"/>
                          <a:ea typeface="Inter Medium" pitchFamily="34" charset="-122"/>
                          <a:cs typeface="Inter Medium" pitchFamily="34" charset="-120"/>
                        </a:rPr>
                        <a:t>STATUS</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New ARR</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CRO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$6.1M</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$5.4M</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+13%</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Net revenue retention</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CCO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128%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125%</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+3 pts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Gross churn</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CCO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5.8%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6.0%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−0.2 pts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Win rate</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CRO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28%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27%</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+1 pt</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Sales cycle (days)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CRO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52</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55</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−3 days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Pipeline coverage</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CMO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3.2×</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3.0×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+0.2×</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CAC payback (months)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CFO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11</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10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Medium" pitchFamily="34" charset="0"/>
                          <a:ea typeface="Inter Medium" pitchFamily="34" charset="-122"/>
                          <a:cs typeface="Inter Medium" pitchFamily="34" charset="-120"/>
                        </a:rPr>
                        <a:t>+1 mo</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3"/>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Gross margin</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CFO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78%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80%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Medium" pitchFamily="34" charset="0"/>
                          <a:ea typeface="Inter Medium" pitchFamily="34" charset="-122"/>
                          <a:cs typeface="Inter Medium" pitchFamily="34" charset="-120"/>
                        </a:rPr>
                        <a:t>−2 pts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3"/>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Employee NPS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CPO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31</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40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Medium" pitchFamily="34" charset="0"/>
                          <a:ea typeface="Inter Medium" pitchFamily="34" charset="-122"/>
                          <a:cs typeface="Inter Medium" pitchFamily="34" charset="-120"/>
                        </a:rPr>
                        <a:t>−9</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3"/>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Revenue has grown 5.4× in five years</a:t>
            </a:r>
            <a:endParaRPr lang="en-US" sz="2800" dirty="0"/>
          </a:p>
        </p:txBody>
      </p:sp>
      <p:sp>
        <p:nvSpPr>
          <p:cNvPr id="5" name="Text 3"/>
          <p:cNvSpPr txBox="1"/>
          <p:nvPr/>
        </p:nvSpPr>
        <p:spPr>
          <a:xfrm>
            <a:off x="548640" y="1920240"/>
            <a:ext cx="2602154"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FY2026 REVENUE (FORECAST)</a:t>
            </a:r>
            <a:endParaRPr lang="en-US" sz="900" dirty="0"/>
          </a:p>
        </p:txBody>
      </p:sp>
      <p:sp>
        <p:nvSpPr>
          <p:cNvPr id="6" name="Text 4"/>
          <p:cNvSpPr txBox="1"/>
          <p:nvPr/>
        </p:nvSpPr>
        <p:spPr>
          <a:xfrm>
            <a:off x="548640" y="2194560"/>
            <a:ext cx="2876474" cy="822960"/>
          </a:xfrm>
          <a:prstGeom prst="rect">
            <a:avLst/>
          </a:prstGeom>
          <a:noFill/>
          <a:ln/>
        </p:spPr>
        <p:txBody>
          <a:bodyPr wrap="square" lIns="0" tIns="0" rIns="0" bIns="0" rtlCol="0" anchor="t"/>
          <a:lstStyle/>
          <a:p>
            <a:pPr algn="l" indent="0" marL="0">
              <a:buNone/>
            </a:pPr>
            <a:r>
              <a:rPr lang="en-US" sz="4400" dirty="0">
                <a:solidFill>
                  <a:schemeClr val="tx1"/>
                </a:solidFill>
                <a:latin typeface="Manrope ExtraBold" pitchFamily="34" charset="0"/>
                <a:ea typeface="Manrope ExtraBold" pitchFamily="34" charset="-122"/>
                <a:cs typeface="Manrope ExtraBold" pitchFamily="34" charset="-120"/>
              </a:rPr>
              <a:t>$43.8M</a:t>
            </a:r>
            <a:endParaRPr lang="en-US" sz="4400" dirty="0"/>
          </a:p>
        </p:txBody>
      </p:sp>
      <p:sp>
        <p:nvSpPr>
          <p:cNvPr id="7" name="Shape 5"/>
          <p:cNvSpPr/>
          <p:nvPr/>
        </p:nvSpPr>
        <p:spPr>
          <a:xfrm>
            <a:off x="548640" y="3063240"/>
            <a:ext cx="1143000" cy="274320"/>
          </a:xfrm>
          <a:prstGeom prst="roundRect">
            <a:avLst>
              <a:gd name="adj" fmla="val 50000"/>
            </a:avLst>
          </a:prstGeom>
          <a:solidFill>
            <a:schemeClr val="accent1"/>
          </a:solidFill>
          <a:ln/>
        </p:spPr>
      </p:sp>
      <p:sp>
        <p:nvSpPr>
          <p:cNvPr id="8" name="Text 6"/>
          <p:cNvSpPr txBox="1"/>
          <p:nvPr/>
        </p:nvSpPr>
        <p:spPr>
          <a:xfrm>
            <a:off x="548640" y="3063240"/>
            <a:ext cx="11430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 59% YoY</a:t>
            </a:r>
            <a:endParaRPr lang="en-US" sz="900" dirty="0"/>
          </a:p>
        </p:txBody>
      </p:sp>
      <p:sp>
        <p:nvSpPr>
          <p:cNvPr id="9" name="Shape 7"/>
          <p:cNvSpPr/>
          <p:nvPr/>
        </p:nvSpPr>
        <p:spPr>
          <a:xfrm>
            <a:off x="548640" y="3657600"/>
            <a:ext cx="2602154" cy="0"/>
          </a:xfrm>
          <a:prstGeom prst="line">
            <a:avLst/>
          </a:prstGeom>
          <a:noFill/>
          <a:ln w="9525">
            <a:solidFill>
              <a:schemeClr val="accent4"/>
            </a:solidFill>
            <a:prstDash val="solid"/>
          </a:ln>
        </p:spPr>
      </p:sp>
      <p:sp>
        <p:nvSpPr>
          <p:cNvPr id="10" name="Text 8"/>
          <p:cNvSpPr txBox="1"/>
          <p:nvPr/>
        </p:nvSpPr>
        <p:spPr>
          <a:xfrm>
            <a:off x="548640" y="3840480"/>
            <a:ext cx="26021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5-year CAGR</a:t>
            </a:r>
            <a:endParaRPr lang="en-US" sz="1000" dirty="0"/>
          </a:p>
        </p:txBody>
      </p:sp>
      <p:sp>
        <p:nvSpPr>
          <p:cNvPr id="11" name="Text 9"/>
          <p:cNvSpPr txBox="1"/>
          <p:nvPr/>
        </p:nvSpPr>
        <p:spPr>
          <a:xfrm>
            <a:off x="548640" y="4069080"/>
            <a:ext cx="2602154"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40%</a:t>
            </a:r>
            <a:endParaRPr lang="en-US" sz="1700" dirty="0"/>
          </a:p>
        </p:txBody>
      </p:sp>
      <p:sp>
        <p:nvSpPr>
          <p:cNvPr id="12" name="Text 10"/>
          <p:cNvSpPr txBox="1"/>
          <p:nvPr/>
        </p:nvSpPr>
        <p:spPr>
          <a:xfrm>
            <a:off x="548640" y="4526280"/>
            <a:ext cx="26021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Recurring share</a:t>
            </a:r>
            <a:endParaRPr lang="en-US" sz="1000" dirty="0"/>
          </a:p>
        </p:txBody>
      </p:sp>
      <p:sp>
        <p:nvSpPr>
          <p:cNvPr id="13" name="Text 11"/>
          <p:cNvSpPr txBox="1"/>
          <p:nvPr/>
        </p:nvSpPr>
        <p:spPr>
          <a:xfrm>
            <a:off x="548640" y="4754880"/>
            <a:ext cx="2602154"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88%</a:t>
            </a:r>
            <a:endParaRPr lang="en-US" sz="1700" dirty="0"/>
          </a:p>
        </p:txBody>
      </p:sp>
      <p:sp>
        <p:nvSpPr>
          <p:cNvPr id="14" name="Text 12"/>
          <p:cNvSpPr txBox="1"/>
          <p:nvPr/>
        </p:nvSpPr>
        <p:spPr>
          <a:xfrm>
            <a:off x="548640" y="5212080"/>
            <a:ext cx="26021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Largest customer</a:t>
            </a:r>
            <a:endParaRPr lang="en-US" sz="1000" dirty="0"/>
          </a:p>
        </p:txBody>
      </p:sp>
      <p:sp>
        <p:nvSpPr>
          <p:cNvPr id="15" name="Text 13"/>
          <p:cNvSpPr txBox="1"/>
          <p:nvPr/>
        </p:nvSpPr>
        <p:spPr>
          <a:xfrm>
            <a:off x="548640" y="5440680"/>
            <a:ext cx="2602154"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2.1%</a:t>
            </a:r>
            <a:endParaRPr lang="en-US" sz="1700" dirty="0"/>
          </a:p>
        </p:txBody>
      </p:sp>
      <p:sp>
        <p:nvSpPr>
          <p:cNvPr id="16" name="Shape 14"/>
          <p:cNvSpPr/>
          <p:nvPr/>
        </p:nvSpPr>
        <p:spPr>
          <a:xfrm>
            <a:off x="3470834" y="1874520"/>
            <a:ext cx="8172221" cy="4160520"/>
          </a:xfrm>
          <a:prstGeom prst="roundRect">
            <a:avLst>
              <a:gd name="adj" fmla="val 2198"/>
            </a:avLst>
          </a:prstGeom>
          <a:solidFill>
            <a:schemeClr val="bg2"/>
          </a:solidFill>
          <a:ln/>
        </p:spPr>
      </p:sp>
      <p:sp>
        <p:nvSpPr>
          <p:cNvPr id="17" name="Text 15"/>
          <p:cNvSpPr txBox="1"/>
          <p:nvPr/>
        </p:nvSpPr>
        <p:spPr>
          <a:xfrm>
            <a:off x="3745154" y="2057400"/>
            <a:ext cx="36576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Annual revenue, $M</a:t>
            </a:r>
            <a:endParaRPr lang="en-US" sz="1300" dirty="0"/>
          </a:p>
        </p:txBody>
      </p:sp>
      <p:graphicFrame>
        <p:nvGraphicFramePr>
          <p:cNvPr id="18" name="Chart 0" descr=""/>
          <p:cNvGraphicFramePr/>
          <p:nvPr/>
        </p:nvGraphicFramePr>
        <p:xfrm>
          <a:off x="3607994" y="2423160"/>
          <a:ext cx="7897901"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Operating expenses: R&amp;D is our largest investment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FY2026 operating expenses, $M, and share of revenue.</a:t>
            </a:r>
            <a:endParaRPr lang="en-US" sz="1150" dirty="0"/>
          </a:p>
        </p:txBody>
      </p:sp>
      <p:sp>
        <p:nvSpPr>
          <p:cNvPr id="6" name="Shape 4"/>
          <p:cNvSpPr/>
          <p:nvPr/>
        </p:nvSpPr>
        <p:spPr>
          <a:xfrm>
            <a:off x="548640" y="1874520"/>
            <a:ext cx="7320077" cy="4160520"/>
          </a:xfrm>
          <a:prstGeom prst="roundRect">
            <a:avLst>
              <a:gd name="adj" fmla="val 2198"/>
            </a:avLst>
          </a:prstGeom>
          <a:solidFill>
            <a:schemeClr val="bg1"/>
          </a:solidFill>
          <a:ln/>
        </p:spPr>
      </p:sp>
      <p:graphicFrame>
        <p:nvGraphicFramePr>
          <p:cNvPr id="7" name="Chart 0" descr=""/>
          <p:cNvGraphicFramePr/>
          <p:nvPr/>
        </p:nvGraphicFramePr>
        <p:xfrm>
          <a:off x="731520" y="2011680"/>
          <a:ext cx="6954317" cy="39319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325917" y="1874520"/>
            <a:ext cx="3317138" cy="2011680"/>
          </a:xfrm>
          <a:prstGeom prst="roundRect">
            <a:avLst>
              <a:gd name="adj" fmla="val 4545"/>
            </a:avLst>
          </a:prstGeom>
          <a:solidFill>
            <a:schemeClr val="tx1"/>
          </a:solidFill>
          <a:ln/>
        </p:spPr>
      </p:sp>
      <p:sp>
        <p:nvSpPr>
          <p:cNvPr id="9" name="Text 6"/>
          <p:cNvSpPr txBox="1"/>
          <p:nvPr/>
        </p:nvSpPr>
        <p:spPr>
          <a:xfrm>
            <a:off x="8600237" y="2103120"/>
            <a:ext cx="276849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Total OPEX</a:t>
            </a:r>
            <a:endParaRPr lang="en-US" sz="1000" dirty="0"/>
          </a:p>
        </p:txBody>
      </p:sp>
      <p:sp>
        <p:nvSpPr>
          <p:cNvPr id="10" name="Text 7"/>
          <p:cNvSpPr txBox="1"/>
          <p:nvPr/>
        </p:nvSpPr>
        <p:spPr>
          <a:xfrm>
            <a:off x="8600237" y="2377440"/>
            <a:ext cx="2768498" cy="640080"/>
          </a:xfrm>
          <a:prstGeom prst="rect">
            <a:avLst/>
          </a:prstGeom>
          <a:noFill/>
          <a:ln/>
        </p:spPr>
        <p:txBody>
          <a:bodyPr wrap="square" lIns="0" tIns="0" rIns="0" bIns="0" rtlCol="0" anchor="t"/>
          <a:lstStyle/>
          <a:p>
            <a:pPr algn="l" indent="0" marL="0">
              <a:buNone/>
            </a:pPr>
            <a:r>
              <a:rPr lang="en-US" sz="3400" dirty="0">
                <a:solidFill>
                  <a:schemeClr val="bg1"/>
                </a:solidFill>
                <a:latin typeface="Manrope ExtraBold" pitchFamily="34" charset="0"/>
                <a:ea typeface="Manrope ExtraBold" pitchFamily="34" charset="-122"/>
                <a:cs typeface="Manrope ExtraBold" pitchFamily="34" charset="-120"/>
              </a:rPr>
              <a:t>$42.1M</a:t>
            </a:r>
            <a:endParaRPr lang="en-US" sz="3400" dirty="0"/>
          </a:p>
        </p:txBody>
      </p:sp>
      <p:sp>
        <p:nvSpPr>
          <p:cNvPr id="11" name="Text 8"/>
          <p:cNvSpPr txBox="1"/>
          <p:nvPr/>
        </p:nvSpPr>
        <p:spPr>
          <a:xfrm>
            <a:off x="8600237" y="3108960"/>
            <a:ext cx="2768498" cy="548640"/>
          </a:xfrm>
          <a:prstGeom prst="rect">
            <a:avLst/>
          </a:prstGeom>
          <a:noFill/>
          <a:ln/>
        </p:spPr>
        <p:txBody>
          <a:bodyPr wrap="square" lIns="0" tIns="0" rIns="0" bIns="0" rtlCol="0" anchor="t"/>
          <a:lstStyle/>
          <a:p>
            <a:pPr algn="l" indent="0" marL="0">
              <a:buNone/>
            </a:pPr>
            <a:r>
              <a:rPr lang="en-US" sz="1050" dirty="0">
                <a:solidFill>
                  <a:schemeClr val="accent1"/>
                </a:solidFill>
                <a:latin typeface="Inter" pitchFamily="34" charset="0"/>
                <a:ea typeface="Inter" pitchFamily="34" charset="-122"/>
                <a:cs typeface="Inter" pitchFamily="34" charset="-120"/>
              </a:rPr>
              <a:t>96% of revenue, down from 112% in FY2025</a:t>
            </a:r>
            <a:endParaRPr lang="en-US" sz="1050" dirty="0"/>
          </a:p>
        </p:txBody>
      </p:sp>
      <p:sp>
        <p:nvSpPr>
          <p:cNvPr id="12" name="Text 9"/>
          <p:cNvSpPr txBox="1"/>
          <p:nvPr/>
        </p:nvSpPr>
        <p:spPr>
          <a:xfrm>
            <a:off x="8325917" y="4114800"/>
            <a:ext cx="3317138"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SHARE OF REVENUE</a:t>
            </a:r>
            <a:endParaRPr lang="en-US" sz="900" dirty="0"/>
          </a:p>
        </p:txBody>
      </p:sp>
      <p:sp>
        <p:nvSpPr>
          <p:cNvPr id="13" name="Text 10"/>
          <p:cNvSpPr txBox="1"/>
          <p:nvPr/>
        </p:nvSpPr>
        <p:spPr>
          <a:xfrm>
            <a:off x="8325917" y="4434840"/>
            <a:ext cx="2585618"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R&amp;D</a:t>
            </a:r>
            <a:endParaRPr lang="en-US" sz="1000" dirty="0"/>
          </a:p>
        </p:txBody>
      </p:sp>
      <p:sp>
        <p:nvSpPr>
          <p:cNvPr id="14" name="Text 11"/>
          <p:cNvSpPr txBox="1"/>
          <p:nvPr/>
        </p:nvSpPr>
        <p:spPr>
          <a:xfrm>
            <a:off x="10911535" y="443484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32%</a:t>
            </a:r>
            <a:endParaRPr lang="en-US" sz="1000" dirty="0"/>
          </a:p>
        </p:txBody>
      </p:sp>
      <p:sp>
        <p:nvSpPr>
          <p:cNvPr id="15" name="Shape 12"/>
          <p:cNvSpPr/>
          <p:nvPr/>
        </p:nvSpPr>
        <p:spPr>
          <a:xfrm>
            <a:off x="8325917" y="4690872"/>
            <a:ext cx="3317138" cy="82296"/>
          </a:xfrm>
          <a:prstGeom prst="roundRect">
            <a:avLst>
              <a:gd name="adj" fmla="val 50000"/>
            </a:avLst>
          </a:prstGeom>
          <a:solidFill>
            <a:schemeClr val="bg1"/>
          </a:solidFill>
          <a:ln/>
        </p:spPr>
      </p:sp>
      <p:sp>
        <p:nvSpPr>
          <p:cNvPr id="16" name="Shape 13"/>
          <p:cNvSpPr/>
          <p:nvPr/>
        </p:nvSpPr>
        <p:spPr>
          <a:xfrm>
            <a:off x="8325917" y="4690872"/>
            <a:ext cx="1061484" cy="82296"/>
          </a:xfrm>
          <a:prstGeom prst="roundRect">
            <a:avLst>
              <a:gd name="adj" fmla="val 50000"/>
            </a:avLst>
          </a:prstGeom>
          <a:solidFill>
            <a:schemeClr val="tx1"/>
          </a:solidFill>
          <a:ln/>
        </p:spPr>
      </p:sp>
      <p:sp>
        <p:nvSpPr>
          <p:cNvPr id="17" name="Text 14"/>
          <p:cNvSpPr txBox="1"/>
          <p:nvPr/>
        </p:nvSpPr>
        <p:spPr>
          <a:xfrm>
            <a:off x="8325917" y="4965192"/>
            <a:ext cx="2585618"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Sales &amp; marketing</a:t>
            </a:r>
            <a:endParaRPr lang="en-US" sz="1000" dirty="0"/>
          </a:p>
        </p:txBody>
      </p:sp>
      <p:sp>
        <p:nvSpPr>
          <p:cNvPr id="18" name="Text 15"/>
          <p:cNvSpPr txBox="1"/>
          <p:nvPr/>
        </p:nvSpPr>
        <p:spPr>
          <a:xfrm>
            <a:off x="10911535" y="4965192"/>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40%</a:t>
            </a:r>
            <a:endParaRPr lang="en-US" sz="1000" dirty="0"/>
          </a:p>
        </p:txBody>
      </p:sp>
      <p:sp>
        <p:nvSpPr>
          <p:cNvPr id="19" name="Shape 16"/>
          <p:cNvSpPr/>
          <p:nvPr/>
        </p:nvSpPr>
        <p:spPr>
          <a:xfrm>
            <a:off x="8325917" y="5221224"/>
            <a:ext cx="3317138" cy="82296"/>
          </a:xfrm>
          <a:prstGeom prst="roundRect">
            <a:avLst>
              <a:gd name="adj" fmla="val 50000"/>
            </a:avLst>
          </a:prstGeom>
          <a:solidFill>
            <a:schemeClr val="bg1"/>
          </a:solidFill>
          <a:ln/>
        </p:spPr>
      </p:sp>
      <p:sp>
        <p:nvSpPr>
          <p:cNvPr id="20" name="Shape 17"/>
          <p:cNvSpPr/>
          <p:nvPr/>
        </p:nvSpPr>
        <p:spPr>
          <a:xfrm>
            <a:off x="8325917" y="5221224"/>
            <a:ext cx="1326855" cy="82296"/>
          </a:xfrm>
          <a:prstGeom prst="roundRect">
            <a:avLst>
              <a:gd name="adj" fmla="val 50000"/>
            </a:avLst>
          </a:prstGeom>
          <a:solidFill>
            <a:schemeClr val="tx1"/>
          </a:solidFill>
          <a:ln/>
        </p:spPr>
      </p:sp>
      <p:sp>
        <p:nvSpPr>
          <p:cNvPr id="21" name="Text 18"/>
          <p:cNvSpPr txBox="1"/>
          <p:nvPr/>
        </p:nvSpPr>
        <p:spPr>
          <a:xfrm>
            <a:off x="8325917" y="5495544"/>
            <a:ext cx="2585618"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G&amp;A</a:t>
            </a:r>
            <a:endParaRPr lang="en-US" sz="1000" dirty="0"/>
          </a:p>
        </p:txBody>
      </p:sp>
      <p:sp>
        <p:nvSpPr>
          <p:cNvPr id="22" name="Text 19"/>
          <p:cNvSpPr txBox="1"/>
          <p:nvPr/>
        </p:nvSpPr>
        <p:spPr>
          <a:xfrm>
            <a:off x="10911535" y="5495544"/>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9%</a:t>
            </a:r>
            <a:endParaRPr lang="en-US" sz="1000" dirty="0"/>
          </a:p>
        </p:txBody>
      </p:sp>
      <p:sp>
        <p:nvSpPr>
          <p:cNvPr id="23" name="Shape 20"/>
          <p:cNvSpPr/>
          <p:nvPr/>
        </p:nvSpPr>
        <p:spPr>
          <a:xfrm>
            <a:off x="8325917" y="5751576"/>
            <a:ext cx="3317138" cy="82296"/>
          </a:xfrm>
          <a:prstGeom prst="roundRect">
            <a:avLst>
              <a:gd name="adj" fmla="val 50000"/>
            </a:avLst>
          </a:prstGeom>
          <a:solidFill>
            <a:schemeClr val="bg1"/>
          </a:solidFill>
          <a:ln/>
        </p:spPr>
      </p:sp>
      <p:sp>
        <p:nvSpPr>
          <p:cNvPr id="24" name="Shape 21"/>
          <p:cNvSpPr/>
          <p:nvPr/>
        </p:nvSpPr>
        <p:spPr>
          <a:xfrm>
            <a:off x="8325917" y="5751576"/>
            <a:ext cx="298542" cy="82296"/>
          </a:xfrm>
          <a:prstGeom prst="roundRect">
            <a:avLst>
              <a:gd name="adj" fmla="val 50000"/>
            </a:avLst>
          </a:prstGeom>
          <a:solidFill>
            <a:schemeClr val="tx1"/>
          </a:solidFill>
          <a:ln/>
        </p:spPr>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From revenue to EBITDA: the FY2026 profit bridge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FY2026 forecast, $M. First positive EBITDA year in company history.</a:t>
            </a:r>
            <a:endParaRPr lang="en-US" sz="1150" dirty="0"/>
          </a:p>
        </p:txBody>
      </p:sp>
      <p:graphicFrame>
        <p:nvGraphicFramePr>
          <p:cNvPr id="6" name="Chart 0" descr=""/>
          <p:cNvGraphicFramePr/>
          <p:nvPr/>
        </p:nvGraphicFramePr>
        <p:xfrm>
          <a:off x="548640" y="1874520"/>
          <a:ext cx="8263661" cy="4160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31924" y="2289200"/>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$43.8</a:t>
            </a:r>
            <a:endParaRPr lang="en-US" sz="1100" dirty="0"/>
          </a:p>
        </p:txBody>
      </p:sp>
      <p:sp>
        <p:nvSpPr>
          <p:cNvPr id="8" name="Text 5"/>
          <p:cNvSpPr txBox="1"/>
          <p:nvPr/>
        </p:nvSpPr>
        <p:spPr>
          <a:xfrm>
            <a:off x="1865226" y="2289200"/>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−$9.6</a:t>
            </a:r>
            <a:endParaRPr lang="en-US" sz="1100" dirty="0"/>
          </a:p>
        </p:txBody>
      </p:sp>
      <p:sp>
        <p:nvSpPr>
          <p:cNvPr id="9" name="Text 6"/>
          <p:cNvSpPr txBox="1"/>
          <p:nvPr/>
        </p:nvSpPr>
        <p:spPr>
          <a:xfrm>
            <a:off x="2998529" y="2954884"/>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$34.2</a:t>
            </a:r>
            <a:endParaRPr lang="en-US" sz="1100" dirty="0"/>
          </a:p>
        </p:txBody>
      </p:sp>
      <p:sp>
        <p:nvSpPr>
          <p:cNvPr id="10" name="Text 7"/>
          <p:cNvSpPr txBox="1"/>
          <p:nvPr/>
        </p:nvSpPr>
        <p:spPr>
          <a:xfrm>
            <a:off x="4131831" y="2954884"/>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−$17.5</a:t>
            </a:r>
            <a:endParaRPr lang="en-US" sz="1100" dirty="0"/>
          </a:p>
        </p:txBody>
      </p:sp>
      <p:sp>
        <p:nvSpPr>
          <p:cNvPr id="11" name="Text 8"/>
          <p:cNvSpPr txBox="1"/>
          <p:nvPr/>
        </p:nvSpPr>
        <p:spPr>
          <a:xfrm>
            <a:off x="5265133" y="4168369"/>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−$14.2</a:t>
            </a:r>
            <a:endParaRPr lang="en-US" sz="1100" dirty="0"/>
          </a:p>
        </p:txBody>
      </p:sp>
      <p:sp>
        <p:nvSpPr>
          <p:cNvPr id="12" name="Text 9"/>
          <p:cNvSpPr txBox="1"/>
          <p:nvPr/>
        </p:nvSpPr>
        <p:spPr>
          <a:xfrm>
            <a:off x="6398435" y="5153025"/>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−$2.1</a:t>
            </a:r>
            <a:endParaRPr lang="en-US" sz="1100" dirty="0"/>
          </a:p>
        </p:txBody>
      </p:sp>
      <p:sp>
        <p:nvSpPr>
          <p:cNvPr id="13" name="Text 10"/>
          <p:cNvSpPr txBox="1"/>
          <p:nvPr/>
        </p:nvSpPr>
        <p:spPr>
          <a:xfrm>
            <a:off x="7531737" y="5298643"/>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$0.4</a:t>
            </a:r>
            <a:endParaRPr lang="en-US" sz="1100" dirty="0"/>
          </a:p>
        </p:txBody>
      </p:sp>
      <p:sp>
        <p:nvSpPr>
          <p:cNvPr id="14" name="Shape 11"/>
          <p:cNvSpPr/>
          <p:nvPr/>
        </p:nvSpPr>
        <p:spPr>
          <a:xfrm>
            <a:off x="9315221" y="1874520"/>
            <a:ext cx="2327834" cy="1737360"/>
          </a:xfrm>
          <a:prstGeom prst="roundRect">
            <a:avLst>
              <a:gd name="adj" fmla="val 5263"/>
            </a:avLst>
          </a:prstGeom>
          <a:solidFill>
            <a:schemeClr val="accent1"/>
          </a:solidFill>
          <a:ln/>
        </p:spPr>
      </p:sp>
      <p:sp>
        <p:nvSpPr>
          <p:cNvPr id="15" name="Text 12"/>
          <p:cNvSpPr txBox="1"/>
          <p:nvPr/>
        </p:nvSpPr>
        <p:spPr>
          <a:xfrm>
            <a:off x="9589541" y="2103120"/>
            <a:ext cx="1779194"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EBITDA margin</a:t>
            </a:r>
            <a:endParaRPr lang="en-US" sz="1000" dirty="0"/>
          </a:p>
        </p:txBody>
      </p:sp>
      <p:sp>
        <p:nvSpPr>
          <p:cNvPr id="16" name="Text 13"/>
          <p:cNvSpPr txBox="1"/>
          <p:nvPr/>
        </p:nvSpPr>
        <p:spPr>
          <a:xfrm>
            <a:off x="9589541" y="2377440"/>
            <a:ext cx="177919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0.9%</a:t>
            </a:r>
            <a:endParaRPr lang="en-US" sz="3600" dirty="0"/>
          </a:p>
        </p:txBody>
      </p:sp>
      <p:sp>
        <p:nvSpPr>
          <p:cNvPr id="17" name="Text 14"/>
          <p:cNvSpPr txBox="1"/>
          <p:nvPr/>
        </p:nvSpPr>
        <p:spPr>
          <a:xfrm>
            <a:off x="9589541" y="3063240"/>
            <a:ext cx="1779194" cy="27432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up from −14.6% in FY2025</a:t>
            </a:r>
            <a:endParaRPr lang="en-US" sz="1050" dirty="0"/>
          </a:p>
        </p:txBody>
      </p:sp>
      <p:sp>
        <p:nvSpPr>
          <p:cNvPr id="18" name="Shape 15"/>
          <p:cNvSpPr/>
          <p:nvPr/>
        </p:nvSpPr>
        <p:spPr>
          <a:xfrm>
            <a:off x="9315221" y="3840480"/>
            <a:ext cx="2327834" cy="2194560"/>
          </a:xfrm>
          <a:prstGeom prst="roundRect">
            <a:avLst>
              <a:gd name="adj" fmla="val 4167"/>
            </a:avLst>
          </a:prstGeom>
          <a:solidFill>
            <a:schemeClr val="bg2"/>
          </a:solidFill>
          <a:ln/>
        </p:spPr>
      </p:sp>
      <p:sp>
        <p:nvSpPr>
          <p:cNvPr id="19" name="Text 16"/>
          <p:cNvSpPr txBox="1"/>
          <p:nvPr/>
        </p:nvSpPr>
        <p:spPr>
          <a:xfrm>
            <a:off x="9589541" y="4069080"/>
            <a:ext cx="177919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Medium" pitchFamily="34" charset="0"/>
                <a:ea typeface="Inter Medium" pitchFamily="34" charset="-122"/>
                <a:cs typeface="Inter Medium" pitchFamily="34" charset="-120"/>
              </a:rPr>
              <a:t>Gross margin</a:t>
            </a:r>
            <a:endParaRPr lang="en-US" sz="1000" dirty="0"/>
          </a:p>
        </p:txBody>
      </p:sp>
      <p:sp>
        <p:nvSpPr>
          <p:cNvPr id="20" name="Text 17"/>
          <p:cNvSpPr txBox="1"/>
          <p:nvPr/>
        </p:nvSpPr>
        <p:spPr>
          <a:xfrm>
            <a:off x="9589541" y="4343400"/>
            <a:ext cx="177919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78.1%</a:t>
            </a:r>
            <a:endParaRPr lang="en-US" sz="2600" dirty="0"/>
          </a:p>
        </p:txBody>
      </p:sp>
      <p:sp>
        <p:nvSpPr>
          <p:cNvPr id="21" name="Text 18"/>
          <p:cNvSpPr txBox="1"/>
          <p:nvPr/>
        </p:nvSpPr>
        <p:spPr>
          <a:xfrm>
            <a:off x="9589541" y="4937760"/>
            <a:ext cx="1779194" cy="73152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Hosting efficiency offsets higher services mix.</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Five-year forecast: $150M revenue and 22% EBITDA by 2030</a:t>
            </a:r>
            <a:endParaRPr lang="en-US" sz="2800" dirty="0"/>
          </a:p>
        </p:txBody>
      </p:sp>
      <p:sp>
        <p:nvSpPr>
          <p:cNvPr id="5" name="Shape 3"/>
          <p:cNvSpPr/>
          <p:nvPr/>
        </p:nvSpPr>
        <p:spPr>
          <a:xfrm>
            <a:off x="548640" y="1874520"/>
            <a:ext cx="4489323" cy="4160520"/>
          </a:xfrm>
          <a:prstGeom prst="roundRect">
            <a:avLst>
              <a:gd name="adj" fmla="val 2198"/>
            </a:avLst>
          </a:prstGeom>
          <a:solidFill>
            <a:schemeClr val="bg2"/>
          </a:solidFill>
          <a:ln/>
        </p:spPr>
      </p:sp>
      <p:sp>
        <p:nvSpPr>
          <p:cNvPr id="6" name="Text 4"/>
          <p:cNvSpPr txBox="1"/>
          <p:nvPr/>
        </p:nvSpPr>
        <p:spPr>
          <a:xfrm>
            <a:off x="822960" y="2057400"/>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Revenue, $M</a:t>
            </a:r>
            <a:endParaRPr lang="en-US" sz="1300" dirty="0"/>
          </a:p>
        </p:txBody>
      </p:sp>
      <p:graphicFrame>
        <p:nvGraphicFramePr>
          <p:cNvPr id="7" name="Chart 0" descr=""/>
          <p:cNvGraphicFramePr/>
          <p:nvPr/>
        </p:nvGraphicFramePr>
        <p:xfrm>
          <a:off x="640080" y="2423160"/>
          <a:ext cx="4306443"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266563" y="1874520"/>
          <a:ext cx="6376492" cy="914400"/>
        </p:xfrm>
        <a:graphic>
          <a:graphicData uri="http://schemas.openxmlformats.org/drawingml/2006/table">
            <a:tbl>
              <a:tblPr/>
              <a:tblGrid>
                <a:gridCol w="1874520"/>
                <a:gridCol w="750329"/>
                <a:gridCol w="750329"/>
                <a:gridCol w="750329"/>
                <a:gridCol w="750329"/>
                <a:gridCol w="750329"/>
                <a:gridCol w="750329"/>
              </a:tblGrid>
              <a:tr h="457200">
                <a:tc>
                  <a:txBody>
                    <a:bodyPr/>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$M</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2025A</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2026F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2027F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2028F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2029F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2030F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r>
              <a:tr h="457200">
                <a:tc>
                  <a:txBody>
                    <a:bodyPr/>
                    <a:lstStyle/>
                    <a:p>
                      <a:pPr algn="l" indent="0" marL="0">
                        <a:buNone/>
                      </a:pPr>
                      <a:r>
                        <a:rPr lang="en-US" sz="1100" b="1" dirty="0">
                          <a:solidFill>
                            <a:schemeClr val="tx1"/>
                          </a:solidFill>
                          <a:latin typeface="Manrope" pitchFamily="34" charset="0"/>
                          <a:ea typeface="Manrope" pitchFamily="34" charset="-122"/>
                          <a:cs typeface="Manrope" pitchFamily="34" charset="-120"/>
                        </a:rPr>
                        <a:t>Revenue</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27.5</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43.8</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66.0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92.5</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121.0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150.2</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accent3"/>
                          </a:solidFill>
                          <a:latin typeface="Inter" pitchFamily="34" charset="0"/>
                          <a:ea typeface="Inter" pitchFamily="34" charset="-122"/>
                          <a:cs typeface="Inter" pitchFamily="34" charset="-120"/>
                        </a:rPr>
                        <a:t>Growth</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46%</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59%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51%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40%</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31%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24%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Gross profit</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21.1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34.2</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52.1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74.0</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97.8</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122.4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accent3"/>
                          </a:solidFill>
                          <a:latin typeface="Inter" pitchFamily="34" charset="0"/>
                          <a:ea typeface="Inter" pitchFamily="34" charset="-122"/>
                          <a:cs typeface="Inter" pitchFamily="34" charset="-120"/>
                        </a:rPr>
                        <a:t>Gross margin</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77%</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78%</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80%</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81%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81%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Operating expenses</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25.1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33.8</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47.5</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61.1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74.9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89.4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b="1" dirty="0">
                          <a:solidFill>
                            <a:schemeClr val="tx1"/>
                          </a:solidFill>
                          <a:latin typeface="Manrope" pitchFamily="34" charset="0"/>
                          <a:ea typeface="Manrope" pitchFamily="34" charset="-122"/>
                          <a:cs typeface="Manrope" pitchFamily="34" charset="-120"/>
                        </a:rPr>
                        <a:t>EBITDA</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−4.0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0.4</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4.6</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12.9</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22.9</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33.0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accent3"/>
                          </a:solidFill>
                          <a:latin typeface="Inter" pitchFamily="34" charset="0"/>
                          <a:ea typeface="Inter" pitchFamily="34" charset="-122"/>
                          <a:cs typeface="Inter" pitchFamily="34" charset="-120"/>
                        </a:rPr>
                        <a:t>EBITDA margin</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−15%</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22%</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5266563" y="5760720"/>
            <a:ext cx="6376492" cy="22860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 = actual, F = forecast. Shaded column = current year.</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we will allocate the $65M Series B</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Use of funds over 24 months.</a:t>
            </a:r>
            <a:endParaRPr lang="en-US" sz="1150" dirty="0"/>
          </a:p>
        </p:txBody>
      </p:sp>
      <p:sp>
        <p:nvSpPr>
          <p:cNvPr id="6" name="Shape 4"/>
          <p:cNvSpPr/>
          <p:nvPr/>
        </p:nvSpPr>
        <p:spPr>
          <a:xfrm>
            <a:off x="548640" y="1874520"/>
            <a:ext cx="4489323" cy="4160520"/>
          </a:xfrm>
          <a:prstGeom prst="roundRect">
            <a:avLst>
              <a:gd name="adj" fmla="val 2198"/>
            </a:avLst>
          </a:prstGeom>
          <a:solidFill>
            <a:schemeClr val="bg1"/>
          </a:solidFill>
          <a:ln/>
        </p:spPr>
      </p:sp>
      <p:graphicFrame>
        <p:nvGraphicFramePr>
          <p:cNvPr id="7" name="Chart 0" descr=""/>
          <p:cNvGraphicFramePr/>
          <p:nvPr/>
        </p:nvGraphicFramePr>
        <p:xfrm>
          <a:off x="822960" y="2057400"/>
          <a:ext cx="3940683" cy="37947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1787462" y="3657600"/>
            <a:ext cx="2011680" cy="457200"/>
          </a:xfrm>
          <a:prstGeom prst="rect">
            <a:avLst/>
          </a:prstGeom>
          <a:noFill/>
          <a:ln/>
        </p:spPr>
        <p:txBody>
          <a:bodyPr wrap="square" lIns="0" tIns="0" rIns="0" bIns="0" rtlCol="0" anchor="t"/>
          <a:lstStyle/>
          <a:p>
            <a:pPr algn="ctr" indent="0" marL="0">
              <a:buNone/>
            </a:pPr>
            <a:r>
              <a:rPr lang="en-US" sz="2400" dirty="0">
                <a:solidFill>
                  <a:schemeClr val="tx1"/>
                </a:solidFill>
                <a:latin typeface="Manrope ExtraBold" pitchFamily="34" charset="0"/>
                <a:ea typeface="Manrope ExtraBold" pitchFamily="34" charset="-122"/>
                <a:cs typeface="Manrope ExtraBold" pitchFamily="34" charset="-120"/>
              </a:rPr>
              <a:t>$65M</a:t>
            </a:r>
            <a:endParaRPr lang="en-US" sz="2400" dirty="0"/>
          </a:p>
        </p:txBody>
      </p:sp>
      <p:sp>
        <p:nvSpPr>
          <p:cNvPr id="9" name="Text 6"/>
          <p:cNvSpPr txBox="1"/>
          <p:nvPr/>
        </p:nvSpPr>
        <p:spPr>
          <a:xfrm>
            <a:off x="1787462" y="4096512"/>
            <a:ext cx="2011680" cy="228600"/>
          </a:xfrm>
          <a:prstGeom prst="rect">
            <a:avLst/>
          </a:prstGeom>
          <a:noFill/>
          <a:ln/>
        </p:spPr>
        <p:txBody>
          <a:bodyPr wrap="square" lIns="0" tIns="0" rIns="0" bIns="0" rtlCol="0" anchor="t"/>
          <a:lstStyle/>
          <a:p>
            <a:pPr algn="ctr" indent="0" marL="0">
              <a:buNone/>
            </a:pPr>
            <a:r>
              <a:rPr lang="en-US" sz="1000" dirty="0">
                <a:solidFill>
                  <a:schemeClr val="accent3"/>
                </a:solidFill>
                <a:latin typeface="Inter" pitchFamily="34" charset="0"/>
                <a:ea typeface="Inter" pitchFamily="34" charset="-122"/>
                <a:cs typeface="Inter" pitchFamily="34" charset="-120"/>
              </a:rPr>
              <a:t>total raise</a:t>
            </a:r>
            <a:endParaRPr lang="en-US" sz="1000" dirty="0"/>
          </a:p>
        </p:txBody>
      </p:sp>
      <p:sp>
        <p:nvSpPr>
          <p:cNvPr id="10" name="Shape 7"/>
          <p:cNvSpPr/>
          <p:nvPr/>
        </p:nvSpPr>
        <p:spPr>
          <a:xfrm>
            <a:off x="5540883" y="1874520"/>
            <a:ext cx="6102172" cy="713232"/>
          </a:xfrm>
          <a:prstGeom prst="roundRect">
            <a:avLst>
              <a:gd name="adj" fmla="val 12821"/>
            </a:avLst>
          </a:prstGeom>
          <a:solidFill>
            <a:schemeClr val="bg1"/>
          </a:solidFill>
          <a:ln/>
        </p:spPr>
      </p:sp>
      <p:sp>
        <p:nvSpPr>
          <p:cNvPr id="11" name="Shape 8"/>
          <p:cNvSpPr/>
          <p:nvPr/>
        </p:nvSpPr>
        <p:spPr>
          <a:xfrm>
            <a:off x="5769483" y="2139696"/>
            <a:ext cx="182880" cy="182880"/>
          </a:xfrm>
          <a:prstGeom prst="roundRect">
            <a:avLst>
              <a:gd name="adj" fmla="val 20000"/>
            </a:avLst>
          </a:prstGeom>
          <a:solidFill>
            <a:schemeClr val="tx1"/>
          </a:solidFill>
          <a:ln/>
        </p:spPr>
      </p:sp>
      <p:sp>
        <p:nvSpPr>
          <p:cNvPr id="12" name="Text 9"/>
          <p:cNvSpPr txBox="1"/>
          <p:nvPr/>
        </p:nvSpPr>
        <p:spPr>
          <a:xfrm>
            <a:off x="6135243" y="1984248"/>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Product &amp; engineering</a:t>
            </a:r>
            <a:endParaRPr lang="en-US" sz="1250" dirty="0"/>
          </a:p>
        </p:txBody>
      </p:sp>
      <p:sp>
        <p:nvSpPr>
          <p:cNvPr id="13" name="Text 10"/>
          <p:cNvSpPr txBox="1"/>
          <p:nvPr/>
        </p:nvSpPr>
        <p:spPr>
          <a:xfrm>
            <a:off x="6135243" y="2258568"/>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AI roadmap, 60 engineers</a:t>
            </a:r>
            <a:endParaRPr lang="en-US" sz="1000" dirty="0"/>
          </a:p>
        </p:txBody>
      </p:sp>
      <p:sp>
        <p:nvSpPr>
          <p:cNvPr id="14" name="Text 11"/>
          <p:cNvSpPr txBox="1"/>
          <p:nvPr/>
        </p:nvSpPr>
        <p:spPr>
          <a:xfrm>
            <a:off x="9265615" y="1874520"/>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$26.0M</a:t>
            </a:r>
            <a:endParaRPr lang="en-US" sz="1400" dirty="0"/>
          </a:p>
        </p:txBody>
      </p:sp>
      <p:sp>
        <p:nvSpPr>
          <p:cNvPr id="15" name="Shape 12"/>
          <p:cNvSpPr/>
          <p:nvPr/>
        </p:nvSpPr>
        <p:spPr>
          <a:xfrm>
            <a:off x="10682935" y="2093976"/>
            <a:ext cx="731520" cy="274320"/>
          </a:xfrm>
          <a:prstGeom prst="roundRect">
            <a:avLst>
              <a:gd name="adj" fmla="val 50000"/>
            </a:avLst>
          </a:prstGeom>
          <a:solidFill>
            <a:schemeClr val="tx1"/>
          </a:solidFill>
          <a:ln/>
        </p:spPr>
      </p:sp>
      <p:sp>
        <p:nvSpPr>
          <p:cNvPr id="16" name="Text 13"/>
          <p:cNvSpPr txBox="1"/>
          <p:nvPr/>
        </p:nvSpPr>
        <p:spPr>
          <a:xfrm>
            <a:off x="10682935" y="2093976"/>
            <a:ext cx="73152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40%</a:t>
            </a:r>
            <a:endParaRPr lang="en-US" sz="900" dirty="0"/>
          </a:p>
        </p:txBody>
      </p:sp>
      <p:sp>
        <p:nvSpPr>
          <p:cNvPr id="17" name="Shape 14"/>
          <p:cNvSpPr/>
          <p:nvPr/>
        </p:nvSpPr>
        <p:spPr>
          <a:xfrm>
            <a:off x="5540883" y="2706624"/>
            <a:ext cx="6102172" cy="713232"/>
          </a:xfrm>
          <a:prstGeom prst="roundRect">
            <a:avLst>
              <a:gd name="adj" fmla="val 12821"/>
            </a:avLst>
          </a:prstGeom>
          <a:solidFill>
            <a:schemeClr val="bg1"/>
          </a:solidFill>
          <a:ln/>
        </p:spPr>
      </p:sp>
      <p:sp>
        <p:nvSpPr>
          <p:cNvPr id="18" name="Shape 15"/>
          <p:cNvSpPr/>
          <p:nvPr/>
        </p:nvSpPr>
        <p:spPr>
          <a:xfrm>
            <a:off x="5769483" y="2971800"/>
            <a:ext cx="182880" cy="182880"/>
          </a:xfrm>
          <a:prstGeom prst="roundRect">
            <a:avLst>
              <a:gd name="adj" fmla="val 20000"/>
            </a:avLst>
          </a:prstGeom>
          <a:solidFill>
            <a:schemeClr val="accent1"/>
          </a:solidFill>
          <a:ln/>
        </p:spPr>
      </p:sp>
      <p:sp>
        <p:nvSpPr>
          <p:cNvPr id="19" name="Text 16"/>
          <p:cNvSpPr txBox="1"/>
          <p:nvPr/>
        </p:nvSpPr>
        <p:spPr>
          <a:xfrm>
            <a:off x="6135243" y="2816352"/>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Go-to-market expansion</a:t>
            </a:r>
            <a:endParaRPr lang="en-US" sz="1250" dirty="0"/>
          </a:p>
        </p:txBody>
      </p:sp>
      <p:sp>
        <p:nvSpPr>
          <p:cNvPr id="20" name="Text 17"/>
          <p:cNvSpPr txBox="1"/>
          <p:nvPr/>
        </p:nvSpPr>
        <p:spPr>
          <a:xfrm>
            <a:off x="6135243" y="3090672"/>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US, France, Australia</a:t>
            </a:r>
            <a:endParaRPr lang="en-US" sz="1000" dirty="0"/>
          </a:p>
        </p:txBody>
      </p:sp>
      <p:sp>
        <p:nvSpPr>
          <p:cNvPr id="21" name="Text 18"/>
          <p:cNvSpPr txBox="1"/>
          <p:nvPr/>
        </p:nvSpPr>
        <p:spPr>
          <a:xfrm>
            <a:off x="9265615" y="2706624"/>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$19.5M</a:t>
            </a:r>
            <a:endParaRPr lang="en-US" sz="1400" dirty="0"/>
          </a:p>
        </p:txBody>
      </p:sp>
      <p:sp>
        <p:nvSpPr>
          <p:cNvPr id="22" name="Shape 19"/>
          <p:cNvSpPr/>
          <p:nvPr/>
        </p:nvSpPr>
        <p:spPr>
          <a:xfrm>
            <a:off x="10682935" y="2926080"/>
            <a:ext cx="731520" cy="274320"/>
          </a:xfrm>
          <a:prstGeom prst="roundRect">
            <a:avLst>
              <a:gd name="adj" fmla="val 50000"/>
            </a:avLst>
          </a:prstGeom>
          <a:solidFill>
            <a:schemeClr val="bg2"/>
          </a:solidFill>
          <a:ln/>
        </p:spPr>
      </p:sp>
      <p:sp>
        <p:nvSpPr>
          <p:cNvPr id="23" name="Text 20"/>
          <p:cNvSpPr txBox="1"/>
          <p:nvPr/>
        </p:nvSpPr>
        <p:spPr>
          <a:xfrm>
            <a:off x="10682935" y="2926080"/>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30%</a:t>
            </a:r>
            <a:endParaRPr lang="en-US" sz="900" dirty="0"/>
          </a:p>
        </p:txBody>
      </p:sp>
      <p:sp>
        <p:nvSpPr>
          <p:cNvPr id="24" name="Shape 21"/>
          <p:cNvSpPr/>
          <p:nvPr/>
        </p:nvSpPr>
        <p:spPr>
          <a:xfrm>
            <a:off x="5540883" y="3538728"/>
            <a:ext cx="6102172" cy="713232"/>
          </a:xfrm>
          <a:prstGeom prst="roundRect">
            <a:avLst>
              <a:gd name="adj" fmla="val 12821"/>
            </a:avLst>
          </a:prstGeom>
          <a:solidFill>
            <a:schemeClr val="bg1"/>
          </a:solidFill>
          <a:ln/>
        </p:spPr>
      </p:sp>
      <p:sp>
        <p:nvSpPr>
          <p:cNvPr id="25" name="Shape 22"/>
          <p:cNvSpPr/>
          <p:nvPr/>
        </p:nvSpPr>
        <p:spPr>
          <a:xfrm>
            <a:off x="5769483" y="3803904"/>
            <a:ext cx="182880" cy="182880"/>
          </a:xfrm>
          <a:prstGeom prst="roundRect">
            <a:avLst>
              <a:gd name="adj" fmla="val 20000"/>
            </a:avLst>
          </a:prstGeom>
          <a:solidFill>
            <a:schemeClr val="accent2"/>
          </a:solidFill>
          <a:ln/>
        </p:spPr>
      </p:sp>
      <p:sp>
        <p:nvSpPr>
          <p:cNvPr id="26" name="Text 23"/>
          <p:cNvSpPr txBox="1"/>
          <p:nvPr/>
        </p:nvSpPr>
        <p:spPr>
          <a:xfrm>
            <a:off x="6135243" y="3648456"/>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Partner ecosystem</a:t>
            </a:r>
            <a:endParaRPr lang="en-US" sz="1250" dirty="0"/>
          </a:p>
        </p:txBody>
      </p:sp>
      <p:sp>
        <p:nvSpPr>
          <p:cNvPr id="27" name="Text 24"/>
          <p:cNvSpPr txBox="1"/>
          <p:nvPr/>
        </p:nvSpPr>
        <p:spPr>
          <a:xfrm>
            <a:off x="6135243" y="3922776"/>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Marketplace, alliances</a:t>
            </a:r>
            <a:endParaRPr lang="en-US" sz="1000" dirty="0"/>
          </a:p>
        </p:txBody>
      </p:sp>
      <p:sp>
        <p:nvSpPr>
          <p:cNvPr id="28" name="Text 25"/>
          <p:cNvSpPr txBox="1"/>
          <p:nvPr/>
        </p:nvSpPr>
        <p:spPr>
          <a:xfrm>
            <a:off x="9265615" y="3538728"/>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$9.8M</a:t>
            </a:r>
            <a:endParaRPr lang="en-US" sz="1400" dirty="0"/>
          </a:p>
        </p:txBody>
      </p:sp>
      <p:sp>
        <p:nvSpPr>
          <p:cNvPr id="29" name="Shape 26"/>
          <p:cNvSpPr/>
          <p:nvPr/>
        </p:nvSpPr>
        <p:spPr>
          <a:xfrm>
            <a:off x="10682935" y="3758184"/>
            <a:ext cx="731520" cy="274320"/>
          </a:xfrm>
          <a:prstGeom prst="roundRect">
            <a:avLst>
              <a:gd name="adj" fmla="val 50000"/>
            </a:avLst>
          </a:prstGeom>
          <a:solidFill>
            <a:schemeClr val="bg2"/>
          </a:solidFill>
          <a:ln/>
        </p:spPr>
      </p:sp>
      <p:sp>
        <p:nvSpPr>
          <p:cNvPr id="30" name="Text 27"/>
          <p:cNvSpPr txBox="1"/>
          <p:nvPr/>
        </p:nvSpPr>
        <p:spPr>
          <a:xfrm>
            <a:off x="10682935" y="3758184"/>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15%</a:t>
            </a:r>
            <a:endParaRPr lang="en-US" sz="900" dirty="0"/>
          </a:p>
        </p:txBody>
      </p:sp>
      <p:sp>
        <p:nvSpPr>
          <p:cNvPr id="31" name="Shape 28"/>
          <p:cNvSpPr/>
          <p:nvPr/>
        </p:nvSpPr>
        <p:spPr>
          <a:xfrm>
            <a:off x="5540883" y="4370832"/>
            <a:ext cx="6102172" cy="713232"/>
          </a:xfrm>
          <a:prstGeom prst="roundRect">
            <a:avLst>
              <a:gd name="adj" fmla="val 12821"/>
            </a:avLst>
          </a:prstGeom>
          <a:solidFill>
            <a:schemeClr val="bg1"/>
          </a:solidFill>
          <a:ln/>
        </p:spPr>
      </p:sp>
      <p:sp>
        <p:nvSpPr>
          <p:cNvPr id="32" name="Shape 29"/>
          <p:cNvSpPr/>
          <p:nvPr/>
        </p:nvSpPr>
        <p:spPr>
          <a:xfrm>
            <a:off x="5769483" y="4636008"/>
            <a:ext cx="182880" cy="182880"/>
          </a:xfrm>
          <a:prstGeom prst="roundRect">
            <a:avLst>
              <a:gd name="adj" fmla="val 20000"/>
            </a:avLst>
          </a:prstGeom>
          <a:solidFill>
            <a:schemeClr val="accent3"/>
          </a:solidFill>
          <a:ln/>
        </p:spPr>
      </p:sp>
      <p:sp>
        <p:nvSpPr>
          <p:cNvPr id="33" name="Text 30"/>
          <p:cNvSpPr txBox="1"/>
          <p:nvPr/>
        </p:nvSpPr>
        <p:spPr>
          <a:xfrm>
            <a:off x="6135243" y="4480560"/>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Customer success</a:t>
            </a:r>
            <a:endParaRPr lang="en-US" sz="1250" dirty="0"/>
          </a:p>
        </p:txBody>
      </p:sp>
      <p:sp>
        <p:nvSpPr>
          <p:cNvPr id="34" name="Text 31"/>
          <p:cNvSpPr txBox="1"/>
          <p:nvPr/>
        </p:nvSpPr>
        <p:spPr>
          <a:xfrm>
            <a:off x="6135243" y="4754880"/>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Named CSMs, support</a:t>
            </a:r>
            <a:endParaRPr lang="en-US" sz="1000" dirty="0"/>
          </a:p>
        </p:txBody>
      </p:sp>
      <p:sp>
        <p:nvSpPr>
          <p:cNvPr id="35" name="Text 32"/>
          <p:cNvSpPr txBox="1"/>
          <p:nvPr/>
        </p:nvSpPr>
        <p:spPr>
          <a:xfrm>
            <a:off x="9265615" y="4370832"/>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$6.5M</a:t>
            </a:r>
            <a:endParaRPr lang="en-US" sz="1400" dirty="0"/>
          </a:p>
        </p:txBody>
      </p:sp>
      <p:sp>
        <p:nvSpPr>
          <p:cNvPr id="36" name="Shape 33"/>
          <p:cNvSpPr/>
          <p:nvPr/>
        </p:nvSpPr>
        <p:spPr>
          <a:xfrm>
            <a:off x="10682935" y="4590288"/>
            <a:ext cx="731520" cy="274320"/>
          </a:xfrm>
          <a:prstGeom prst="roundRect">
            <a:avLst>
              <a:gd name="adj" fmla="val 50000"/>
            </a:avLst>
          </a:prstGeom>
          <a:solidFill>
            <a:schemeClr val="bg2"/>
          </a:solidFill>
          <a:ln/>
        </p:spPr>
      </p:sp>
      <p:sp>
        <p:nvSpPr>
          <p:cNvPr id="37" name="Text 34"/>
          <p:cNvSpPr txBox="1"/>
          <p:nvPr/>
        </p:nvSpPr>
        <p:spPr>
          <a:xfrm>
            <a:off x="10682935" y="4590288"/>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10%</a:t>
            </a:r>
            <a:endParaRPr lang="en-US" sz="900" dirty="0"/>
          </a:p>
        </p:txBody>
      </p:sp>
      <p:sp>
        <p:nvSpPr>
          <p:cNvPr id="38" name="Shape 35"/>
          <p:cNvSpPr/>
          <p:nvPr/>
        </p:nvSpPr>
        <p:spPr>
          <a:xfrm>
            <a:off x="5540883" y="5202936"/>
            <a:ext cx="6102172" cy="713232"/>
          </a:xfrm>
          <a:prstGeom prst="roundRect">
            <a:avLst>
              <a:gd name="adj" fmla="val 12821"/>
            </a:avLst>
          </a:prstGeom>
          <a:solidFill>
            <a:schemeClr val="bg1"/>
          </a:solidFill>
          <a:ln/>
        </p:spPr>
      </p:sp>
      <p:sp>
        <p:nvSpPr>
          <p:cNvPr id="39" name="Shape 36"/>
          <p:cNvSpPr/>
          <p:nvPr/>
        </p:nvSpPr>
        <p:spPr>
          <a:xfrm>
            <a:off x="5769483" y="5468112"/>
            <a:ext cx="182880" cy="182880"/>
          </a:xfrm>
          <a:prstGeom prst="roundRect">
            <a:avLst>
              <a:gd name="adj" fmla="val 20000"/>
            </a:avLst>
          </a:prstGeom>
          <a:solidFill>
            <a:schemeClr val="accent4"/>
          </a:solidFill>
          <a:ln/>
        </p:spPr>
      </p:sp>
      <p:sp>
        <p:nvSpPr>
          <p:cNvPr id="40" name="Text 37"/>
          <p:cNvSpPr txBox="1"/>
          <p:nvPr/>
        </p:nvSpPr>
        <p:spPr>
          <a:xfrm>
            <a:off x="6135243" y="5312664"/>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Working capital</a:t>
            </a:r>
            <a:endParaRPr lang="en-US" sz="1250" dirty="0"/>
          </a:p>
        </p:txBody>
      </p:sp>
      <p:sp>
        <p:nvSpPr>
          <p:cNvPr id="41" name="Text 38"/>
          <p:cNvSpPr txBox="1"/>
          <p:nvPr/>
        </p:nvSpPr>
        <p:spPr>
          <a:xfrm>
            <a:off x="6135243" y="5586984"/>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Buffer and M&amp;A option</a:t>
            </a:r>
            <a:endParaRPr lang="en-US" sz="1000" dirty="0"/>
          </a:p>
        </p:txBody>
      </p:sp>
      <p:sp>
        <p:nvSpPr>
          <p:cNvPr id="42" name="Text 39"/>
          <p:cNvSpPr txBox="1"/>
          <p:nvPr/>
        </p:nvSpPr>
        <p:spPr>
          <a:xfrm>
            <a:off x="9265615" y="5202936"/>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$3.3M</a:t>
            </a:r>
            <a:endParaRPr lang="en-US" sz="1400" dirty="0"/>
          </a:p>
        </p:txBody>
      </p:sp>
      <p:sp>
        <p:nvSpPr>
          <p:cNvPr id="43" name="Shape 40"/>
          <p:cNvSpPr/>
          <p:nvPr/>
        </p:nvSpPr>
        <p:spPr>
          <a:xfrm>
            <a:off x="10682935" y="5422392"/>
            <a:ext cx="731520" cy="274320"/>
          </a:xfrm>
          <a:prstGeom prst="roundRect">
            <a:avLst>
              <a:gd name="adj" fmla="val 50000"/>
            </a:avLst>
          </a:prstGeom>
          <a:solidFill>
            <a:schemeClr val="bg2"/>
          </a:solidFill>
          <a:ln/>
        </p:spPr>
      </p:sp>
      <p:sp>
        <p:nvSpPr>
          <p:cNvPr id="44" name="Text 41"/>
          <p:cNvSpPr txBox="1"/>
          <p:nvPr/>
        </p:nvSpPr>
        <p:spPr>
          <a:xfrm>
            <a:off x="10682935" y="5422392"/>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5%</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Simple, seat-based pricing that scales with the team</a:t>
            </a:r>
            <a:endParaRPr lang="en-US" sz="2800" dirty="0"/>
          </a:p>
        </p:txBody>
      </p:sp>
      <p:sp>
        <p:nvSpPr>
          <p:cNvPr id="5" name="Shape 3"/>
          <p:cNvSpPr/>
          <p:nvPr/>
        </p:nvSpPr>
        <p:spPr>
          <a:xfrm>
            <a:off x="548640" y="1874520"/>
            <a:ext cx="3545738" cy="4160520"/>
          </a:xfrm>
          <a:prstGeom prst="roundRect">
            <a:avLst>
              <a:gd name="adj" fmla="val 2579"/>
            </a:avLst>
          </a:prstGeom>
          <a:solidFill>
            <a:schemeClr val="bg1"/>
          </a:solidFill>
          <a:ln w="9525">
            <a:solidFill>
              <a:schemeClr val="accent4"/>
            </a:solidFill>
            <a:prstDash val="solid"/>
          </a:ln>
        </p:spPr>
      </p:sp>
      <p:sp>
        <p:nvSpPr>
          <p:cNvPr id="6" name="Text 4"/>
          <p:cNvSpPr txBox="1"/>
          <p:nvPr/>
        </p:nvSpPr>
        <p:spPr>
          <a:xfrm>
            <a:off x="868680" y="214884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Starter</a:t>
            </a:r>
            <a:endParaRPr lang="en-US" sz="1600" dirty="0"/>
          </a:p>
        </p:txBody>
      </p:sp>
      <p:sp>
        <p:nvSpPr>
          <p:cNvPr id="7" name="Text 5"/>
          <p:cNvSpPr txBox="1"/>
          <p:nvPr/>
        </p:nvSpPr>
        <p:spPr>
          <a:xfrm>
            <a:off x="868680" y="2560320"/>
            <a:ext cx="2905658" cy="685800"/>
          </a:xfrm>
          <a:prstGeom prst="rect">
            <a:avLst/>
          </a:prstGeom>
          <a:noFill/>
          <a:ln/>
        </p:spPr>
        <p:txBody>
          <a:bodyPr wrap="square" lIns="0" tIns="0" rIns="0" bIns="0" rtlCol="0" anchor="b"/>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$39</a:t>
            </a:r>
            <a:pPr algn="l" indent="0" marL="0">
              <a:buNone/>
            </a:pPr>
            <a:r>
              <a:rPr lang="en-US" sz="1050" dirty="0">
                <a:solidFill>
                  <a:schemeClr val="accent3"/>
                </a:solidFill>
                <a:latin typeface="Inter" pitchFamily="34" charset="0"/>
                <a:ea typeface="Inter" pitchFamily="34" charset="-122"/>
                <a:cs typeface="Inter" pitchFamily="34" charset="-120"/>
              </a:rPr>
              <a:t>  / seat / month</a:t>
            </a:r>
            <a:endParaRPr lang="en-US" sz="1200" dirty="0"/>
          </a:p>
        </p:txBody>
      </p:sp>
      <p:sp>
        <p:nvSpPr>
          <p:cNvPr id="8" name="Text 6"/>
          <p:cNvSpPr txBox="1"/>
          <p:nvPr/>
        </p:nvSpPr>
        <p:spPr>
          <a:xfrm>
            <a:off x="868680" y="3337560"/>
            <a:ext cx="290565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For small teams getting forecasting right.</a:t>
            </a:r>
            <a:endParaRPr lang="en-US" sz="1050" dirty="0"/>
          </a:p>
        </p:txBody>
      </p:sp>
      <p:sp>
        <p:nvSpPr>
          <p:cNvPr id="9" name="Shape 7"/>
          <p:cNvSpPr/>
          <p:nvPr/>
        </p:nvSpPr>
        <p:spPr>
          <a:xfrm>
            <a:off x="868680" y="3840480"/>
            <a:ext cx="2905658" cy="0"/>
          </a:xfrm>
          <a:prstGeom prst="line">
            <a:avLst/>
          </a:prstGeom>
          <a:noFill/>
          <a:ln w="12700">
            <a:solidFill>
              <a:schemeClr val="accent4"/>
            </a:solidFill>
            <a:prstDash val="solid"/>
          </a:ln>
        </p:spPr>
      </p:sp>
      <p:pic>
        <p:nvPicPr>
          <p:cNvPr id="10" name="Icon PiCheck 0A1628" descr="preencoded.png">    </p:cNvPr>
          <p:cNvPicPr>
            <a:picLocks noChangeAspect="1"/>
          </p:cNvPicPr>
          <p:nvPr/>
        </p:nvPicPr>
        <p:blipFill>
          <a:blip r:embed="rId1">
            <a:extLst>
              <a:ext uri="{96DAC541-7B7A-43D3-8B79-37D633B846F1}">
                <asvg:svgBlip xmlns:asvg="http://schemas.microsoft.com/office/drawing/2016/SVG/main" r:embed="rId17"/>
              </a:ext>
            </a:extLst>
          </a:blip>
          <a:stretch>
            <a:fillRect/>
          </a:stretch>
        </p:blipFill>
        <p:spPr>
          <a:xfrm>
            <a:off x="868680" y="4005072"/>
            <a:ext cx="164592" cy="164592"/>
          </a:xfrm>
          <a:prstGeom prst="rect">
            <a:avLst/>
          </a:prstGeom>
        </p:spPr>
      </p:pic>
      <p:sp>
        <p:nvSpPr>
          <p:cNvPr id="11" name="Text 8"/>
          <p:cNvSpPr txBox="1"/>
          <p:nvPr/>
        </p:nvSpPr>
        <p:spPr>
          <a:xfrm>
            <a:off x="1143000" y="397764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Pipeline views</a:t>
            </a:r>
            <a:endParaRPr lang="en-US" sz="1050" dirty="0"/>
          </a:p>
        </p:txBody>
      </p:sp>
      <p:pic>
        <p:nvPicPr>
          <p:cNvPr id="12" name="Icon PiCheck 0A1628" descr="preencoded.png">    </p:cNvPr>
          <p:cNvPicPr>
            <a:picLocks noChangeAspect="1"/>
          </p:cNvPicPr>
          <p:nvPr/>
        </p:nvPicPr>
        <p:blipFill>
          <a:blip r:embed="rId2">
            <a:extLst>
              <a:ext uri="{96DAC541-7B7A-43D3-8B79-37D633B846F1}">
                <asvg:svgBlip xmlns:asvg="http://schemas.microsoft.com/office/drawing/2016/SVG/main" r:embed="rId18"/>
              </a:ext>
            </a:extLst>
          </a:blip>
          <a:stretch>
            <a:fillRect/>
          </a:stretch>
        </p:blipFill>
        <p:spPr>
          <a:xfrm>
            <a:off x="868680" y="4279392"/>
            <a:ext cx="164592" cy="164592"/>
          </a:xfrm>
          <a:prstGeom prst="rect">
            <a:avLst/>
          </a:prstGeom>
        </p:spPr>
      </p:pic>
      <p:sp>
        <p:nvSpPr>
          <p:cNvPr id="13" name="Text 9"/>
          <p:cNvSpPr txBox="1"/>
          <p:nvPr/>
        </p:nvSpPr>
        <p:spPr>
          <a:xfrm>
            <a:off x="1143000" y="425196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Basic forecasting</a:t>
            </a:r>
            <a:endParaRPr lang="en-US" sz="1050" dirty="0"/>
          </a:p>
        </p:txBody>
      </p:sp>
      <p:pic>
        <p:nvPicPr>
          <p:cNvPr id="14" name="Icon PiCheck 0A1628" descr="preencoded.png">    </p:cNvPr>
          <p:cNvPicPr>
            <a:picLocks noChangeAspect="1"/>
          </p:cNvPicPr>
          <p:nvPr/>
        </p:nvPicPr>
        <p:blipFill>
          <a:blip r:embed="rId3">
            <a:extLst>
              <a:ext uri="{96DAC541-7B7A-43D3-8B79-37D633B846F1}">
                <asvg:svgBlip xmlns:asvg="http://schemas.microsoft.com/office/drawing/2016/SVG/main" r:embed="rId19"/>
              </a:ext>
            </a:extLst>
          </a:blip>
          <a:stretch>
            <a:fillRect/>
          </a:stretch>
        </p:blipFill>
        <p:spPr>
          <a:xfrm>
            <a:off x="868680" y="4553712"/>
            <a:ext cx="164592" cy="164592"/>
          </a:xfrm>
          <a:prstGeom prst="rect">
            <a:avLst/>
          </a:prstGeom>
        </p:spPr>
      </p:pic>
      <p:sp>
        <p:nvSpPr>
          <p:cNvPr id="15" name="Text 10"/>
          <p:cNvSpPr txBox="1"/>
          <p:nvPr/>
        </p:nvSpPr>
        <p:spPr>
          <a:xfrm>
            <a:off x="1143000" y="452628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CRM sync</a:t>
            </a:r>
            <a:endParaRPr lang="en-US" sz="1050" dirty="0"/>
          </a:p>
        </p:txBody>
      </p:sp>
      <p:pic>
        <p:nvPicPr>
          <p:cNvPr id="16" name="Icon PiCheck 0A1628" descr="preencoded.png">    </p:cNvPr>
          <p:cNvPicPr>
            <a:picLocks noChangeAspect="1"/>
          </p:cNvPicPr>
          <p:nvPr/>
        </p:nvPicPr>
        <p:blipFill>
          <a:blip r:embed="rId4">
            <a:extLst>
              <a:ext uri="{96DAC541-7B7A-43D3-8B79-37D633B846F1}">
                <asvg:svgBlip xmlns:asvg="http://schemas.microsoft.com/office/drawing/2016/SVG/main" r:embed="rId20"/>
              </a:ext>
            </a:extLst>
          </a:blip>
          <a:stretch>
            <a:fillRect/>
          </a:stretch>
        </p:blipFill>
        <p:spPr>
          <a:xfrm>
            <a:off x="868680" y="4828032"/>
            <a:ext cx="164592" cy="164592"/>
          </a:xfrm>
          <a:prstGeom prst="rect">
            <a:avLst/>
          </a:prstGeom>
        </p:spPr>
      </p:pic>
      <p:sp>
        <p:nvSpPr>
          <p:cNvPr id="17" name="Text 11"/>
          <p:cNvSpPr txBox="1"/>
          <p:nvPr/>
        </p:nvSpPr>
        <p:spPr>
          <a:xfrm>
            <a:off x="1143000" y="480060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Email support</a:t>
            </a:r>
            <a:endParaRPr lang="en-US" sz="1050" dirty="0"/>
          </a:p>
        </p:txBody>
      </p:sp>
      <p:sp>
        <p:nvSpPr>
          <p:cNvPr id="18" name="Shape 12"/>
          <p:cNvSpPr/>
          <p:nvPr/>
        </p:nvSpPr>
        <p:spPr>
          <a:xfrm>
            <a:off x="868680" y="5376672"/>
            <a:ext cx="2905658" cy="420624"/>
          </a:xfrm>
          <a:prstGeom prst="roundRect">
            <a:avLst>
              <a:gd name="adj" fmla="val 50000"/>
            </a:avLst>
          </a:prstGeom>
          <a:solidFill>
            <a:schemeClr val="bg1"/>
          </a:solidFill>
          <a:ln w="9525">
            <a:solidFill>
              <a:schemeClr val="tx1"/>
            </a:solidFill>
            <a:prstDash val="solid"/>
          </a:ln>
        </p:spPr>
      </p:sp>
      <p:sp>
        <p:nvSpPr>
          <p:cNvPr id="19" name="Text 13"/>
          <p:cNvSpPr txBox="1"/>
          <p:nvPr/>
        </p:nvSpPr>
        <p:spPr>
          <a:xfrm>
            <a:off x="868680" y="5376672"/>
            <a:ext cx="2905658" cy="42062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Start free trial</a:t>
            </a:r>
            <a:endParaRPr lang="en-US" sz="1100" dirty="0"/>
          </a:p>
        </p:txBody>
      </p:sp>
      <p:sp>
        <p:nvSpPr>
          <p:cNvPr id="20" name="Shape 14"/>
          <p:cNvSpPr/>
          <p:nvPr/>
        </p:nvSpPr>
        <p:spPr>
          <a:xfrm>
            <a:off x="4322978" y="1737360"/>
            <a:ext cx="3545738" cy="4297680"/>
          </a:xfrm>
          <a:prstGeom prst="roundRect">
            <a:avLst>
              <a:gd name="adj" fmla="val 2579"/>
            </a:avLst>
          </a:prstGeom>
          <a:solidFill>
            <a:schemeClr val="tx1"/>
          </a:solidFill>
          <a:ln/>
        </p:spPr>
      </p:sp>
      <p:sp>
        <p:nvSpPr>
          <p:cNvPr id="21" name="Text 15"/>
          <p:cNvSpPr txBox="1"/>
          <p:nvPr/>
        </p:nvSpPr>
        <p:spPr>
          <a:xfrm>
            <a:off x="4643018" y="2011680"/>
            <a:ext cx="2286000" cy="32004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Growth</a:t>
            </a:r>
            <a:endParaRPr lang="en-US" sz="1600" dirty="0"/>
          </a:p>
        </p:txBody>
      </p:sp>
      <p:sp>
        <p:nvSpPr>
          <p:cNvPr id="22" name="Shape 16"/>
          <p:cNvSpPr/>
          <p:nvPr/>
        </p:nvSpPr>
        <p:spPr>
          <a:xfrm>
            <a:off x="6451397" y="2029968"/>
            <a:ext cx="1143000" cy="274320"/>
          </a:xfrm>
          <a:prstGeom prst="roundRect">
            <a:avLst>
              <a:gd name="adj" fmla="val 50000"/>
            </a:avLst>
          </a:prstGeom>
          <a:solidFill>
            <a:schemeClr val="accent1"/>
          </a:solidFill>
          <a:ln/>
        </p:spPr>
      </p:sp>
      <p:sp>
        <p:nvSpPr>
          <p:cNvPr id="23" name="Text 17"/>
          <p:cNvSpPr txBox="1"/>
          <p:nvPr/>
        </p:nvSpPr>
        <p:spPr>
          <a:xfrm>
            <a:off x="6451397" y="2029968"/>
            <a:ext cx="11430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Most popular</a:t>
            </a:r>
            <a:endParaRPr lang="en-US" sz="900" dirty="0"/>
          </a:p>
        </p:txBody>
      </p:sp>
      <p:sp>
        <p:nvSpPr>
          <p:cNvPr id="24" name="Text 18"/>
          <p:cNvSpPr txBox="1"/>
          <p:nvPr/>
        </p:nvSpPr>
        <p:spPr>
          <a:xfrm>
            <a:off x="4643018" y="2423160"/>
            <a:ext cx="2905658" cy="685800"/>
          </a:xfrm>
          <a:prstGeom prst="rect">
            <a:avLst/>
          </a:prstGeom>
          <a:noFill/>
          <a:ln/>
        </p:spPr>
        <p:txBody>
          <a:bodyPr wrap="square" lIns="0" tIns="0" rIns="0" bIns="0" rtlCol="0" anchor="b"/>
          <a:lstStyle/>
          <a:p>
            <a:pPr algn="l" indent="0" marL="0">
              <a:buNone/>
            </a:pPr>
            <a:r>
              <a:rPr lang="en-US" sz="3600" dirty="0">
                <a:solidFill>
                  <a:schemeClr val="accent1"/>
                </a:solidFill>
                <a:latin typeface="Manrope ExtraBold" pitchFamily="34" charset="0"/>
                <a:ea typeface="Manrope ExtraBold" pitchFamily="34" charset="-122"/>
                <a:cs typeface="Manrope ExtraBold" pitchFamily="34" charset="-120"/>
              </a:rPr>
              <a:t>$79</a:t>
            </a:r>
            <a:pPr algn="l" indent="0" marL="0">
              <a:buNone/>
            </a:pPr>
            <a:r>
              <a:rPr lang="en-US" sz="1050" dirty="0">
                <a:solidFill>
                  <a:schemeClr val="accent4"/>
                </a:solidFill>
                <a:latin typeface="Inter" pitchFamily="34" charset="0"/>
                <a:ea typeface="Inter" pitchFamily="34" charset="-122"/>
                <a:cs typeface="Inter" pitchFamily="34" charset="-120"/>
              </a:rPr>
              <a:t>  / seat / month</a:t>
            </a:r>
            <a:endParaRPr lang="en-US" sz="1200" dirty="0"/>
          </a:p>
        </p:txBody>
      </p:sp>
      <p:sp>
        <p:nvSpPr>
          <p:cNvPr id="25" name="Text 19"/>
          <p:cNvSpPr txBox="1"/>
          <p:nvPr/>
        </p:nvSpPr>
        <p:spPr>
          <a:xfrm>
            <a:off x="4643018" y="3200400"/>
            <a:ext cx="290565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4"/>
                </a:solidFill>
                <a:latin typeface="Inter" pitchFamily="34" charset="0"/>
                <a:ea typeface="Inter" pitchFamily="34" charset="-122"/>
                <a:cs typeface="Inter" pitchFamily="34" charset="-120"/>
              </a:rPr>
              <a:t>For scaling teams that need AI and coaching.</a:t>
            </a:r>
            <a:endParaRPr lang="en-US" sz="1050" dirty="0"/>
          </a:p>
        </p:txBody>
      </p:sp>
      <p:sp>
        <p:nvSpPr>
          <p:cNvPr id="26" name="Shape 20"/>
          <p:cNvSpPr/>
          <p:nvPr/>
        </p:nvSpPr>
        <p:spPr>
          <a:xfrm>
            <a:off x="4643018" y="3703320"/>
            <a:ext cx="2905658" cy="0"/>
          </a:xfrm>
          <a:prstGeom prst="line">
            <a:avLst/>
          </a:prstGeom>
          <a:noFill/>
          <a:ln w="12700">
            <a:solidFill>
              <a:schemeClr val="accent5"/>
            </a:solidFill>
            <a:prstDash val="solid"/>
          </a:ln>
        </p:spPr>
      </p:sp>
      <p:pic>
        <p:nvPicPr>
          <p:cNvPr id="27" name="Icon PiCheck C6F432" descr="preencoded.png">    </p:cNvPr>
          <p:cNvPicPr>
            <a:picLocks noChangeAspect="1"/>
          </p:cNvPicPr>
          <p:nvPr/>
        </p:nvPicPr>
        <p:blipFill>
          <a:blip r:embed="rId5">
            <a:extLst>
              <a:ext uri="{96DAC541-7B7A-43D3-8B79-37D633B846F1}">
                <asvg:svgBlip xmlns:asvg="http://schemas.microsoft.com/office/drawing/2016/SVG/main" r:embed="rId21"/>
              </a:ext>
            </a:extLst>
          </a:blip>
          <a:stretch>
            <a:fillRect/>
          </a:stretch>
        </p:blipFill>
        <p:spPr>
          <a:xfrm>
            <a:off x="4643018" y="3867912"/>
            <a:ext cx="164592" cy="164592"/>
          </a:xfrm>
          <a:prstGeom prst="rect">
            <a:avLst/>
          </a:prstGeom>
        </p:spPr>
      </p:pic>
      <p:sp>
        <p:nvSpPr>
          <p:cNvPr id="28" name="Text 21"/>
          <p:cNvSpPr txBox="1"/>
          <p:nvPr/>
        </p:nvSpPr>
        <p:spPr>
          <a:xfrm>
            <a:off x="4917338" y="384048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Everything in Starter</a:t>
            </a:r>
            <a:endParaRPr lang="en-US" sz="1050" dirty="0"/>
          </a:p>
        </p:txBody>
      </p:sp>
      <p:pic>
        <p:nvPicPr>
          <p:cNvPr id="29" name="Icon PiCheck C6F432" descr="preencoded.png">    </p:cNvPr>
          <p:cNvPicPr>
            <a:picLocks noChangeAspect="1"/>
          </p:cNvPicPr>
          <p:nvPr/>
        </p:nvPicPr>
        <p:blipFill>
          <a:blip r:embed="rId6">
            <a:extLst>
              <a:ext uri="{96DAC541-7B7A-43D3-8B79-37D633B846F1}">
                <asvg:svgBlip xmlns:asvg="http://schemas.microsoft.com/office/drawing/2016/SVG/main" r:embed="rId22"/>
              </a:ext>
            </a:extLst>
          </a:blip>
          <a:stretch>
            <a:fillRect/>
          </a:stretch>
        </p:blipFill>
        <p:spPr>
          <a:xfrm>
            <a:off x="4643018" y="4142232"/>
            <a:ext cx="164592" cy="164592"/>
          </a:xfrm>
          <a:prstGeom prst="rect">
            <a:avLst/>
          </a:prstGeom>
        </p:spPr>
      </p:pic>
      <p:sp>
        <p:nvSpPr>
          <p:cNvPr id="30" name="Text 22"/>
          <p:cNvSpPr txBox="1"/>
          <p:nvPr/>
        </p:nvSpPr>
        <p:spPr>
          <a:xfrm>
            <a:off x="4917338" y="411480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AI deal scoring</a:t>
            </a:r>
            <a:endParaRPr lang="en-US" sz="1050" dirty="0"/>
          </a:p>
        </p:txBody>
      </p:sp>
      <p:pic>
        <p:nvPicPr>
          <p:cNvPr id="31" name="Icon PiCheck C6F432" descr="preencoded.png">    </p:cNvPr>
          <p:cNvPicPr>
            <a:picLocks noChangeAspect="1"/>
          </p:cNvPicPr>
          <p:nvPr/>
        </p:nvPicPr>
        <p:blipFill>
          <a:blip r:embed="rId7">
            <a:extLst>
              <a:ext uri="{96DAC541-7B7A-43D3-8B79-37D633B846F1}">
                <asvg:svgBlip xmlns:asvg="http://schemas.microsoft.com/office/drawing/2016/SVG/main" r:embed="rId23"/>
              </a:ext>
            </a:extLst>
          </a:blip>
          <a:stretch>
            <a:fillRect/>
          </a:stretch>
        </p:blipFill>
        <p:spPr>
          <a:xfrm>
            <a:off x="4643018" y="4416552"/>
            <a:ext cx="164592" cy="164592"/>
          </a:xfrm>
          <a:prstGeom prst="rect">
            <a:avLst/>
          </a:prstGeom>
        </p:spPr>
      </p:pic>
      <p:sp>
        <p:nvSpPr>
          <p:cNvPr id="32" name="Text 23"/>
          <p:cNvSpPr txBox="1"/>
          <p:nvPr/>
        </p:nvSpPr>
        <p:spPr>
          <a:xfrm>
            <a:off x="4917338" y="438912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Forecast roll-ups</a:t>
            </a:r>
            <a:endParaRPr lang="en-US" sz="1050" dirty="0"/>
          </a:p>
        </p:txBody>
      </p:sp>
      <p:pic>
        <p:nvPicPr>
          <p:cNvPr id="33" name="Icon PiCheck C6F432" descr="preencoded.png">    </p:cNvPr>
          <p:cNvPicPr>
            <a:picLocks noChangeAspect="1"/>
          </p:cNvPicPr>
          <p:nvPr/>
        </p:nvPicPr>
        <p:blipFill>
          <a:blip r:embed="rId8">
            <a:extLst>
              <a:ext uri="{96DAC541-7B7A-43D3-8B79-37D633B846F1}">
                <asvg:svgBlip xmlns:asvg="http://schemas.microsoft.com/office/drawing/2016/SVG/main" r:embed="rId24"/>
              </a:ext>
            </a:extLst>
          </a:blip>
          <a:stretch>
            <a:fillRect/>
          </a:stretch>
        </p:blipFill>
        <p:spPr>
          <a:xfrm>
            <a:off x="4643018" y="4690872"/>
            <a:ext cx="164592" cy="164592"/>
          </a:xfrm>
          <a:prstGeom prst="rect">
            <a:avLst/>
          </a:prstGeom>
        </p:spPr>
      </p:pic>
      <p:sp>
        <p:nvSpPr>
          <p:cNvPr id="34" name="Text 24"/>
          <p:cNvSpPr txBox="1"/>
          <p:nvPr/>
        </p:nvSpPr>
        <p:spPr>
          <a:xfrm>
            <a:off x="4917338" y="466344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Coaching insights</a:t>
            </a:r>
            <a:endParaRPr lang="en-US" sz="1050" dirty="0"/>
          </a:p>
        </p:txBody>
      </p:sp>
      <p:pic>
        <p:nvPicPr>
          <p:cNvPr id="35" name="Icon PiCheck C6F432" descr="preencoded.png">    </p:cNvPr>
          <p:cNvPicPr>
            <a:picLocks noChangeAspect="1"/>
          </p:cNvPicPr>
          <p:nvPr/>
        </p:nvPicPr>
        <p:blipFill>
          <a:blip r:embed="rId9">
            <a:extLst>
              <a:ext uri="{96DAC541-7B7A-43D3-8B79-37D633B846F1}">
                <asvg:svgBlip xmlns:asvg="http://schemas.microsoft.com/office/drawing/2016/SVG/main" r:embed="rId25"/>
              </a:ext>
            </a:extLst>
          </a:blip>
          <a:stretch>
            <a:fillRect/>
          </a:stretch>
        </p:blipFill>
        <p:spPr>
          <a:xfrm>
            <a:off x="4643018" y="4965192"/>
            <a:ext cx="164592" cy="164592"/>
          </a:xfrm>
          <a:prstGeom prst="rect">
            <a:avLst/>
          </a:prstGeom>
        </p:spPr>
      </p:pic>
      <p:sp>
        <p:nvSpPr>
          <p:cNvPr id="36" name="Text 25"/>
          <p:cNvSpPr txBox="1"/>
          <p:nvPr/>
        </p:nvSpPr>
        <p:spPr>
          <a:xfrm>
            <a:off x="4917338" y="493776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Named CSM</a:t>
            </a:r>
            <a:endParaRPr lang="en-US" sz="1050" dirty="0"/>
          </a:p>
        </p:txBody>
      </p:sp>
      <p:sp>
        <p:nvSpPr>
          <p:cNvPr id="37" name="Shape 26"/>
          <p:cNvSpPr/>
          <p:nvPr/>
        </p:nvSpPr>
        <p:spPr>
          <a:xfrm>
            <a:off x="4643018" y="5376672"/>
            <a:ext cx="2905658" cy="420624"/>
          </a:xfrm>
          <a:prstGeom prst="roundRect">
            <a:avLst>
              <a:gd name="adj" fmla="val 50000"/>
            </a:avLst>
          </a:prstGeom>
          <a:solidFill>
            <a:schemeClr val="accent1"/>
          </a:solidFill>
          <a:ln/>
        </p:spPr>
      </p:sp>
      <p:sp>
        <p:nvSpPr>
          <p:cNvPr id="38" name="Text 27"/>
          <p:cNvSpPr txBox="1"/>
          <p:nvPr/>
        </p:nvSpPr>
        <p:spPr>
          <a:xfrm>
            <a:off x="4643018" y="5376672"/>
            <a:ext cx="2905658" cy="42062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Book a demo</a:t>
            </a:r>
            <a:endParaRPr lang="en-US" sz="1100" dirty="0"/>
          </a:p>
        </p:txBody>
      </p:sp>
      <p:sp>
        <p:nvSpPr>
          <p:cNvPr id="39" name="Shape 28"/>
          <p:cNvSpPr/>
          <p:nvPr/>
        </p:nvSpPr>
        <p:spPr>
          <a:xfrm>
            <a:off x="8097317" y="1874520"/>
            <a:ext cx="3545738" cy="4160520"/>
          </a:xfrm>
          <a:prstGeom prst="roundRect">
            <a:avLst>
              <a:gd name="adj" fmla="val 2579"/>
            </a:avLst>
          </a:prstGeom>
          <a:solidFill>
            <a:schemeClr val="bg1"/>
          </a:solidFill>
          <a:ln w="9525">
            <a:solidFill>
              <a:schemeClr val="accent4"/>
            </a:solidFill>
            <a:prstDash val="solid"/>
          </a:ln>
        </p:spPr>
      </p:sp>
      <p:sp>
        <p:nvSpPr>
          <p:cNvPr id="40" name="Text 29"/>
          <p:cNvSpPr txBox="1"/>
          <p:nvPr/>
        </p:nvSpPr>
        <p:spPr>
          <a:xfrm>
            <a:off x="8417357" y="214884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Enterprise</a:t>
            </a:r>
            <a:endParaRPr lang="en-US" sz="1600" dirty="0"/>
          </a:p>
        </p:txBody>
      </p:sp>
      <p:sp>
        <p:nvSpPr>
          <p:cNvPr id="41" name="Text 30"/>
          <p:cNvSpPr txBox="1"/>
          <p:nvPr/>
        </p:nvSpPr>
        <p:spPr>
          <a:xfrm>
            <a:off x="8417357" y="2560320"/>
            <a:ext cx="2905658" cy="685800"/>
          </a:xfrm>
          <a:prstGeom prst="rect">
            <a:avLst/>
          </a:prstGeom>
          <a:noFill/>
          <a:ln/>
        </p:spPr>
        <p:txBody>
          <a:bodyPr wrap="square" lIns="0" tIns="0" rIns="0" bIns="0" rtlCol="0" anchor="b"/>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Custom</a:t>
            </a:r>
            <a:pPr algn="l" indent="0" marL="0">
              <a:buNone/>
            </a:pPr>
            <a:endParaRPr lang="en-US" sz="1200" dirty="0"/>
          </a:p>
        </p:txBody>
      </p:sp>
      <p:sp>
        <p:nvSpPr>
          <p:cNvPr id="42" name="Text 31"/>
          <p:cNvSpPr txBox="1"/>
          <p:nvPr/>
        </p:nvSpPr>
        <p:spPr>
          <a:xfrm>
            <a:off x="8417357" y="3337560"/>
            <a:ext cx="290565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For complex orgs with advanced controls.</a:t>
            </a:r>
            <a:endParaRPr lang="en-US" sz="1050" dirty="0"/>
          </a:p>
        </p:txBody>
      </p:sp>
      <p:sp>
        <p:nvSpPr>
          <p:cNvPr id="43" name="Shape 32"/>
          <p:cNvSpPr/>
          <p:nvPr/>
        </p:nvSpPr>
        <p:spPr>
          <a:xfrm>
            <a:off x="8417357" y="3840480"/>
            <a:ext cx="2905658" cy="0"/>
          </a:xfrm>
          <a:prstGeom prst="line">
            <a:avLst/>
          </a:prstGeom>
          <a:noFill/>
          <a:ln w="12700">
            <a:solidFill>
              <a:schemeClr val="accent4"/>
            </a:solidFill>
            <a:prstDash val="solid"/>
          </a:ln>
        </p:spPr>
      </p:sp>
      <p:pic>
        <p:nvPicPr>
          <p:cNvPr id="44" name="Icon PiCheck 0A1628" descr="preencoded.png">    </p:cNvPr>
          <p:cNvPicPr>
            <a:picLocks noChangeAspect="1"/>
          </p:cNvPicPr>
          <p:nvPr/>
        </p:nvPicPr>
        <p:blipFill>
          <a:blip r:embed="rId10">
            <a:extLst>
              <a:ext uri="{96DAC541-7B7A-43D3-8B79-37D633B846F1}">
                <asvg:svgBlip xmlns:asvg="http://schemas.microsoft.com/office/drawing/2016/SVG/main" r:embed="rId26"/>
              </a:ext>
            </a:extLst>
          </a:blip>
          <a:stretch>
            <a:fillRect/>
          </a:stretch>
        </p:blipFill>
        <p:spPr>
          <a:xfrm>
            <a:off x="8417357" y="4005072"/>
            <a:ext cx="164592" cy="164592"/>
          </a:xfrm>
          <a:prstGeom prst="rect">
            <a:avLst/>
          </a:prstGeom>
        </p:spPr>
      </p:pic>
      <p:sp>
        <p:nvSpPr>
          <p:cNvPr id="45" name="Text 33"/>
          <p:cNvSpPr txBox="1"/>
          <p:nvPr/>
        </p:nvSpPr>
        <p:spPr>
          <a:xfrm>
            <a:off x="8691677" y="397764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Everything in Growth</a:t>
            </a:r>
            <a:endParaRPr lang="en-US" sz="1050" dirty="0"/>
          </a:p>
        </p:txBody>
      </p:sp>
      <p:pic>
        <p:nvPicPr>
          <p:cNvPr id="46" name="Icon PiCheck 0A1628" descr="preencoded.png">    </p:cNvPr>
          <p:cNvPicPr>
            <a:picLocks noChangeAspect="1"/>
          </p:cNvPicPr>
          <p:nvPr/>
        </p:nvPicPr>
        <p:blipFill>
          <a:blip r:embed="rId11">
            <a:extLst>
              <a:ext uri="{96DAC541-7B7A-43D3-8B79-37D633B846F1}">
                <asvg:svgBlip xmlns:asvg="http://schemas.microsoft.com/office/drawing/2016/SVG/main" r:embed="rId27"/>
              </a:ext>
            </a:extLst>
          </a:blip>
          <a:stretch>
            <a:fillRect/>
          </a:stretch>
        </p:blipFill>
        <p:spPr>
          <a:xfrm>
            <a:off x="8417357" y="4279392"/>
            <a:ext cx="164592" cy="164592"/>
          </a:xfrm>
          <a:prstGeom prst="rect">
            <a:avLst/>
          </a:prstGeom>
        </p:spPr>
      </p:pic>
      <p:sp>
        <p:nvSpPr>
          <p:cNvPr id="47" name="Text 34"/>
          <p:cNvSpPr txBox="1"/>
          <p:nvPr/>
        </p:nvSpPr>
        <p:spPr>
          <a:xfrm>
            <a:off x="8691677" y="425196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SSO &amp; SCIM</a:t>
            </a:r>
            <a:endParaRPr lang="en-US" sz="1050" dirty="0"/>
          </a:p>
        </p:txBody>
      </p:sp>
      <p:pic>
        <p:nvPicPr>
          <p:cNvPr id="48" name="Icon PiCheck 0A1628" descr="preencoded.png">    </p:cNvPr>
          <p:cNvPicPr>
            <a:picLocks noChangeAspect="1"/>
          </p:cNvPicPr>
          <p:nvPr/>
        </p:nvPicPr>
        <p:blipFill>
          <a:blip r:embed="rId12">
            <a:extLst>
              <a:ext uri="{96DAC541-7B7A-43D3-8B79-37D633B846F1}">
                <asvg:svgBlip xmlns:asvg="http://schemas.microsoft.com/office/drawing/2016/SVG/main" r:embed="rId28"/>
              </a:ext>
            </a:extLst>
          </a:blip>
          <a:stretch>
            <a:fillRect/>
          </a:stretch>
        </p:blipFill>
        <p:spPr>
          <a:xfrm>
            <a:off x="8417357" y="4553712"/>
            <a:ext cx="164592" cy="164592"/>
          </a:xfrm>
          <a:prstGeom prst="rect">
            <a:avLst/>
          </a:prstGeom>
        </p:spPr>
      </p:pic>
      <p:sp>
        <p:nvSpPr>
          <p:cNvPr id="49" name="Text 35"/>
          <p:cNvSpPr txBox="1"/>
          <p:nvPr/>
        </p:nvSpPr>
        <p:spPr>
          <a:xfrm>
            <a:off x="8691677" y="452628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Data residency</a:t>
            </a:r>
            <a:endParaRPr lang="en-US" sz="1050" dirty="0"/>
          </a:p>
        </p:txBody>
      </p:sp>
      <p:pic>
        <p:nvPicPr>
          <p:cNvPr id="50" name="Icon PiCheck 0A1628" descr="preencoded.png">    </p:cNvPr>
          <p:cNvPicPr>
            <a:picLocks noChangeAspect="1"/>
          </p:cNvPicPr>
          <p:nvPr/>
        </p:nvPicPr>
        <p:blipFill>
          <a:blip r:embed="rId13">
            <a:extLst>
              <a:ext uri="{96DAC541-7B7A-43D3-8B79-37D633B846F1}">
                <asvg:svgBlip xmlns:asvg="http://schemas.microsoft.com/office/drawing/2016/SVG/main" r:embed="rId29"/>
              </a:ext>
            </a:extLst>
          </a:blip>
          <a:stretch>
            <a:fillRect/>
          </a:stretch>
        </p:blipFill>
        <p:spPr>
          <a:xfrm>
            <a:off x="8417357" y="4828032"/>
            <a:ext cx="164592" cy="164592"/>
          </a:xfrm>
          <a:prstGeom prst="rect">
            <a:avLst/>
          </a:prstGeom>
        </p:spPr>
      </p:pic>
      <p:sp>
        <p:nvSpPr>
          <p:cNvPr id="51" name="Text 36"/>
          <p:cNvSpPr txBox="1"/>
          <p:nvPr/>
        </p:nvSpPr>
        <p:spPr>
          <a:xfrm>
            <a:off x="8691677" y="480060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Custom objects</a:t>
            </a:r>
            <a:endParaRPr lang="en-US" sz="1050" dirty="0"/>
          </a:p>
        </p:txBody>
      </p:sp>
      <p:pic>
        <p:nvPicPr>
          <p:cNvPr id="52" name="Icon PiCheck 0A1628" descr="preencoded.png">    </p:cNvPr>
          <p:cNvPicPr>
            <a:picLocks noChangeAspect="1"/>
          </p:cNvPicPr>
          <p:nvPr/>
        </p:nvPicPr>
        <p:blipFill>
          <a:blip r:embed="rId14">
            <a:extLst>
              <a:ext uri="{96DAC541-7B7A-43D3-8B79-37D633B846F1}">
                <asvg:svgBlip xmlns:asvg="http://schemas.microsoft.com/office/drawing/2016/SVG/main" r:embed="rId30"/>
              </a:ext>
            </a:extLst>
          </a:blip>
          <a:stretch>
            <a:fillRect/>
          </a:stretch>
        </p:blipFill>
        <p:spPr>
          <a:xfrm>
            <a:off x="8417357" y="5102352"/>
            <a:ext cx="164592" cy="164592"/>
          </a:xfrm>
          <a:prstGeom prst="rect">
            <a:avLst/>
          </a:prstGeom>
        </p:spPr>
      </p:pic>
      <p:sp>
        <p:nvSpPr>
          <p:cNvPr id="53" name="Text 37"/>
          <p:cNvSpPr txBox="1"/>
          <p:nvPr/>
        </p:nvSpPr>
        <p:spPr>
          <a:xfrm>
            <a:off x="8691677" y="507492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99.95% SLA</a:t>
            </a:r>
            <a:endParaRPr lang="en-US" sz="1050" dirty="0"/>
          </a:p>
        </p:txBody>
      </p:sp>
      <p:sp>
        <p:nvSpPr>
          <p:cNvPr id="54" name="Shape 38"/>
          <p:cNvSpPr/>
          <p:nvPr/>
        </p:nvSpPr>
        <p:spPr>
          <a:xfrm>
            <a:off x="8417357" y="5376672"/>
            <a:ext cx="2905658" cy="420624"/>
          </a:xfrm>
          <a:prstGeom prst="roundRect">
            <a:avLst>
              <a:gd name="adj" fmla="val 50000"/>
            </a:avLst>
          </a:prstGeom>
          <a:solidFill>
            <a:schemeClr val="bg1"/>
          </a:solidFill>
          <a:ln w="9525">
            <a:solidFill>
              <a:schemeClr val="tx1"/>
            </a:solidFill>
            <a:prstDash val="solid"/>
          </a:ln>
        </p:spPr>
      </p:sp>
      <p:sp>
        <p:nvSpPr>
          <p:cNvPr id="55" name="Text 39"/>
          <p:cNvSpPr txBox="1"/>
          <p:nvPr/>
        </p:nvSpPr>
        <p:spPr>
          <a:xfrm>
            <a:off x="8417357" y="5376672"/>
            <a:ext cx="2905658" cy="42062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Contact sales</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Unit economics: every $1 of acquisition returns $4.80</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Mid-market cohort, trailing 12 months.</a:t>
            </a:r>
            <a:endParaRPr lang="en-US" sz="1150" dirty="0"/>
          </a:p>
        </p:txBody>
      </p:sp>
      <p:sp>
        <p:nvSpPr>
          <p:cNvPr id="6" name="Shape 4"/>
          <p:cNvSpPr/>
          <p:nvPr/>
        </p:nvSpPr>
        <p:spPr>
          <a:xfrm>
            <a:off x="548640" y="2011680"/>
            <a:ext cx="2922194" cy="1920240"/>
          </a:xfrm>
          <a:prstGeom prst="roundRect">
            <a:avLst>
              <a:gd name="adj" fmla="val 4762"/>
            </a:avLst>
          </a:prstGeom>
          <a:solidFill>
            <a:schemeClr val="bg2"/>
          </a:solidFill>
          <a:ln/>
        </p:spPr>
      </p:sp>
      <p:sp>
        <p:nvSpPr>
          <p:cNvPr id="7" name="Text 5"/>
          <p:cNvSpPr txBox="1"/>
          <p:nvPr/>
        </p:nvSpPr>
        <p:spPr>
          <a:xfrm>
            <a:off x="822960" y="2267712"/>
            <a:ext cx="237355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Customer lifetime value</a:t>
            </a:r>
            <a:endParaRPr lang="en-US" sz="1050" dirty="0"/>
          </a:p>
        </p:txBody>
      </p:sp>
      <p:sp>
        <p:nvSpPr>
          <p:cNvPr id="8" name="Text 6"/>
          <p:cNvSpPr txBox="1"/>
          <p:nvPr/>
        </p:nvSpPr>
        <p:spPr>
          <a:xfrm>
            <a:off x="822960" y="2606040"/>
            <a:ext cx="2373554" cy="731520"/>
          </a:xfrm>
          <a:prstGeom prst="rect">
            <a:avLst/>
          </a:prstGeom>
          <a:noFill/>
          <a:ln/>
        </p:spPr>
        <p:txBody>
          <a:bodyPr wrap="square" lIns="0" tIns="0" rIns="0" bIns="0" rtlCol="0" anchor="t"/>
          <a:lstStyle/>
          <a:p>
            <a:pPr algn="l" indent="0" marL="0">
              <a:buNone/>
            </a:pPr>
            <a:r>
              <a:rPr lang="en-US" sz="4200" dirty="0">
                <a:solidFill>
                  <a:schemeClr val="tx1"/>
                </a:solidFill>
                <a:latin typeface="Manrope ExtraBold" pitchFamily="34" charset="0"/>
                <a:ea typeface="Manrope ExtraBold" pitchFamily="34" charset="-122"/>
                <a:cs typeface="Manrope ExtraBold" pitchFamily="34" charset="-120"/>
              </a:rPr>
              <a:t>$86.4K</a:t>
            </a:r>
            <a:endParaRPr lang="en-US" sz="4200" dirty="0"/>
          </a:p>
        </p:txBody>
      </p:sp>
      <p:sp>
        <p:nvSpPr>
          <p:cNvPr id="9" name="Text 7"/>
          <p:cNvSpPr txBox="1"/>
          <p:nvPr/>
        </p:nvSpPr>
        <p:spPr>
          <a:xfrm>
            <a:off x="822960" y="3383280"/>
            <a:ext cx="2373554" cy="36576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ACV $41K × 78% GM × 2.7-yr life</a:t>
            </a:r>
            <a:endParaRPr lang="en-US" sz="1000" dirty="0"/>
          </a:p>
        </p:txBody>
      </p:sp>
      <p:sp>
        <p:nvSpPr>
          <p:cNvPr id="10" name="Shape 8"/>
          <p:cNvSpPr/>
          <p:nvPr/>
        </p:nvSpPr>
        <p:spPr>
          <a:xfrm>
            <a:off x="3585134" y="2743200"/>
            <a:ext cx="457200" cy="457200"/>
          </a:xfrm>
          <a:prstGeom prst="ellipse">
            <a:avLst/>
          </a:prstGeom>
          <a:solidFill>
            <a:schemeClr val="accent1"/>
          </a:solidFill>
          <a:ln/>
        </p:spPr>
      </p:sp>
      <p:sp>
        <p:nvSpPr>
          <p:cNvPr id="11" name="Text 9"/>
          <p:cNvSpPr txBox="1"/>
          <p:nvPr/>
        </p:nvSpPr>
        <p:spPr>
          <a:xfrm>
            <a:off x="3585134" y="2724912"/>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latin typeface="Inter" pitchFamily="34" charset="0"/>
                <a:ea typeface="Inter" pitchFamily="34" charset="-122"/>
                <a:cs typeface="Inter" pitchFamily="34" charset="-120"/>
              </a:rPr>
              <a:t>÷</a:t>
            </a:r>
            <a:endParaRPr lang="en-US" sz="2000" dirty="0"/>
          </a:p>
        </p:txBody>
      </p:sp>
      <p:sp>
        <p:nvSpPr>
          <p:cNvPr id="12" name="Shape 10"/>
          <p:cNvSpPr/>
          <p:nvPr/>
        </p:nvSpPr>
        <p:spPr>
          <a:xfrm>
            <a:off x="4156634" y="2011680"/>
            <a:ext cx="2922194" cy="1920240"/>
          </a:xfrm>
          <a:prstGeom prst="roundRect">
            <a:avLst>
              <a:gd name="adj" fmla="val 4762"/>
            </a:avLst>
          </a:prstGeom>
          <a:solidFill>
            <a:schemeClr val="bg2"/>
          </a:solidFill>
          <a:ln/>
        </p:spPr>
      </p:sp>
      <p:sp>
        <p:nvSpPr>
          <p:cNvPr id="13" name="Text 11"/>
          <p:cNvSpPr txBox="1"/>
          <p:nvPr/>
        </p:nvSpPr>
        <p:spPr>
          <a:xfrm>
            <a:off x="4430954" y="2267712"/>
            <a:ext cx="237355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Customer acquisition cost</a:t>
            </a:r>
            <a:endParaRPr lang="en-US" sz="1050" dirty="0"/>
          </a:p>
        </p:txBody>
      </p:sp>
      <p:sp>
        <p:nvSpPr>
          <p:cNvPr id="14" name="Text 12"/>
          <p:cNvSpPr txBox="1"/>
          <p:nvPr/>
        </p:nvSpPr>
        <p:spPr>
          <a:xfrm>
            <a:off x="4430954" y="2606040"/>
            <a:ext cx="2373554" cy="731520"/>
          </a:xfrm>
          <a:prstGeom prst="rect">
            <a:avLst/>
          </a:prstGeom>
          <a:noFill/>
          <a:ln/>
        </p:spPr>
        <p:txBody>
          <a:bodyPr wrap="square" lIns="0" tIns="0" rIns="0" bIns="0" rtlCol="0" anchor="t"/>
          <a:lstStyle/>
          <a:p>
            <a:pPr algn="l" indent="0" marL="0">
              <a:buNone/>
            </a:pPr>
            <a:r>
              <a:rPr lang="en-US" sz="4200" dirty="0">
                <a:solidFill>
                  <a:schemeClr val="tx1"/>
                </a:solidFill>
                <a:latin typeface="Manrope ExtraBold" pitchFamily="34" charset="0"/>
                <a:ea typeface="Manrope ExtraBold" pitchFamily="34" charset="-122"/>
                <a:cs typeface="Manrope ExtraBold" pitchFamily="34" charset="-120"/>
              </a:rPr>
              <a:t>$18.2K</a:t>
            </a:r>
            <a:endParaRPr lang="en-US" sz="4200" dirty="0"/>
          </a:p>
        </p:txBody>
      </p:sp>
      <p:sp>
        <p:nvSpPr>
          <p:cNvPr id="15" name="Text 13"/>
          <p:cNvSpPr txBox="1"/>
          <p:nvPr/>
        </p:nvSpPr>
        <p:spPr>
          <a:xfrm>
            <a:off x="4430954" y="3383280"/>
            <a:ext cx="2373554" cy="36576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Blended S&amp;M ÷ new customers</a:t>
            </a:r>
            <a:endParaRPr lang="en-US" sz="1000" dirty="0"/>
          </a:p>
        </p:txBody>
      </p:sp>
      <p:sp>
        <p:nvSpPr>
          <p:cNvPr id="16" name="Shape 14"/>
          <p:cNvSpPr/>
          <p:nvPr/>
        </p:nvSpPr>
        <p:spPr>
          <a:xfrm>
            <a:off x="7193128" y="2743200"/>
            <a:ext cx="457200" cy="457200"/>
          </a:xfrm>
          <a:prstGeom prst="ellipse">
            <a:avLst/>
          </a:prstGeom>
          <a:solidFill>
            <a:schemeClr val="accent1"/>
          </a:solidFill>
          <a:ln/>
        </p:spPr>
      </p:sp>
      <p:sp>
        <p:nvSpPr>
          <p:cNvPr id="17" name="Text 15"/>
          <p:cNvSpPr txBox="1"/>
          <p:nvPr/>
        </p:nvSpPr>
        <p:spPr>
          <a:xfrm>
            <a:off x="7193128" y="2724912"/>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latin typeface="Inter" pitchFamily="34" charset="0"/>
                <a:ea typeface="Inter" pitchFamily="34" charset="-122"/>
                <a:cs typeface="Inter" pitchFamily="34" charset="-120"/>
              </a:rPr>
              <a:t>=</a:t>
            </a:r>
            <a:endParaRPr lang="en-US" sz="2000" dirty="0"/>
          </a:p>
        </p:txBody>
      </p:sp>
      <p:sp>
        <p:nvSpPr>
          <p:cNvPr id="18" name="Shape 16"/>
          <p:cNvSpPr/>
          <p:nvPr/>
        </p:nvSpPr>
        <p:spPr>
          <a:xfrm>
            <a:off x="7764628" y="2011680"/>
            <a:ext cx="3878428" cy="1920240"/>
          </a:xfrm>
          <a:prstGeom prst="roundRect">
            <a:avLst>
              <a:gd name="adj" fmla="val 4762"/>
            </a:avLst>
          </a:prstGeom>
          <a:solidFill>
            <a:schemeClr val="tx1"/>
          </a:solidFill>
          <a:ln/>
        </p:spPr>
      </p:sp>
      <p:sp>
        <p:nvSpPr>
          <p:cNvPr id="19" name="Text 17"/>
          <p:cNvSpPr txBox="1"/>
          <p:nvPr/>
        </p:nvSpPr>
        <p:spPr>
          <a:xfrm>
            <a:off x="8038948" y="2267712"/>
            <a:ext cx="3329788" cy="228600"/>
          </a:xfrm>
          <a:prstGeom prst="rect">
            <a:avLst/>
          </a:prstGeom>
          <a:noFill/>
          <a:ln/>
        </p:spPr>
        <p:txBody>
          <a:bodyPr wrap="square" lIns="0" tIns="0" rIns="0" bIns="0" rtlCol="0" anchor="t"/>
          <a:lstStyle/>
          <a:p>
            <a:pPr algn="l" indent="0" marL="0">
              <a:buNone/>
            </a:pPr>
            <a:r>
              <a:rPr lang="en-US" sz="1050" dirty="0">
                <a:solidFill>
                  <a:schemeClr val="accent4"/>
                </a:solidFill>
                <a:latin typeface="Inter Medium" pitchFamily="34" charset="0"/>
                <a:ea typeface="Inter Medium" pitchFamily="34" charset="-122"/>
                <a:cs typeface="Inter Medium" pitchFamily="34" charset="-120"/>
              </a:rPr>
              <a:t>LTV : CAC</a:t>
            </a:r>
            <a:endParaRPr lang="en-US" sz="1050" dirty="0"/>
          </a:p>
        </p:txBody>
      </p:sp>
      <p:sp>
        <p:nvSpPr>
          <p:cNvPr id="20" name="Text 18"/>
          <p:cNvSpPr txBox="1"/>
          <p:nvPr/>
        </p:nvSpPr>
        <p:spPr>
          <a:xfrm>
            <a:off x="8038948" y="2606040"/>
            <a:ext cx="3329788" cy="731520"/>
          </a:xfrm>
          <a:prstGeom prst="rect">
            <a:avLst/>
          </a:prstGeom>
          <a:noFill/>
          <a:ln/>
        </p:spPr>
        <p:txBody>
          <a:bodyPr wrap="square" lIns="0" tIns="0" rIns="0" bIns="0" rtlCol="0" anchor="t"/>
          <a:lstStyle/>
          <a:p>
            <a:pPr algn="l" indent="0" marL="0">
              <a:buNone/>
            </a:pPr>
            <a:r>
              <a:rPr lang="en-US" sz="4200" dirty="0">
                <a:solidFill>
                  <a:schemeClr val="accent1"/>
                </a:solidFill>
                <a:latin typeface="Manrope ExtraBold" pitchFamily="34" charset="0"/>
                <a:ea typeface="Manrope ExtraBold" pitchFamily="34" charset="-122"/>
                <a:cs typeface="Manrope ExtraBold" pitchFamily="34" charset="-120"/>
              </a:rPr>
              <a:t>4.8×</a:t>
            </a:r>
            <a:endParaRPr lang="en-US" sz="4200" dirty="0"/>
          </a:p>
        </p:txBody>
      </p:sp>
      <p:sp>
        <p:nvSpPr>
          <p:cNvPr id="21" name="Text 19"/>
          <p:cNvSpPr txBox="1"/>
          <p:nvPr/>
        </p:nvSpPr>
        <p:spPr>
          <a:xfrm>
            <a:off x="8038948" y="3383280"/>
            <a:ext cx="3329788" cy="36576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Benchmark for top-quartile SaaS: 3.0×</a:t>
            </a:r>
            <a:endParaRPr lang="en-US" sz="1000" dirty="0"/>
          </a:p>
        </p:txBody>
      </p:sp>
      <p:sp>
        <p:nvSpPr>
          <p:cNvPr id="22" name="Shape 20"/>
          <p:cNvSpPr/>
          <p:nvPr/>
        </p:nvSpPr>
        <p:spPr>
          <a:xfrm>
            <a:off x="548640" y="4251960"/>
            <a:ext cx="2602154" cy="0"/>
          </a:xfrm>
          <a:prstGeom prst="line">
            <a:avLst/>
          </a:prstGeom>
          <a:noFill/>
          <a:ln w="15875">
            <a:solidFill>
              <a:schemeClr val="tx1"/>
            </a:solidFill>
            <a:prstDash val="solid"/>
          </a:ln>
        </p:spPr>
      </p:sp>
      <p:pic>
        <p:nvPicPr>
          <p:cNvPr id="23" name="Icon PiHourglass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548640" y="4526280"/>
            <a:ext cx="292608" cy="292608"/>
          </a:xfrm>
          <a:prstGeom prst="rect">
            <a:avLst/>
          </a:prstGeom>
        </p:spPr>
      </p:pic>
      <p:sp>
        <p:nvSpPr>
          <p:cNvPr id="24" name="Text 21"/>
          <p:cNvSpPr txBox="1"/>
          <p:nvPr/>
        </p:nvSpPr>
        <p:spPr>
          <a:xfrm>
            <a:off x="548640"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11 months</a:t>
            </a:r>
            <a:endParaRPr lang="en-US" sz="2600" dirty="0"/>
          </a:p>
        </p:txBody>
      </p:sp>
      <p:sp>
        <p:nvSpPr>
          <p:cNvPr id="25" name="Text 22"/>
          <p:cNvSpPr txBox="1"/>
          <p:nvPr/>
        </p:nvSpPr>
        <p:spPr>
          <a:xfrm>
            <a:off x="548640"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CAC payback</a:t>
            </a:r>
            <a:endParaRPr lang="en-US" sz="1050" dirty="0"/>
          </a:p>
        </p:txBody>
      </p:sp>
      <p:sp>
        <p:nvSpPr>
          <p:cNvPr id="26" name="Shape 23"/>
          <p:cNvSpPr/>
          <p:nvPr/>
        </p:nvSpPr>
        <p:spPr>
          <a:xfrm>
            <a:off x="3379394" y="4251960"/>
            <a:ext cx="2602154" cy="0"/>
          </a:xfrm>
          <a:prstGeom prst="line">
            <a:avLst/>
          </a:prstGeom>
          <a:noFill/>
          <a:ln w="15875">
            <a:solidFill>
              <a:schemeClr val="tx1"/>
            </a:solidFill>
            <a:prstDash val="solid"/>
          </a:ln>
        </p:spPr>
      </p:sp>
      <p:pic>
        <p:nvPicPr>
          <p:cNvPr id="27" name="Icon PiPercent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379394" y="4526280"/>
            <a:ext cx="292608" cy="292608"/>
          </a:xfrm>
          <a:prstGeom prst="rect">
            <a:avLst/>
          </a:prstGeom>
        </p:spPr>
      </p:pic>
      <p:sp>
        <p:nvSpPr>
          <p:cNvPr id="28" name="Text 24"/>
          <p:cNvSpPr txBox="1"/>
          <p:nvPr/>
        </p:nvSpPr>
        <p:spPr>
          <a:xfrm>
            <a:off x="3379394"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78%</a:t>
            </a:r>
            <a:endParaRPr lang="en-US" sz="2600" dirty="0"/>
          </a:p>
        </p:txBody>
      </p:sp>
      <p:sp>
        <p:nvSpPr>
          <p:cNvPr id="29" name="Text 25"/>
          <p:cNvSpPr txBox="1"/>
          <p:nvPr/>
        </p:nvSpPr>
        <p:spPr>
          <a:xfrm>
            <a:off x="3379394"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Gross margin</a:t>
            </a:r>
            <a:endParaRPr lang="en-US" sz="1050" dirty="0"/>
          </a:p>
        </p:txBody>
      </p:sp>
      <p:sp>
        <p:nvSpPr>
          <p:cNvPr id="30" name="Shape 26"/>
          <p:cNvSpPr/>
          <p:nvPr/>
        </p:nvSpPr>
        <p:spPr>
          <a:xfrm>
            <a:off x="6210148" y="4251960"/>
            <a:ext cx="2602154" cy="0"/>
          </a:xfrm>
          <a:prstGeom prst="line">
            <a:avLst/>
          </a:prstGeom>
          <a:noFill/>
          <a:ln w="15875">
            <a:solidFill>
              <a:schemeClr val="tx1"/>
            </a:solidFill>
            <a:prstDash val="solid"/>
          </a:ln>
        </p:spPr>
      </p:sp>
      <p:pic>
        <p:nvPicPr>
          <p:cNvPr id="31" name="Icon PiArrowsClockwis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210148" y="4526280"/>
            <a:ext cx="292608" cy="292608"/>
          </a:xfrm>
          <a:prstGeom prst="rect">
            <a:avLst/>
          </a:prstGeom>
        </p:spPr>
      </p:pic>
      <p:sp>
        <p:nvSpPr>
          <p:cNvPr id="32" name="Text 27"/>
          <p:cNvSpPr txBox="1"/>
          <p:nvPr/>
        </p:nvSpPr>
        <p:spPr>
          <a:xfrm>
            <a:off x="6210148"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128%</a:t>
            </a:r>
            <a:endParaRPr lang="en-US" sz="2600" dirty="0"/>
          </a:p>
        </p:txBody>
      </p:sp>
      <p:sp>
        <p:nvSpPr>
          <p:cNvPr id="33" name="Text 28"/>
          <p:cNvSpPr txBox="1"/>
          <p:nvPr/>
        </p:nvSpPr>
        <p:spPr>
          <a:xfrm>
            <a:off x="6210148"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Net revenue retention</a:t>
            </a:r>
            <a:endParaRPr lang="en-US" sz="1050" dirty="0"/>
          </a:p>
        </p:txBody>
      </p:sp>
      <p:sp>
        <p:nvSpPr>
          <p:cNvPr id="34" name="Shape 29"/>
          <p:cNvSpPr/>
          <p:nvPr/>
        </p:nvSpPr>
        <p:spPr>
          <a:xfrm>
            <a:off x="9040901" y="4251960"/>
            <a:ext cx="2602154" cy="0"/>
          </a:xfrm>
          <a:prstGeom prst="line">
            <a:avLst/>
          </a:prstGeom>
          <a:noFill/>
          <a:ln w="15875">
            <a:solidFill>
              <a:schemeClr val="tx1"/>
            </a:solidFill>
            <a:prstDash val="solid"/>
          </a:ln>
        </p:spPr>
      </p:sp>
      <p:pic>
        <p:nvPicPr>
          <p:cNvPr id="35" name="Icon PiSparkle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9040901" y="4526280"/>
            <a:ext cx="292608" cy="292608"/>
          </a:xfrm>
          <a:prstGeom prst="rect">
            <a:avLst/>
          </a:prstGeom>
        </p:spPr>
      </p:pic>
      <p:sp>
        <p:nvSpPr>
          <p:cNvPr id="36" name="Text 30"/>
          <p:cNvSpPr txBox="1"/>
          <p:nvPr/>
        </p:nvSpPr>
        <p:spPr>
          <a:xfrm>
            <a:off x="9040901"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1.3</a:t>
            </a:r>
            <a:endParaRPr lang="en-US" sz="2600" dirty="0"/>
          </a:p>
        </p:txBody>
      </p:sp>
      <p:sp>
        <p:nvSpPr>
          <p:cNvPr id="37" name="Text 31"/>
          <p:cNvSpPr txBox="1"/>
          <p:nvPr/>
        </p:nvSpPr>
        <p:spPr>
          <a:xfrm>
            <a:off x="9040901"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Magic number</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Revenue breakdown: Growth plan customers drive 54% of revenue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FY2026 revenue by plan and product line, $M.</a:t>
            </a:r>
            <a:endParaRPr lang="en-US" sz="1150" dirty="0"/>
          </a:p>
        </p:txBody>
      </p:sp>
      <p:sp>
        <p:nvSpPr>
          <p:cNvPr id="6" name="Shape 4"/>
          <p:cNvSpPr/>
          <p:nvPr/>
        </p:nvSpPr>
        <p:spPr>
          <a:xfrm>
            <a:off x="548640" y="1874520"/>
            <a:ext cx="4425801" cy="4160520"/>
          </a:xfrm>
          <a:prstGeom prst="roundRect">
            <a:avLst>
              <a:gd name="adj" fmla="val 1758"/>
            </a:avLst>
          </a:prstGeom>
          <a:solidFill>
            <a:schemeClr val="tx1"/>
          </a:solidFill>
          <a:ln/>
        </p:spPr>
      </p:sp>
      <p:sp>
        <p:nvSpPr>
          <p:cNvPr id="7" name="Text 5"/>
          <p:cNvSpPr txBox="1"/>
          <p:nvPr/>
        </p:nvSpPr>
        <p:spPr>
          <a:xfrm>
            <a:off x="777240" y="2057400"/>
            <a:ext cx="3968601" cy="256032"/>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Growth plan</a:t>
            </a:r>
            <a:endParaRPr lang="en-US" sz="1400" dirty="0"/>
          </a:p>
        </p:txBody>
      </p:sp>
      <p:sp>
        <p:nvSpPr>
          <p:cNvPr id="8" name="Text 6"/>
          <p:cNvSpPr txBox="1"/>
          <p:nvPr/>
        </p:nvSpPr>
        <p:spPr>
          <a:xfrm>
            <a:off x="777240" y="2377440"/>
            <a:ext cx="3968601" cy="731520"/>
          </a:xfrm>
          <a:prstGeom prst="rect">
            <a:avLst/>
          </a:prstGeom>
          <a:noFill/>
          <a:ln/>
        </p:spPr>
        <p:txBody>
          <a:bodyPr wrap="square" lIns="0" tIns="0" rIns="0" bIns="0" rtlCol="0" anchor="t"/>
          <a:lstStyle/>
          <a:p>
            <a:pPr algn="l" indent="0" marL="0">
              <a:buNone/>
            </a:pPr>
            <a:r>
              <a:rPr lang="en-US" sz="4000" dirty="0">
                <a:solidFill>
                  <a:schemeClr val="bg1"/>
                </a:solidFill>
                <a:latin typeface="Manrope ExtraBold" pitchFamily="34" charset="0"/>
                <a:ea typeface="Manrope ExtraBold" pitchFamily="34" charset="-122"/>
                <a:cs typeface="Manrope ExtraBold" pitchFamily="34" charset="-120"/>
              </a:rPr>
              <a:t>$23.7M</a:t>
            </a:r>
            <a:endParaRPr lang="en-US" sz="4000" dirty="0"/>
          </a:p>
        </p:txBody>
      </p:sp>
      <p:sp>
        <p:nvSpPr>
          <p:cNvPr id="9" name="Text 7"/>
          <p:cNvSpPr txBox="1"/>
          <p:nvPr/>
        </p:nvSpPr>
        <p:spPr>
          <a:xfrm>
            <a:off x="777240" y="5623560"/>
            <a:ext cx="3968601" cy="228600"/>
          </a:xfrm>
          <a:prstGeom prst="rect">
            <a:avLst/>
          </a:prstGeom>
          <a:noFill/>
          <a:ln/>
        </p:spPr>
        <p:txBody>
          <a:bodyPr wrap="square" lIns="0" tIns="0" rIns="0" bIns="0" rtlCol="0" anchor="t"/>
          <a:lstStyle/>
          <a:p>
            <a:pPr algn="l" indent="0" marL="0">
              <a:buNone/>
            </a:pPr>
            <a:r>
              <a:rPr lang="en-US" sz="1000" dirty="0">
                <a:solidFill>
                  <a:schemeClr val="accent1"/>
                </a:solidFill>
                <a:latin typeface="Inter Medium" pitchFamily="34" charset="0"/>
                <a:ea typeface="Inter Medium" pitchFamily="34" charset="-122"/>
                <a:cs typeface="Inter Medium" pitchFamily="34" charset="-120"/>
              </a:rPr>
              <a:t>54% of revenue</a:t>
            </a:r>
            <a:endParaRPr lang="en-US" sz="1000" dirty="0"/>
          </a:p>
        </p:txBody>
      </p:sp>
      <p:sp>
        <p:nvSpPr>
          <p:cNvPr id="10" name="Shape 8"/>
          <p:cNvSpPr/>
          <p:nvPr/>
        </p:nvSpPr>
        <p:spPr>
          <a:xfrm>
            <a:off x="5047593" y="1874520"/>
            <a:ext cx="3764708" cy="2376526"/>
          </a:xfrm>
          <a:prstGeom prst="roundRect">
            <a:avLst>
              <a:gd name="adj" fmla="val 3078"/>
            </a:avLst>
          </a:prstGeom>
          <a:solidFill>
            <a:schemeClr val="accent2"/>
          </a:solidFill>
          <a:ln/>
        </p:spPr>
      </p:sp>
      <p:sp>
        <p:nvSpPr>
          <p:cNvPr id="11" name="Text 9"/>
          <p:cNvSpPr txBox="1"/>
          <p:nvPr/>
        </p:nvSpPr>
        <p:spPr>
          <a:xfrm>
            <a:off x="5276193" y="2057400"/>
            <a:ext cx="3307508" cy="256032"/>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Enterprise plan</a:t>
            </a:r>
            <a:endParaRPr lang="en-US" sz="1400" dirty="0"/>
          </a:p>
        </p:txBody>
      </p:sp>
      <p:sp>
        <p:nvSpPr>
          <p:cNvPr id="12" name="Text 10"/>
          <p:cNvSpPr txBox="1"/>
          <p:nvPr/>
        </p:nvSpPr>
        <p:spPr>
          <a:xfrm>
            <a:off x="5276193" y="2377440"/>
            <a:ext cx="3307508" cy="731520"/>
          </a:xfrm>
          <a:prstGeom prst="rect">
            <a:avLst/>
          </a:prstGeom>
          <a:noFill/>
          <a:ln/>
        </p:spPr>
        <p:txBody>
          <a:bodyPr wrap="square" lIns="0" tIns="0" rIns="0" bIns="0" rtlCol="0" anchor="t"/>
          <a:lstStyle/>
          <a:p>
            <a:pPr algn="l" indent="0" marL="0">
              <a:buNone/>
            </a:pPr>
            <a:r>
              <a:rPr lang="en-US" sz="4000" dirty="0">
                <a:solidFill>
                  <a:schemeClr val="bg1"/>
                </a:solidFill>
                <a:latin typeface="Manrope ExtraBold" pitchFamily="34" charset="0"/>
                <a:ea typeface="Manrope ExtraBold" pitchFamily="34" charset="-122"/>
                <a:cs typeface="Manrope ExtraBold" pitchFamily="34" charset="-120"/>
              </a:rPr>
              <a:t>$11.4M</a:t>
            </a:r>
            <a:endParaRPr lang="en-US" sz="4000" dirty="0"/>
          </a:p>
        </p:txBody>
      </p:sp>
      <p:sp>
        <p:nvSpPr>
          <p:cNvPr id="13" name="Text 11"/>
          <p:cNvSpPr txBox="1"/>
          <p:nvPr/>
        </p:nvSpPr>
        <p:spPr>
          <a:xfrm>
            <a:off x="5276193" y="3839566"/>
            <a:ext cx="3307508" cy="228600"/>
          </a:xfrm>
          <a:prstGeom prst="rect">
            <a:avLst/>
          </a:prstGeom>
          <a:noFill/>
          <a:ln/>
        </p:spPr>
        <p:txBody>
          <a:bodyPr wrap="square" lIns="0" tIns="0" rIns="0" bIns="0" rtlCol="0" anchor="t"/>
          <a:lstStyle/>
          <a:p>
            <a:pPr algn="l" indent="0" marL="0">
              <a:buNone/>
            </a:pPr>
            <a:r>
              <a:rPr lang="en-US" sz="1000" dirty="0">
                <a:solidFill>
                  <a:schemeClr val="bg1"/>
                </a:solidFill>
                <a:latin typeface="Inter Medium" pitchFamily="34" charset="0"/>
                <a:ea typeface="Inter Medium" pitchFamily="34" charset="-122"/>
                <a:cs typeface="Inter Medium" pitchFamily="34" charset="-120"/>
              </a:rPr>
              <a:t>26% of revenue</a:t>
            </a:r>
            <a:endParaRPr lang="en-US" sz="1000" dirty="0"/>
          </a:p>
        </p:txBody>
      </p:sp>
      <p:sp>
        <p:nvSpPr>
          <p:cNvPr id="14" name="Shape 12"/>
          <p:cNvSpPr/>
          <p:nvPr/>
        </p:nvSpPr>
        <p:spPr>
          <a:xfrm>
            <a:off x="5047593" y="4324198"/>
            <a:ext cx="1447362" cy="1710842"/>
          </a:xfrm>
          <a:prstGeom prst="roundRect">
            <a:avLst>
              <a:gd name="adj" fmla="val 5054"/>
            </a:avLst>
          </a:prstGeom>
          <a:solidFill>
            <a:schemeClr val="accent4"/>
          </a:solidFill>
          <a:ln/>
        </p:spPr>
      </p:sp>
      <p:sp>
        <p:nvSpPr>
          <p:cNvPr id="15" name="Text 13"/>
          <p:cNvSpPr txBox="1"/>
          <p:nvPr/>
        </p:nvSpPr>
        <p:spPr>
          <a:xfrm>
            <a:off x="5276193" y="4507078"/>
            <a:ext cx="990162" cy="256032"/>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Starter plan</a:t>
            </a:r>
            <a:endParaRPr lang="en-US" sz="1100" dirty="0"/>
          </a:p>
        </p:txBody>
      </p:sp>
      <p:sp>
        <p:nvSpPr>
          <p:cNvPr id="16" name="Text 14"/>
          <p:cNvSpPr txBox="1"/>
          <p:nvPr/>
        </p:nvSpPr>
        <p:spPr>
          <a:xfrm>
            <a:off x="5276193" y="4735678"/>
            <a:ext cx="990162" cy="365760"/>
          </a:xfrm>
          <a:prstGeom prst="rect">
            <a:avLst/>
          </a:prstGeom>
          <a:noFill/>
          <a:ln/>
        </p:spPr>
        <p:txBody>
          <a:bodyPr wrap="square" lIns="0" tIns="0" rIns="0" bIns="0" rtlCol="0" anchor="t"/>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$3.5M</a:t>
            </a:r>
            <a:endParaRPr lang="en-US" sz="1600" dirty="0"/>
          </a:p>
        </p:txBody>
      </p:sp>
      <p:sp>
        <p:nvSpPr>
          <p:cNvPr id="17" name="Text 15"/>
          <p:cNvSpPr txBox="1"/>
          <p:nvPr/>
        </p:nvSpPr>
        <p:spPr>
          <a:xfrm>
            <a:off x="5276193" y="5623560"/>
            <a:ext cx="990162"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8% of revenue</a:t>
            </a:r>
            <a:endParaRPr lang="en-US" sz="1000" dirty="0"/>
          </a:p>
        </p:txBody>
      </p:sp>
      <p:sp>
        <p:nvSpPr>
          <p:cNvPr id="18" name="Shape 16"/>
          <p:cNvSpPr/>
          <p:nvPr/>
        </p:nvSpPr>
        <p:spPr>
          <a:xfrm>
            <a:off x="6568107" y="4324198"/>
            <a:ext cx="2244195" cy="946175"/>
          </a:xfrm>
          <a:prstGeom prst="roundRect">
            <a:avLst>
              <a:gd name="adj" fmla="val 7731"/>
            </a:avLst>
          </a:prstGeom>
          <a:solidFill>
            <a:schemeClr val="accent1"/>
          </a:solidFill>
          <a:ln/>
        </p:spPr>
      </p:sp>
      <p:sp>
        <p:nvSpPr>
          <p:cNvPr id="19" name="Text 17"/>
          <p:cNvSpPr txBox="1"/>
          <p:nvPr/>
        </p:nvSpPr>
        <p:spPr>
          <a:xfrm>
            <a:off x="6796707" y="4507078"/>
            <a:ext cx="1786995" cy="256032"/>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Services</a:t>
            </a:r>
            <a:endParaRPr lang="en-US" sz="1100" dirty="0"/>
          </a:p>
        </p:txBody>
      </p:sp>
      <p:sp>
        <p:nvSpPr>
          <p:cNvPr id="20" name="Text 18"/>
          <p:cNvSpPr txBox="1"/>
          <p:nvPr/>
        </p:nvSpPr>
        <p:spPr>
          <a:xfrm>
            <a:off x="7669301" y="4507078"/>
            <a:ext cx="914400" cy="256032"/>
          </a:xfrm>
          <a:prstGeom prst="rect">
            <a:avLst/>
          </a:prstGeom>
          <a:noFill/>
          <a:ln/>
        </p:spPr>
        <p:txBody>
          <a:bodyPr wrap="square" lIns="0" tIns="0" rIns="0" bIns="0" rtlCol="0" anchor="t"/>
          <a:lstStyle/>
          <a:p>
            <a:pPr algn="r" indent="0" marL="0">
              <a:buNone/>
            </a:pPr>
            <a:r>
              <a:rPr lang="en-US" sz="1100" b="1" dirty="0">
                <a:solidFill>
                  <a:schemeClr val="tx1"/>
                </a:solidFill>
                <a:latin typeface="Manrope" pitchFamily="34" charset="0"/>
                <a:ea typeface="Manrope" pitchFamily="34" charset="-122"/>
                <a:cs typeface="Manrope" pitchFamily="34" charset="-120"/>
              </a:rPr>
              <a:t>$3.2M</a:t>
            </a:r>
            <a:endParaRPr lang="en-US" sz="1100" dirty="0"/>
          </a:p>
        </p:txBody>
      </p:sp>
      <p:sp>
        <p:nvSpPr>
          <p:cNvPr id="21" name="Shape 19"/>
          <p:cNvSpPr/>
          <p:nvPr/>
        </p:nvSpPr>
        <p:spPr>
          <a:xfrm>
            <a:off x="6568107" y="5343525"/>
            <a:ext cx="2244195" cy="691515"/>
          </a:xfrm>
          <a:prstGeom prst="roundRect">
            <a:avLst>
              <a:gd name="adj" fmla="val 10579"/>
            </a:avLst>
          </a:prstGeom>
          <a:solidFill>
            <a:schemeClr val="bg1"/>
          </a:solidFill>
          <a:ln/>
        </p:spPr>
      </p:sp>
      <p:sp>
        <p:nvSpPr>
          <p:cNvPr id="22" name="Text 20"/>
          <p:cNvSpPr txBox="1"/>
          <p:nvPr/>
        </p:nvSpPr>
        <p:spPr>
          <a:xfrm>
            <a:off x="6796707" y="5526405"/>
            <a:ext cx="1786995" cy="256032"/>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Marketplace</a:t>
            </a:r>
            <a:endParaRPr lang="en-US" sz="1100" dirty="0"/>
          </a:p>
        </p:txBody>
      </p:sp>
      <p:sp>
        <p:nvSpPr>
          <p:cNvPr id="23" name="Text 21"/>
          <p:cNvSpPr txBox="1"/>
          <p:nvPr/>
        </p:nvSpPr>
        <p:spPr>
          <a:xfrm>
            <a:off x="7669301" y="5526405"/>
            <a:ext cx="914400" cy="256032"/>
          </a:xfrm>
          <a:prstGeom prst="rect">
            <a:avLst/>
          </a:prstGeom>
          <a:noFill/>
          <a:ln/>
        </p:spPr>
        <p:txBody>
          <a:bodyPr wrap="square" lIns="0" tIns="0" rIns="0" bIns="0" rtlCol="0" anchor="t"/>
          <a:lstStyle/>
          <a:p>
            <a:pPr algn="r" indent="0" marL="0">
              <a:buNone/>
            </a:pPr>
            <a:r>
              <a:rPr lang="en-US" sz="1100" b="1" dirty="0">
                <a:solidFill>
                  <a:schemeClr val="tx1"/>
                </a:solidFill>
                <a:latin typeface="Manrope" pitchFamily="34" charset="0"/>
                <a:ea typeface="Manrope" pitchFamily="34" charset="-122"/>
                <a:cs typeface="Manrope" pitchFamily="34" charset="-120"/>
              </a:rPr>
              <a:t>$2.0M</a:t>
            </a:r>
            <a:endParaRPr lang="en-US" sz="1100" dirty="0"/>
          </a:p>
        </p:txBody>
      </p:sp>
      <p:sp>
        <p:nvSpPr>
          <p:cNvPr id="24" name="Text 22"/>
          <p:cNvSpPr txBox="1"/>
          <p:nvPr/>
        </p:nvSpPr>
        <p:spPr>
          <a:xfrm>
            <a:off x="9315221" y="1874520"/>
            <a:ext cx="2327834" cy="640080"/>
          </a:xfrm>
          <a:prstGeom prst="rect">
            <a:avLst/>
          </a:prstGeom>
          <a:noFill/>
          <a:ln/>
        </p:spPr>
        <p:txBody>
          <a:bodyPr wrap="square" lIns="0" tIns="0" rIns="0" bIns="0" rtlCol="0" anchor="t"/>
          <a:lstStyle/>
          <a:p>
            <a:pPr algn="l" indent="0" marL="0">
              <a:buNone/>
            </a:pPr>
            <a:r>
              <a:rPr lang="en-US" sz="3400" dirty="0">
                <a:solidFill>
                  <a:schemeClr val="tx1"/>
                </a:solidFill>
                <a:latin typeface="Manrope ExtraBold" pitchFamily="34" charset="0"/>
                <a:ea typeface="Manrope ExtraBold" pitchFamily="34" charset="-122"/>
                <a:cs typeface="Manrope ExtraBold" pitchFamily="34" charset="-120"/>
              </a:rPr>
              <a:t>$43.8M</a:t>
            </a:r>
            <a:endParaRPr lang="en-US" sz="3400" dirty="0"/>
          </a:p>
        </p:txBody>
      </p:sp>
      <p:sp>
        <p:nvSpPr>
          <p:cNvPr id="25" name="Text 23"/>
          <p:cNvSpPr txBox="1"/>
          <p:nvPr/>
        </p:nvSpPr>
        <p:spPr>
          <a:xfrm>
            <a:off x="9315221" y="251460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FY2026 revenue (forecast)</a:t>
            </a:r>
            <a:endParaRPr lang="en-US" sz="1050" dirty="0"/>
          </a:p>
        </p:txBody>
      </p:sp>
      <p:sp>
        <p:nvSpPr>
          <p:cNvPr id="26" name="Shape 24"/>
          <p:cNvSpPr/>
          <p:nvPr/>
        </p:nvSpPr>
        <p:spPr>
          <a:xfrm>
            <a:off x="9315221" y="3017520"/>
            <a:ext cx="2327834" cy="0"/>
          </a:xfrm>
          <a:prstGeom prst="line">
            <a:avLst/>
          </a:prstGeom>
          <a:noFill/>
          <a:ln w="9525">
            <a:solidFill>
              <a:schemeClr val="accent4"/>
            </a:solidFill>
            <a:prstDash val="solid"/>
          </a:ln>
        </p:spPr>
      </p:sp>
      <p:sp>
        <p:nvSpPr>
          <p:cNvPr id="27" name="Text 25"/>
          <p:cNvSpPr txBox="1"/>
          <p:nvPr/>
        </p:nvSpPr>
        <p:spPr>
          <a:xfrm>
            <a:off x="9315221" y="3200400"/>
            <a:ext cx="1596314" cy="27432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Subscription</a:t>
            </a:r>
            <a:endParaRPr lang="en-US" sz="1100" dirty="0"/>
          </a:p>
        </p:txBody>
      </p:sp>
      <p:sp>
        <p:nvSpPr>
          <p:cNvPr id="28" name="Text 26"/>
          <p:cNvSpPr txBox="1"/>
          <p:nvPr/>
        </p:nvSpPr>
        <p:spPr>
          <a:xfrm>
            <a:off x="10911535" y="3200400"/>
            <a:ext cx="731520" cy="274320"/>
          </a:xfrm>
          <a:prstGeom prst="rect">
            <a:avLst/>
          </a:prstGeom>
          <a:noFill/>
          <a:ln/>
        </p:spPr>
        <p:txBody>
          <a:bodyPr wrap="square" lIns="0" tIns="0" rIns="0" bIns="0" rtlCol="0" anchor="t"/>
          <a:lstStyle/>
          <a:p>
            <a:pPr algn="r" indent="0" marL="0">
              <a:buNone/>
            </a:pPr>
            <a:r>
              <a:rPr lang="en-US" sz="1200" b="1" dirty="0">
                <a:solidFill>
                  <a:schemeClr val="tx1"/>
                </a:solidFill>
                <a:latin typeface="Manrope" pitchFamily="34" charset="0"/>
                <a:ea typeface="Manrope" pitchFamily="34" charset="-122"/>
                <a:cs typeface="Manrope" pitchFamily="34" charset="-120"/>
              </a:rPr>
              <a:t>88%</a:t>
            </a:r>
            <a:endParaRPr lang="en-US" sz="1200" dirty="0"/>
          </a:p>
        </p:txBody>
      </p:sp>
      <p:sp>
        <p:nvSpPr>
          <p:cNvPr id="29" name="Text 27"/>
          <p:cNvSpPr txBox="1"/>
          <p:nvPr/>
        </p:nvSpPr>
        <p:spPr>
          <a:xfrm>
            <a:off x="9315221" y="3703320"/>
            <a:ext cx="1596314" cy="27432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Services</a:t>
            </a:r>
            <a:endParaRPr lang="en-US" sz="1100" dirty="0"/>
          </a:p>
        </p:txBody>
      </p:sp>
      <p:sp>
        <p:nvSpPr>
          <p:cNvPr id="30" name="Text 28"/>
          <p:cNvSpPr txBox="1"/>
          <p:nvPr/>
        </p:nvSpPr>
        <p:spPr>
          <a:xfrm>
            <a:off x="10911535" y="3703320"/>
            <a:ext cx="731520" cy="274320"/>
          </a:xfrm>
          <a:prstGeom prst="rect">
            <a:avLst/>
          </a:prstGeom>
          <a:noFill/>
          <a:ln/>
        </p:spPr>
        <p:txBody>
          <a:bodyPr wrap="square" lIns="0" tIns="0" rIns="0" bIns="0" rtlCol="0" anchor="t"/>
          <a:lstStyle/>
          <a:p>
            <a:pPr algn="r" indent="0" marL="0">
              <a:buNone/>
            </a:pPr>
            <a:r>
              <a:rPr lang="en-US" sz="1200" b="1" dirty="0">
                <a:solidFill>
                  <a:schemeClr val="tx1"/>
                </a:solidFill>
                <a:latin typeface="Manrope" pitchFamily="34" charset="0"/>
                <a:ea typeface="Manrope" pitchFamily="34" charset="-122"/>
                <a:cs typeface="Manrope" pitchFamily="34" charset="-120"/>
              </a:rPr>
              <a:t>7%</a:t>
            </a:r>
            <a:endParaRPr lang="en-US" sz="1200" dirty="0"/>
          </a:p>
        </p:txBody>
      </p:sp>
      <p:sp>
        <p:nvSpPr>
          <p:cNvPr id="31" name="Text 29"/>
          <p:cNvSpPr txBox="1"/>
          <p:nvPr/>
        </p:nvSpPr>
        <p:spPr>
          <a:xfrm>
            <a:off x="9315221" y="4206240"/>
            <a:ext cx="1596314" cy="27432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Marketplace</a:t>
            </a:r>
            <a:endParaRPr lang="en-US" sz="1100" dirty="0"/>
          </a:p>
        </p:txBody>
      </p:sp>
      <p:sp>
        <p:nvSpPr>
          <p:cNvPr id="32" name="Text 30"/>
          <p:cNvSpPr txBox="1"/>
          <p:nvPr/>
        </p:nvSpPr>
        <p:spPr>
          <a:xfrm>
            <a:off x="10911535" y="4206240"/>
            <a:ext cx="731520" cy="274320"/>
          </a:xfrm>
          <a:prstGeom prst="rect">
            <a:avLst/>
          </a:prstGeom>
          <a:noFill/>
          <a:ln/>
        </p:spPr>
        <p:txBody>
          <a:bodyPr wrap="square" lIns="0" tIns="0" rIns="0" bIns="0" rtlCol="0" anchor="t"/>
          <a:lstStyle/>
          <a:p>
            <a:pPr algn="r" indent="0" marL="0">
              <a:buNone/>
            </a:pPr>
            <a:r>
              <a:rPr lang="en-US" sz="1200" b="1" dirty="0">
                <a:solidFill>
                  <a:schemeClr val="tx1"/>
                </a:solidFill>
                <a:latin typeface="Manrope" pitchFamily="34" charset="0"/>
                <a:ea typeface="Manrope" pitchFamily="34" charset="-122"/>
                <a:cs typeface="Manrope" pitchFamily="34" charset="-120"/>
              </a:rPr>
              <a:t>5%</a:t>
            </a:r>
            <a:endParaRPr lang="en-US" sz="1200" dirty="0"/>
          </a:p>
        </p:txBody>
      </p:sp>
      <p:sp>
        <p:nvSpPr>
          <p:cNvPr id="33" name="Text 31"/>
          <p:cNvSpPr txBox="1"/>
          <p:nvPr/>
        </p:nvSpPr>
        <p:spPr>
          <a:xfrm>
            <a:off x="9315221" y="5760720"/>
            <a:ext cx="2327834" cy="22860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Tile area is proportional to revenue.</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strategic priorities for 2027</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Each priority has one accountable owner and one metric that defines success.</a:t>
            </a:r>
            <a:endParaRPr lang="en-US" sz="1150" dirty="0"/>
          </a:p>
        </p:txBody>
      </p:sp>
      <p:sp>
        <p:nvSpPr>
          <p:cNvPr id="6" name="Text 4"/>
          <p:cNvSpPr txBox="1"/>
          <p:nvPr/>
        </p:nvSpPr>
        <p:spPr>
          <a:xfrm>
            <a:off x="1737360" y="1828800"/>
            <a:ext cx="27432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PRIORITY</a:t>
            </a:r>
            <a:endParaRPr lang="en-US" sz="900" dirty="0"/>
          </a:p>
        </p:txBody>
      </p:sp>
      <p:sp>
        <p:nvSpPr>
          <p:cNvPr id="7" name="Text 5"/>
          <p:cNvSpPr txBox="1"/>
          <p:nvPr/>
        </p:nvSpPr>
        <p:spPr>
          <a:xfrm>
            <a:off x="8097317" y="1828800"/>
            <a:ext cx="13716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OWNER</a:t>
            </a:r>
            <a:endParaRPr lang="en-US" sz="900" dirty="0"/>
          </a:p>
        </p:txBody>
      </p:sp>
      <p:sp>
        <p:nvSpPr>
          <p:cNvPr id="8" name="Text 6"/>
          <p:cNvSpPr txBox="1"/>
          <p:nvPr/>
        </p:nvSpPr>
        <p:spPr>
          <a:xfrm>
            <a:off x="9315221" y="1828800"/>
            <a:ext cx="27432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SUCCESS METRIC</a:t>
            </a:r>
            <a:endParaRPr lang="en-US" sz="900" dirty="0"/>
          </a:p>
        </p:txBody>
      </p:sp>
      <p:sp>
        <p:nvSpPr>
          <p:cNvPr id="9" name="Shape 7"/>
          <p:cNvSpPr/>
          <p:nvPr/>
        </p:nvSpPr>
        <p:spPr>
          <a:xfrm>
            <a:off x="548640" y="2148840"/>
            <a:ext cx="11094415" cy="0"/>
          </a:xfrm>
          <a:prstGeom prst="line">
            <a:avLst/>
          </a:prstGeom>
          <a:noFill/>
          <a:ln w="15875">
            <a:solidFill>
              <a:schemeClr val="tx1"/>
            </a:solidFill>
            <a:prstDash val="solid"/>
          </a:ln>
        </p:spPr>
      </p:sp>
      <p:sp>
        <p:nvSpPr>
          <p:cNvPr id="10" name="Text 8"/>
          <p:cNvSpPr txBox="1"/>
          <p:nvPr/>
        </p:nvSpPr>
        <p:spPr>
          <a:xfrm>
            <a:off x="548640" y="2286000"/>
            <a:ext cx="1005840" cy="68580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01</a:t>
            </a:r>
            <a:endParaRPr lang="en-US" sz="3600" dirty="0"/>
          </a:p>
        </p:txBody>
      </p:sp>
      <p:sp>
        <p:nvSpPr>
          <p:cNvPr id="11" name="Text 9"/>
          <p:cNvSpPr txBox="1"/>
          <p:nvPr/>
        </p:nvSpPr>
        <p:spPr>
          <a:xfrm>
            <a:off x="1737360" y="2331720"/>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Win the US mid-market</a:t>
            </a:r>
            <a:endParaRPr lang="en-US" sz="1600" dirty="0"/>
          </a:p>
        </p:txBody>
      </p:sp>
      <p:sp>
        <p:nvSpPr>
          <p:cNvPr id="12" name="Text 10"/>
          <p:cNvSpPr txBox="1"/>
          <p:nvPr/>
        </p:nvSpPr>
        <p:spPr>
          <a:xfrm>
            <a:off x="1737360" y="267004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Triple US sales capacity and launch two vertical playbooks.</a:t>
            </a:r>
            <a:endParaRPr lang="en-US" sz="1100" dirty="0"/>
          </a:p>
        </p:txBody>
      </p:sp>
      <p:sp>
        <p:nvSpPr>
          <p:cNvPr id="13" name="Text 11"/>
          <p:cNvSpPr txBox="1"/>
          <p:nvPr/>
        </p:nvSpPr>
        <p:spPr>
          <a:xfrm>
            <a:off x="8097317" y="2377440"/>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CRO</a:t>
            </a:r>
            <a:endParaRPr lang="en-US" sz="1100" dirty="0"/>
          </a:p>
        </p:txBody>
      </p:sp>
      <p:sp>
        <p:nvSpPr>
          <p:cNvPr id="14" name="Shape 12"/>
          <p:cNvSpPr/>
          <p:nvPr/>
        </p:nvSpPr>
        <p:spPr>
          <a:xfrm>
            <a:off x="9315221" y="2450592"/>
            <a:ext cx="2327834" cy="329184"/>
          </a:xfrm>
          <a:prstGeom prst="roundRect">
            <a:avLst>
              <a:gd name="adj" fmla="val 50000"/>
            </a:avLst>
          </a:prstGeom>
          <a:solidFill>
            <a:schemeClr val="accent1"/>
          </a:solidFill>
          <a:ln/>
        </p:spPr>
      </p:sp>
      <p:sp>
        <p:nvSpPr>
          <p:cNvPr id="15" name="Text 13"/>
          <p:cNvSpPr txBox="1"/>
          <p:nvPr/>
        </p:nvSpPr>
        <p:spPr>
          <a:xfrm>
            <a:off x="9315221" y="2450592"/>
            <a:ext cx="2327834" cy="329184"/>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$25M US ARR</a:t>
            </a:r>
            <a:endParaRPr lang="en-US" sz="1000" dirty="0"/>
          </a:p>
        </p:txBody>
      </p:sp>
      <p:sp>
        <p:nvSpPr>
          <p:cNvPr id="16" name="Shape 14"/>
          <p:cNvSpPr/>
          <p:nvPr/>
        </p:nvSpPr>
        <p:spPr>
          <a:xfrm>
            <a:off x="548640" y="3127248"/>
            <a:ext cx="11094415" cy="0"/>
          </a:xfrm>
          <a:prstGeom prst="line">
            <a:avLst/>
          </a:prstGeom>
          <a:noFill/>
          <a:ln w="9525">
            <a:solidFill>
              <a:schemeClr val="accent4"/>
            </a:solidFill>
            <a:prstDash val="solid"/>
          </a:ln>
        </p:spPr>
      </p:sp>
      <p:sp>
        <p:nvSpPr>
          <p:cNvPr id="17" name="Text 15"/>
          <p:cNvSpPr txBox="1"/>
          <p:nvPr/>
        </p:nvSpPr>
        <p:spPr>
          <a:xfrm>
            <a:off x="548640" y="3264408"/>
            <a:ext cx="1005840" cy="685800"/>
          </a:xfrm>
          <a:prstGeom prst="rect">
            <a:avLst/>
          </a:prstGeom>
          <a:noFill/>
          <a:ln/>
        </p:spPr>
        <p:txBody>
          <a:bodyPr wrap="square" lIns="0" tIns="0" rIns="0" bIns="0" rtlCol="0" anchor="t"/>
          <a:lstStyle/>
          <a:p>
            <a:pPr algn="l" indent="0" marL="0">
              <a:buNone/>
            </a:pPr>
            <a:r>
              <a:rPr lang="en-US" sz="3600" dirty="0">
                <a:solidFill>
                  <a:schemeClr val="accent4"/>
                </a:solidFill>
                <a:latin typeface="Manrope ExtraBold" pitchFamily="34" charset="0"/>
                <a:ea typeface="Manrope ExtraBold" pitchFamily="34" charset="-122"/>
                <a:cs typeface="Manrope ExtraBold" pitchFamily="34" charset="-120"/>
              </a:rPr>
              <a:t>02</a:t>
            </a:r>
            <a:endParaRPr lang="en-US" sz="3600" dirty="0"/>
          </a:p>
        </p:txBody>
      </p:sp>
      <p:sp>
        <p:nvSpPr>
          <p:cNvPr id="18" name="Text 16"/>
          <p:cNvSpPr txBox="1"/>
          <p:nvPr/>
        </p:nvSpPr>
        <p:spPr>
          <a:xfrm>
            <a:off x="1737360" y="3310128"/>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Lead in predictive AI</a:t>
            </a:r>
            <a:endParaRPr lang="en-US" sz="1600" dirty="0"/>
          </a:p>
        </p:txBody>
      </p:sp>
      <p:sp>
        <p:nvSpPr>
          <p:cNvPr id="19" name="Text 17"/>
          <p:cNvSpPr txBox="1"/>
          <p:nvPr/>
        </p:nvSpPr>
        <p:spPr>
          <a:xfrm>
            <a:off x="1737360" y="3648456"/>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Ship autonomous forecasting and call intelligence.</a:t>
            </a:r>
            <a:endParaRPr lang="en-US" sz="1100" dirty="0"/>
          </a:p>
        </p:txBody>
      </p:sp>
      <p:sp>
        <p:nvSpPr>
          <p:cNvPr id="20" name="Text 18"/>
          <p:cNvSpPr txBox="1"/>
          <p:nvPr/>
        </p:nvSpPr>
        <p:spPr>
          <a:xfrm>
            <a:off x="8097317" y="3355848"/>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CPO</a:t>
            </a:r>
            <a:endParaRPr lang="en-US" sz="1100" dirty="0"/>
          </a:p>
        </p:txBody>
      </p:sp>
      <p:sp>
        <p:nvSpPr>
          <p:cNvPr id="21" name="Shape 19"/>
          <p:cNvSpPr/>
          <p:nvPr/>
        </p:nvSpPr>
        <p:spPr>
          <a:xfrm>
            <a:off x="9315221" y="3429000"/>
            <a:ext cx="2327834" cy="329184"/>
          </a:xfrm>
          <a:prstGeom prst="roundRect">
            <a:avLst>
              <a:gd name="adj" fmla="val 50000"/>
            </a:avLst>
          </a:prstGeom>
          <a:solidFill>
            <a:schemeClr val="bg2"/>
          </a:solidFill>
          <a:ln/>
        </p:spPr>
      </p:sp>
      <p:sp>
        <p:nvSpPr>
          <p:cNvPr id="22" name="Text 20"/>
          <p:cNvSpPr txBox="1"/>
          <p:nvPr/>
        </p:nvSpPr>
        <p:spPr>
          <a:xfrm>
            <a:off x="9315221" y="3429000"/>
            <a:ext cx="2327834" cy="329184"/>
          </a:xfrm>
          <a:prstGeom prst="rect">
            <a:avLst/>
          </a:prstGeom>
          <a:noFill/>
          <a:ln/>
        </p:spPr>
        <p:txBody>
          <a:bodyPr wrap="square" lIns="0" tIns="0" rIns="0" bIns="0" rtlCol="0" anchor="ctr"/>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98% forecast accuracy</a:t>
            </a:r>
            <a:endParaRPr lang="en-US" sz="1000" dirty="0"/>
          </a:p>
        </p:txBody>
      </p:sp>
      <p:sp>
        <p:nvSpPr>
          <p:cNvPr id="23" name="Shape 21"/>
          <p:cNvSpPr/>
          <p:nvPr/>
        </p:nvSpPr>
        <p:spPr>
          <a:xfrm>
            <a:off x="548640" y="4105656"/>
            <a:ext cx="11094415" cy="0"/>
          </a:xfrm>
          <a:prstGeom prst="line">
            <a:avLst/>
          </a:prstGeom>
          <a:noFill/>
          <a:ln w="9525">
            <a:solidFill>
              <a:schemeClr val="accent4"/>
            </a:solidFill>
            <a:prstDash val="solid"/>
          </a:ln>
        </p:spPr>
      </p:sp>
      <p:sp>
        <p:nvSpPr>
          <p:cNvPr id="24" name="Text 22"/>
          <p:cNvSpPr txBox="1"/>
          <p:nvPr/>
        </p:nvSpPr>
        <p:spPr>
          <a:xfrm>
            <a:off x="548640" y="4242816"/>
            <a:ext cx="1005840" cy="685800"/>
          </a:xfrm>
          <a:prstGeom prst="rect">
            <a:avLst/>
          </a:prstGeom>
          <a:noFill/>
          <a:ln/>
        </p:spPr>
        <p:txBody>
          <a:bodyPr wrap="square" lIns="0" tIns="0" rIns="0" bIns="0" rtlCol="0" anchor="t"/>
          <a:lstStyle/>
          <a:p>
            <a:pPr algn="l" indent="0" marL="0">
              <a:buNone/>
            </a:pPr>
            <a:r>
              <a:rPr lang="en-US" sz="3600" dirty="0">
                <a:solidFill>
                  <a:schemeClr val="accent4"/>
                </a:solidFill>
                <a:latin typeface="Manrope ExtraBold" pitchFamily="34" charset="0"/>
                <a:ea typeface="Manrope ExtraBold" pitchFamily="34" charset="-122"/>
                <a:cs typeface="Manrope ExtraBold" pitchFamily="34" charset="-120"/>
              </a:rPr>
              <a:t>03</a:t>
            </a:r>
            <a:endParaRPr lang="en-US" sz="3600" dirty="0"/>
          </a:p>
        </p:txBody>
      </p:sp>
      <p:sp>
        <p:nvSpPr>
          <p:cNvPr id="25" name="Text 23"/>
          <p:cNvSpPr txBox="1"/>
          <p:nvPr/>
        </p:nvSpPr>
        <p:spPr>
          <a:xfrm>
            <a:off x="1737360" y="4288536"/>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Scale through partners</a:t>
            </a:r>
            <a:endParaRPr lang="en-US" sz="1600" dirty="0"/>
          </a:p>
        </p:txBody>
      </p:sp>
      <p:sp>
        <p:nvSpPr>
          <p:cNvPr id="26" name="Text 24"/>
          <p:cNvSpPr txBox="1"/>
          <p:nvPr/>
        </p:nvSpPr>
        <p:spPr>
          <a:xfrm>
            <a:off x="1737360" y="4626864"/>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Make partners the source of 50% of new pipeline.</a:t>
            </a:r>
            <a:endParaRPr lang="en-US" sz="1100" dirty="0"/>
          </a:p>
        </p:txBody>
      </p:sp>
      <p:sp>
        <p:nvSpPr>
          <p:cNvPr id="27" name="Text 25"/>
          <p:cNvSpPr txBox="1"/>
          <p:nvPr/>
        </p:nvSpPr>
        <p:spPr>
          <a:xfrm>
            <a:off x="8097317" y="4334256"/>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CPO / CRO</a:t>
            </a:r>
            <a:endParaRPr lang="en-US" sz="1100" dirty="0"/>
          </a:p>
        </p:txBody>
      </p:sp>
      <p:sp>
        <p:nvSpPr>
          <p:cNvPr id="28" name="Shape 26"/>
          <p:cNvSpPr/>
          <p:nvPr/>
        </p:nvSpPr>
        <p:spPr>
          <a:xfrm>
            <a:off x="9315221" y="4407408"/>
            <a:ext cx="2327834" cy="329184"/>
          </a:xfrm>
          <a:prstGeom prst="roundRect">
            <a:avLst>
              <a:gd name="adj" fmla="val 50000"/>
            </a:avLst>
          </a:prstGeom>
          <a:solidFill>
            <a:schemeClr val="bg2"/>
          </a:solidFill>
          <a:ln/>
        </p:spPr>
      </p:sp>
      <p:sp>
        <p:nvSpPr>
          <p:cNvPr id="29" name="Text 27"/>
          <p:cNvSpPr txBox="1"/>
          <p:nvPr/>
        </p:nvSpPr>
        <p:spPr>
          <a:xfrm>
            <a:off x="9315221" y="4407408"/>
            <a:ext cx="2327834" cy="329184"/>
          </a:xfrm>
          <a:prstGeom prst="rect">
            <a:avLst/>
          </a:prstGeom>
          <a:noFill/>
          <a:ln/>
        </p:spPr>
        <p:txBody>
          <a:bodyPr wrap="square" lIns="0" tIns="0" rIns="0" bIns="0" rtlCol="0" anchor="ctr"/>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50% partner-sourced</a:t>
            </a:r>
            <a:endParaRPr lang="en-US" sz="1000" dirty="0"/>
          </a:p>
        </p:txBody>
      </p:sp>
      <p:sp>
        <p:nvSpPr>
          <p:cNvPr id="30" name="Shape 28"/>
          <p:cNvSpPr/>
          <p:nvPr/>
        </p:nvSpPr>
        <p:spPr>
          <a:xfrm>
            <a:off x="548640" y="5084064"/>
            <a:ext cx="11094415" cy="0"/>
          </a:xfrm>
          <a:prstGeom prst="line">
            <a:avLst/>
          </a:prstGeom>
          <a:noFill/>
          <a:ln w="9525">
            <a:solidFill>
              <a:schemeClr val="accent4"/>
            </a:solidFill>
            <a:prstDash val="solid"/>
          </a:ln>
        </p:spPr>
      </p:sp>
      <p:sp>
        <p:nvSpPr>
          <p:cNvPr id="31" name="Text 29"/>
          <p:cNvSpPr txBox="1"/>
          <p:nvPr/>
        </p:nvSpPr>
        <p:spPr>
          <a:xfrm>
            <a:off x="548640" y="5221224"/>
            <a:ext cx="1005840" cy="685800"/>
          </a:xfrm>
          <a:prstGeom prst="rect">
            <a:avLst/>
          </a:prstGeom>
          <a:noFill/>
          <a:ln/>
        </p:spPr>
        <p:txBody>
          <a:bodyPr wrap="square" lIns="0" tIns="0" rIns="0" bIns="0" rtlCol="0" anchor="t"/>
          <a:lstStyle/>
          <a:p>
            <a:pPr algn="l" indent="0" marL="0">
              <a:buNone/>
            </a:pPr>
            <a:r>
              <a:rPr lang="en-US" sz="3600" dirty="0">
                <a:solidFill>
                  <a:schemeClr val="accent4"/>
                </a:solidFill>
                <a:latin typeface="Manrope ExtraBold" pitchFamily="34" charset="0"/>
                <a:ea typeface="Manrope ExtraBold" pitchFamily="34" charset="-122"/>
                <a:cs typeface="Manrope ExtraBold" pitchFamily="34" charset="-120"/>
              </a:rPr>
              <a:t>04</a:t>
            </a:r>
            <a:endParaRPr lang="en-US" sz="3600" dirty="0"/>
          </a:p>
        </p:txBody>
      </p:sp>
      <p:sp>
        <p:nvSpPr>
          <p:cNvPr id="32" name="Text 30"/>
          <p:cNvSpPr txBox="1"/>
          <p:nvPr/>
        </p:nvSpPr>
        <p:spPr>
          <a:xfrm>
            <a:off x="1737360" y="5266944"/>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Build a durable business</a:t>
            </a:r>
            <a:endParaRPr lang="en-US" sz="1600" dirty="0"/>
          </a:p>
        </p:txBody>
      </p:sp>
      <p:sp>
        <p:nvSpPr>
          <p:cNvPr id="33" name="Text 31"/>
          <p:cNvSpPr txBox="1"/>
          <p:nvPr/>
        </p:nvSpPr>
        <p:spPr>
          <a:xfrm>
            <a:off x="1737360" y="5605272"/>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Reach sustained profitability without slowing growth.</a:t>
            </a:r>
            <a:endParaRPr lang="en-US" sz="1100" dirty="0"/>
          </a:p>
        </p:txBody>
      </p:sp>
      <p:sp>
        <p:nvSpPr>
          <p:cNvPr id="34" name="Text 32"/>
          <p:cNvSpPr txBox="1"/>
          <p:nvPr/>
        </p:nvSpPr>
        <p:spPr>
          <a:xfrm>
            <a:off x="8097317" y="5312664"/>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CFO</a:t>
            </a:r>
            <a:endParaRPr lang="en-US" sz="1100" dirty="0"/>
          </a:p>
        </p:txBody>
      </p:sp>
      <p:sp>
        <p:nvSpPr>
          <p:cNvPr id="35" name="Shape 33"/>
          <p:cNvSpPr/>
          <p:nvPr/>
        </p:nvSpPr>
        <p:spPr>
          <a:xfrm>
            <a:off x="9315221" y="5385816"/>
            <a:ext cx="2327834" cy="329184"/>
          </a:xfrm>
          <a:prstGeom prst="roundRect">
            <a:avLst>
              <a:gd name="adj" fmla="val 50000"/>
            </a:avLst>
          </a:prstGeom>
          <a:solidFill>
            <a:schemeClr val="bg2"/>
          </a:solidFill>
          <a:ln/>
        </p:spPr>
      </p:sp>
      <p:sp>
        <p:nvSpPr>
          <p:cNvPr id="36" name="Text 34"/>
          <p:cNvSpPr txBox="1"/>
          <p:nvPr/>
        </p:nvSpPr>
        <p:spPr>
          <a:xfrm>
            <a:off x="9315221" y="5385816"/>
            <a:ext cx="2327834" cy="329184"/>
          </a:xfrm>
          <a:prstGeom prst="rect">
            <a:avLst/>
          </a:prstGeom>
          <a:noFill/>
          <a:ln/>
        </p:spPr>
        <p:txBody>
          <a:bodyPr wrap="square" lIns="0" tIns="0" rIns="0" bIns="0" rtlCol="0" anchor="ctr"/>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Rule of 40 ≥ 55</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strategy on a page</a:t>
            </a:r>
            <a:endParaRPr lang="en-US" sz="2800" dirty="0"/>
          </a:p>
        </p:txBody>
      </p:sp>
      <p:sp>
        <p:nvSpPr>
          <p:cNvPr id="5" name="Shape 3"/>
          <p:cNvSpPr/>
          <p:nvPr/>
        </p:nvSpPr>
        <p:spPr>
          <a:xfrm>
            <a:off x="914400" y="1783080"/>
            <a:ext cx="10362895" cy="914400"/>
          </a:xfrm>
          <a:prstGeom prst="triangle">
            <a:avLst/>
          </a:prstGeom>
          <a:solidFill>
            <a:schemeClr val="tx1"/>
          </a:solidFill>
          <a:ln/>
        </p:spPr>
      </p:sp>
      <p:sp>
        <p:nvSpPr>
          <p:cNvPr id="6" name="Text 4"/>
          <p:cNvSpPr txBox="1"/>
          <p:nvPr/>
        </p:nvSpPr>
        <p:spPr>
          <a:xfrm>
            <a:off x="4267048" y="2084832"/>
            <a:ext cx="3657600" cy="201168"/>
          </a:xfrm>
          <a:prstGeom prst="rect">
            <a:avLst/>
          </a:prstGeom>
          <a:noFill/>
          <a:ln/>
        </p:spPr>
        <p:txBody>
          <a:bodyPr wrap="square" lIns="0" tIns="0" rIns="0" bIns="0" rtlCol="0" anchor="t"/>
          <a:lstStyle/>
          <a:p>
            <a:pPr algn="ctr" indent="0" marL="0">
              <a:buNone/>
            </a:pPr>
            <a:r>
              <a:rPr lang="en-US" sz="900" spc="200" kern="0" dirty="0">
                <a:solidFill>
                  <a:schemeClr val="accent1"/>
                </a:solidFill>
                <a:latin typeface="Inter Medium" pitchFamily="34" charset="0"/>
                <a:ea typeface="Inter Medium" pitchFamily="34" charset="-122"/>
                <a:cs typeface="Inter Medium" pitchFamily="34" charset="-120"/>
              </a:rPr>
              <a:t>VISION</a:t>
            </a:r>
            <a:endParaRPr lang="en-US" sz="900" dirty="0"/>
          </a:p>
        </p:txBody>
      </p:sp>
      <p:sp>
        <p:nvSpPr>
          <p:cNvPr id="7" name="Text 5"/>
          <p:cNvSpPr txBox="1"/>
          <p:nvPr/>
        </p:nvSpPr>
        <p:spPr>
          <a:xfrm>
            <a:off x="2895448" y="2286000"/>
            <a:ext cx="6400800" cy="320040"/>
          </a:xfrm>
          <a:prstGeom prst="rect">
            <a:avLst/>
          </a:prstGeom>
          <a:noFill/>
          <a:ln/>
        </p:spPr>
        <p:txBody>
          <a:bodyPr wrap="square" lIns="0" tIns="0" rIns="0" bIns="0" rtlCol="0" anchor="t"/>
          <a:lstStyle/>
          <a:p>
            <a:pPr algn="ctr" indent="0" marL="0">
              <a:buNone/>
            </a:pPr>
            <a:r>
              <a:rPr lang="en-US" sz="1400" b="1" dirty="0">
                <a:solidFill>
                  <a:schemeClr val="bg1"/>
                </a:solidFill>
                <a:latin typeface="Manrope" pitchFamily="34" charset="0"/>
                <a:ea typeface="Manrope" pitchFamily="34" charset="-122"/>
                <a:cs typeface="Manrope" pitchFamily="34" charset="-120"/>
              </a:rPr>
              <a:t>The operating system for predictable revenue</a:t>
            </a:r>
            <a:endParaRPr lang="en-US" sz="1400" dirty="0"/>
          </a:p>
        </p:txBody>
      </p:sp>
      <p:sp>
        <p:nvSpPr>
          <p:cNvPr id="8" name="Shape 6"/>
          <p:cNvSpPr/>
          <p:nvPr/>
        </p:nvSpPr>
        <p:spPr>
          <a:xfrm>
            <a:off x="914400" y="2788920"/>
            <a:ext cx="10362895" cy="457200"/>
          </a:xfrm>
          <a:prstGeom prst="roundRect">
            <a:avLst>
              <a:gd name="adj" fmla="val 12000"/>
            </a:avLst>
          </a:prstGeom>
          <a:solidFill>
            <a:schemeClr val="accent1"/>
          </a:solidFill>
          <a:ln/>
        </p:spPr>
      </p:sp>
      <p:sp>
        <p:nvSpPr>
          <p:cNvPr id="9" name="Text 7"/>
          <p:cNvSpPr txBox="1"/>
          <p:nvPr/>
        </p:nvSpPr>
        <p:spPr>
          <a:xfrm>
            <a:off x="914400" y="2788920"/>
            <a:ext cx="10362895" cy="457200"/>
          </a:xfrm>
          <a:prstGeom prst="rect">
            <a:avLst/>
          </a:prstGeom>
          <a:noFill/>
          <a:ln/>
        </p:spPr>
        <p:txBody>
          <a:bodyPr wrap="square" lIns="0" tIns="0" rIns="0" bIns="0" rtlCol="0" anchor="ctr"/>
          <a:lstStyle/>
          <a:p>
            <a:pPr algn="ctr" indent="0" marL="0">
              <a:buNone/>
            </a:pPr>
            <a:r>
              <a:rPr lang="en-US" sz="1150" dirty="0">
                <a:solidFill>
                  <a:schemeClr val="tx1"/>
                </a:solidFill>
                <a:latin typeface="Inter Medium" pitchFamily="34" charset="0"/>
                <a:ea typeface="Inter Medium" pitchFamily="34" charset="-122"/>
                <a:cs typeface="Inter Medium" pitchFamily="34" charset="-120"/>
              </a:rPr>
              <a:t>Mission: give every revenue team the clarity to make the right call</a:t>
            </a:r>
            <a:endParaRPr lang="en-US" sz="1150" dirty="0"/>
          </a:p>
        </p:txBody>
      </p:sp>
      <p:sp>
        <p:nvSpPr>
          <p:cNvPr id="10" name="Shape 8"/>
          <p:cNvSpPr/>
          <p:nvPr/>
        </p:nvSpPr>
        <p:spPr>
          <a:xfrm>
            <a:off x="914400" y="3383280"/>
            <a:ext cx="2419274" cy="1691640"/>
          </a:xfrm>
          <a:prstGeom prst="roundRect">
            <a:avLst>
              <a:gd name="adj" fmla="val 5405"/>
            </a:avLst>
          </a:prstGeom>
          <a:solidFill>
            <a:schemeClr val="bg1"/>
          </a:solidFill>
          <a:ln/>
        </p:spPr>
      </p:sp>
      <p:pic>
        <p:nvPicPr>
          <p:cNvPr id="11" name="Icon PiCpu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1188720" y="3657600"/>
            <a:ext cx="347472" cy="347472"/>
          </a:xfrm>
          <a:prstGeom prst="rect">
            <a:avLst/>
          </a:prstGeom>
        </p:spPr>
      </p:pic>
      <p:sp>
        <p:nvSpPr>
          <p:cNvPr id="12" name="Text 9"/>
          <p:cNvSpPr txBox="1"/>
          <p:nvPr/>
        </p:nvSpPr>
        <p:spPr>
          <a:xfrm>
            <a:off x="1188720"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Product leadership</a:t>
            </a:r>
            <a:endParaRPr lang="en-US" sz="1350" dirty="0"/>
          </a:p>
        </p:txBody>
      </p:sp>
      <p:sp>
        <p:nvSpPr>
          <p:cNvPr id="13" name="Text 10"/>
          <p:cNvSpPr txBox="1"/>
          <p:nvPr/>
        </p:nvSpPr>
        <p:spPr>
          <a:xfrm>
            <a:off x="1188720"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Best predictive engine</a:t>
            </a:r>
            <a:endParaRPr lang="en-US" sz="1050" dirty="0"/>
          </a:p>
        </p:txBody>
      </p:sp>
      <p:sp>
        <p:nvSpPr>
          <p:cNvPr id="14" name="Shape 11"/>
          <p:cNvSpPr/>
          <p:nvPr/>
        </p:nvSpPr>
        <p:spPr>
          <a:xfrm>
            <a:off x="3562274" y="3383280"/>
            <a:ext cx="2419274" cy="1691640"/>
          </a:xfrm>
          <a:prstGeom prst="roundRect">
            <a:avLst>
              <a:gd name="adj" fmla="val 5405"/>
            </a:avLst>
          </a:prstGeom>
          <a:solidFill>
            <a:schemeClr val="bg1"/>
          </a:solidFill>
          <a:ln/>
        </p:spPr>
      </p:sp>
      <p:pic>
        <p:nvPicPr>
          <p:cNvPr id="15" name="Icon PiGlobe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836594" y="3657600"/>
            <a:ext cx="347472" cy="347472"/>
          </a:xfrm>
          <a:prstGeom prst="rect">
            <a:avLst/>
          </a:prstGeom>
        </p:spPr>
      </p:pic>
      <p:sp>
        <p:nvSpPr>
          <p:cNvPr id="16" name="Text 12"/>
          <p:cNvSpPr txBox="1"/>
          <p:nvPr/>
        </p:nvSpPr>
        <p:spPr>
          <a:xfrm>
            <a:off x="3836594"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Market expansion</a:t>
            </a:r>
            <a:endParaRPr lang="en-US" sz="1350" dirty="0"/>
          </a:p>
        </p:txBody>
      </p:sp>
      <p:sp>
        <p:nvSpPr>
          <p:cNvPr id="17" name="Text 13"/>
          <p:cNvSpPr txBox="1"/>
          <p:nvPr/>
        </p:nvSpPr>
        <p:spPr>
          <a:xfrm>
            <a:off x="3836594"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US, France, Australia</a:t>
            </a:r>
            <a:endParaRPr lang="en-US" sz="1050" dirty="0"/>
          </a:p>
        </p:txBody>
      </p:sp>
      <p:sp>
        <p:nvSpPr>
          <p:cNvPr id="18" name="Shape 14"/>
          <p:cNvSpPr/>
          <p:nvPr/>
        </p:nvSpPr>
        <p:spPr>
          <a:xfrm>
            <a:off x="6210148" y="3383280"/>
            <a:ext cx="2419274" cy="1691640"/>
          </a:xfrm>
          <a:prstGeom prst="roundRect">
            <a:avLst>
              <a:gd name="adj" fmla="val 5405"/>
            </a:avLst>
          </a:prstGeom>
          <a:solidFill>
            <a:schemeClr val="bg1"/>
          </a:solidFill>
          <a:ln/>
        </p:spPr>
      </p:sp>
      <p:pic>
        <p:nvPicPr>
          <p:cNvPr id="19" name="Icon PiShareNetwork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484468" y="3657600"/>
            <a:ext cx="347472" cy="347472"/>
          </a:xfrm>
          <a:prstGeom prst="rect">
            <a:avLst/>
          </a:prstGeom>
        </p:spPr>
      </p:pic>
      <p:sp>
        <p:nvSpPr>
          <p:cNvPr id="20" name="Text 15"/>
          <p:cNvSpPr txBox="1"/>
          <p:nvPr/>
        </p:nvSpPr>
        <p:spPr>
          <a:xfrm>
            <a:off x="6484468"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Partner ecosystem</a:t>
            </a:r>
            <a:endParaRPr lang="en-US" sz="1350" dirty="0"/>
          </a:p>
        </p:txBody>
      </p:sp>
      <p:sp>
        <p:nvSpPr>
          <p:cNvPr id="21" name="Text 16"/>
          <p:cNvSpPr txBox="1"/>
          <p:nvPr/>
        </p:nvSpPr>
        <p:spPr>
          <a:xfrm>
            <a:off x="6484468"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50% partner pipeline</a:t>
            </a:r>
            <a:endParaRPr lang="en-US" sz="1050" dirty="0"/>
          </a:p>
        </p:txBody>
      </p:sp>
      <p:sp>
        <p:nvSpPr>
          <p:cNvPr id="22" name="Shape 17"/>
          <p:cNvSpPr/>
          <p:nvPr/>
        </p:nvSpPr>
        <p:spPr>
          <a:xfrm>
            <a:off x="8858021" y="3383280"/>
            <a:ext cx="2419274" cy="1691640"/>
          </a:xfrm>
          <a:prstGeom prst="roundRect">
            <a:avLst>
              <a:gd name="adj" fmla="val 5405"/>
            </a:avLst>
          </a:prstGeom>
          <a:solidFill>
            <a:schemeClr val="bg1"/>
          </a:solidFill>
          <a:ln/>
        </p:spPr>
      </p:sp>
      <p:pic>
        <p:nvPicPr>
          <p:cNvPr id="23" name="Icon PiHeadset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9132341" y="3657600"/>
            <a:ext cx="347472" cy="347472"/>
          </a:xfrm>
          <a:prstGeom prst="rect">
            <a:avLst/>
          </a:prstGeom>
        </p:spPr>
      </p:pic>
      <p:sp>
        <p:nvSpPr>
          <p:cNvPr id="24" name="Text 18"/>
          <p:cNvSpPr txBox="1"/>
          <p:nvPr/>
        </p:nvSpPr>
        <p:spPr>
          <a:xfrm>
            <a:off x="9132341"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Customer outcomes</a:t>
            </a:r>
            <a:endParaRPr lang="en-US" sz="1350" dirty="0"/>
          </a:p>
        </p:txBody>
      </p:sp>
      <p:sp>
        <p:nvSpPr>
          <p:cNvPr id="25" name="Text 19"/>
          <p:cNvSpPr txBox="1"/>
          <p:nvPr/>
        </p:nvSpPr>
        <p:spPr>
          <a:xfrm>
            <a:off x="9132341"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NRR above 130%</a:t>
            </a:r>
            <a:endParaRPr lang="en-US" sz="1050" dirty="0"/>
          </a:p>
        </p:txBody>
      </p:sp>
      <p:sp>
        <p:nvSpPr>
          <p:cNvPr id="26" name="Shape 20"/>
          <p:cNvSpPr/>
          <p:nvPr/>
        </p:nvSpPr>
        <p:spPr>
          <a:xfrm>
            <a:off x="914400" y="5212080"/>
            <a:ext cx="10362895" cy="777240"/>
          </a:xfrm>
          <a:prstGeom prst="roundRect">
            <a:avLst>
              <a:gd name="adj" fmla="val 9412"/>
            </a:avLst>
          </a:prstGeom>
          <a:solidFill>
            <a:schemeClr val="accent5"/>
          </a:solidFill>
          <a:ln/>
        </p:spPr>
      </p:sp>
      <p:sp>
        <p:nvSpPr>
          <p:cNvPr id="27" name="Text 21"/>
          <p:cNvSpPr txBox="1"/>
          <p:nvPr/>
        </p:nvSpPr>
        <p:spPr>
          <a:xfrm>
            <a:off x="1188720" y="5212080"/>
            <a:ext cx="1463040" cy="777240"/>
          </a:xfrm>
          <a:prstGeom prst="rect">
            <a:avLst/>
          </a:prstGeom>
          <a:noFill/>
          <a:ln/>
        </p:spPr>
        <p:txBody>
          <a:bodyPr wrap="square" lIns="0" tIns="0" rIns="0" bIns="0" rtlCol="0" anchor="ctr"/>
          <a:lstStyle/>
          <a:p>
            <a:pPr algn="l" indent="0" marL="0">
              <a:buNone/>
            </a:pPr>
            <a:r>
              <a:rPr lang="en-US" sz="900" spc="200" kern="0" dirty="0">
                <a:solidFill>
                  <a:schemeClr val="accent1"/>
                </a:solidFill>
                <a:latin typeface="Inter Medium" pitchFamily="34" charset="0"/>
                <a:ea typeface="Inter Medium" pitchFamily="34" charset="-122"/>
                <a:cs typeface="Inter Medium" pitchFamily="34" charset="-120"/>
              </a:rPr>
              <a:t>FOUNDATION</a:t>
            </a:r>
            <a:endParaRPr lang="en-US" sz="900" dirty="0"/>
          </a:p>
        </p:txBody>
      </p:sp>
      <p:sp>
        <p:nvSpPr>
          <p:cNvPr id="28" name="Text 22"/>
          <p:cNvSpPr txBox="1"/>
          <p:nvPr/>
        </p:nvSpPr>
        <p:spPr>
          <a:xfrm>
            <a:off x="274320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Radical clarity</a:t>
            </a:r>
            <a:endParaRPr lang="en-US" sz="1150" dirty="0"/>
          </a:p>
        </p:txBody>
      </p:sp>
      <p:sp>
        <p:nvSpPr>
          <p:cNvPr id="29" name="Text 23"/>
          <p:cNvSpPr txBox="1"/>
          <p:nvPr/>
        </p:nvSpPr>
        <p:spPr>
          <a:xfrm>
            <a:off x="489204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Earn trust daily</a:t>
            </a:r>
            <a:endParaRPr lang="en-US" sz="1150" dirty="0"/>
          </a:p>
        </p:txBody>
      </p:sp>
      <p:sp>
        <p:nvSpPr>
          <p:cNvPr id="30" name="Text 24"/>
          <p:cNvSpPr txBox="1"/>
          <p:nvPr/>
        </p:nvSpPr>
        <p:spPr>
          <a:xfrm>
            <a:off x="704088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Bias for speed</a:t>
            </a:r>
            <a:endParaRPr lang="en-US" sz="1150" dirty="0"/>
          </a:p>
        </p:txBody>
      </p:sp>
      <p:sp>
        <p:nvSpPr>
          <p:cNvPr id="31" name="Text 25"/>
          <p:cNvSpPr txBox="1"/>
          <p:nvPr/>
        </p:nvSpPr>
        <p:spPr>
          <a:xfrm>
            <a:off x="918972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Data we can defend</a:t>
            </a:r>
            <a:endParaRPr lang="en-US" sz="11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SWOT: a strong product with stretched sales capacity</a:t>
            </a:r>
            <a:endParaRPr lang="en-US" sz="2800" dirty="0"/>
          </a:p>
        </p:txBody>
      </p:sp>
      <p:sp>
        <p:nvSpPr>
          <p:cNvPr id="5" name="Shape 3"/>
          <p:cNvSpPr/>
          <p:nvPr/>
        </p:nvSpPr>
        <p:spPr>
          <a:xfrm>
            <a:off x="548640" y="1874520"/>
            <a:ext cx="5432908" cy="2011680"/>
          </a:xfrm>
          <a:prstGeom prst="roundRect">
            <a:avLst>
              <a:gd name="adj" fmla="val 4545"/>
            </a:avLst>
          </a:prstGeom>
          <a:solidFill>
            <a:schemeClr val="tx1"/>
          </a:solidFill>
          <a:ln/>
        </p:spPr>
      </p:sp>
      <p:sp>
        <p:nvSpPr>
          <p:cNvPr id="6" name="Text 4"/>
          <p:cNvSpPr txBox="1"/>
          <p:nvPr/>
        </p:nvSpPr>
        <p:spPr>
          <a:xfrm>
            <a:off x="822960" y="2057400"/>
            <a:ext cx="1097280" cy="1097280"/>
          </a:xfrm>
          <a:prstGeom prst="rect">
            <a:avLst/>
          </a:prstGeom>
          <a:noFill/>
          <a:ln/>
        </p:spPr>
        <p:txBody>
          <a:bodyPr wrap="square" lIns="0" tIns="0" rIns="0" bIns="0" rtlCol="0" anchor="t"/>
          <a:lstStyle/>
          <a:p>
            <a:pPr algn="l" indent="0" marL="0">
              <a:buNone/>
            </a:pPr>
            <a:r>
              <a:rPr lang="en-US" sz="6400" dirty="0">
                <a:solidFill>
                  <a:schemeClr val="accent1"/>
                </a:solidFill>
                <a:latin typeface="Manrope ExtraBold" pitchFamily="34" charset="0"/>
                <a:ea typeface="Manrope ExtraBold" pitchFamily="34" charset="-122"/>
                <a:cs typeface="Manrope ExtraBold" pitchFamily="34" charset="-120"/>
              </a:rPr>
              <a:t>S</a:t>
            </a:r>
            <a:endParaRPr lang="en-US" sz="6400" dirty="0"/>
          </a:p>
        </p:txBody>
      </p:sp>
      <p:sp>
        <p:nvSpPr>
          <p:cNvPr id="7" name="Text 5"/>
          <p:cNvSpPr txBox="1"/>
          <p:nvPr/>
        </p:nvSpPr>
        <p:spPr>
          <a:xfrm>
            <a:off x="2103120" y="2148840"/>
            <a:ext cx="3604108" cy="32004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Strengths</a:t>
            </a:r>
            <a:endParaRPr lang="en-US" sz="1600" dirty="0"/>
          </a:p>
        </p:txBody>
      </p:sp>
      <p:sp>
        <p:nvSpPr>
          <p:cNvPr id="8" name="Shape 6"/>
          <p:cNvSpPr/>
          <p:nvPr/>
        </p:nvSpPr>
        <p:spPr>
          <a:xfrm>
            <a:off x="2103120" y="2715768"/>
            <a:ext cx="73152" cy="73152"/>
          </a:xfrm>
          <a:prstGeom prst="rect">
            <a:avLst/>
          </a:prstGeom>
          <a:solidFill>
            <a:schemeClr val="accent1"/>
          </a:solidFill>
          <a:ln/>
        </p:spPr>
      </p:sp>
      <p:sp>
        <p:nvSpPr>
          <p:cNvPr id="9" name="Text 7"/>
          <p:cNvSpPr txBox="1"/>
          <p:nvPr/>
        </p:nvSpPr>
        <p:spPr>
          <a:xfrm>
            <a:off x="2331720" y="2624328"/>
            <a:ext cx="3329788"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pitchFamily="34" charset="0"/>
                <a:ea typeface="Inter" pitchFamily="34" charset="-122"/>
                <a:cs typeface="Inter" pitchFamily="34" charset="-120"/>
              </a:rPr>
              <a:t>96% forecast accuracy — category best</a:t>
            </a:r>
            <a:endParaRPr lang="en-US" sz="1100" dirty="0"/>
          </a:p>
        </p:txBody>
      </p:sp>
      <p:sp>
        <p:nvSpPr>
          <p:cNvPr id="10" name="Shape 8"/>
          <p:cNvSpPr/>
          <p:nvPr/>
        </p:nvSpPr>
        <p:spPr>
          <a:xfrm>
            <a:off x="2103120" y="3099816"/>
            <a:ext cx="73152" cy="73152"/>
          </a:xfrm>
          <a:prstGeom prst="rect">
            <a:avLst/>
          </a:prstGeom>
          <a:solidFill>
            <a:schemeClr val="accent1"/>
          </a:solidFill>
          <a:ln/>
        </p:spPr>
      </p:sp>
      <p:sp>
        <p:nvSpPr>
          <p:cNvPr id="11" name="Text 9"/>
          <p:cNvSpPr txBox="1"/>
          <p:nvPr/>
        </p:nvSpPr>
        <p:spPr>
          <a:xfrm>
            <a:off x="2331720" y="3008376"/>
            <a:ext cx="3329788"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pitchFamily="34" charset="0"/>
                <a:ea typeface="Inter" pitchFamily="34" charset="-122"/>
                <a:cs typeface="Inter" pitchFamily="34" charset="-120"/>
              </a:rPr>
              <a:t>128% net revenue retention</a:t>
            </a:r>
            <a:endParaRPr lang="en-US" sz="1100" dirty="0"/>
          </a:p>
        </p:txBody>
      </p:sp>
      <p:sp>
        <p:nvSpPr>
          <p:cNvPr id="12" name="Shape 10"/>
          <p:cNvSpPr/>
          <p:nvPr/>
        </p:nvSpPr>
        <p:spPr>
          <a:xfrm>
            <a:off x="2103120" y="3483864"/>
            <a:ext cx="73152" cy="73152"/>
          </a:xfrm>
          <a:prstGeom prst="rect">
            <a:avLst/>
          </a:prstGeom>
          <a:solidFill>
            <a:schemeClr val="accent1"/>
          </a:solidFill>
          <a:ln/>
        </p:spPr>
      </p:sp>
      <p:sp>
        <p:nvSpPr>
          <p:cNvPr id="13" name="Text 11"/>
          <p:cNvSpPr txBox="1"/>
          <p:nvPr/>
        </p:nvSpPr>
        <p:spPr>
          <a:xfrm>
            <a:off x="2331720" y="3392424"/>
            <a:ext cx="3329788"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pitchFamily="34" charset="0"/>
                <a:ea typeface="Inter" pitchFamily="34" charset="-122"/>
                <a:cs typeface="Inter" pitchFamily="34" charset="-120"/>
              </a:rPr>
              <a:t>Two-day implementation</a:t>
            </a:r>
            <a:endParaRPr lang="en-US" sz="1100" dirty="0"/>
          </a:p>
        </p:txBody>
      </p:sp>
      <p:sp>
        <p:nvSpPr>
          <p:cNvPr id="14" name="Shape 12"/>
          <p:cNvSpPr/>
          <p:nvPr/>
        </p:nvSpPr>
        <p:spPr>
          <a:xfrm>
            <a:off x="6210148" y="1874520"/>
            <a:ext cx="5432908" cy="2011680"/>
          </a:xfrm>
          <a:prstGeom prst="roundRect">
            <a:avLst>
              <a:gd name="adj" fmla="val 4545"/>
            </a:avLst>
          </a:prstGeom>
          <a:solidFill>
            <a:schemeClr val="bg2"/>
          </a:solidFill>
          <a:ln/>
        </p:spPr>
      </p:sp>
      <p:sp>
        <p:nvSpPr>
          <p:cNvPr id="15" name="Text 13"/>
          <p:cNvSpPr txBox="1"/>
          <p:nvPr/>
        </p:nvSpPr>
        <p:spPr>
          <a:xfrm>
            <a:off x="6484468" y="2057400"/>
            <a:ext cx="1097280" cy="1097280"/>
          </a:xfrm>
          <a:prstGeom prst="rect">
            <a:avLst/>
          </a:prstGeom>
          <a:noFill/>
          <a:ln/>
        </p:spPr>
        <p:txBody>
          <a:bodyPr wrap="square" lIns="0" tIns="0" rIns="0" bIns="0" rtlCol="0" anchor="t"/>
          <a:lstStyle/>
          <a:p>
            <a:pPr algn="l" indent="0" marL="0">
              <a:buNone/>
            </a:pPr>
            <a:r>
              <a:rPr lang="en-US" sz="6400" dirty="0">
                <a:solidFill>
                  <a:schemeClr val="tx1"/>
                </a:solidFill>
                <a:latin typeface="Manrope ExtraBold" pitchFamily="34" charset="0"/>
                <a:ea typeface="Manrope ExtraBold" pitchFamily="34" charset="-122"/>
                <a:cs typeface="Manrope ExtraBold" pitchFamily="34" charset="-120"/>
              </a:rPr>
              <a:t>W</a:t>
            </a:r>
            <a:endParaRPr lang="en-US" sz="6400" dirty="0"/>
          </a:p>
        </p:txBody>
      </p:sp>
      <p:sp>
        <p:nvSpPr>
          <p:cNvPr id="16" name="Text 14"/>
          <p:cNvSpPr txBox="1"/>
          <p:nvPr/>
        </p:nvSpPr>
        <p:spPr>
          <a:xfrm>
            <a:off x="7764628" y="2148840"/>
            <a:ext cx="36041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Weaknesses</a:t>
            </a:r>
            <a:endParaRPr lang="en-US" sz="1600" dirty="0"/>
          </a:p>
        </p:txBody>
      </p:sp>
      <p:sp>
        <p:nvSpPr>
          <p:cNvPr id="17" name="Shape 15"/>
          <p:cNvSpPr/>
          <p:nvPr/>
        </p:nvSpPr>
        <p:spPr>
          <a:xfrm>
            <a:off x="7764628" y="2715768"/>
            <a:ext cx="73152" cy="73152"/>
          </a:xfrm>
          <a:prstGeom prst="rect">
            <a:avLst/>
          </a:prstGeom>
          <a:solidFill>
            <a:schemeClr val="tx1"/>
          </a:solidFill>
          <a:ln/>
        </p:spPr>
      </p:sp>
      <p:sp>
        <p:nvSpPr>
          <p:cNvPr id="18" name="Text 16"/>
          <p:cNvSpPr txBox="1"/>
          <p:nvPr/>
        </p:nvSpPr>
        <p:spPr>
          <a:xfrm>
            <a:off x="7993228" y="2624328"/>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Limited US brand awareness</a:t>
            </a:r>
            <a:endParaRPr lang="en-US" sz="1100" dirty="0"/>
          </a:p>
        </p:txBody>
      </p:sp>
      <p:sp>
        <p:nvSpPr>
          <p:cNvPr id="19" name="Shape 17"/>
          <p:cNvSpPr/>
          <p:nvPr/>
        </p:nvSpPr>
        <p:spPr>
          <a:xfrm>
            <a:off x="7764628" y="3099816"/>
            <a:ext cx="73152" cy="73152"/>
          </a:xfrm>
          <a:prstGeom prst="rect">
            <a:avLst/>
          </a:prstGeom>
          <a:solidFill>
            <a:schemeClr val="tx1"/>
          </a:solidFill>
          <a:ln/>
        </p:spPr>
      </p:sp>
      <p:sp>
        <p:nvSpPr>
          <p:cNvPr id="20" name="Text 18"/>
          <p:cNvSpPr txBox="1"/>
          <p:nvPr/>
        </p:nvSpPr>
        <p:spPr>
          <a:xfrm>
            <a:off x="7993228" y="3008376"/>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Services margin below target</a:t>
            </a:r>
            <a:endParaRPr lang="en-US" sz="1100" dirty="0"/>
          </a:p>
        </p:txBody>
      </p:sp>
      <p:sp>
        <p:nvSpPr>
          <p:cNvPr id="21" name="Shape 19"/>
          <p:cNvSpPr/>
          <p:nvPr/>
        </p:nvSpPr>
        <p:spPr>
          <a:xfrm>
            <a:off x="7764628" y="3483864"/>
            <a:ext cx="73152" cy="73152"/>
          </a:xfrm>
          <a:prstGeom prst="rect">
            <a:avLst/>
          </a:prstGeom>
          <a:solidFill>
            <a:schemeClr val="tx1"/>
          </a:solidFill>
          <a:ln/>
        </p:spPr>
      </p:sp>
      <p:sp>
        <p:nvSpPr>
          <p:cNvPr id="22" name="Text 20"/>
          <p:cNvSpPr txBox="1"/>
          <p:nvPr/>
        </p:nvSpPr>
        <p:spPr>
          <a:xfrm>
            <a:off x="7993228" y="3392424"/>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Few enterprise references</a:t>
            </a:r>
            <a:endParaRPr lang="en-US" sz="1100" dirty="0"/>
          </a:p>
        </p:txBody>
      </p:sp>
      <p:sp>
        <p:nvSpPr>
          <p:cNvPr id="23" name="Shape 21"/>
          <p:cNvSpPr/>
          <p:nvPr/>
        </p:nvSpPr>
        <p:spPr>
          <a:xfrm>
            <a:off x="548640" y="4069080"/>
            <a:ext cx="5432908" cy="2011680"/>
          </a:xfrm>
          <a:prstGeom prst="roundRect">
            <a:avLst>
              <a:gd name="adj" fmla="val 4545"/>
            </a:avLst>
          </a:prstGeom>
          <a:solidFill>
            <a:schemeClr val="accent1"/>
          </a:solidFill>
          <a:ln/>
        </p:spPr>
      </p:sp>
      <p:sp>
        <p:nvSpPr>
          <p:cNvPr id="24" name="Text 22"/>
          <p:cNvSpPr txBox="1"/>
          <p:nvPr/>
        </p:nvSpPr>
        <p:spPr>
          <a:xfrm>
            <a:off x="822960" y="4251960"/>
            <a:ext cx="1097280" cy="1097280"/>
          </a:xfrm>
          <a:prstGeom prst="rect">
            <a:avLst/>
          </a:prstGeom>
          <a:noFill/>
          <a:ln/>
        </p:spPr>
        <p:txBody>
          <a:bodyPr wrap="square" lIns="0" tIns="0" rIns="0" bIns="0" rtlCol="0" anchor="t"/>
          <a:lstStyle/>
          <a:p>
            <a:pPr algn="l" indent="0" marL="0">
              <a:buNone/>
            </a:pPr>
            <a:r>
              <a:rPr lang="en-US" sz="6400" dirty="0">
                <a:solidFill>
                  <a:schemeClr val="tx1"/>
                </a:solidFill>
                <a:latin typeface="Manrope ExtraBold" pitchFamily="34" charset="0"/>
                <a:ea typeface="Manrope ExtraBold" pitchFamily="34" charset="-122"/>
                <a:cs typeface="Manrope ExtraBold" pitchFamily="34" charset="-120"/>
              </a:rPr>
              <a:t>O</a:t>
            </a:r>
            <a:endParaRPr lang="en-US" sz="6400" dirty="0"/>
          </a:p>
        </p:txBody>
      </p:sp>
      <p:sp>
        <p:nvSpPr>
          <p:cNvPr id="25" name="Text 23"/>
          <p:cNvSpPr txBox="1"/>
          <p:nvPr/>
        </p:nvSpPr>
        <p:spPr>
          <a:xfrm>
            <a:off x="2103120" y="4343400"/>
            <a:ext cx="36041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Opportunities</a:t>
            </a:r>
            <a:endParaRPr lang="en-US" sz="1600" dirty="0"/>
          </a:p>
        </p:txBody>
      </p:sp>
      <p:sp>
        <p:nvSpPr>
          <p:cNvPr id="26" name="Shape 24"/>
          <p:cNvSpPr/>
          <p:nvPr/>
        </p:nvSpPr>
        <p:spPr>
          <a:xfrm>
            <a:off x="2103120" y="4910328"/>
            <a:ext cx="73152" cy="73152"/>
          </a:xfrm>
          <a:prstGeom prst="rect">
            <a:avLst/>
          </a:prstGeom>
          <a:solidFill>
            <a:schemeClr val="tx1"/>
          </a:solidFill>
          <a:ln/>
        </p:spPr>
      </p:sp>
      <p:sp>
        <p:nvSpPr>
          <p:cNvPr id="27" name="Text 25"/>
          <p:cNvSpPr txBox="1"/>
          <p:nvPr/>
        </p:nvSpPr>
        <p:spPr>
          <a:xfrm>
            <a:off x="2331720" y="4818888"/>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CRM consolidation in mid-market</a:t>
            </a:r>
            <a:endParaRPr lang="en-US" sz="1100" dirty="0"/>
          </a:p>
        </p:txBody>
      </p:sp>
      <p:sp>
        <p:nvSpPr>
          <p:cNvPr id="28" name="Shape 26"/>
          <p:cNvSpPr/>
          <p:nvPr/>
        </p:nvSpPr>
        <p:spPr>
          <a:xfrm>
            <a:off x="2103120" y="5294376"/>
            <a:ext cx="73152" cy="73152"/>
          </a:xfrm>
          <a:prstGeom prst="rect">
            <a:avLst/>
          </a:prstGeom>
          <a:solidFill>
            <a:schemeClr val="tx1"/>
          </a:solidFill>
          <a:ln/>
        </p:spPr>
      </p:sp>
      <p:sp>
        <p:nvSpPr>
          <p:cNvPr id="29" name="Text 27"/>
          <p:cNvSpPr txBox="1"/>
          <p:nvPr/>
        </p:nvSpPr>
        <p:spPr>
          <a:xfrm>
            <a:off x="2331720" y="5202936"/>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Partner-led growth in new regions</a:t>
            </a:r>
            <a:endParaRPr lang="en-US" sz="1100" dirty="0"/>
          </a:p>
        </p:txBody>
      </p:sp>
      <p:sp>
        <p:nvSpPr>
          <p:cNvPr id="30" name="Shape 28"/>
          <p:cNvSpPr/>
          <p:nvPr/>
        </p:nvSpPr>
        <p:spPr>
          <a:xfrm>
            <a:off x="2103120" y="5678424"/>
            <a:ext cx="73152" cy="73152"/>
          </a:xfrm>
          <a:prstGeom prst="rect">
            <a:avLst/>
          </a:prstGeom>
          <a:solidFill>
            <a:schemeClr val="tx1"/>
          </a:solidFill>
          <a:ln/>
        </p:spPr>
      </p:sp>
      <p:sp>
        <p:nvSpPr>
          <p:cNvPr id="31" name="Text 29"/>
          <p:cNvSpPr txBox="1"/>
          <p:nvPr/>
        </p:nvSpPr>
        <p:spPr>
          <a:xfrm>
            <a:off x="2331720" y="5586984"/>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AI budgets moving to production</a:t>
            </a:r>
            <a:endParaRPr lang="en-US" sz="1100" dirty="0"/>
          </a:p>
        </p:txBody>
      </p:sp>
      <p:sp>
        <p:nvSpPr>
          <p:cNvPr id="32" name="Shape 30"/>
          <p:cNvSpPr/>
          <p:nvPr/>
        </p:nvSpPr>
        <p:spPr>
          <a:xfrm>
            <a:off x="6210148" y="4069080"/>
            <a:ext cx="5432908" cy="2011680"/>
          </a:xfrm>
          <a:prstGeom prst="roundRect">
            <a:avLst>
              <a:gd name="adj" fmla="val 4545"/>
            </a:avLst>
          </a:prstGeom>
          <a:solidFill>
            <a:schemeClr val="bg2"/>
          </a:solidFill>
          <a:ln/>
        </p:spPr>
      </p:sp>
      <p:sp>
        <p:nvSpPr>
          <p:cNvPr id="33" name="Text 31"/>
          <p:cNvSpPr txBox="1"/>
          <p:nvPr/>
        </p:nvSpPr>
        <p:spPr>
          <a:xfrm>
            <a:off x="6484468" y="4251960"/>
            <a:ext cx="1097280" cy="1097280"/>
          </a:xfrm>
          <a:prstGeom prst="rect">
            <a:avLst/>
          </a:prstGeom>
          <a:noFill/>
          <a:ln/>
        </p:spPr>
        <p:txBody>
          <a:bodyPr wrap="square" lIns="0" tIns="0" rIns="0" bIns="0" rtlCol="0" anchor="t"/>
          <a:lstStyle/>
          <a:p>
            <a:pPr algn="l" indent="0" marL="0">
              <a:buNone/>
            </a:pPr>
            <a:r>
              <a:rPr lang="en-US" sz="6400" dirty="0">
                <a:solidFill>
                  <a:schemeClr val="tx1"/>
                </a:solidFill>
                <a:latin typeface="Manrope ExtraBold" pitchFamily="34" charset="0"/>
                <a:ea typeface="Manrope ExtraBold" pitchFamily="34" charset="-122"/>
                <a:cs typeface="Manrope ExtraBold" pitchFamily="34" charset="-120"/>
              </a:rPr>
              <a:t>T</a:t>
            </a:r>
            <a:endParaRPr lang="en-US" sz="6400" dirty="0"/>
          </a:p>
        </p:txBody>
      </p:sp>
      <p:sp>
        <p:nvSpPr>
          <p:cNvPr id="34" name="Text 32"/>
          <p:cNvSpPr txBox="1"/>
          <p:nvPr/>
        </p:nvSpPr>
        <p:spPr>
          <a:xfrm>
            <a:off x="7764628" y="4343400"/>
            <a:ext cx="36041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Threats</a:t>
            </a:r>
            <a:endParaRPr lang="en-US" sz="1600" dirty="0"/>
          </a:p>
        </p:txBody>
      </p:sp>
      <p:sp>
        <p:nvSpPr>
          <p:cNvPr id="35" name="Shape 33"/>
          <p:cNvSpPr/>
          <p:nvPr/>
        </p:nvSpPr>
        <p:spPr>
          <a:xfrm>
            <a:off x="7764628" y="4910328"/>
            <a:ext cx="73152" cy="73152"/>
          </a:xfrm>
          <a:prstGeom prst="rect">
            <a:avLst/>
          </a:prstGeom>
          <a:solidFill>
            <a:schemeClr val="tx1"/>
          </a:solidFill>
          <a:ln/>
        </p:spPr>
      </p:sp>
      <p:sp>
        <p:nvSpPr>
          <p:cNvPr id="36" name="Text 34"/>
          <p:cNvSpPr txBox="1"/>
          <p:nvPr/>
        </p:nvSpPr>
        <p:spPr>
          <a:xfrm>
            <a:off x="7993228" y="4818888"/>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CRM vendors bundling AI features</a:t>
            </a:r>
            <a:endParaRPr lang="en-US" sz="1100" dirty="0"/>
          </a:p>
        </p:txBody>
      </p:sp>
      <p:sp>
        <p:nvSpPr>
          <p:cNvPr id="37" name="Shape 35"/>
          <p:cNvSpPr/>
          <p:nvPr/>
        </p:nvSpPr>
        <p:spPr>
          <a:xfrm>
            <a:off x="7764628" y="5294376"/>
            <a:ext cx="73152" cy="73152"/>
          </a:xfrm>
          <a:prstGeom prst="rect">
            <a:avLst/>
          </a:prstGeom>
          <a:solidFill>
            <a:schemeClr val="tx1"/>
          </a:solidFill>
          <a:ln/>
        </p:spPr>
      </p:sp>
      <p:sp>
        <p:nvSpPr>
          <p:cNvPr id="38" name="Text 36"/>
          <p:cNvSpPr txBox="1"/>
          <p:nvPr/>
        </p:nvSpPr>
        <p:spPr>
          <a:xfrm>
            <a:off x="7993228" y="5202936"/>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Longer procurement cycles</a:t>
            </a:r>
            <a:endParaRPr lang="en-US" sz="1100" dirty="0"/>
          </a:p>
        </p:txBody>
      </p:sp>
      <p:sp>
        <p:nvSpPr>
          <p:cNvPr id="39" name="Shape 37"/>
          <p:cNvSpPr/>
          <p:nvPr/>
        </p:nvSpPr>
        <p:spPr>
          <a:xfrm>
            <a:off x="7764628" y="5678424"/>
            <a:ext cx="73152" cy="73152"/>
          </a:xfrm>
          <a:prstGeom prst="rect">
            <a:avLst/>
          </a:prstGeom>
          <a:solidFill>
            <a:schemeClr val="tx1"/>
          </a:solidFill>
          <a:ln/>
        </p:spPr>
      </p:sp>
      <p:sp>
        <p:nvSpPr>
          <p:cNvPr id="40" name="Text 38"/>
          <p:cNvSpPr txBox="1"/>
          <p:nvPr/>
        </p:nvSpPr>
        <p:spPr>
          <a:xfrm>
            <a:off x="7993228" y="5586984"/>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Competition for AI talent</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three-step plan to lead the category</a:t>
            </a:r>
            <a:endParaRPr lang="en-US" sz="2800" dirty="0"/>
          </a:p>
        </p:txBody>
      </p:sp>
      <p:sp>
        <p:nvSpPr>
          <p:cNvPr id="5" name="Shape 3"/>
          <p:cNvSpPr/>
          <p:nvPr/>
        </p:nvSpPr>
        <p:spPr>
          <a:xfrm>
            <a:off x="548640" y="1920240"/>
            <a:ext cx="3881018" cy="1097280"/>
          </a:xfrm>
          <a:prstGeom prst="homePlate">
            <a:avLst/>
          </a:prstGeom>
          <a:solidFill>
            <a:schemeClr val="tx1"/>
          </a:solidFill>
          <a:ln w="38100">
            <a:solidFill>
              <a:schemeClr val="bg1"/>
            </a:solidFill>
            <a:prstDash val="solid"/>
          </a:ln>
        </p:spPr>
      </p:sp>
      <p:sp>
        <p:nvSpPr>
          <p:cNvPr id="6" name="Text 4"/>
          <p:cNvSpPr txBox="1"/>
          <p:nvPr/>
        </p:nvSpPr>
        <p:spPr>
          <a:xfrm>
            <a:off x="868680" y="2084832"/>
            <a:ext cx="914400" cy="274320"/>
          </a:xfrm>
          <a:prstGeom prst="rect">
            <a:avLst/>
          </a:prstGeom>
          <a:noFill/>
          <a:ln/>
        </p:spPr>
        <p:txBody>
          <a:bodyPr wrap="square" lIns="0" tIns="0" rIns="0" bIns="0" rtlCol="0" anchor="t"/>
          <a:lstStyle/>
          <a:p>
            <a:pPr algn="l" indent="0" marL="0">
              <a:buNone/>
            </a:pPr>
            <a:r>
              <a:rPr lang="en-US" sz="1100" b="1" dirty="0">
                <a:solidFill>
                  <a:schemeClr val="accent1"/>
                </a:solidFill>
                <a:latin typeface="Manrope" pitchFamily="34" charset="0"/>
                <a:ea typeface="Manrope" pitchFamily="34" charset="-122"/>
                <a:cs typeface="Manrope" pitchFamily="34" charset="-120"/>
              </a:rPr>
              <a:t>01</a:t>
            </a:r>
            <a:endParaRPr lang="en-US" sz="1100" dirty="0"/>
          </a:p>
        </p:txBody>
      </p:sp>
      <p:sp>
        <p:nvSpPr>
          <p:cNvPr id="7" name="Text 5"/>
          <p:cNvSpPr txBox="1"/>
          <p:nvPr/>
        </p:nvSpPr>
        <p:spPr>
          <a:xfrm>
            <a:off x="868680" y="2331720"/>
            <a:ext cx="2509418" cy="4572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Focus</a:t>
            </a:r>
            <a:endParaRPr lang="en-US" sz="2400" dirty="0"/>
          </a:p>
        </p:txBody>
      </p:sp>
      <p:sp>
        <p:nvSpPr>
          <p:cNvPr id="8" name="Text 6"/>
          <p:cNvSpPr txBox="1"/>
          <p:nvPr/>
        </p:nvSpPr>
        <p:spPr>
          <a:xfrm>
            <a:off x="640080" y="3291840"/>
            <a:ext cx="3149498"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Inter Medium" pitchFamily="34" charset="0"/>
                <a:ea typeface="Inter Medium" pitchFamily="34" charset="-122"/>
                <a:cs typeface="Inter Medium" pitchFamily="34" charset="-120"/>
              </a:rPr>
              <a:t>2026–27</a:t>
            </a:r>
            <a:endParaRPr lang="en-US" sz="1000" dirty="0"/>
          </a:p>
        </p:txBody>
      </p:sp>
      <p:sp>
        <p:nvSpPr>
          <p:cNvPr id="9" name="Text 7"/>
          <p:cNvSpPr txBox="1"/>
          <p:nvPr/>
        </p:nvSpPr>
        <p:spPr>
          <a:xfrm>
            <a:off x="640080" y="3566160"/>
            <a:ext cx="3058058" cy="822960"/>
          </a:xfrm>
          <a:prstGeom prst="rect">
            <a:avLst/>
          </a:prstGeom>
          <a:noFill/>
          <a:ln/>
        </p:spPr>
        <p:txBody>
          <a:bodyPr wrap="square" lIns="0" tIns="0" rIns="0" bIns="0" rtlCol="0" anchor="t"/>
          <a:lstStyle/>
          <a:p>
            <a:pPr algn="l" indent="0" marL="0">
              <a:lnSpc>
                <a:spcPct val="125000"/>
              </a:lnSpc>
              <a:buNone/>
            </a:pPr>
            <a:r>
              <a:rPr lang="en-US" sz="1200" dirty="0">
                <a:solidFill>
                  <a:schemeClr val="tx2"/>
                </a:solidFill>
                <a:latin typeface="Inter" pitchFamily="34" charset="0"/>
                <a:ea typeface="Inter" pitchFamily="34" charset="-122"/>
                <a:cs typeface="Inter" pitchFamily="34" charset="-120"/>
              </a:rPr>
              <a:t>Dominate mid-market in our core markets and prove the US playbook.</a:t>
            </a:r>
            <a:endParaRPr lang="en-US" sz="1200" dirty="0"/>
          </a:p>
        </p:txBody>
      </p:sp>
      <p:sp>
        <p:nvSpPr>
          <p:cNvPr id="10" name="Shape 8"/>
          <p:cNvSpPr/>
          <p:nvPr/>
        </p:nvSpPr>
        <p:spPr>
          <a:xfrm>
            <a:off x="640080" y="4572000"/>
            <a:ext cx="3058058" cy="594360"/>
          </a:xfrm>
          <a:prstGeom prst="roundRect">
            <a:avLst>
              <a:gd name="adj" fmla="val 15385"/>
            </a:avLst>
          </a:prstGeom>
          <a:solidFill>
            <a:schemeClr val="bg2"/>
          </a:solidFill>
          <a:ln/>
        </p:spPr>
      </p:sp>
      <p:pic>
        <p:nvPicPr>
          <p:cNvPr id="11" name="Icon PiTarget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822960" y="4745736"/>
            <a:ext cx="246888" cy="246888"/>
          </a:xfrm>
          <a:prstGeom prst="rect">
            <a:avLst/>
          </a:prstGeom>
        </p:spPr>
      </p:pic>
      <p:sp>
        <p:nvSpPr>
          <p:cNvPr id="12" name="Text 9"/>
          <p:cNvSpPr txBox="1"/>
          <p:nvPr/>
        </p:nvSpPr>
        <p:spPr>
          <a:xfrm>
            <a:off x="1188720" y="4572000"/>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$80M ARR</a:t>
            </a:r>
            <a:endParaRPr lang="en-US" sz="1300" dirty="0"/>
          </a:p>
        </p:txBody>
      </p:sp>
      <p:sp>
        <p:nvSpPr>
          <p:cNvPr id="13" name="Shape 10"/>
          <p:cNvSpPr/>
          <p:nvPr/>
        </p:nvSpPr>
        <p:spPr>
          <a:xfrm>
            <a:off x="640080" y="5285232"/>
            <a:ext cx="3058058" cy="594360"/>
          </a:xfrm>
          <a:prstGeom prst="roundRect">
            <a:avLst>
              <a:gd name="adj" fmla="val 15385"/>
            </a:avLst>
          </a:prstGeom>
          <a:solidFill>
            <a:schemeClr val="bg2"/>
          </a:solidFill>
          <a:ln/>
        </p:spPr>
      </p:sp>
      <p:pic>
        <p:nvPicPr>
          <p:cNvPr id="14" name="Icon PiTarget 0A1628"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822960" y="5458968"/>
            <a:ext cx="246888" cy="246888"/>
          </a:xfrm>
          <a:prstGeom prst="rect">
            <a:avLst/>
          </a:prstGeom>
        </p:spPr>
      </p:pic>
      <p:sp>
        <p:nvSpPr>
          <p:cNvPr id="15" name="Text 11"/>
          <p:cNvSpPr txBox="1"/>
          <p:nvPr/>
        </p:nvSpPr>
        <p:spPr>
          <a:xfrm>
            <a:off x="1188720" y="5285232"/>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2,000 customers</a:t>
            </a:r>
            <a:endParaRPr lang="en-US" sz="1300" dirty="0"/>
          </a:p>
        </p:txBody>
      </p:sp>
      <p:sp>
        <p:nvSpPr>
          <p:cNvPr id="16" name="Shape 12"/>
          <p:cNvSpPr/>
          <p:nvPr/>
        </p:nvSpPr>
        <p:spPr>
          <a:xfrm>
            <a:off x="4155338" y="1920240"/>
            <a:ext cx="3881018" cy="1097280"/>
          </a:xfrm>
          <a:prstGeom prst="chevron">
            <a:avLst/>
          </a:prstGeom>
          <a:solidFill>
            <a:schemeClr val="accent2"/>
          </a:solidFill>
          <a:ln w="38100">
            <a:solidFill>
              <a:schemeClr val="bg1"/>
            </a:solidFill>
            <a:prstDash val="solid"/>
          </a:ln>
        </p:spPr>
      </p:sp>
      <p:sp>
        <p:nvSpPr>
          <p:cNvPr id="17" name="Text 13"/>
          <p:cNvSpPr txBox="1"/>
          <p:nvPr/>
        </p:nvSpPr>
        <p:spPr>
          <a:xfrm>
            <a:off x="4841138" y="2084832"/>
            <a:ext cx="914400" cy="274320"/>
          </a:xfrm>
          <a:prstGeom prst="rect">
            <a:avLst/>
          </a:prstGeom>
          <a:noFill/>
          <a:ln/>
        </p:spPr>
        <p:txBody>
          <a:bodyPr wrap="square" lIns="0" tIns="0" rIns="0" bIns="0" rtlCol="0" anchor="t"/>
          <a:lstStyle/>
          <a:p>
            <a:pPr algn="l" indent="0" marL="0">
              <a:buNone/>
            </a:pPr>
            <a:r>
              <a:rPr lang="en-US" sz="1100" b="1" dirty="0">
                <a:solidFill>
                  <a:schemeClr val="accent1"/>
                </a:solidFill>
                <a:latin typeface="Manrope" pitchFamily="34" charset="0"/>
                <a:ea typeface="Manrope" pitchFamily="34" charset="-122"/>
                <a:cs typeface="Manrope" pitchFamily="34" charset="-120"/>
              </a:rPr>
              <a:t>02</a:t>
            </a:r>
            <a:endParaRPr lang="en-US" sz="1100" dirty="0"/>
          </a:p>
        </p:txBody>
      </p:sp>
      <p:sp>
        <p:nvSpPr>
          <p:cNvPr id="18" name="Text 14"/>
          <p:cNvSpPr txBox="1"/>
          <p:nvPr/>
        </p:nvSpPr>
        <p:spPr>
          <a:xfrm>
            <a:off x="4841138" y="2331720"/>
            <a:ext cx="2509418" cy="4572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Expand</a:t>
            </a:r>
            <a:endParaRPr lang="en-US" sz="2400" dirty="0"/>
          </a:p>
        </p:txBody>
      </p:sp>
      <p:sp>
        <p:nvSpPr>
          <p:cNvPr id="19" name="Text 15"/>
          <p:cNvSpPr txBox="1"/>
          <p:nvPr/>
        </p:nvSpPr>
        <p:spPr>
          <a:xfrm>
            <a:off x="4566818" y="3291840"/>
            <a:ext cx="3149498"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Inter Medium" pitchFamily="34" charset="0"/>
                <a:ea typeface="Inter Medium" pitchFamily="34" charset="-122"/>
                <a:cs typeface="Inter Medium" pitchFamily="34" charset="-120"/>
              </a:rPr>
              <a:t>2027–28</a:t>
            </a:r>
            <a:endParaRPr lang="en-US" sz="1000" dirty="0"/>
          </a:p>
        </p:txBody>
      </p:sp>
      <p:sp>
        <p:nvSpPr>
          <p:cNvPr id="20" name="Text 16"/>
          <p:cNvSpPr txBox="1"/>
          <p:nvPr/>
        </p:nvSpPr>
        <p:spPr>
          <a:xfrm>
            <a:off x="4566818" y="3566160"/>
            <a:ext cx="3058058" cy="822960"/>
          </a:xfrm>
          <a:prstGeom prst="rect">
            <a:avLst/>
          </a:prstGeom>
          <a:noFill/>
          <a:ln/>
        </p:spPr>
        <p:txBody>
          <a:bodyPr wrap="square" lIns="0" tIns="0" rIns="0" bIns="0" rtlCol="0" anchor="t"/>
          <a:lstStyle/>
          <a:p>
            <a:pPr algn="l" indent="0" marL="0">
              <a:lnSpc>
                <a:spcPct val="125000"/>
              </a:lnSpc>
              <a:buNone/>
            </a:pPr>
            <a:r>
              <a:rPr lang="en-US" sz="1200" dirty="0">
                <a:solidFill>
                  <a:schemeClr val="tx2"/>
                </a:solidFill>
                <a:latin typeface="Inter" pitchFamily="34" charset="0"/>
                <a:ea typeface="Inter" pitchFamily="34" charset="-122"/>
                <a:cs typeface="Inter" pitchFamily="34" charset="-120"/>
              </a:rPr>
              <a:t>Open three new regions through partners and launch enterprise tier.</a:t>
            </a:r>
            <a:endParaRPr lang="en-US" sz="1200" dirty="0"/>
          </a:p>
        </p:txBody>
      </p:sp>
      <p:sp>
        <p:nvSpPr>
          <p:cNvPr id="21" name="Shape 17"/>
          <p:cNvSpPr/>
          <p:nvPr/>
        </p:nvSpPr>
        <p:spPr>
          <a:xfrm>
            <a:off x="4566818" y="4572000"/>
            <a:ext cx="3058058" cy="594360"/>
          </a:xfrm>
          <a:prstGeom prst="roundRect">
            <a:avLst>
              <a:gd name="adj" fmla="val 15385"/>
            </a:avLst>
          </a:prstGeom>
          <a:solidFill>
            <a:schemeClr val="bg2"/>
          </a:solidFill>
          <a:ln/>
        </p:spPr>
      </p:sp>
      <p:pic>
        <p:nvPicPr>
          <p:cNvPr id="22" name="Icon PiTarget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4749698" y="4745736"/>
            <a:ext cx="246888" cy="246888"/>
          </a:xfrm>
          <a:prstGeom prst="rect">
            <a:avLst/>
          </a:prstGeom>
        </p:spPr>
      </p:pic>
      <p:sp>
        <p:nvSpPr>
          <p:cNvPr id="23" name="Text 18"/>
          <p:cNvSpPr txBox="1"/>
          <p:nvPr/>
        </p:nvSpPr>
        <p:spPr>
          <a:xfrm>
            <a:off x="5115458" y="4572000"/>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20 markets</a:t>
            </a:r>
            <a:endParaRPr lang="en-US" sz="1300" dirty="0"/>
          </a:p>
        </p:txBody>
      </p:sp>
      <p:sp>
        <p:nvSpPr>
          <p:cNvPr id="24" name="Shape 19"/>
          <p:cNvSpPr/>
          <p:nvPr/>
        </p:nvSpPr>
        <p:spPr>
          <a:xfrm>
            <a:off x="4566818" y="5285232"/>
            <a:ext cx="3058058" cy="594360"/>
          </a:xfrm>
          <a:prstGeom prst="roundRect">
            <a:avLst>
              <a:gd name="adj" fmla="val 15385"/>
            </a:avLst>
          </a:prstGeom>
          <a:solidFill>
            <a:schemeClr val="bg2"/>
          </a:solidFill>
          <a:ln/>
        </p:spPr>
      </p:sp>
      <p:pic>
        <p:nvPicPr>
          <p:cNvPr id="25" name="Icon PiTarget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4749698" y="5458968"/>
            <a:ext cx="246888" cy="246888"/>
          </a:xfrm>
          <a:prstGeom prst="rect">
            <a:avLst/>
          </a:prstGeom>
        </p:spPr>
      </p:pic>
      <p:sp>
        <p:nvSpPr>
          <p:cNvPr id="26" name="Text 20"/>
          <p:cNvSpPr txBox="1"/>
          <p:nvPr/>
        </p:nvSpPr>
        <p:spPr>
          <a:xfrm>
            <a:off x="5115458" y="5285232"/>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50% partner pipeline</a:t>
            </a:r>
            <a:endParaRPr lang="en-US" sz="1300" dirty="0"/>
          </a:p>
        </p:txBody>
      </p:sp>
      <p:sp>
        <p:nvSpPr>
          <p:cNvPr id="27" name="Shape 21"/>
          <p:cNvSpPr/>
          <p:nvPr/>
        </p:nvSpPr>
        <p:spPr>
          <a:xfrm>
            <a:off x="7762037" y="1920240"/>
            <a:ext cx="3881018" cy="1097280"/>
          </a:xfrm>
          <a:prstGeom prst="chevron">
            <a:avLst/>
          </a:prstGeom>
          <a:solidFill>
            <a:schemeClr val="accent1"/>
          </a:solidFill>
          <a:ln w="38100">
            <a:solidFill>
              <a:schemeClr val="bg1"/>
            </a:solidFill>
            <a:prstDash val="solid"/>
          </a:ln>
        </p:spPr>
      </p:sp>
      <p:sp>
        <p:nvSpPr>
          <p:cNvPr id="28" name="Text 22"/>
          <p:cNvSpPr txBox="1"/>
          <p:nvPr/>
        </p:nvSpPr>
        <p:spPr>
          <a:xfrm>
            <a:off x="8447837" y="2084832"/>
            <a:ext cx="914400" cy="27432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03</a:t>
            </a:r>
            <a:endParaRPr lang="en-US" sz="1100" dirty="0"/>
          </a:p>
        </p:txBody>
      </p:sp>
      <p:sp>
        <p:nvSpPr>
          <p:cNvPr id="29" name="Text 23"/>
          <p:cNvSpPr txBox="1"/>
          <p:nvPr/>
        </p:nvSpPr>
        <p:spPr>
          <a:xfrm>
            <a:off x="8447837" y="2331720"/>
            <a:ext cx="2509418"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Lead</a:t>
            </a:r>
            <a:endParaRPr lang="en-US" sz="2400" dirty="0"/>
          </a:p>
        </p:txBody>
      </p:sp>
      <p:sp>
        <p:nvSpPr>
          <p:cNvPr id="30" name="Text 24"/>
          <p:cNvSpPr txBox="1"/>
          <p:nvPr/>
        </p:nvSpPr>
        <p:spPr>
          <a:xfrm>
            <a:off x="8173517" y="3291840"/>
            <a:ext cx="3149498"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Inter Medium" pitchFamily="34" charset="0"/>
                <a:ea typeface="Inter Medium" pitchFamily="34" charset="-122"/>
                <a:cs typeface="Inter Medium" pitchFamily="34" charset="-120"/>
              </a:rPr>
              <a:t>2028–29</a:t>
            </a:r>
            <a:endParaRPr lang="en-US" sz="1000" dirty="0"/>
          </a:p>
        </p:txBody>
      </p:sp>
      <p:sp>
        <p:nvSpPr>
          <p:cNvPr id="31" name="Text 25"/>
          <p:cNvSpPr txBox="1"/>
          <p:nvPr/>
        </p:nvSpPr>
        <p:spPr>
          <a:xfrm>
            <a:off x="8173517" y="3566160"/>
            <a:ext cx="3058058" cy="822960"/>
          </a:xfrm>
          <a:prstGeom prst="rect">
            <a:avLst/>
          </a:prstGeom>
          <a:noFill/>
          <a:ln/>
        </p:spPr>
        <p:txBody>
          <a:bodyPr wrap="square" lIns="0" tIns="0" rIns="0" bIns="0" rtlCol="0" anchor="t"/>
          <a:lstStyle/>
          <a:p>
            <a:pPr algn="l" indent="0" marL="0">
              <a:lnSpc>
                <a:spcPct val="125000"/>
              </a:lnSpc>
              <a:buNone/>
            </a:pPr>
            <a:r>
              <a:rPr lang="en-US" sz="1200" dirty="0">
                <a:solidFill>
                  <a:schemeClr val="tx2"/>
                </a:solidFill>
                <a:latin typeface="Inter" pitchFamily="34" charset="0"/>
                <a:ea typeface="Inter" pitchFamily="34" charset="-122"/>
                <a:cs typeface="Inter" pitchFamily="34" charset="-120"/>
              </a:rPr>
              <a:t>Become the system of record for revenue decisions.</a:t>
            </a:r>
            <a:endParaRPr lang="en-US" sz="1200" dirty="0"/>
          </a:p>
        </p:txBody>
      </p:sp>
      <p:sp>
        <p:nvSpPr>
          <p:cNvPr id="32" name="Shape 26"/>
          <p:cNvSpPr/>
          <p:nvPr/>
        </p:nvSpPr>
        <p:spPr>
          <a:xfrm>
            <a:off x="8173517" y="4572000"/>
            <a:ext cx="3058058" cy="594360"/>
          </a:xfrm>
          <a:prstGeom prst="roundRect">
            <a:avLst>
              <a:gd name="adj" fmla="val 15385"/>
            </a:avLst>
          </a:prstGeom>
          <a:solidFill>
            <a:schemeClr val="bg2"/>
          </a:solidFill>
          <a:ln/>
        </p:spPr>
      </p:sp>
      <p:pic>
        <p:nvPicPr>
          <p:cNvPr id="33" name="Icon PiTarget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8356397" y="4745736"/>
            <a:ext cx="246888" cy="246888"/>
          </a:xfrm>
          <a:prstGeom prst="rect">
            <a:avLst/>
          </a:prstGeom>
        </p:spPr>
      </p:pic>
      <p:sp>
        <p:nvSpPr>
          <p:cNvPr id="34" name="Text 27"/>
          <p:cNvSpPr txBox="1"/>
          <p:nvPr/>
        </p:nvSpPr>
        <p:spPr>
          <a:xfrm>
            <a:off x="8722157" y="4572000"/>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$150M ARR</a:t>
            </a:r>
            <a:endParaRPr lang="en-US" sz="1300" dirty="0"/>
          </a:p>
        </p:txBody>
      </p:sp>
      <p:sp>
        <p:nvSpPr>
          <p:cNvPr id="35" name="Shape 28"/>
          <p:cNvSpPr/>
          <p:nvPr/>
        </p:nvSpPr>
        <p:spPr>
          <a:xfrm>
            <a:off x="8173517" y="5285232"/>
            <a:ext cx="3058058" cy="594360"/>
          </a:xfrm>
          <a:prstGeom prst="roundRect">
            <a:avLst>
              <a:gd name="adj" fmla="val 15385"/>
            </a:avLst>
          </a:prstGeom>
          <a:solidFill>
            <a:schemeClr val="bg2"/>
          </a:solidFill>
          <a:ln/>
        </p:spPr>
      </p:sp>
      <p:pic>
        <p:nvPicPr>
          <p:cNvPr id="36" name="Icon PiTarget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356397" y="5458968"/>
            <a:ext cx="246888" cy="246888"/>
          </a:xfrm>
          <a:prstGeom prst="rect">
            <a:avLst/>
          </a:prstGeom>
        </p:spPr>
      </p:pic>
      <p:sp>
        <p:nvSpPr>
          <p:cNvPr id="37" name="Text 29"/>
          <p:cNvSpPr txBox="1"/>
          <p:nvPr/>
        </p:nvSpPr>
        <p:spPr>
          <a:xfrm>
            <a:off x="8722157" y="5285232"/>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Rule of 40 ≥ 55</a:t>
            </a:r>
            <a:endParaRPr lang="en-US" sz="13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Five steps from pilot to company-wide adoption</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Our proven enterprise rollout path, used in 40+ deployments.</a:t>
            </a:r>
            <a:endParaRPr lang="en-US" sz="1150" dirty="0"/>
          </a:p>
        </p:txBody>
      </p:sp>
      <p:sp>
        <p:nvSpPr>
          <p:cNvPr id="6" name="Shape 4"/>
          <p:cNvSpPr/>
          <p:nvPr/>
        </p:nvSpPr>
        <p:spPr>
          <a:xfrm>
            <a:off x="548640" y="4572000"/>
            <a:ext cx="2109155" cy="1463040"/>
          </a:xfrm>
          <a:prstGeom prst="roundRect">
            <a:avLst>
              <a:gd name="adj" fmla="val 6250"/>
            </a:avLst>
          </a:prstGeom>
          <a:solidFill>
            <a:schemeClr val="bg1"/>
          </a:solidFill>
          <a:ln/>
        </p:spPr>
      </p:sp>
      <p:sp>
        <p:nvSpPr>
          <p:cNvPr id="7" name="Text 5"/>
          <p:cNvSpPr txBox="1"/>
          <p:nvPr/>
        </p:nvSpPr>
        <p:spPr>
          <a:xfrm>
            <a:off x="777240" y="4773168"/>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01</a:t>
            </a:r>
            <a:endParaRPr lang="en-US" sz="2200" dirty="0"/>
          </a:p>
        </p:txBody>
      </p:sp>
      <p:sp>
        <p:nvSpPr>
          <p:cNvPr id="8" name="Text 6"/>
          <p:cNvSpPr txBox="1"/>
          <p:nvPr/>
        </p:nvSpPr>
        <p:spPr>
          <a:xfrm>
            <a:off x="777240" y="5230368"/>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Pilot</a:t>
            </a:r>
            <a:endParaRPr lang="en-US" sz="1400" dirty="0"/>
          </a:p>
        </p:txBody>
      </p:sp>
      <p:sp>
        <p:nvSpPr>
          <p:cNvPr id="9" name="Text 7"/>
          <p:cNvSpPr txBox="1"/>
          <p:nvPr/>
        </p:nvSpPr>
        <p:spPr>
          <a:xfrm>
            <a:off x="777240" y="5532120"/>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One team, 30 days, agreed success criteria.</a:t>
            </a:r>
            <a:endParaRPr lang="en-US" sz="1000" dirty="0"/>
          </a:p>
        </p:txBody>
      </p:sp>
      <p:pic>
        <p:nvPicPr>
          <p:cNvPr id="10" name="Icon PiArrowUpRight 6B768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2246315" y="4800600"/>
            <a:ext cx="201168" cy="201168"/>
          </a:xfrm>
          <a:prstGeom prst="rect">
            <a:avLst/>
          </a:prstGeom>
        </p:spPr>
      </p:pic>
      <p:sp>
        <p:nvSpPr>
          <p:cNvPr id="11" name="Shape 8"/>
          <p:cNvSpPr/>
          <p:nvPr/>
        </p:nvSpPr>
        <p:spPr>
          <a:xfrm>
            <a:off x="2794955" y="4005072"/>
            <a:ext cx="2109155" cy="2029968"/>
          </a:xfrm>
          <a:prstGeom prst="roundRect">
            <a:avLst>
              <a:gd name="adj" fmla="val 4505"/>
            </a:avLst>
          </a:prstGeom>
          <a:solidFill>
            <a:schemeClr val="bg1"/>
          </a:solidFill>
          <a:ln/>
        </p:spPr>
      </p:sp>
      <p:sp>
        <p:nvSpPr>
          <p:cNvPr id="12" name="Text 9"/>
          <p:cNvSpPr txBox="1"/>
          <p:nvPr/>
        </p:nvSpPr>
        <p:spPr>
          <a:xfrm>
            <a:off x="3023555" y="4206240"/>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02</a:t>
            </a:r>
            <a:endParaRPr lang="en-US" sz="2200" dirty="0"/>
          </a:p>
        </p:txBody>
      </p:sp>
      <p:sp>
        <p:nvSpPr>
          <p:cNvPr id="13" name="Text 10"/>
          <p:cNvSpPr txBox="1"/>
          <p:nvPr/>
        </p:nvSpPr>
        <p:spPr>
          <a:xfrm>
            <a:off x="3023555" y="4663440"/>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Prove</a:t>
            </a:r>
            <a:endParaRPr lang="en-US" sz="1400" dirty="0"/>
          </a:p>
        </p:txBody>
      </p:sp>
      <p:sp>
        <p:nvSpPr>
          <p:cNvPr id="14" name="Text 11"/>
          <p:cNvSpPr txBox="1"/>
          <p:nvPr/>
        </p:nvSpPr>
        <p:spPr>
          <a:xfrm>
            <a:off x="3023555" y="4965192"/>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Business case signed off by finance.</a:t>
            </a:r>
            <a:endParaRPr lang="en-US" sz="1000" dirty="0"/>
          </a:p>
        </p:txBody>
      </p:sp>
      <p:pic>
        <p:nvPicPr>
          <p:cNvPr id="15" name="Icon PiArrowUpRight 6B768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4492630" y="4233672"/>
            <a:ext cx="201168" cy="201168"/>
          </a:xfrm>
          <a:prstGeom prst="rect">
            <a:avLst/>
          </a:prstGeom>
        </p:spPr>
      </p:pic>
      <p:sp>
        <p:nvSpPr>
          <p:cNvPr id="16" name="Shape 12"/>
          <p:cNvSpPr/>
          <p:nvPr/>
        </p:nvSpPr>
        <p:spPr>
          <a:xfrm>
            <a:off x="5041270" y="3438144"/>
            <a:ext cx="2109155" cy="2596896"/>
          </a:xfrm>
          <a:prstGeom prst="roundRect">
            <a:avLst>
              <a:gd name="adj" fmla="val 4335"/>
            </a:avLst>
          </a:prstGeom>
          <a:solidFill>
            <a:schemeClr val="bg1"/>
          </a:solidFill>
          <a:ln/>
        </p:spPr>
      </p:sp>
      <p:sp>
        <p:nvSpPr>
          <p:cNvPr id="17" name="Text 13"/>
          <p:cNvSpPr txBox="1"/>
          <p:nvPr/>
        </p:nvSpPr>
        <p:spPr>
          <a:xfrm>
            <a:off x="5269870" y="3639312"/>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03</a:t>
            </a:r>
            <a:endParaRPr lang="en-US" sz="2200" dirty="0"/>
          </a:p>
        </p:txBody>
      </p:sp>
      <p:sp>
        <p:nvSpPr>
          <p:cNvPr id="18" name="Text 14"/>
          <p:cNvSpPr txBox="1"/>
          <p:nvPr/>
        </p:nvSpPr>
        <p:spPr>
          <a:xfrm>
            <a:off x="5269870" y="4096512"/>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Rollout</a:t>
            </a:r>
            <a:endParaRPr lang="en-US" sz="1400" dirty="0"/>
          </a:p>
        </p:txBody>
      </p:sp>
      <p:sp>
        <p:nvSpPr>
          <p:cNvPr id="19" name="Text 15"/>
          <p:cNvSpPr txBox="1"/>
          <p:nvPr/>
        </p:nvSpPr>
        <p:spPr>
          <a:xfrm>
            <a:off x="5269870" y="4398264"/>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All sales teams live, admins trained.</a:t>
            </a:r>
            <a:endParaRPr lang="en-US" sz="1000" dirty="0"/>
          </a:p>
        </p:txBody>
      </p:sp>
      <p:pic>
        <p:nvPicPr>
          <p:cNvPr id="20" name="Icon PiArrowUpRight 6B768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738945" y="3666744"/>
            <a:ext cx="201168" cy="201168"/>
          </a:xfrm>
          <a:prstGeom prst="rect">
            <a:avLst/>
          </a:prstGeom>
        </p:spPr>
      </p:pic>
      <p:sp>
        <p:nvSpPr>
          <p:cNvPr id="21" name="Shape 16"/>
          <p:cNvSpPr/>
          <p:nvPr/>
        </p:nvSpPr>
        <p:spPr>
          <a:xfrm>
            <a:off x="7287585" y="2871216"/>
            <a:ext cx="2109155" cy="3163824"/>
          </a:xfrm>
          <a:prstGeom prst="roundRect">
            <a:avLst>
              <a:gd name="adj" fmla="val 4335"/>
            </a:avLst>
          </a:prstGeom>
          <a:solidFill>
            <a:schemeClr val="bg1"/>
          </a:solidFill>
          <a:ln/>
        </p:spPr>
      </p:sp>
      <p:sp>
        <p:nvSpPr>
          <p:cNvPr id="22" name="Text 17"/>
          <p:cNvSpPr txBox="1"/>
          <p:nvPr/>
        </p:nvSpPr>
        <p:spPr>
          <a:xfrm>
            <a:off x="7516185" y="3072384"/>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04</a:t>
            </a:r>
            <a:endParaRPr lang="en-US" sz="2200" dirty="0"/>
          </a:p>
        </p:txBody>
      </p:sp>
      <p:sp>
        <p:nvSpPr>
          <p:cNvPr id="23" name="Text 18"/>
          <p:cNvSpPr txBox="1"/>
          <p:nvPr/>
        </p:nvSpPr>
        <p:spPr>
          <a:xfrm>
            <a:off x="7516185" y="3529584"/>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Extend</a:t>
            </a:r>
            <a:endParaRPr lang="en-US" sz="1400" dirty="0"/>
          </a:p>
        </p:txBody>
      </p:sp>
      <p:sp>
        <p:nvSpPr>
          <p:cNvPr id="24" name="Text 19"/>
          <p:cNvSpPr txBox="1"/>
          <p:nvPr/>
        </p:nvSpPr>
        <p:spPr>
          <a:xfrm>
            <a:off x="7516185" y="3831336"/>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Marketing and CS join the platform.</a:t>
            </a:r>
            <a:endParaRPr lang="en-US" sz="1000" dirty="0"/>
          </a:p>
        </p:txBody>
      </p:sp>
      <p:pic>
        <p:nvPicPr>
          <p:cNvPr id="25" name="Icon PiArrowUpRight 6B768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8985260" y="3099816"/>
            <a:ext cx="201168" cy="201168"/>
          </a:xfrm>
          <a:prstGeom prst="rect">
            <a:avLst/>
          </a:prstGeom>
        </p:spPr>
      </p:pic>
      <p:sp>
        <p:nvSpPr>
          <p:cNvPr id="26" name="Shape 20"/>
          <p:cNvSpPr/>
          <p:nvPr/>
        </p:nvSpPr>
        <p:spPr>
          <a:xfrm>
            <a:off x="9533900" y="2304288"/>
            <a:ext cx="2109155" cy="3730752"/>
          </a:xfrm>
          <a:prstGeom prst="roundRect">
            <a:avLst>
              <a:gd name="adj" fmla="val 4335"/>
            </a:avLst>
          </a:prstGeom>
          <a:solidFill>
            <a:schemeClr val="tx1"/>
          </a:solidFill>
          <a:ln/>
        </p:spPr>
      </p:sp>
      <p:sp>
        <p:nvSpPr>
          <p:cNvPr id="27" name="Text 21"/>
          <p:cNvSpPr txBox="1"/>
          <p:nvPr/>
        </p:nvSpPr>
        <p:spPr>
          <a:xfrm>
            <a:off x="9762500" y="2505456"/>
            <a:ext cx="914400" cy="411480"/>
          </a:xfrm>
          <a:prstGeom prst="rect">
            <a:avLst/>
          </a:prstGeom>
          <a:noFill/>
          <a:ln/>
        </p:spPr>
        <p:txBody>
          <a:bodyPr wrap="square" lIns="0" tIns="0" rIns="0" bIns="0" rtlCol="0" anchor="t"/>
          <a:lstStyle/>
          <a:p>
            <a:pPr algn="l" indent="0" marL="0">
              <a:buNone/>
            </a:pPr>
            <a:r>
              <a:rPr lang="en-US" sz="2200" dirty="0">
                <a:solidFill>
                  <a:schemeClr val="accent1"/>
                </a:solidFill>
                <a:latin typeface="Manrope ExtraBold" pitchFamily="34" charset="0"/>
                <a:ea typeface="Manrope ExtraBold" pitchFamily="34" charset="-122"/>
                <a:cs typeface="Manrope ExtraBold" pitchFamily="34" charset="-120"/>
              </a:rPr>
              <a:t>05</a:t>
            </a:r>
            <a:endParaRPr lang="en-US" sz="2200" dirty="0"/>
          </a:p>
        </p:txBody>
      </p:sp>
      <p:sp>
        <p:nvSpPr>
          <p:cNvPr id="28" name="Text 22"/>
          <p:cNvSpPr txBox="1"/>
          <p:nvPr/>
        </p:nvSpPr>
        <p:spPr>
          <a:xfrm>
            <a:off x="9762500" y="2962656"/>
            <a:ext cx="1651955"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Optimise</a:t>
            </a:r>
            <a:endParaRPr lang="en-US" sz="1400" dirty="0"/>
          </a:p>
        </p:txBody>
      </p:sp>
      <p:sp>
        <p:nvSpPr>
          <p:cNvPr id="29" name="Text 23"/>
          <p:cNvSpPr txBox="1"/>
          <p:nvPr/>
        </p:nvSpPr>
        <p:spPr>
          <a:xfrm>
            <a:off x="9762500" y="3264408"/>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4"/>
                </a:solidFill>
                <a:latin typeface="Inter" pitchFamily="34" charset="0"/>
                <a:ea typeface="Inter" pitchFamily="34" charset="-122"/>
                <a:cs typeface="Inter" pitchFamily="34" charset="-120"/>
              </a:rPr>
              <a:t>Quarterly value reviews, new use cases.</a:t>
            </a:r>
            <a:endParaRPr lang="en-US" sz="1000" dirty="0"/>
          </a:p>
        </p:txBody>
      </p:sp>
      <p:sp>
        <p:nvSpPr>
          <p:cNvPr id="30" name="Text 24"/>
          <p:cNvSpPr txBox="1"/>
          <p:nvPr/>
        </p:nvSpPr>
        <p:spPr>
          <a:xfrm>
            <a:off x="548640" y="1874520"/>
            <a:ext cx="3657600"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Typical time to full adoption</a:t>
            </a:r>
            <a:endParaRPr lang="en-US" sz="1000" dirty="0"/>
          </a:p>
        </p:txBody>
      </p:sp>
      <p:sp>
        <p:nvSpPr>
          <p:cNvPr id="31" name="Text 25"/>
          <p:cNvSpPr txBox="1"/>
          <p:nvPr/>
        </p:nvSpPr>
        <p:spPr>
          <a:xfrm>
            <a:off x="548640" y="2103120"/>
            <a:ext cx="3657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120 days</a:t>
            </a:r>
            <a:endParaRPr lang="en-US" sz="3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2027 roadmap and key milestones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Bars show delivery windows; diamonds mark board-level milestones.</a:t>
            </a:r>
            <a:endParaRPr lang="en-US" sz="1150" dirty="0"/>
          </a:p>
        </p:txBody>
      </p:sp>
      <p:sp>
        <p:nvSpPr>
          <p:cNvPr id="6" name="Shape 4"/>
          <p:cNvSpPr/>
          <p:nvPr/>
        </p:nvSpPr>
        <p:spPr>
          <a:xfrm>
            <a:off x="2944368" y="1874520"/>
            <a:ext cx="2142668" cy="365760"/>
          </a:xfrm>
          <a:prstGeom prst="roundRect">
            <a:avLst>
              <a:gd name="adj" fmla="val 15000"/>
            </a:avLst>
          </a:prstGeom>
          <a:solidFill>
            <a:schemeClr val="tx1"/>
          </a:solidFill>
          <a:ln/>
        </p:spPr>
      </p:sp>
      <p:sp>
        <p:nvSpPr>
          <p:cNvPr id="7" name="Text 5"/>
          <p:cNvSpPr txBox="1"/>
          <p:nvPr/>
        </p:nvSpPr>
        <p:spPr>
          <a:xfrm>
            <a:off x="2926080" y="1874520"/>
            <a:ext cx="2179244" cy="365760"/>
          </a:xfrm>
          <a:prstGeom prst="rect">
            <a:avLst/>
          </a:prstGeom>
          <a:noFill/>
          <a:ln/>
        </p:spPr>
        <p:txBody>
          <a:bodyPr wrap="square" lIns="0" tIns="0" rIns="0" bIns="0" rtlCol="0" anchor="ctr"/>
          <a:lstStyle/>
          <a:p>
            <a:pPr algn="ctr" indent="0" marL="0">
              <a:buNone/>
            </a:pPr>
            <a:r>
              <a:rPr lang="en-US" sz="1000" dirty="0">
                <a:solidFill>
                  <a:schemeClr val="bg1"/>
                </a:solidFill>
                <a:latin typeface="Inter Medium" pitchFamily="34" charset="0"/>
                <a:ea typeface="Inter Medium" pitchFamily="34" charset="-122"/>
                <a:cs typeface="Inter Medium" pitchFamily="34" charset="-120"/>
              </a:rPr>
              <a:t>Q1 2027</a:t>
            </a:r>
            <a:endParaRPr lang="en-US" sz="1000" dirty="0"/>
          </a:p>
        </p:txBody>
      </p:sp>
      <p:sp>
        <p:nvSpPr>
          <p:cNvPr id="8" name="Shape 6"/>
          <p:cNvSpPr/>
          <p:nvPr/>
        </p:nvSpPr>
        <p:spPr>
          <a:xfrm>
            <a:off x="5123612" y="1874520"/>
            <a:ext cx="2142668" cy="365760"/>
          </a:xfrm>
          <a:prstGeom prst="roundRect">
            <a:avLst>
              <a:gd name="adj" fmla="val 15000"/>
            </a:avLst>
          </a:prstGeom>
          <a:solidFill>
            <a:schemeClr val="bg2"/>
          </a:solidFill>
          <a:ln/>
        </p:spPr>
      </p:sp>
      <p:sp>
        <p:nvSpPr>
          <p:cNvPr id="9" name="Text 7"/>
          <p:cNvSpPr txBox="1"/>
          <p:nvPr/>
        </p:nvSpPr>
        <p:spPr>
          <a:xfrm>
            <a:off x="5105324" y="1874520"/>
            <a:ext cx="2179244" cy="365760"/>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Q2 2027</a:t>
            </a:r>
            <a:endParaRPr lang="en-US" sz="1000" dirty="0"/>
          </a:p>
        </p:txBody>
      </p:sp>
      <p:sp>
        <p:nvSpPr>
          <p:cNvPr id="10" name="Shape 8"/>
          <p:cNvSpPr/>
          <p:nvPr/>
        </p:nvSpPr>
        <p:spPr>
          <a:xfrm>
            <a:off x="5105324" y="2331720"/>
            <a:ext cx="0" cy="3657600"/>
          </a:xfrm>
          <a:prstGeom prst="line">
            <a:avLst/>
          </a:prstGeom>
          <a:noFill/>
          <a:ln w="9525">
            <a:solidFill>
              <a:schemeClr val="accent4"/>
            </a:solidFill>
            <a:prstDash val="dash"/>
          </a:ln>
        </p:spPr>
      </p:sp>
      <p:sp>
        <p:nvSpPr>
          <p:cNvPr id="11" name="Shape 9"/>
          <p:cNvSpPr/>
          <p:nvPr/>
        </p:nvSpPr>
        <p:spPr>
          <a:xfrm>
            <a:off x="7302856" y="1874520"/>
            <a:ext cx="2142668" cy="365760"/>
          </a:xfrm>
          <a:prstGeom prst="roundRect">
            <a:avLst>
              <a:gd name="adj" fmla="val 15000"/>
            </a:avLst>
          </a:prstGeom>
          <a:solidFill>
            <a:schemeClr val="bg2"/>
          </a:solidFill>
          <a:ln/>
        </p:spPr>
      </p:sp>
      <p:sp>
        <p:nvSpPr>
          <p:cNvPr id="12" name="Text 10"/>
          <p:cNvSpPr txBox="1"/>
          <p:nvPr/>
        </p:nvSpPr>
        <p:spPr>
          <a:xfrm>
            <a:off x="7284568" y="1874520"/>
            <a:ext cx="2179244" cy="365760"/>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Q3 2027</a:t>
            </a:r>
            <a:endParaRPr lang="en-US" sz="1000" dirty="0"/>
          </a:p>
        </p:txBody>
      </p:sp>
      <p:sp>
        <p:nvSpPr>
          <p:cNvPr id="13" name="Shape 11"/>
          <p:cNvSpPr/>
          <p:nvPr/>
        </p:nvSpPr>
        <p:spPr>
          <a:xfrm>
            <a:off x="7284568" y="2331720"/>
            <a:ext cx="0" cy="3657600"/>
          </a:xfrm>
          <a:prstGeom prst="line">
            <a:avLst/>
          </a:prstGeom>
          <a:noFill/>
          <a:ln w="9525">
            <a:solidFill>
              <a:schemeClr val="accent4"/>
            </a:solidFill>
            <a:prstDash val="dash"/>
          </a:ln>
        </p:spPr>
      </p:sp>
      <p:sp>
        <p:nvSpPr>
          <p:cNvPr id="14" name="Shape 12"/>
          <p:cNvSpPr/>
          <p:nvPr/>
        </p:nvSpPr>
        <p:spPr>
          <a:xfrm>
            <a:off x="9482099" y="1874520"/>
            <a:ext cx="2142668" cy="365760"/>
          </a:xfrm>
          <a:prstGeom prst="roundRect">
            <a:avLst>
              <a:gd name="adj" fmla="val 15000"/>
            </a:avLst>
          </a:prstGeom>
          <a:solidFill>
            <a:schemeClr val="bg2"/>
          </a:solidFill>
          <a:ln/>
        </p:spPr>
      </p:sp>
      <p:sp>
        <p:nvSpPr>
          <p:cNvPr id="15" name="Text 13"/>
          <p:cNvSpPr txBox="1"/>
          <p:nvPr/>
        </p:nvSpPr>
        <p:spPr>
          <a:xfrm>
            <a:off x="9463811" y="1874520"/>
            <a:ext cx="2179244" cy="365760"/>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Q4 2027</a:t>
            </a:r>
            <a:endParaRPr lang="en-US" sz="1000" dirty="0"/>
          </a:p>
        </p:txBody>
      </p:sp>
      <p:sp>
        <p:nvSpPr>
          <p:cNvPr id="16" name="Shape 14"/>
          <p:cNvSpPr/>
          <p:nvPr/>
        </p:nvSpPr>
        <p:spPr>
          <a:xfrm>
            <a:off x="9463811" y="2331720"/>
            <a:ext cx="0" cy="3657600"/>
          </a:xfrm>
          <a:prstGeom prst="line">
            <a:avLst/>
          </a:prstGeom>
          <a:noFill/>
          <a:ln w="9525">
            <a:solidFill>
              <a:schemeClr val="accent4"/>
            </a:solidFill>
            <a:prstDash val="dash"/>
          </a:ln>
        </p:spPr>
      </p:sp>
      <p:sp>
        <p:nvSpPr>
          <p:cNvPr id="17" name="Text 15"/>
          <p:cNvSpPr txBox="1"/>
          <p:nvPr/>
        </p:nvSpPr>
        <p:spPr>
          <a:xfrm>
            <a:off x="548640" y="242316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US expansion</a:t>
            </a:r>
            <a:endParaRPr lang="en-US" sz="1100" dirty="0"/>
          </a:p>
        </p:txBody>
      </p:sp>
      <p:sp>
        <p:nvSpPr>
          <p:cNvPr id="18" name="Shape 16"/>
          <p:cNvSpPr/>
          <p:nvPr/>
        </p:nvSpPr>
        <p:spPr>
          <a:xfrm>
            <a:off x="548640" y="2926080"/>
            <a:ext cx="11094415" cy="0"/>
          </a:xfrm>
          <a:prstGeom prst="line">
            <a:avLst/>
          </a:prstGeom>
          <a:noFill/>
          <a:ln w="9525">
            <a:solidFill>
              <a:schemeClr val="bg2"/>
            </a:solidFill>
            <a:prstDash val="solid"/>
          </a:ln>
        </p:spPr>
      </p:sp>
      <p:sp>
        <p:nvSpPr>
          <p:cNvPr id="19" name="Shape 17"/>
          <p:cNvSpPr/>
          <p:nvPr/>
        </p:nvSpPr>
        <p:spPr>
          <a:xfrm>
            <a:off x="2953512" y="2551176"/>
            <a:ext cx="5393246" cy="274320"/>
          </a:xfrm>
          <a:prstGeom prst="roundRect">
            <a:avLst>
              <a:gd name="adj" fmla="val 50000"/>
            </a:avLst>
          </a:prstGeom>
          <a:solidFill>
            <a:schemeClr val="tx1"/>
          </a:solidFill>
          <a:ln/>
        </p:spPr>
      </p:sp>
      <p:sp>
        <p:nvSpPr>
          <p:cNvPr id="20" name="Shape 18"/>
          <p:cNvSpPr/>
          <p:nvPr/>
        </p:nvSpPr>
        <p:spPr>
          <a:xfrm>
            <a:off x="8237030" y="2551176"/>
            <a:ext cx="274320" cy="274320"/>
          </a:xfrm>
          <a:prstGeom prst="diamond">
            <a:avLst/>
          </a:prstGeom>
          <a:solidFill>
            <a:schemeClr val="accent1"/>
          </a:solidFill>
          <a:ln w="15875">
            <a:solidFill>
              <a:schemeClr val="tx1"/>
            </a:solidFill>
            <a:prstDash val="solid"/>
          </a:ln>
        </p:spPr>
      </p:sp>
      <p:sp>
        <p:nvSpPr>
          <p:cNvPr id="21" name="Text 19"/>
          <p:cNvSpPr txBox="1"/>
          <p:nvPr/>
        </p:nvSpPr>
        <p:spPr>
          <a:xfrm>
            <a:off x="8575358" y="255117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Chicago office opens</a:t>
            </a:r>
            <a:endParaRPr lang="en-US" sz="900" dirty="0"/>
          </a:p>
        </p:txBody>
      </p:sp>
      <p:sp>
        <p:nvSpPr>
          <p:cNvPr id="22" name="Text 20"/>
          <p:cNvSpPr txBox="1"/>
          <p:nvPr/>
        </p:nvSpPr>
        <p:spPr>
          <a:xfrm>
            <a:off x="548640" y="297180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Partner marketplace</a:t>
            </a:r>
            <a:endParaRPr lang="en-US" sz="1100" dirty="0"/>
          </a:p>
        </p:txBody>
      </p:sp>
      <p:sp>
        <p:nvSpPr>
          <p:cNvPr id="23" name="Shape 21"/>
          <p:cNvSpPr/>
          <p:nvPr/>
        </p:nvSpPr>
        <p:spPr>
          <a:xfrm>
            <a:off x="548640" y="3474720"/>
            <a:ext cx="11094415" cy="0"/>
          </a:xfrm>
          <a:prstGeom prst="line">
            <a:avLst/>
          </a:prstGeom>
          <a:noFill/>
          <a:ln w="9525">
            <a:solidFill>
              <a:schemeClr val="bg2"/>
            </a:solidFill>
            <a:prstDash val="solid"/>
          </a:ln>
        </p:spPr>
      </p:sp>
      <p:sp>
        <p:nvSpPr>
          <p:cNvPr id="24" name="Shape 22"/>
          <p:cNvSpPr/>
          <p:nvPr/>
        </p:nvSpPr>
        <p:spPr>
          <a:xfrm>
            <a:off x="4043134" y="3099816"/>
            <a:ext cx="3649850" cy="274320"/>
          </a:xfrm>
          <a:prstGeom prst="roundRect">
            <a:avLst>
              <a:gd name="adj" fmla="val 50000"/>
            </a:avLst>
          </a:prstGeom>
          <a:solidFill>
            <a:schemeClr val="tx1"/>
          </a:solidFill>
          <a:ln/>
        </p:spPr>
      </p:sp>
      <p:sp>
        <p:nvSpPr>
          <p:cNvPr id="25" name="Shape 23"/>
          <p:cNvSpPr/>
          <p:nvPr/>
        </p:nvSpPr>
        <p:spPr>
          <a:xfrm>
            <a:off x="7583256" y="3099816"/>
            <a:ext cx="274320" cy="274320"/>
          </a:xfrm>
          <a:prstGeom prst="diamond">
            <a:avLst/>
          </a:prstGeom>
          <a:solidFill>
            <a:schemeClr val="accent1"/>
          </a:solidFill>
          <a:ln w="15875">
            <a:solidFill>
              <a:schemeClr val="tx1"/>
            </a:solidFill>
            <a:prstDash val="solid"/>
          </a:ln>
        </p:spPr>
      </p:sp>
      <p:sp>
        <p:nvSpPr>
          <p:cNvPr id="26" name="Text 24"/>
          <p:cNvSpPr txBox="1"/>
          <p:nvPr/>
        </p:nvSpPr>
        <p:spPr>
          <a:xfrm>
            <a:off x="7921584" y="309981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Public launch</a:t>
            </a:r>
            <a:endParaRPr lang="en-US" sz="900" dirty="0"/>
          </a:p>
        </p:txBody>
      </p:sp>
      <p:sp>
        <p:nvSpPr>
          <p:cNvPr id="27" name="Text 25"/>
          <p:cNvSpPr txBox="1"/>
          <p:nvPr/>
        </p:nvSpPr>
        <p:spPr>
          <a:xfrm>
            <a:off x="548640" y="35204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Autonomous forecasting</a:t>
            </a:r>
            <a:endParaRPr lang="en-US" sz="1100" dirty="0"/>
          </a:p>
        </p:txBody>
      </p:sp>
      <p:sp>
        <p:nvSpPr>
          <p:cNvPr id="28" name="Shape 26"/>
          <p:cNvSpPr/>
          <p:nvPr/>
        </p:nvSpPr>
        <p:spPr>
          <a:xfrm>
            <a:off x="548640" y="4023360"/>
            <a:ext cx="11094415" cy="0"/>
          </a:xfrm>
          <a:prstGeom prst="line">
            <a:avLst/>
          </a:prstGeom>
          <a:noFill/>
          <a:ln w="9525">
            <a:solidFill>
              <a:schemeClr val="bg2"/>
            </a:solidFill>
            <a:prstDash val="solid"/>
          </a:ln>
        </p:spPr>
      </p:sp>
      <p:sp>
        <p:nvSpPr>
          <p:cNvPr id="29" name="Shape 27"/>
          <p:cNvSpPr/>
          <p:nvPr/>
        </p:nvSpPr>
        <p:spPr>
          <a:xfrm>
            <a:off x="2953512" y="3648456"/>
            <a:ext cx="3214002" cy="274320"/>
          </a:xfrm>
          <a:prstGeom prst="roundRect">
            <a:avLst>
              <a:gd name="adj" fmla="val 50000"/>
            </a:avLst>
          </a:prstGeom>
          <a:solidFill>
            <a:schemeClr val="accent4"/>
          </a:solidFill>
          <a:ln/>
        </p:spPr>
      </p:sp>
      <p:sp>
        <p:nvSpPr>
          <p:cNvPr id="30" name="Shape 28"/>
          <p:cNvSpPr/>
          <p:nvPr/>
        </p:nvSpPr>
        <p:spPr>
          <a:xfrm>
            <a:off x="6222378" y="3648456"/>
            <a:ext cx="3649850" cy="274320"/>
          </a:xfrm>
          <a:prstGeom prst="roundRect">
            <a:avLst>
              <a:gd name="adj" fmla="val 50000"/>
            </a:avLst>
          </a:prstGeom>
          <a:solidFill>
            <a:schemeClr val="tx1"/>
          </a:solidFill>
          <a:ln/>
        </p:spPr>
      </p:sp>
      <p:sp>
        <p:nvSpPr>
          <p:cNvPr id="31" name="Shape 29"/>
          <p:cNvSpPr/>
          <p:nvPr/>
        </p:nvSpPr>
        <p:spPr>
          <a:xfrm>
            <a:off x="9762500" y="3648456"/>
            <a:ext cx="274320" cy="274320"/>
          </a:xfrm>
          <a:prstGeom prst="diamond">
            <a:avLst/>
          </a:prstGeom>
          <a:solidFill>
            <a:schemeClr val="accent1"/>
          </a:solidFill>
          <a:ln w="15875">
            <a:solidFill>
              <a:schemeClr val="tx1"/>
            </a:solidFill>
            <a:prstDash val="solid"/>
          </a:ln>
        </p:spPr>
      </p:sp>
      <p:sp>
        <p:nvSpPr>
          <p:cNvPr id="32" name="Text 30"/>
          <p:cNvSpPr txBox="1"/>
          <p:nvPr/>
        </p:nvSpPr>
        <p:spPr>
          <a:xfrm>
            <a:off x="10100828" y="364845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GA release</a:t>
            </a:r>
            <a:endParaRPr lang="en-US" sz="900" dirty="0"/>
          </a:p>
        </p:txBody>
      </p:sp>
      <p:sp>
        <p:nvSpPr>
          <p:cNvPr id="33" name="Text 31"/>
          <p:cNvSpPr txBox="1"/>
          <p:nvPr/>
        </p:nvSpPr>
        <p:spPr>
          <a:xfrm>
            <a:off x="548640" y="406908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Enterprise tier</a:t>
            </a:r>
            <a:endParaRPr lang="en-US" sz="1100" dirty="0"/>
          </a:p>
        </p:txBody>
      </p:sp>
      <p:sp>
        <p:nvSpPr>
          <p:cNvPr id="34" name="Shape 32"/>
          <p:cNvSpPr/>
          <p:nvPr/>
        </p:nvSpPr>
        <p:spPr>
          <a:xfrm>
            <a:off x="548640" y="4572000"/>
            <a:ext cx="11094415" cy="0"/>
          </a:xfrm>
          <a:prstGeom prst="line">
            <a:avLst/>
          </a:prstGeom>
          <a:noFill/>
          <a:ln w="9525">
            <a:solidFill>
              <a:schemeClr val="bg2"/>
            </a:solidFill>
            <a:prstDash val="solid"/>
          </a:ln>
        </p:spPr>
      </p:sp>
      <p:sp>
        <p:nvSpPr>
          <p:cNvPr id="35" name="Shape 33"/>
          <p:cNvSpPr/>
          <p:nvPr/>
        </p:nvSpPr>
        <p:spPr>
          <a:xfrm>
            <a:off x="6876151" y="4197096"/>
            <a:ext cx="3867775" cy="274320"/>
          </a:xfrm>
          <a:prstGeom prst="roundRect">
            <a:avLst>
              <a:gd name="adj" fmla="val 50000"/>
            </a:avLst>
          </a:prstGeom>
          <a:solidFill>
            <a:schemeClr val="tx1"/>
          </a:solidFill>
          <a:ln/>
        </p:spPr>
      </p:sp>
      <p:sp>
        <p:nvSpPr>
          <p:cNvPr id="36" name="Text 34"/>
          <p:cNvSpPr txBox="1"/>
          <p:nvPr/>
        </p:nvSpPr>
        <p:spPr>
          <a:xfrm>
            <a:off x="548640" y="461772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France &amp; Spain entry</a:t>
            </a:r>
            <a:endParaRPr lang="en-US" sz="1100" dirty="0"/>
          </a:p>
        </p:txBody>
      </p:sp>
      <p:sp>
        <p:nvSpPr>
          <p:cNvPr id="37" name="Shape 35"/>
          <p:cNvSpPr/>
          <p:nvPr/>
        </p:nvSpPr>
        <p:spPr>
          <a:xfrm>
            <a:off x="548640" y="5120640"/>
            <a:ext cx="11094415" cy="0"/>
          </a:xfrm>
          <a:prstGeom prst="line">
            <a:avLst/>
          </a:prstGeom>
          <a:noFill/>
          <a:ln w="9525">
            <a:solidFill>
              <a:schemeClr val="bg2"/>
            </a:solidFill>
            <a:prstDash val="solid"/>
          </a:ln>
        </p:spPr>
      </p:sp>
      <p:sp>
        <p:nvSpPr>
          <p:cNvPr id="38" name="Shape 36"/>
          <p:cNvSpPr/>
          <p:nvPr/>
        </p:nvSpPr>
        <p:spPr>
          <a:xfrm>
            <a:off x="8401622" y="4745736"/>
            <a:ext cx="3214002" cy="274320"/>
          </a:xfrm>
          <a:prstGeom prst="roundRect">
            <a:avLst>
              <a:gd name="adj" fmla="val 50000"/>
            </a:avLst>
          </a:prstGeom>
          <a:solidFill>
            <a:schemeClr val="accent1"/>
          </a:solidFill>
          <a:ln/>
        </p:spPr>
      </p:sp>
      <p:sp>
        <p:nvSpPr>
          <p:cNvPr id="39" name="Shape 37"/>
          <p:cNvSpPr/>
          <p:nvPr/>
        </p:nvSpPr>
        <p:spPr>
          <a:xfrm>
            <a:off x="11505895" y="4745736"/>
            <a:ext cx="274320" cy="274320"/>
          </a:xfrm>
          <a:prstGeom prst="diamond">
            <a:avLst/>
          </a:prstGeom>
          <a:solidFill>
            <a:schemeClr val="accent1"/>
          </a:solidFill>
          <a:ln w="15875">
            <a:solidFill>
              <a:schemeClr val="tx1"/>
            </a:solidFill>
            <a:prstDash val="solid"/>
          </a:ln>
        </p:spPr>
      </p:sp>
      <p:sp>
        <p:nvSpPr>
          <p:cNvPr id="40" name="Text 38"/>
          <p:cNvSpPr txBox="1"/>
          <p:nvPr/>
        </p:nvSpPr>
        <p:spPr>
          <a:xfrm>
            <a:off x="9795967" y="4745736"/>
            <a:ext cx="1645920" cy="274320"/>
          </a:xfrm>
          <a:prstGeom prst="rect">
            <a:avLst/>
          </a:prstGeom>
          <a:noFill/>
          <a:ln/>
        </p:spPr>
        <p:txBody>
          <a:bodyPr wrap="square" lIns="0" tIns="0" rIns="0" bIns="0" rtlCol="0" anchor="ctr"/>
          <a:lstStyle/>
          <a:p>
            <a:pPr algn="r" indent="0" marL="0">
              <a:buNone/>
            </a:pPr>
            <a:r>
              <a:rPr lang="en-US" sz="900" dirty="0">
                <a:solidFill>
                  <a:schemeClr val="tx2"/>
                </a:solidFill>
                <a:latin typeface="Inter Medium" pitchFamily="34" charset="0"/>
                <a:ea typeface="Inter Medium" pitchFamily="34" charset="-122"/>
                <a:cs typeface="Inter Medium" pitchFamily="34" charset="-120"/>
              </a:rPr>
              <a:t>First 50 customers</a:t>
            </a:r>
            <a:endParaRPr lang="en-US" sz="900" dirty="0"/>
          </a:p>
        </p:txBody>
      </p:sp>
      <p:sp>
        <p:nvSpPr>
          <p:cNvPr id="41" name="Text 39"/>
          <p:cNvSpPr txBox="1"/>
          <p:nvPr/>
        </p:nvSpPr>
        <p:spPr>
          <a:xfrm>
            <a:off x="548640" y="516636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Pricing &amp; packaging</a:t>
            </a:r>
            <a:endParaRPr lang="en-US" sz="1100" dirty="0"/>
          </a:p>
        </p:txBody>
      </p:sp>
      <p:sp>
        <p:nvSpPr>
          <p:cNvPr id="42" name="Shape 40"/>
          <p:cNvSpPr/>
          <p:nvPr/>
        </p:nvSpPr>
        <p:spPr>
          <a:xfrm>
            <a:off x="3389361" y="5294376"/>
            <a:ext cx="2124380" cy="274320"/>
          </a:xfrm>
          <a:prstGeom prst="roundRect">
            <a:avLst>
              <a:gd name="adj" fmla="val 50000"/>
            </a:avLst>
          </a:prstGeom>
          <a:solidFill>
            <a:schemeClr val="accent4"/>
          </a:solidFill>
          <a:ln/>
        </p:spPr>
      </p:sp>
      <p:sp>
        <p:nvSpPr>
          <p:cNvPr id="43" name="Shape 41"/>
          <p:cNvSpPr/>
          <p:nvPr/>
        </p:nvSpPr>
        <p:spPr>
          <a:xfrm>
            <a:off x="5404013" y="5294376"/>
            <a:ext cx="274320" cy="274320"/>
          </a:xfrm>
          <a:prstGeom prst="diamond">
            <a:avLst/>
          </a:prstGeom>
          <a:solidFill>
            <a:schemeClr val="accent1"/>
          </a:solidFill>
          <a:ln w="15875">
            <a:solidFill>
              <a:schemeClr val="tx1"/>
            </a:solidFill>
            <a:prstDash val="solid"/>
          </a:ln>
        </p:spPr>
      </p:sp>
      <p:sp>
        <p:nvSpPr>
          <p:cNvPr id="44" name="Text 42"/>
          <p:cNvSpPr txBox="1"/>
          <p:nvPr/>
        </p:nvSpPr>
        <p:spPr>
          <a:xfrm>
            <a:off x="5742341" y="529437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New price list</a:t>
            </a:r>
            <a:endParaRPr lang="en-US" sz="900" dirty="0"/>
          </a:p>
        </p:txBody>
      </p:sp>
      <p:sp>
        <p:nvSpPr>
          <p:cNvPr id="45" name="Shape 43"/>
          <p:cNvSpPr/>
          <p:nvPr/>
        </p:nvSpPr>
        <p:spPr>
          <a:xfrm>
            <a:off x="548640" y="5897880"/>
            <a:ext cx="365760" cy="146304"/>
          </a:xfrm>
          <a:prstGeom prst="roundRect">
            <a:avLst>
              <a:gd name="adj" fmla="val 50000"/>
            </a:avLst>
          </a:prstGeom>
          <a:solidFill>
            <a:schemeClr val="accent4"/>
          </a:solidFill>
          <a:ln/>
        </p:spPr>
      </p:sp>
      <p:sp>
        <p:nvSpPr>
          <p:cNvPr id="46" name="Text 44"/>
          <p:cNvSpPr txBox="1"/>
          <p:nvPr/>
        </p:nvSpPr>
        <p:spPr>
          <a:xfrm>
            <a:off x="100584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Build</a:t>
            </a:r>
            <a:endParaRPr lang="en-US" sz="900" dirty="0"/>
          </a:p>
        </p:txBody>
      </p:sp>
      <p:sp>
        <p:nvSpPr>
          <p:cNvPr id="47" name="Shape 45"/>
          <p:cNvSpPr/>
          <p:nvPr/>
        </p:nvSpPr>
        <p:spPr>
          <a:xfrm>
            <a:off x="2011680" y="5897880"/>
            <a:ext cx="365760" cy="146304"/>
          </a:xfrm>
          <a:prstGeom prst="roundRect">
            <a:avLst>
              <a:gd name="adj" fmla="val 50000"/>
            </a:avLst>
          </a:prstGeom>
          <a:solidFill>
            <a:schemeClr val="tx1"/>
          </a:solidFill>
          <a:ln/>
        </p:spPr>
      </p:sp>
      <p:sp>
        <p:nvSpPr>
          <p:cNvPr id="48" name="Text 46"/>
          <p:cNvSpPr txBox="1"/>
          <p:nvPr/>
        </p:nvSpPr>
        <p:spPr>
          <a:xfrm>
            <a:off x="246888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Deliver</a:t>
            </a:r>
            <a:endParaRPr lang="en-US" sz="900" dirty="0"/>
          </a:p>
        </p:txBody>
      </p:sp>
      <p:sp>
        <p:nvSpPr>
          <p:cNvPr id="49" name="Shape 47"/>
          <p:cNvSpPr/>
          <p:nvPr/>
        </p:nvSpPr>
        <p:spPr>
          <a:xfrm>
            <a:off x="3474720" y="5897880"/>
            <a:ext cx="365760" cy="146304"/>
          </a:xfrm>
          <a:prstGeom prst="roundRect">
            <a:avLst>
              <a:gd name="adj" fmla="val 50000"/>
            </a:avLst>
          </a:prstGeom>
          <a:solidFill>
            <a:schemeClr val="accent1"/>
          </a:solidFill>
          <a:ln/>
        </p:spPr>
      </p:sp>
      <p:sp>
        <p:nvSpPr>
          <p:cNvPr id="50" name="Text 48"/>
          <p:cNvSpPr txBox="1"/>
          <p:nvPr/>
        </p:nvSpPr>
        <p:spPr>
          <a:xfrm>
            <a:off x="393192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New market</a:t>
            </a:r>
            <a:endParaRPr lang="en-US" sz="900" dirty="0"/>
          </a:p>
        </p:txBody>
      </p:sp>
      <p:sp>
        <p:nvSpPr>
          <p:cNvPr id="51" name="Shape 49"/>
          <p:cNvSpPr/>
          <p:nvPr/>
        </p:nvSpPr>
        <p:spPr>
          <a:xfrm>
            <a:off x="4983480" y="5870448"/>
            <a:ext cx="182880" cy="182880"/>
          </a:xfrm>
          <a:prstGeom prst="diamond">
            <a:avLst/>
          </a:prstGeom>
          <a:solidFill>
            <a:schemeClr val="accent1"/>
          </a:solidFill>
          <a:ln w="12700">
            <a:solidFill>
              <a:schemeClr val="tx1"/>
            </a:solidFill>
            <a:prstDash val="solid"/>
          </a:ln>
        </p:spPr>
      </p:sp>
      <p:sp>
        <p:nvSpPr>
          <p:cNvPr id="52" name="Text 50"/>
          <p:cNvSpPr txBox="1"/>
          <p:nvPr/>
        </p:nvSpPr>
        <p:spPr>
          <a:xfrm>
            <a:off x="525780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Milestone</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11 · OPERATIONS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Deal desk workflow: from request to signed contract in 48 hours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Standard deals follow the fast lane; non-standard terms route to approval.</a:t>
            </a:r>
            <a:endParaRPr lang="en-US" sz="1150" dirty="0"/>
          </a:p>
        </p:txBody>
      </p:sp>
      <p:sp>
        <p:nvSpPr>
          <p:cNvPr id="6" name="Shape 4"/>
          <p:cNvSpPr/>
          <p:nvPr/>
        </p:nvSpPr>
        <p:spPr>
          <a:xfrm>
            <a:off x="548640" y="3063240"/>
            <a:ext cx="1828800" cy="914400"/>
          </a:xfrm>
          <a:prstGeom prst="roundRect">
            <a:avLst>
              <a:gd name="adj" fmla="val 10000"/>
            </a:avLst>
          </a:prstGeom>
          <a:solidFill>
            <a:schemeClr val="bg2"/>
          </a:solidFill>
          <a:ln/>
        </p:spPr>
      </p:sp>
      <p:sp>
        <p:nvSpPr>
          <p:cNvPr id="7" name="Text 5"/>
          <p:cNvSpPr txBox="1"/>
          <p:nvPr/>
        </p:nvSpPr>
        <p:spPr>
          <a:xfrm>
            <a:off x="731520" y="320040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Request</a:t>
            </a:r>
            <a:endParaRPr lang="en-US" sz="1200" dirty="0"/>
          </a:p>
        </p:txBody>
      </p:sp>
      <p:sp>
        <p:nvSpPr>
          <p:cNvPr id="8" name="Text 6"/>
          <p:cNvSpPr txBox="1"/>
          <p:nvPr/>
        </p:nvSpPr>
        <p:spPr>
          <a:xfrm>
            <a:off x="731520" y="349300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Rep submits deal in CRM</a:t>
            </a:r>
            <a:endParaRPr lang="en-US" sz="950" dirty="0"/>
          </a:p>
        </p:txBody>
      </p:sp>
      <p:sp>
        <p:nvSpPr>
          <p:cNvPr id="9" name="Shape 7"/>
          <p:cNvSpPr/>
          <p:nvPr/>
        </p:nvSpPr>
        <p:spPr>
          <a:xfrm>
            <a:off x="2880360" y="3063240"/>
            <a:ext cx="1828800" cy="914400"/>
          </a:xfrm>
          <a:prstGeom prst="roundRect">
            <a:avLst>
              <a:gd name="adj" fmla="val 10000"/>
            </a:avLst>
          </a:prstGeom>
          <a:solidFill>
            <a:schemeClr val="bg2"/>
          </a:solidFill>
          <a:ln/>
        </p:spPr>
      </p:sp>
      <p:sp>
        <p:nvSpPr>
          <p:cNvPr id="10" name="Text 8"/>
          <p:cNvSpPr txBox="1"/>
          <p:nvPr/>
        </p:nvSpPr>
        <p:spPr>
          <a:xfrm>
            <a:off x="3063240" y="320040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Auto-check</a:t>
            </a:r>
            <a:endParaRPr lang="en-US" sz="1200" dirty="0"/>
          </a:p>
        </p:txBody>
      </p:sp>
      <p:sp>
        <p:nvSpPr>
          <p:cNvPr id="11" name="Text 9"/>
          <p:cNvSpPr txBox="1"/>
          <p:nvPr/>
        </p:nvSpPr>
        <p:spPr>
          <a:xfrm>
            <a:off x="3063240" y="349300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Pricing &amp; terms validated</a:t>
            </a:r>
            <a:endParaRPr lang="en-US" sz="950" dirty="0"/>
          </a:p>
        </p:txBody>
      </p:sp>
      <p:sp>
        <p:nvSpPr>
          <p:cNvPr id="12" name="Shape 10"/>
          <p:cNvSpPr/>
          <p:nvPr/>
        </p:nvSpPr>
        <p:spPr>
          <a:xfrm>
            <a:off x="5212080" y="2834640"/>
            <a:ext cx="1371600" cy="1371600"/>
          </a:xfrm>
          <a:prstGeom prst="diamond">
            <a:avLst/>
          </a:prstGeom>
          <a:solidFill>
            <a:schemeClr val="tx1"/>
          </a:solidFill>
          <a:ln/>
        </p:spPr>
      </p:sp>
      <p:sp>
        <p:nvSpPr>
          <p:cNvPr id="13" name="Text 11"/>
          <p:cNvSpPr txBox="1"/>
          <p:nvPr/>
        </p:nvSpPr>
        <p:spPr>
          <a:xfrm>
            <a:off x="5212080" y="3200400"/>
            <a:ext cx="1371600" cy="640080"/>
          </a:xfrm>
          <a:prstGeom prst="rect">
            <a:avLst/>
          </a:prstGeom>
          <a:noFill/>
          <a:ln/>
        </p:spPr>
        <p:txBody>
          <a:bodyPr wrap="square" lIns="0" tIns="0" rIns="0" bIns="0" rtlCol="0" anchor="ctr"/>
          <a:lstStyle/>
          <a:p>
            <a:pPr algn="ctr" indent="0" marL="0">
              <a:buNone/>
            </a:pPr>
            <a:r>
              <a:rPr lang="en-US" sz="1100" b="1" dirty="0">
                <a:solidFill>
                  <a:schemeClr val="bg1"/>
                </a:solidFill>
                <a:latin typeface="Manrope" pitchFamily="34" charset="0"/>
                <a:ea typeface="Manrope" pitchFamily="34" charset="-122"/>
                <a:cs typeface="Manrope" pitchFamily="34" charset="-120"/>
              </a:rPr>
              <a:t>Standard</a:t>
            </a:r>
            <a:endParaRPr lang="en-US" sz="1100" dirty="0"/>
          </a:p>
          <a:p>
            <a:pPr algn="ctr" indent="0" marL="0">
              <a:buNone/>
            </a:pPr>
            <a:r>
              <a:rPr lang="en-US" sz="1100" b="1" dirty="0">
                <a:solidFill>
                  <a:schemeClr val="bg1"/>
                </a:solidFill>
                <a:latin typeface="Manrope" pitchFamily="34" charset="0"/>
                <a:ea typeface="Manrope" pitchFamily="34" charset="-122"/>
                <a:cs typeface="Manrope" pitchFamily="34" charset="-120"/>
              </a:rPr>
              <a:t>terms?</a:t>
            </a:r>
            <a:endParaRPr lang="en-US" sz="1100" dirty="0"/>
          </a:p>
        </p:txBody>
      </p:sp>
      <p:sp>
        <p:nvSpPr>
          <p:cNvPr id="14" name="Shape 12"/>
          <p:cNvSpPr/>
          <p:nvPr/>
        </p:nvSpPr>
        <p:spPr>
          <a:xfrm>
            <a:off x="7086600" y="1965960"/>
            <a:ext cx="1828800" cy="914400"/>
          </a:xfrm>
          <a:prstGeom prst="roundRect">
            <a:avLst>
              <a:gd name="adj" fmla="val 10000"/>
            </a:avLst>
          </a:prstGeom>
          <a:solidFill>
            <a:schemeClr val="accent1"/>
          </a:solidFill>
          <a:ln/>
        </p:spPr>
      </p:sp>
      <p:sp>
        <p:nvSpPr>
          <p:cNvPr id="15" name="Text 13"/>
          <p:cNvSpPr txBox="1"/>
          <p:nvPr/>
        </p:nvSpPr>
        <p:spPr>
          <a:xfrm>
            <a:off x="7269480" y="210312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Fast lane</a:t>
            </a:r>
            <a:endParaRPr lang="en-US" sz="1200" dirty="0"/>
          </a:p>
        </p:txBody>
      </p:sp>
      <p:sp>
        <p:nvSpPr>
          <p:cNvPr id="16" name="Text 14"/>
          <p:cNvSpPr txBox="1"/>
          <p:nvPr/>
        </p:nvSpPr>
        <p:spPr>
          <a:xfrm>
            <a:off x="7269480" y="239572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Contract auto-generated</a:t>
            </a:r>
            <a:endParaRPr lang="en-US" sz="950" dirty="0"/>
          </a:p>
        </p:txBody>
      </p:sp>
      <p:sp>
        <p:nvSpPr>
          <p:cNvPr id="17" name="Shape 15"/>
          <p:cNvSpPr/>
          <p:nvPr/>
        </p:nvSpPr>
        <p:spPr>
          <a:xfrm>
            <a:off x="9418320" y="1965960"/>
            <a:ext cx="1828800" cy="914400"/>
          </a:xfrm>
          <a:prstGeom prst="roundRect">
            <a:avLst>
              <a:gd name="adj" fmla="val 10000"/>
            </a:avLst>
          </a:prstGeom>
          <a:solidFill>
            <a:schemeClr val="tx1"/>
          </a:solidFill>
          <a:ln/>
        </p:spPr>
      </p:sp>
      <p:sp>
        <p:nvSpPr>
          <p:cNvPr id="18" name="Text 16"/>
          <p:cNvSpPr txBox="1"/>
          <p:nvPr/>
        </p:nvSpPr>
        <p:spPr>
          <a:xfrm>
            <a:off x="9601200" y="2103120"/>
            <a:ext cx="1463040" cy="274320"/>
          </a:xfrm>
          <a:prstGeom prst="rect">
            <a:avLst/>
          </a:prstGeom>
          <a:noFill/>
          <a:ln/>
        </p:spPr>
        <p:txBody>
          <a:bodyPr wrap="square" lIns="0" tIns="0" rIns="0" bIns="0" rtlCol="0" anchor="t"/>
          <a:lstStyle/>
          <a:p>
            <a:pPr algn="l" indent="0" marL="0">
              <a:buNone/>
            </a:pPr>
            <a:r>
              <a:rPr lang="en-US" sz="1200" b="1" dirty="0">
                <a:solidFill>
                  <a:schemeClr val="bg1"/>
                </a:solidFill>
                <a:latin typeface="Manrope" pitchFamily="34" charset="0"/>
                <a:ea typeface="Manrope" pitchFamily="34" charset="-122"/>
                <a:cs typeface="Manrope" pitchFamily="34" charset="-120"/>
              </a:rPr>
              <a:t>Sign</a:t>
            </a:r>
            <a:endParaRPr lang="en-US" sz="1200" dirty="0"/>
          </a:p>
        </p:txBody>
      </p:sp>
      <p:sp>
        <p:nvSpPr>
          <p:cNvPr id="19" name="Text 17"/>
          <p:cNvSpPr txBox="1"/>
          <p:nvPr/>
        </p:nvSpPr>
        <p:spPr>
          <a:xfrm>
            <a:off x="9601200" y="2395728"/>
            <a:ext cx="1463040" cy="36576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E-signature, &lt; 24 h</a:t>
            </a:r>
            <a:endParaRPr lang="en-US" sz="950" dirty="0"/>
          </a:p>
        </p:txBody>
      </p:sp>
      <p:sp>
        <p:nvSpPr>
          <p:cNvPr id="20" name="Shape 18"/>
          <p:cNvSpPr/>
          <p:nvPr/>
        </p:nvSpPr>
        <p:spPr>
          <a:xfrm>
            <a:off x="7086600" y="4160520"/>
            <a:ext cx="1828800" cy="914400"/>
          </a:xfrm>
          <a:prstGeom prst="roundRect">
            <a:avLst>
              <a:gd name="adj" fmla="val 10000"/>
            </a:avLst>
          </a:prstGeom>
          <a:solidFill>
            <a:schemeClr val="bg1"/>
          </a:solidFill>
          <a:ln w="9525">
            <a:solidFill>
              <a:schemeClr val="accent4"/>
            </a:solidFill>
            <a:prstDash val="solid"/>
          </a:ln>
        </p:spPr>
      </p:sp>
      <p:sp>
        <p:nvSpPr>
          <p:cNvPr id="21" name="Text 19"/>
          <p:cNvSpPr txBox="1"/>
          <p:nvPr/>
        </p:nvSpPr>
        <p:spPr>
          <a:xfrm>
            <a:off x="7269480" y="429768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Approval</a:t>
            </a:r>
            <a:endParaRPr lang="en-US" sz="1200" dirty="0"/>
          </a:p>
        </p:txBody>
      </p:sp>
      <p:sp>
        <p:nvSpPr>
          <p:cNvPr id="22" name="Text 20"/>
          <p:cNvSpPr txBox="1"/>
          <p:nvPr/>
        </p:nvSpPr>
        <p:spPr>
          <a:xfrm>
            <a:off x="7269480" y="459028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Finance &amp; legal review</a:t>
            </a:r>
            <a:endParaRPr lang="en-US" sz="950" dirty="0"/>
          </a:p>
        </p:txBody>
      </p:sp>
      <p:sp>
        <p:nvSpPr>
          <p:cNvPr id="23" name="Shape 21"/>
          <p:cNvSpPr/>
          <p:nvPr/>
        </p:nvSpPr>
        <p:spPr>
          <a:xfrm>
            <a:off x="9418320" y="4160520"/>
            <a:ext cx="1828800" cy="914400"/>
          </a:xfrm>
          <a:prstGeom prst="roundRect">
            <a:avLst>
              <a:gd name="adj" fmla="val 10000"/>
            </a:avLst>
          </a:prstGeom>
          <a:solidFill>
            <a:schemeClr val="bg1"/>
          </a:solidFill>
          <a:ln w="9525">
            <a:solidFill>
              <a:schemeClr val="accent4"/>
            </a:solidFill>
            <a:prstDash val="solid"/>
          </a:ln>
        </p:spPr>
      </p:sp>
      <p:sp>
        <p:nvSpPr>
          <p:cNvPr id="24" name="Text 22"/>
          <p:cNvSpPr txBox="1"/>
          <p:nvPr/>
        </p:nvSpPr>
        <p:spPr>
          <a:xfrm>
            <a:off x="9601200" y="429768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Negotiate</a:t>
            </a:r>
            <a:endParaRPr lang="en-US" sz="1200" dirty="0"/>
          </a:p>
        </p:txBody>
      </p:sp>
      <p:sp>
        <p:nvSpPr>
          <p:cNvPr id="25" name="Text 23"/>
          <p:cNvSpPr txBox="1"/>
          <p:nvPr/>
        </p:nvSpPr>
        <p:spPr>
          <a:xfrm>
            <a:off x="9601200" y="459028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Redlines, &lt; 48 h</a:t>
            </a:r>
            <a:endParaRPr lang="en-US" sz="950" dirty="0"/>
          </a:p>
        </p:txBody>
      </p:sp>
      <p:sp>
        <p:nvSpPr>
          <p:cNvPr id="26" name="Shape 24"/>
          <p:cNvSpPr/>
          <p:nvPr/>
        </p:nvSpPr>
        <p:spPr>
          <a:xfrm>
            <a:off x="2377440" y="3520440"/>
            <a:ext cx="502920" cy="0"/>
          </a:xfrm>
          <a:prstGeom prst="line">
            <a:avLst/>
          </a:prstGeom>
          <a:noFill/>
          <a:ln w="15875">
            <a:solidFill>
              <a:schemeClr val="tx1"/>
            </a:solidFill>
            <a:prstDash val="solid"/>
            <a:tailEnd type="triangle"/>
          </a:ln>
        </p:spPr>
      </p:sp>
      <p:sp>
        <p:nvSpPr>
          <p:cNvPr id="27" name="Shape 25"/>
          <p:cNvSpPr/>
          <p:nvPr/>
        </p:nvSpPr>
        <p:spPr>
          <a:xfrm>
            <a:off x="4709160" y="3520440"/>
            <a:ext cx="502920" cy="0"/>
          </a:xfrm>
          <a:prstGeom prst="line">
            <a:avLst/>
          </a:prstGeom>
          <a:noFill/>
          <a:ln w="15875">
            <a:solidFill>
              <a:schemeClr val="tx1"/>
            </a:solidFill>
            <a:prstDash val="solid"/>
            <a:tailEnd type="triangle"/>
          </a:ln>
        </p:spPr>
      </p:sp>
      <p:sp>
        <p:nvSpPr>
          <p:cNvPr id="28" name="Shape 26"/>
          <p:cNvSpPr/>
          <p:nvPr/>
        </p:nvSpPr>
        <p:spPr>
          <a:xfrm>
            <a:off x="5897880" y="2423160"/>
            <a:ext cx="0" cy="411480"/>
          </a:xfrm>
          <a:prstGeom prst="line">
            <a:avLst/>
          </a:prstGeom>
          <a:noFill/>
          <a:ln w="15875">
            <a:solidFill>
              <a:schemeClr val="tx1"/>
            </a:solidFill>
            <a:prstDash val="solid"/>
          </a:ln>
        </p:spPr>
      </p:sp>
      <p:sp>
        <p:nvSpPr>
          <p:cNvPr id="29" name="Shape 27"/>
          <p:cNvSpPr/>
          <p:nvPr/>
        </p:nvSpPr>
        <p:spPr>
          <a:xfrm>
            <a:off x="5897880" y="2423160"/>
            <a:ext cx="1188720" cy="0"/>
          </a:xfrm>
          <a:prstGeom prst="line">
            <a:avLst/>
          </a:prstGeom>
          <a:noFill/>
          <a:ln w="15875">
            <a:solidFill>
              <a:schemeClr val="tx1"/>
            </a:solidFill>
            <a:prstDash val="solid"/>
            <a:tailEnd type="triangle"/>
          </a:ln>
        </p:spPr>
      </p:sp>
      <p:sp>
        <p:nvSpPr>
          <p:cNvPr id="30" name="Shape 28"/>
          <p:cNvSpPr/>
          <p:nvPr/>
        </p:nvSpPr>
        <p:spPr>
          <a:xfrm>
            <a:off x="5897880" y="4206240"/>
            <a:ext cx="0" cy="411480"/>
          </a:xfrm>
          <a:prstGeom prst="line">
            <a:avLst/>
          </a:prstGeom>
          <a:noFill/>
          <a:ln w="15875">
            <a:solidFill>
              <a:schemeClr val="tx1"/>
            </a:solidFill>
            <a:prstDash val="solid"/>
          </a:ln>
        </p:spPr>
      </p:sp>
      <p:sp>
        <p:nvSpPr>
          <p:cNvPr id="31" name="Shape 29"/>
          <p:cNvSpPr/>
          <p:nvPr/>
        </p:nvSpPr>
        <p:spPr>
          <a:xfrm>
            <a:off x="5897880" y="4617720"/>
            <a:ext cx="1188720" cy="0"/>
          </a:xfrm>
          <a:prstGeom prst="line">
            <a:avLst/>
          </a:prstGeom>
          <a:noFill/>
          <a:ln w="15875">
            <a:solidFill>
              <a:schemeClr val="tx1"/>
            </a:solidFill>
            <a:prstDash val="solid"/>
            <a:tailEnd type="triangle"/>
          </a:ln>
        </p:spPr>
      </p:sp>
      <p:sp>
        <p:nvSpPr>
          <p:cNvPr id="32" name="Shape 30"/>
          <p:cNvSpPr/>
          <p:nvPr/>
        </p:nvSpPr>
        <p:spPr>
          <a:xfrm>
            <a:off x="5989320" y="2084832"/>
            <a:ext cx="868680" cy="237744"/>
          </a:xfrm>
          <a:prstGeom prst="roundRect">
            <a:avLst>
              <a:gd name="adj" fmla="val 50000"/>
            </a:avLst>
          </a:prstGeom>
          <a:solidFill>
            <a:schemeClr val="accent1"/>
          </a:solidFill>
          <a:ln/>
        </p:spPr>
      </p:sp>
      <p:sp>
        <p:nvSpPr>
          <p:cNvPr id="33" name="Text 31"/>
          <p:cNvSpPr txBox="1"/>
          <p:nvPr/>
        </p:nvSpPr>
        <p:spPr>
          <a:xfrm>
            <a:off x="5989320" y="2084832"/>
            <a:ext cx="868680" cy="237744"/>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Yes · 78%</a:t>
            </a:r>
            <a:endParaRPr lang="en-US" sz="850" dirty="0"/>
          </a:p>
        </p:txBody>
      </p:sp>
      <p:sp>
        <p:nvSpPr>
          <p:cNvPr id="34" name="Shape 32"/>
          <p:cNvSpPr/>
          <p:nvPr/>
        </p:nvSpPr>
        <p:spPr>
          <a:xfrm>
            <a:off x="5989320" y="4754880"/>
            <a:ext cx="868680" cy="237744"/>
          </a:xfrm>
          <a:prstGeom prst="roundRect">
            <a:avLst>
              <a:gd name="adj" fmla="val 50000"/>
            </a:avLst>
          </a:prstGeom>
          <a:solidFill>
            <a:schemeClr val="tx1"/>
          </a:solidFill>
          <a:ln/>
        </p:spPr>
      </p:sp>
      <p:sp>
        <p:nvSpPr>
          <p:cNvPr id="35" name="Text 33"/>
          <p:cNvSpPr txBox="1"/>
          <p:nvPr/>
        </p:nvSpPr>
        <p:spPr>
          <a:xfrm>
            <a:off x="5989320" y="4754880"/>
            <a:ext cx="868680" cy="237744"/>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No · 22%</a:t>
            </a:r>
            <a:endParaRPr lang="en-US" sz="850" dirty="0"/>
          </a:p>
        </p:txBody>
      </p:sp>
      <p:sp>
        <p:nvSpPr>
          <p:cNvPr id="36" name="Shape 34"/>
          <p:cNvSpPr/>
          <p:nvPr/>
        </p:nvSpPr>
        <p:spPr>
          <a:xfrm>
            <a:off x="8915400" y="2423160"/>
            <a:ext cx="502920" cy="0"/>
          </a:xfrm>
          <a:prstGeom prst="line">
            <a:avLst/>
          </a:prstGeom>
          <a:noFill/>
          <a:ln w="15875">
            <a:solidFill>
              <a:schemeClr val="tx1"/>
            </a:solidFill>
            <a:prstDash val="solid"/>
            <a:tailEnd type="triangle"/>
          </a:ln>
        </p:spPr>
      </p:sp>
      <p:sp>
        <p:nvSpPr>
          <p:cNvPr id="37" name="Shape 35"/>
          <p:cNvSpPr/>
          <p:nvPr/>
        </p:nvSpPr>
        <p:spPr>
          <a:xfrm>
            <a:off x="8915400" y="4617720"/>
            <a:ext cx="502920" cy="0"/>
          </a:xfrm>
          <a:prstGeom prst="line">
            <a:avLst/>
          </a:prstGeom>
          <a:noFill/>
          <a:ln w="15875">
            <a:solidFill>
              <a:schemeClr val="tx1"/>
            </a:solidFill>
            <a:prstDash val="solid"/>
            <a:tailEnd type="triangle"/>
          </a:ln>
        </p:spPr>
      </p:sp>
      <p:sp>
        <p:nvSpPr>
          <p:cNvPr id="38" name="Shape 36"/>
          <p:cNvSpPr/>
          <p:nvPr/>
        </p:nvSpPr>
        <p:spPr>
          <a:xfrm flipV="1">
            <a:off x="10332720" y="2880360"/>
            <a:ext cx="0" cy="1280160"/>
          </a:xfrm>
          <a:prstGeom prst="line">
            <a:avLst/>
          </a:prstGeom>
          <a:noFill/>
          <a:ln w="15875">
            <a:solidFill>
              <a:schemeClr val="accent3"/>
            </a:solidFill>
            <a:prstDash val="dash"/>
            <a:tailEnd type="triangle"/>
          </a:ln>
        </p:spPr>
      </p:sp>
      <p:sp>
        <p:nvSpPr>
          <p:cNvPr id="39" name="Text 37"/>
          <p:cNvSpPr txBox="1"/>
          <p:nvPr/>
        </p:nvSpPr>
        <p:spPr>
          <a:xfrm>
            <a:off x="10442448" y="338328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Agreed</a:t>
            </a:r>
            <a:endParaRPr lang="en-US" sz="900" dirty="0"/>
          </a:p>
        </p:txBody>
      </p:sp>
      <p:sp>
        <p:nvSpPr>
          <p:cNvPr id="40" name="Text 38"/>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Median cycle times, Q3 2026. Percentages show share of deals taking each path.</a:t>
            </a:r>
            <a:endParaRPr lang="en-US" sz="8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11 · OPERATIONS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operating rhythm runs on a quarterly cycle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Every quarter follows the same four beats, so the whole company plans and reviews together.</a:t>
            </a:r>
            <a:endParaRPr lang="en-US" sz="1150" dirty="0"/>
          </a:p>
        </p:txBody>
      </p:sp>
      <p:sp>
        <p:nvSpPr>
          <p:cNvPr id="6" name="Shape 4"/>
          <p:cNvSpPr/>
          <p:nvPr/>
        </p:nvSpPr>
        <p:spPr>
          <a:xfrm>
            <a:off x="1779194" y="2057400"/>
            <a:ext cx="3749040" cy="3749040"/>
          </a:xfrm>
          <a:prstGeom prst="blockArc">
            <a:avLst>
              <a:gd name="adj1" fmla="val 16200000"/>
              <a:gd name="adj2" fmla="val 21480000"/>
              <a:gd name="adj3" fmla="val 15000"/>
            </a:avLst>
          </a:prstGeom>
          <a:solidFill>
            <a:schemeClr val="tx1"/>
          </a:solidFill>
          <a:ln/>
        </p:spPr>
      </p:sp>
      <p:sp>
        <p:nvSpPr>
          <p:cNvPr id="7" name="Shape 5"/>
          <p:cNvSpPr/>
          <p:nvPr/>
        </p:nvSpPr>
        <p:spPr>
          <a:xfrm>
            <a:off x="1779194" y="2057400"/>
            <a:ext cx="3749040" cy="3749040"/>
          </a:xfrm>
          <a:prstGeom prst="blockArc">
            <a:avLst>
              <a:gd name="adj1" fmla="val 0"/>
              <a:gd name="adj2" fmla="val 5280000"/>
              <a:gd name="adj3" fmla="val 15000"/>
            </a:avLst>
          </a:prstGeom>
          <a:solidFill>
            <a:schemeClr val="accent2"/>
          </a:solidFill>
          <a:ln/>
        </p:spPr>
      </p:sp>
      <p:sp>
        <p:nvSpPr>
          <p:cNvPr id="8" name="Shape 6"/>
          <p:cNvSpPr/>
          <p:nvPr/>
        </p:nvSpPr>
        <p:spPr>
          <a:xfrm>
            <a:off x="1779194" y="2057400"/>
            <a:ext cx="3749040" cy="3749040"/>
          </a:xfrm>
          <a:prstGeom prst="blockArc">
            <a:avLst>
              <a:gd name="adj1" fmla="val 5400000"/>
              <a:gd name="adj2" fmla="val 10680000"/>
              <a:gd name="adj3" fmla="val 15000"/>
            </a:avLst>
          </a:prstGeom>
          <a:solidFill>
            <a:schemeClr val="accent1"/>
          </a:solidFill>
          <a:ln/>
        </p:spPr>
      </p:sp>
      <p:sp>
        <p:nvSpPr>
          <p:cNvPr id="9" name="Shape 7"/>
          <p:cNvSpPr/>
          <p:nvPr/>
        </p:nvSpPr>
        <p:spPr>
          <a:xfrm>
            <a:off x="1779194" y="2057400"/>
            <a:ext cx="3749040" cy="3749040"/>
          </a:xfrm>
          <a:prstGeom prst="blockArc">
            <a:avLst>
              <a:gd name="adj1" fmla="val 10800000"/>
              <a:gd name="adj2" fmla="val 16080000"/>
              <a:gd name="adj3" fmla="val 15000"/>
            </a:avLst>
          </a:prstGeom>
          <a:solidFill>
            <a:schemeClr val="accent3"/>
          </a:solidFill>
          <a:ln/>
        </p:spPr>
      </p:sp>
      <p:sp>
        <p:nvSpPr>
          <p:cNvPr id="10" name="Shape 8"/>
          <p:cNvSpPr/>
          <p:nvPr/>
        </p:nvSpPr>
        <p:spPr>
          <a:xfrm>
            <a:off x="2693594" y="2971800"/>
            <a:ext cx="1920240" cy="1920240"/>
          </a:xfrm>
          <a:prstGeom prst="ellipse">
            <a:avLst/>
          </a:prstGeom>
          <a:solidFill>
            <a:schemeClr val="bg1"/>
          </a:solidFill>
          <a:ln/>
        </p:spPr>
      </p:sp>
      <p:sp>
        <p:nvSpPr>
          <p:cNvPr id="11" name="Text 9"/>
          <p:cNvSpPr txBox="1"/>
          <p:nvPr/>
        </p:nvSpPr>
        <p:spPr>
          <a:xfrm>
            <a:off x="2693594" y="2971800"/>
            <a:ext cx="1920240" cy="1920240"/>
          </a:xfrm>
          <a:prstGeom prst="rect">
            <a:avLst/>
          </a:prstGeom>
          <a:noFill/>
          <a:ln/>
        </p:spPr>
        <p:txBody>
          <a:bodyPr wrap="square" lIns="0" tIns="0" rIns="0" bIns="0" rtlCol="0" anchor="ctr"/>
          <a:lstStyle/>
          <a:p>
            <a:pPr algn="ctr" indent="0" marL="0">
              <a:buNone/>
            </a:pPr>
            <a:r>
              <a:rPr lang="en-US" sz="1500" b="1" dirty="0">
                <a:solidFill>
                  <a:schemeClr val="tx1"/>
                </a:solidFill>
                <a:latin typeface="Manrope" pitchFamily="34" charset="0"/>
                <a:ea typeface="Manrope" pitchFamily="34" charset="-122"/>
                <a:cs typeface="Manrope" pitchFamily="34" charset="-120"/>
              </a:rPr>
              <a:t>Quarterly</a:t>
            </a:r>
            <a:endParaRPr lang="en-US" sz="1500" dirty="0"/>
          </a:p>
          <a:p>
            <a:pPr algn="ctr" indent="0" marL="0">
              <a:buNone/>
            </a:pPr>
            <a:r>
              <a:rPr lang="en-US" sz="1500" b="1" dirty="0">
                <a:solidFill>
                  <a:schemeClr val="tx1"/>
                </a:solidFill>
                <a:latin typeface="Manrope" pitchFamily="34" charset="0"/>
                <a:ea typeface="Manrope" pitchFamily="34" charset="-122"/>
                <a:cs typeface="Manrope" pitchFamily="34" charset="-120"/>
              </a:rPr>
              <a:t>rhythm</a:t>
            </a:r>
            <a:endParaRPr lang="en-US" sz="1500" dirty="0"/>
          </a:p>
        </p:txBody>
      </p:sp>
      <p:sp>
        <p:nvSpPr>
          <p:cNvPr id="12" name="Text 10"/>
          <p:cNvSpPr txBox="1"/>
          <p:nvPr/>
        </p:nvSpPr>
        <p:spPr>
          <a:xfrm>
            <a:off x="4531942" y="2557166"/>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1</a:t>
            </a:r>
            <a:endParaRPr lang="en-US" sz="1600" dirty="0"/>
          </a:p>
        </p:txBody>
      </p:sp>
      <p:sp>
        <p:nvSpPr>
          <p:cNvPr id="13" name="Text 11"/>
          <p:cNvSpPr txBox="1"/>
          <p:nvPr/>
        </p:nvSpPr>
        <p:spPr>
          <a:xfrm>
            <a:off x="4571268" y="4810148"/>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2</a:t>
            </a:r>
            <a:endParaRPr lang="en-US" sz="1600" dirty="0"/>
          </a:p>
        </p:txBody>
      </p:sp>
      <p:sp>
        <p:nvSpPr>
          <p:cNvPr id="14" name="Text 12"/>
          <p:cNvSpPr txBox="1"/>
          <p:nvPr/>
        </p:nvSpPr>
        <p:spPr>
          <a:xfrm>
            <a:off x="2318285" y="4849474"/>
            <a:ext cx="457200" cy="457200"/>
          </a:xfrm>
          <a:prstGeom prst="rect">
            <a:avLst/>
          </a:prstGeom>
          <a:noFill/>
          <a:ln/>
        </p:spPr>
        <p:txBody>
          <a:bodyPr wrap="square" lIns="0" tIns="0" rIns="0" bIns="0" rtlCol="0" anchor="ctr"/>
          <a:lstStyle/>
          <a:p>
            <a:pPr algn="ctr" indent="0" marL="0">
              <a:buNone/>
            </a:pPr>
            <a:r>
              <a:rPr lang="en-US" sz="1600" dirty="0">
                <a:solidFill>
                  <a:schemeClr val="tx1"/>
                </a:solidFill>
                <a:latin typeface="Manrope ExtraBold" pitchFamily="34" charset="0"/>
                <a:ea typeface="Manrope ExtraBold" pitchFamily="34" charset="-122"/>
                <a:cs typeface="Manrope ExtraBold" pitchFamily="34" charset="-120"/>
              </a:rPr>
              <a:t>3</a:t>
            </a:r>
            <a:endParaRPr lang="en-US" sz="1600" dirty="0"/>
          </a:p>
        </p:txBody>
      </p:sp>
      <p:sp>
        <p:nvSpPr>
          <p:cNvPr id="15" name="Text 13"/>
          <p:cNvSpPr txBox="1"/>
          <p:nvPr/>
        </p:nvSpPr>
        <p:spPr>
          <a:xfrm>
            <a:off x="2278959" y="2596492"/>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4</a:t>
            </a:r>
            <a:endParaRPr lang="en-US" sz="1600" dirty="0"/>
          </a:p>
        </p:txBody>
      </p:sp>
      <p:sp>
        <p:nvSpPr>
          <p:cNvPr id="16" name="Shape 14"/>
          <p:cNvSpPr/>
          <p:nvPr/>
        </p:nvSpPr>
        <p:spPr>
          <a:xfrm>
            <a:off x="6484468" y="1920240"/>
            <a:ext cx="5158588" cy="896112"/>
          </a:xfrm>
          <a:prstGeom prst="roundRect">
            <a:avLst>
              <a:gd name="adj" fmla="val 10204"/>
            </a:avLst>
          </a:prstGeom>
          <a:solidFill>
            <a:schemeClr val="bg1"/>
          </a:solidFill>
          <a:ln/>
        </p:spPr>
      </p:sp>
      <p:sp>
        <p:nvSpPr>
          <p:cNvPr id="17" name="Shape 15"/>
          <p:cNvSpPr/>
          <p:nvPr/>
        </p:nvSpPr>
        <p:spPr>
          <a:xfrm>
            <a:off x="6713068" y="2185416"/>
            <a:ext cx="365760" cy="365760"/>
          </a:xfrm>
          <a:prstGeom prst="ellipse">
            <a:avLst/>
          </a:prstGeom>
          <a:solidFill>
            <a:schemeClr val="tx1"/>
          </a:solidFill>
          <a:ln/>
        </p:spPr>
      </p:sp>
      <p:sp>
        <p:nvSpPr>
          <p:cNvPr id="18" name="Text 16"/>
          <p:cNvSpPr txBox="1"/>
          <p:nvPr/>
        </p:nvSpPr>
        <p:spPr>
          <a:xfrm>
            <a:off x="6713068" y="218541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1</a:t>
            </a:r>
            <a:endParaRPr lang="en-US" sz="1200" dirty="0"/>
          </a:p>
        </p:txBody>
      </p:sp>
      <p:sp>
        <p:nvSpPr>
          <p:cNvPr id="19" name="Text 17"/>
          <p:cNvSpPr txBox="1"/>
          <p:nvPr/>
        </p:nvSpPr>
        <p:spPr>
          <a:xfrm>
            <a:off x="7307428" y="2057400"/>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Plan</a:t>
            </a:r>
            <a:endParaRPr lang="en-US" sz="1400" dirty="0"/>
          </a:p>
        </p:txBody>
      </p:sp>
      <p:sp>
        <p:nvSpPr>
          <p:cNvPr id="20" name="Text 18"/>
          <p:cNvSpPr txBox="1"/>
          <p:nvPr/>
        </p:nvSpPr>
        <p:spPr>
          <a:xfrm>
            <a:off x="9997135" y="2057400"/>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Weeks 1–2</a:t>
            </a:r>
            <a:endParaRPr lang="en-US" sz="1000" dirty="0"/>
          </a:p>
        </p:txBody>
      </p:sp>
      <p:sp>
        <p:nvSpPr>
          <p:cNvPr id="21" name="Text 19"/>
          <p:cNvSpPr txBox="1"/>
          <p:nvPr/>
        </p:nvSpPr>
        <p:spPr>
          <a:xfrm>
            <a:off x="7307428" y="2377440"/>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Set targets, allocate budget and confirm owners.</a:t>
            </a:r>
            <a:endParaRPr lang="en-US" sz="1050" dirty="0"/>
          </a:p>
        </p:txBody>
      </p:sp>
      <p:sp>
        <p:nvSpPr>
          <p:cNvPr id="22" name="Shape 20"/>
          <p:cNvSpPr/>
          <p:nvPr/>
        </p:nvSpPr>
        <p:spPr>
          <a:xfrm>
            <a:off x="6484468" y="2953512"/>
            <a:ext cx="5158588" cy="896112"/>
          </a:xfrm>
          <a:prstGeom prst="roundRect">
            <a:avLst>
              <a:gd name="adj" fmla="val 10204"/>
            </a:avLst>
          </a:prstGeom>
          <a:solidFill>
            <a:schemeClr val="bg1"/>
          </a:solidFill>
          <a:ln/>
        </p:spPr>
      </p:sp>
      <p:sp>
        <p:nvSpPr>
          <p:cNvPr id="23" name="Shape 21"/>
          <p:cNvSpPr/>
          <p:nvPr/>
        </p:nvSpPr>
        <p:spPr>
          <a:xfrm>
            <a:off x="6713068" y="3218688"/>
            <a:ext cx="365760" cy="365760"/>
          </a:xfrm>
          <a:prstGeom prst="ellipse">
            <a:avLst/>
          </a:prstGeom>
          <a:solidFill>
            <a:schemeClr val="accent2"/>
          </a:solidFill>
          <a:ln/>
        </p:spPr>
      </p:sp>
      <p:sp>
        <p:nvSpPr>
          <p:cNvPr id="24" name="Text 22"/>
          <p:cNvSpPr txBox="1"/>
          <p:nvPr/>
        </p:nvSpPr>
        <p:spPr>
          <a:xfrm>
            <a:off x="6713068" y="321868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2</a:t>
            </a:r>
            <a:endParaRPr lang="en-US" sz="1200" dirty="0"/>
          </a:p>
        </p:txBody>
      </p:sp>
      <p:sp>
        <p:nvSpPr>
          <p:cNvPr id="25" name="Text 23"/>
          <p:cNvSpPr txBox="1"/>
          <p:nvPr/>
        </p:nvSpPr>
        <p:spPr>
          <a:xfrm>
            <a:off x="7307428" y="3090672"/>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Execute</a:t>
            </a:r>
            <a:endParaRPr lang="en-US" sz="1400" dirty="0"/>
          </a:p>
        </p:txBody>
      </p:sp>
      <p:sp>
        <p:nvSpPr>
          <p:cNvPr id="26" name="Text 24"/>
          <p:cNvSpPr txBox="1"/>
          <p:nvPr/>
        </p:nvSpPr>
        <p:spPr>
          <a:xfrm>
            <a:off x="9997135" y="3090672"/>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Weeks 3–10</a:t>
            </a:r>
            <a:endParaRPr lang="en-US" sz="1000" dirty="0"/>
          </a:p>
        </p:txBody>
      </p:sp>
      <p:sp>
        <p:nvSpPr>
          <p:cNvPr id="27" name="Text 25"/>
          <p:cNvSpPr txBox="1"/>
          <p:nvPr/>
        </p:nvSpPr>
        <p:spPr>
          <a:xfrm>
            <a:off x="7307428" y="3410712"/>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Weekly forecast calls and pipeline reviews.</a:t>
            </a:r>
            <a:endParaRPr lang="en-US" sz="1050" dirty="0"/>
          </a:p>
        </p:txBody>
      </p:sp>
      <p:sp>
        <p:nvSpPr>
          <p:cNvPr id="28" name="Shape 26"/>
          <p:cNvSpPr/>
          <p:nvPr/>
        </p:nvSpPr>
        <p:spPr>
          <a:xfrm>
            <a:off x="6484468" y="3986784"/>
            <a:ext cx="5158588" cy="896112"/>
          </a:xfrm>
          <a:prstGeom prst="roundRect">
            <a:avLst>
              <a:gd name="adj" fmla="val 10204"/>
            </a:avLst>
          </a:prstGeom>
          <a:solidFill>
            <a:schemeClr val="bg1"/>
          </a:solidFill>
          <a:ln/>
        </p:spPr>
      </p:sp>
      <p:sp>
        <p:nvSpPr>
          <p:cNvPr id="29" name="Shape 27"/>
          <p:cNvSpPr/>
          <p:nvPr/>
        </p:nvSpPr>
        <p:spPr>
          <a:xfrm>
            <a:off x="6713068" y="4251960"/>
            <a:ext cx="365760" cy="365760"/>
          </a:xfrm>
          <a:prstGeom prst="ellipse">
            <a:avLst/>
          </a:prstGeom>
          <a:solidFill>
            <a:schemeClr val="accent1"/>
          </a:solidFill>
          <a:ln/>
        </p:spPr>
      </p:sp>
      <p:sp>
        <p:nvSpPr>
          <p:cNvPr id="30" name="Text 28"/>
          <p:cNvSpPr txBox="1"/>
          <p:nvPr/>
        </p:nvSpPr>
        <p:spPr>
          <a:xfrm>
            <a:off x="6713068" y="425196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3</a:t>
            </a:r>
            <a:endParaRPr lang="en-US" sz="1200" dirty="0"/>
          </a:p>
        </p:txBody>
      </p:sp>
      <p:sp>
        <p:nvSpPr>
          <p:cNvPr id="31" name="Text 29"/>
          <p:cNvSpPr txBox="1"/>
          <p:nvPr/>
        </p:nvSpPr>
        <p:spPr>
          <a:xfrm>
            <a:off x="7307428" y="4123944"/>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Review</a:t>
            </a:r>
            <a:endParaRPr lang="en-US" sz="1400" dirty="0"/>
          </a:p>
        </p:txBody>
      </p:sp>
      <p:sp>
        <p:nvSpPr>
          <p:cNvPr id="32" name="Text 30"/>
          <p:cNvSpPr txBox="1"/>
          <p:nvPr/>
        </p:nvSpPr>
        <p:spPr>
          <a:xfrm>
            <a:off x="9997135" y="4123944"/>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 11</a:t>
            </a:r>
            <a:endParaRPr lang="en-US" sz="1000" dirty="0"/>
          </a:p>
        </p:txBody>
      </p:sp>
      <p:sp>
        <p:nvSpPr>
          <p:cNvPr id="33" name="Text 31"/>
          <p:cNvSpPr txBox="1"/>
          <p:nvPr/>
        </p:nvSpPr>
        <p:spPr>
          <a:xfrm>
            <a:off x="7307428" y="4443984"/>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Business review with leadership and the board.</a:t>
            </a:r>
            <a:endParaRPr lang="en-US" sz="1050" dirty="0"/>
          </a:p>
        </p:txBody>
      </p:sp>
      <p:sp>
        <p:nvSpPr>
          <p:cNvPr id="34" name="Shape 32"/>
          <p:cNvSpPr/>
          <p:nvPr/>
        </p:nvSpPr>
        <p:spPr>
          <a:xfrm>
            <a:off x="6484468" y="5020056"/>
            <a:ext cx="5158588" cy="896112"/>
          </a:xfrm>
          <a:prstGeom prst="roundRect">
            <a:avLst>
              <a:gd name="adj" fmla="val 10204"/>
            </a:avLst>
          </a:prstGeom>
          <a:solidFill>
            <a:schemeClr val="bg1"/>
          </a:solidFill>
          <a:ln/>
        </p:spPr>
      </p:sp>
      <p:sp>
        <p:nvSpPr>
          <p:cNvPr id="35" name="Shape 33"/>
          <p:cNvSpPr/>
          <p:nvPr/>
        </p:nvSpPr>
        <p:spPr>
          <a:xfrm>
            <a:off x="6713068" y="5285232"/>
            <a:ext cx="365760" cy="365760"/>
          </a:xfrm>
          <a:prstGeom prst="ellipse">
            <a:avLst/>
          </a:prstGeom>
          <a:solidFill>
            <a:schemeClr val="accent3"/>
          </a:solidFill>
          <a:ln/>
        </p:spPr>
      </p:sp>
      <p:sp>
        <p:nvSpPr>
          <p:cNvPr id="36" name="Text 34"/>
          <p:cNvSpPr txBox="1"/>
          <p:nvPr/>
        </p:nvSpPr>
        <p:spPr>
          <a:xfrm>
            <a:off x="6713068" y="52852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4</a:t>
            </a:r>
            <a:endParaRPr lang="en-US" sz="1200" dirty="0"/>
          </a:p>
        </p:txBody>
      </p:sp>
      <p:sp>
        <p:nvSpPr>
          <p:cNvPr id="37" name="Text 35"/>
          <p:cNvSpPr txBox="1"/>
          <p:nvPr/>
        </p:nvSpPr>
        <p:spPr>
          <a:xfrm>
            <a:off x="7307428" y="5157216"/>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Improve</a:t>
            </a:r>
            <a:endParaRPr lang="en-US" sz="1400" dirty="0"/>
          </a:p>
        </p:txBody>
      </p:sp>
      <p:sp>
        <p:nvSpPr>
          <p:cNvPr id="38" name="Text 36"/>
          <p:cNvSpPr txBox="1"/>
          <p:nvPr/>
        </p:nvSpPr>
        <p:spPr>
          <a:xfrm>
            <a:off x="9997135" y="5157216"/>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 12–13</a:t>
            </a:r>
            <a:endParaRPr lang="en-US" sz="1000" dirty="0"/>
          </a:p>
        </p:txBody>
      </p:sp>
      <p:sp>
        <p:nvSpPr>
          <p:cNvPr id="39" name="Text 37"/>
          <p:cNvSpPr txBox="1"/>
          <p:nvPr/>
        </p:nvSpPr>
        <p:spPr>
          <a:xfrm>
            <a:off x="7307428" y="5477256"/>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Retrospective, process fixes and next-quarter prep.</a:t>
            </a:r>
            <a:endParaRPr lang="en-US" sz="10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11 · OPERATIONS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Implementation: live in 30 days, fully adopted in 90</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Standard implementation plan for mid-market customers.</a:t>
            </a:r>
            <a:endParaRPr lang="en-US" sz="1150" dirty="0"/>
          </a:p>
        </p:txBody>
      </p:sp>
      <p:sp>
        <p:nvSpPr>
          <p:cNvPr id="6" name="Shape 4"/>
          <p:cNvSpPr/>
          <p:nvPr/>
        </p:nvSpPr>
        <p:spPr>
          <a:xfrm>
            <a:off x="2938729" y="2103120"/>
            <a:ext cx="0" cy="3017520"/>
          </a:xfrm>
          <a:prstGeom prst="line">
            <a:avLst/>
          </a:prstGeom>
          <a:noFill/>
          <a:ln w="25400">
            <a:solidFill>
              <a:schemeClr val="accent4"/>
            </a:solidFill>
            <a:prstDash val="solid"/>
          </a:ln>
        </p:spPr>
      </p:sp>
      <p:sp>
        <p:nvSpPr>
          <p:cNvPr id="7" name="Text 5"/>
          <p:cNvSpPr txBox="1"/>
          <p:nvPr/>
        </p:nvSpPr>
        <p:spPr>
          <a:xfrm>
            <a:off x="548640" y="193852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0–5</a:t>
            </a:r>
            <a:endParaRPr lang="en-US" sz="1300" dirty="0"/>
          </a:p>
        </p:txBody>
      </p:sp>
      <p:sp>
        <p:nvSpPr>
          <p:cNvPr id="8" name="Shape 6"/>
          <p:cNvSpPr/>
          <p:nvPr/>
        </p:nvSpPr>
        <p:spPr>
          <a:xfrm>
            <a:off x="2801569" y="1965960"/>
            <a:ext cx="274320" cy="274320"/>
          </a:xfrm>
          <a:prstGeom prst="ellipse">
            <a:avLst/>
          </a:prstGeom>
          <a:solidFill>
            <a:schemeClr val="tx1"/>
          </a:solidFill>
          <a:ln w="19050">
            <a:solidFill>
              <a:schemeClr val="tx1"/>
            </a:solidFill>
            <a:prstDash val="solid"/>
          </a:ln>
        </p:spPr>
      </p:sp>
      <p:pic>
        <p:nvPicPr>
          <p:cNvPr id="9" name="Icon PiCheck FFFFFF" descr="preencoded.png">    </p:cNvPr>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2865577" y="2029968"/>
            <a:ext cx="146304" cy="146304"/>
          </a:xfrm>
          <a:prstGeom prst="rect">
            <a:avLst/>
          </a:prstGeom>
        </p:spPr>
      </p:pic>
      <p:sp>
        <p:nvSpPr>
          <p:cNvPr id="10" name="Text 7"/>
          <p:cNvSpPr txBox="1"/>
          <p:nvPr/>
        </p:nvSpPr>
        <p:spPr>
          <a:xfrm>
            <a:off x="3350209" y="192024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Kick-off</a:t>
            </a:r>
            <a:endParaRPr lang="en-US" sz="1500" dirty="0"/>
          </a:p>
        </p:txBody>
      </p:sp>
      <p:sp>
        <p:nvSpPr>
          <p:cNvPr id="11" name="Text 8"/>
          <p:cNvSpPr txBox="1"/>
          <p:nvPr/>
        </p:nvSpPr>
        <p:spPr>
          <a:xfrm>
            <a:off x="3350209" y="226771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Goals, success criteria and project team agreed.</a:t>
            </a:r>
            <a:endParaRPr lang="en-US" sz="1100" dirty="0"/>
          </a:p>
        </p:txBody>
      </p:sp>
      <p:sp>
        <p:nvSpPr>
          <p:cNvPr id="12" name="Shape 9"/>
          <p:cNvSpPr/>
          <p:nvPr/>
        </p:nvSpPr>
        <p:spPr>
          <a:xfrm>
            <a:off x="9040901" y="1938528"/>
            <a:ext cx="2602154" cy="274320"/>
          </a:xfrm>
          <a:prstGeom prst="roundRect">
            <a:avLst>
              <a:gd name="adj" fmla="val 50000"/>
            </a:avLst>
          </a:prstGeom>
          <a:solidFill>
            <a:schemeClr val="bg2"/>
          </a:solidFill>
          <a:ln/>
        </p:spPr>
      </p:sp>
      <p:sp>
        <p:nvSpPr>
          <p:cNvPr id="13" name="Text 10"/>
          <p:cNvSpPr txBox="1"/>
          <p:nvPr/>
        </p:nvSpPr>
        <p:spPr>
          <a:xfrm>
            <a:off x="9040901" y="193852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Success plan</a:t>
            </a:r>
            <a:endParaRPr lang="en-US" sz="900" dirty="0"/>
          </a:p>
        </p:txBody>
      </p:sp>
      <p:sp>
        <p:nvSpPr>
          <p:cNvPr id="14" name="Shape 11"/>
          <p:cNvSpPr/>
          <p:nvPr/>
        </p:nvSpPr>
        <p:spPr>
          <a:xfrm>
            <a:off x="9040901" y="2267712"/>
            <a:ext cx="2602154" cy="274320"/>
          </a:xfrm>
          <a:prstGeom prst="roundRect">
            <a:avLst>
              <a:gd name="adj" fmla="val 50000"/>
            </a:avLst>
          </a:prstGeom>
          <a:solidFill>
            <a:schemeClr val="bg2"/>
          </a:solidFill>
          <a:ln/>
        </p:spPr>
      </p:sp>
      <p:sp>
        <p:nvSpPr>
          <p:cNvPr id="15" name="Text 12"/>
          <p:cNvSpPr txBox="1"/>
          <p:nvPr/>
        </p:nvSpPr>
        <p:spPr>
          <a:xfrm>
            <a:off x="9040901" y="226771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Project charter</a:t>
            </a:r>
            <a:endParaRPr lang="en-US" sz="900" dirty="0"/>
          </a:p>
        </p:txBody>
      </p:sp>
      <p:sp>
        <p:nvSpPr>
          <p:cNvPr id="16" name="Text 13"/>
          <p:cNvSpPr txBox="1"/>
          <p:nvPr/>
        </p:nvSpPr>
        <p:spPr>
          <a:xfrm>
            <a:off x="548640" y="294436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5–15</a:t>
            </a:r>
            <a:endParaRPr lang="en-US" sz="1300" dirty="0"/>
          </a:p>
        </p:txBody>
      </p:sp>
      <p:sp>
        <p:nvSpPr>
          <p:cNvPr id="17" name="Shape 14"/>
          <p:cNvSpPr/>
          <p:nvPr/>
        </p:nvSpPr>
        <p:spPr>
          <a:xfrm>
            <a:off x="2801569" y="2971800"/>
            <a:ext cx="274320" cy="274320"/>
          </a:xfrm>
          <a:prstGeom prst="ellipse">
            <a:avLst/>
          </a:prstGeom>
          <a:solidFill>
            <a:schemeClr val="tx1"/>
          </a:solidFill>
          <a:ln w="19050">
            <a:solidFill>
              <a:schemeClr val="tx1"/>
            </a:solidFill>
            <a:prstDash val="solid"/>
          </a:ln>
        </p:spPr>
      </p:sp>
      <p:pic>
        <p:nvPicPr>
          <p:cNvPr id="18" name="Icon PiCheck FFFFFF" descr="preencoded.png">    </p:cNvPr>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2865577" y="3035808"/>
            <a:ext cx="146304" cy="146304"/>
          </a:xfrm>
          <a:prstGeom prst="rect">
            <a:avLst/>
          </a:prstGeom>
        </p:spPr>
      </p:pic>
      <p:sp>
        <p:nvSpPr>
          <p:cNvPr id="19" name="Text 15"/>
          <p:cNvSpPr txBox="1"/>
          <p:nvPr/>
        </p:nvSpPr>
        <p:spPr>
          <a:xfrm>
            <a:off x="3350209" y="292608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Connect</a:t>
            </a:r>
            <a:endParaRPr lang="en-US" sz="1500" dirty="0"/>
          </a:p>
        </p:txBody>
      </p:sp>
      <p:sp>
        <p:nvSpPr>
          <p:cNvPr id="20" name="Text 16"/>
          <p:cNvSpPr txBox="1"/>
          <p:nvPr/>
        </p:nvSpPr>
        <p:spPr>
          <a:xfrm>
            <a:off x="3350209" y="327355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CRM, email and calendar connected; data validated.</a:t>
            </a:r>
            <a:endParaRPr lang="en-US" sz="1100" dirty="0"/>
          </a:p>
        </p:txBody>
      </p:sp>
      <p:sp>
        <p:nvSpPr>
          <p:cNvPr id="21" name="Shape 17"/>
          <p:cNvSpPr/>
          <p:nvPr/>
        </p:nvSpPr>
        <p:spPr>
          <a:xfrm>
            <a:off x="9040901" y="2944368"/>
            <a:ext cx="2602154" cy="274320"/>
          </a:xfrm>
          <a:prstGeom prst="roundRect">
            <a:avLst>
              <a:gd name="adj" fmla="val 50000"/>
            </a:avLst>
          </a:prstGeom>
          <a:solidFill>
            <a:schemeClr val="bg2"/>
          </a:solidFill>
          <a:ln/>
        </p:spPr>
      </p:sp>
      <p:sp>
        <p:nvSpPr>
          <p:cNvPr id="22" name="Text 18"/>
          <p:cNvSpPr txBox="1"/>
          <p:nvPr/>
        </p:nvSpPr>
        <p:spPr>
          <a:xfrm>
            <a:off x="9040901" y="294436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Data audit</a:t>
            </a:r>
            <a:endParaRPr lang="en-US" sz="900" dirty="0"/>
          </a:p>
        </p:txBody>
      </p:sp>
      <p:sp>
        <p:nvSpPr>
          <p:cNvPr id="23" name="Shape 19"/>
          <p:cNvSpPr/>
          <p:nvPr/>
        </p:nvSpPr>
        <p:spPr>
          <a:xfrm>
            <a:off x="9040901" y="3273552"/>
            <a:ext cx="2602154" cy="274320"/>
          </a:xfrm>
          <a:prstGeom prst="roundRect">
            <a:avLst>
              <a:gd name="adj" fmla="val 50000"/>
            </a:avLst>
          </a:prstGeom>
          <a:solidFill>
            <a:schemeClr val="bg2"/>
          </a:solidFill>
          <a:ln/>
        </p:spPr>
      </p:sp>
      <p:sp>
        <p:nvSpPr>
          <p:cNvPr id="24" name="Text 20"/>
          <p:cNvSpPr txBox="1"/>
          <p:nvPr/>
        </p:nvSpPr>
        <p:spPr>
          <a:xfrm>
            <a:off x="9040901" y="327355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Integration sign-off</a:t>
            </a:r>
            <a:endParaRPr lang="en-US" sz="900" dirty="0"/>
          </a:p>
        </p:txBody>
      </p:sp>
      <p:sp>
        <p:nvSpPr>
          <p:cNvPr id="25" name="Text 21"/>
          <p:cNvSpPr txBox="1"/>
          <p:nvPr/>
        </p:nvSpPr>
        <p:spPr>
          <a:xfrm>
            <a:off x="548640" y="395020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15–30</a:t>
            </a:r>
            <a:endParaRPr lang="en-US" sz="1300" dirty="0"/>
          </a:p>
        </p:txBody>
      </p:sp>
      <p:sp>
        <p:nvSpPr>
          <p:cNvPr id="26" name="Shape 22"/>
          <p:cNvSpPr/>
          <p:nvPr/>
        </p:nvSpPr>
        <p:spPr>
          <a:xfrm>
            <a:off x="1658569" y="4315968"/>
            <a:ext cx="868680" cy="237744"/>
          </a:xfrm>
          <a:prstGeom prst="roundRect">
            <a:avLst>
              <a:gd name="adj" fmla="val 50000"/>
            </a:avLst>
          </a:prstGeom>
          <a:solidFill>
            <a:schemeClr val="accent1"/>
          </a:solidFill>
          <a:ln/>
        </p:spPr>
      </p:sp>
      <p:sp>
        <p:nvSpPr>
          <p:cNvPr id="27" name="Text 23"/>
          <p:cNvSpPr txBox="1"/>
          <p:nvPr/>
        </p:nvSpPr>
        <p:spPr>
          <a:xfrm>
            <a:off x="1658569" y="4315968"/>
            <a:ext cx="868680" cy="237744"/>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Current</a:t>
            </a:r>
            <a:endParaRPr lang="en-US" sz="850" dirty="0"/>
          </a:p>
        </p:txBody>
      </p:sp>
      <p:sp>
        <p:nvSpPr>
          <p:cNvPr id="28" name="Shape 24"/>
          <p:cNvSpPr/>
          <p:nvPr/>
        </p:nvSpPr>
        <p:spPr>
          <a:xfrm>
            <a:off x="2801569" y="3977640"/>
            <a:ext cx="274320" cy="274320"/>
          </a:xfrm>
          <a:prstGeom prst="ellipse">
            <a:avLst/>
          </a:prstGeom>
          <a:solidFill>
            <a:schemeClr val="accent1"/>
          </a:solidFill>
          <a:ln w="19050">
            <a:solidFill>
              <a:schemeClr val="tx1"/>
            </a:solidFill>
            <a:prstDash val="solid"/>
          </a:ln>
        </p:spPr>
      </p:sp>
      <p:sp>
        <p:nvSpPr>
          <p:cNvPr id="29" name="Text 25"/>
          <p:cNvSpPr txBox="1"/>
          <p:nvPr/>
        </p:nvSpPr>
        <p:spPr>
          <a:xfrm>
            <a:off x="3350209" y="393192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Go live</a:t>
            </a:r>
            <a:endParaRPr lang="en-US" sz="1500" dirty="0"/>
          </a:p>
        </p:txBody>
      </p:sp>
      <p:sp>
        <p:nvSpPr>
          <p:cNvPr id="30" name="Text 26"/>
          <p:cNvSpPr txBox="1"/>
          <p:nvPr/>
        </p:nvSpPr>
        <p:spPr>
          <a:xfrm>
            <a:off x="3350209" y="427939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Admins and managers trained; first forecast call.</a:t>
            </a:r>
            <a:endParaRPr lang="en-US" sz="1100" dirty="0"/>
          </a:p>
        </p:txBody>
      </p:sp>
      <p:sp>
        <p:nvSpPr>
          <p:cNvPr id="31" name="Shape 27"/>
          <p:cNvSpPr/>
          <p:nvPr/>
        </p:nvSpPr>
        <p:spPr>
          <a:xfrm>
            <a:off x="9040901" y="3950208"/>
            <a:ext cx="2602154" cy="274320"/>
          </a:xfrm>
          <a:prstGeom prst="roundRect">
            <a:avLst>
              <a:gd name="adj" fmla="val 50000"/>
            </a:avLst>
          </a:prstGeom>
          <a:solidFill>
            <a:schemeClr val="bg2"/>
          </a:solidFill>
          <a:ln/>
        </p:spPr>
      </p:sp>
      <p:sp>
        <p:nvSpPr>
          <p:cNvPr id="32" name="Text 28"/>
          <p:cNvSpPr txBox="1"/>
          <p:nvPr/>
        </p:nvSpPr>
        <p:spPr>
          <a:xfrm>
            <a:off x="9040901" y="395020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Admin certification</a:t>
            </a:r>
            <a:endParaRPr lang="en-US" sz="900" dirty="0"/>
          </a:p>
        </p:txBody>
      </p:sp>
      <p:sp>
        <p:nvSpPr>
          <p:cNvPr id="33" name="Shape 29"/>
          <p:cNvSpPr/>
          <p:nvPr/>
        </p:nvSpPr>
        <p:spPr>
          <a:xfrm>
            <a:off x="9040901" y="4279392"/>
            <a:ext cx="2602154" cy="274320"/>
          </a:xfrm>
          <a:prstGeom prst="roundRect">
            <a:avLst>
              <a:gd name="adj" fmla="val 50000"/>
            </a:avLst>
          </a:prstGeom>
          <a:solidFill>
            <a:schemeClr val="bg2"/>
          </a:solidFill>
          <a:ln/>
        </p:spPr>
      </p:sp>
      <p:sp>
        <p:nvSpPr>
          <p:cNvPr id="34" name="Text 30"/>
          <p:cNvSpPr txBox="1"/>
          <p:nvPr/>
        </p:nvSpPr>
        <p:spPr>
          <a:xfrm>
            <a:off x="9040901" y="427939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Launch comms</a:t>
            </a:r>
            <a:endParaRPr lang="en-US" sz="900" dirty="0"/>
          </a:p>
        </p:txBody>
      </p:sp>
      <p:sp>
        <p:nvSpPr>
          <p:cNvPr id="35" name="Text 31"/>
          <p:cNvSpPr txBox="1"/>
          <p:nvPr/>
        </p:nvSpPr>
        <p:spPr>
          <a:xfrm>
            <a:off x="548640" y="495604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30–90</a:t>
            </a:r>
            <a:endParaRPr lang="en-US" sz="1300" dirty="0"/>
          </a:p>
        </p:txBody>
      </p:sp>
      <p:sp>
        <p:nvSpPr>
          <p:cNvPr id="36" name="Shape 32"/>
          <p:cNvSpPr/>
          <p:nvPr/>
        </p:nvSpPr>
        <p:spPr>
          <a:xfrm>
            <a:off x="2801569" y="4983480"/>
            <a:ext cx="274320" cy="274320"/>
          </a:xfrm>
          <a:prstGeom prst="ellipse">
            <a:avLst/>
          </a:prstGeom>
          <a:solidFill>
            <a:schemeClr val="bg1"/>
          </a:solidFill>
          <a:ln w="19050">
            <a:solidFill>
              <a:schemeClr val="tx1"/>
            </a:solidFill>
            <a:prstDash val="solid"/>
          </a:ln>
        </p:spPr>
      </p:sp>
      <p:sp>
        <p:nvSpPr>
          <p:cNvPr id="37" name="Text 33"/>
          <p:cNvSpPr txBox="1"/>
          <p:nvPr/>
        </p:nvSpPr>
        <p:spPr>
          <a:xfrm>
            <a:off x="3350209" y="493776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Adopt</a:t>
            </a:r>
            <a:endParaRPr lang="en-US" sz="1500" dirty="0"/>
          </a:p>
        </p:txBody>
      </p:sp>
      <p:sp>
        <p:nvSpPr>
          <p:cNvPr id="38" name="Text 34"/>
          <p:cNvSpPr txBox="1"/>
          <p:nvPr/>
        </p:nvSpPr>
        <p:spPr>
          <a:xfrm>
            <a:off x="3350209" y="528523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Usage coaching and first quarterly value review.</a:t>
            </a:r>
            <a:endParaRPr lang="en-US" sz="1100" dirty="0"/>
          </a:p>
        </p:txBody>
      </p:sp>
      <p:sp>
        <p:nvSpPr>
          <p:cNvPr id="39" name="Shape 35"/>
          <p:cNvSpPr/>
          <p:nvPr/>
        </p:nvSpPr>
        <p:spPr>
          <a:xfrm>
            <a:off x="9040901" y="4956048"/>
            <a:ext cx="2602154" cy="274320"/>
          </a:xfrm>
          <a:prstGeom prst="roundRect">
            <a:avLst>
              <a:gd name="adj" fmla="val 50000"/>
            </a:avLst>
          </a:prstGeom>
          <a:solidFill>
            <a:schemeClr val="bg2"/>
          </a:solidFill>
          <a:ln/>
        </p:spPr>
      </p:sp>
      <p:sp>
        <p:nvSpPr>
          <p:cNvPr id="40" name="Text 36"/>
          <p:cNvSpPr txBox="1"/>
          <p:nvPr/>
        </p:nvSpPr>
        <p:spPr>
          <a:xfrm>
            <a:off x="9040901" y="495604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Adoption dashboard</a:t>
            </a:r>
            <a:endParaRPr lang="en-US" sz="900" dirty="0"/>
          </a:p>
        </p:txBody>
      </p:sp>
      <p:sp>
        <p:nvSpPr>
          <p:cNvPr id="41" name="Shape 37"/>
          <p:cNvSpPr/>
          <p:nvPr/>
        </p:nvSpPr>
        <p:spPr>
          <a:xfrm>
            <a:off x="9040901" y="5285232"/>
            <a:ext cx="2602154" cy="274320"/>
          </a:xfrm>
          <a:prstGeom prst="roundRect">
            <a:avLst>
              <a:gd name="adj" fmla="val 50000"/>
            </a:avLst>
          </a:prstGeom>
          <a:solidFill>
            <a:schemeClr val="bg2"/>
          </a:solidFill>
          <a:ln/>
        </p:spPr>
      </p:sp>
      <p:sp>
        <p:nvSpPr>
          <p:cNvPr id="42" name="Text 38"/>
          <p:cNvSpPr txBox="1"/>
          <p:nvPr/>
        </p:nvSpPr>
        <p:spPr>
          <a:xfrm>
            <a:off x="9040901" y="528523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Value review</a:t>
            </a:r>
            <a:endParaRPr lang="en-US" sz="900" dirty="0"/>
          </a:p>
        </p:txBody>
      </p:sp>
      <p:sp>
        <p:nvSpPr>
          <p:cNvPr id="43" name="Text 39"/>
          <p:cNvSpPr txBox="1"/>
          <p:nvPr/>
        </p:nvSpPr>
        <p:spPr>
          <a:xfrm>
            <a:off x="9040901" y="1673352"/>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DELIVERABLES</a:t>
            </a:r>
            <a:endParaRPr lang="en-US" sz="85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12 · CASE STUDY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Northwind Logistics cut forecast error from 22% to 4%</a:t>
            </a:r>
            <a:endParaRPr lang="en-US" sz="2800" dirty="0"/>
          </a:p>
        </p:txBody>
      </p:sp>
      <p:sp>
        <p:nvSpPr>
          <p:cNvPr id="5" name="Shape 3"/>
          <p:cNvSpPr/>
          <p:nvPr/>
        </p:nvSpPr>
        <p:spPr>
          <a:xfrm>
            <a:off x="8625535" y="777240"/>
            <a:ext cx="914400" cy="274320"/>
          </a:xfrm>
          <a:prstGeom prst="roundRect">
            <a:avLst>
              <a:gd name="adj" fmla="val 50000"/>
            </a:avLst>
          </a:prstGeom>
          <a:solidFill>
            <a:schemeClr val="bg2"/>
          </a:solidFill>
          <a:ln/>
        </p:spPr>
      </p:sp>
      <p:sp>
        <p:nvSpPr>
          <p:cNvPr id="6" name="Text 4"/>
          <p:cNvSpPr txBox="1"/>
          <p:nvPr/>
        </p:nvSpPr>
        <p:spPr>
          <a:xfrm>
            <a:off x="8625535" y="777240"/>
            <a:ext cx="91440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Logistics</a:t>
            </a:r>
            <a:endParaRPr lang="en-US" sz="900" dirty="0"/>
          </a:p>
        </p:txBody>
      </p:sp>
      <p:sp>
        <p:nvSpPr>
          <p:cNvPr id="7" name="Shape 5"/>
          <p:cNvSpPr/>
          <p:nvPr/>
        </p:nvSpPr>
        <p:spPr>
          <a:xfrm>
            <a:off x="9631375" y="777240"/>
            <a:ext cx="1143000" cy="274320"/>
          </a:xfrm>
          <a:prstGeom prst="roundRect">
            <a:avLst>
              <a:gd name="adj" fmla="val 50000"/>
            </a:avLst>
          </a:prstGeom>
          <a:solidFill>
            <a:schemeClr val="bg2"/>
          </a:solidFill>
          <a:ln/>
        </p:spPr>
      </p:sp>
      <p:sp>
        <p:nvSpPr>
          <p:cNvPr id="8" name="Text 6"/>
          <p:cNvSpPr txBox="1"/>
          <p:nvPr/>
        </p:nvSpPr>
        <p:spPr>
          <a:xfrm>
            <a:off x="9631375" y="777240"/>
            <a:ext cx="114300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850 employees</a:t>
            </a:r>
            <a:endParaRPr lang="en-US" sz="900" dirty="0"/>
          </a:p>
        </p:txBody>
      </p:sp>
      <p:sp>
        <p:nvSpPr>
          <p:cNvPr id="9" name="Shape 7"/>
          <p:cNvSpPr/>
          <p:nvPr/>
        </p:nvSpPr>
        <p:spPr>
          <a:xfrm>
            <a:off x="10865815" y="777240"/>
            <a:ext cx="777240" cy="274320"/>
          </a:xfrm>
          <a:prstGeom prst="roundRect">
            <a:avLst>
              <a:gd name="adj" fmla="val 50000"/>
            </a:avLst>
          </a:prstGeom>
          <a:solidFill>
            <a:schemeClr val="bg2"/>
          </a:solidFill>
          <a:ln/>
        </p:spPr>
      </p:sp>
      <p:sp>
        <p:nvSpPr>
          <p:cNvPr id="10" name="Text 8"/>
          <p:cNvSpPr txBox="1"/>
          <p:nvPr/>
        </p:nvSpPr>
        <p:spPr>
          <a:xfrm>
            <a:off x="10865815" y="777240"/>
            <a:ext cx="77724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EU</a:t>
            </a:r>
            <a:endParaRPr lang="en-US" sz="900" dirty="0"/>
          </a:p>
        </p:txBody>
      </p:sp>
      <p:sp>
        <p:nvSpPr>
          <p:cNvPr id="11" name="Shape 9"/>
          <p:cNvSpPr/>
          <p:nvPr/>
        </p:nvSpPr>
        <p:spPr>
          <a:xfrm>
            <a:off x="548640" y="1874520"/>
            <a:ext cx="3545738" cy="4160520"/>
          </a:xfrm>
          <a:prstGeom prst="roundRect">
            <a:avLst>
              <a:gd name="adj" fmla="val 2579"/>
            </a:avLst>
          </a:prstGeom>
          <a:solidFill>
            <a:schemeClr val="bg2"/>
          </a:solidFill>
          <a:ln/>
        </p:spPr>
      </p:sp>
      <p:sp>
        <p:nvSpPr>
          <p:cNvPr id="12" name="Shape 10"/>
          <p:cNvSpPr/>
          <p:nvPr/>
        </p:nvSpPr>
        <p:spPr>
          <a:xfrm>
            <a:off x="868680" y="2194560"/>
            <a:ext cx="548640" cy="548640"/>
          </a:xfrm>
          <a:prstGeom prst="ellipse">
            <a:avLst/>
          </a:prstGeom>
          <a:solidFill>
            <a:schemeClr val="bg1"/>
          </a:solidFill>
          <a:ln/>
        </p:spPr>
      </p:sp>
      <p:pic>
        <p:nvPicPr>
          <p:cNvPr id="13" name="Icon PiWarning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1000354" y="2326234"/>
            <a:ext cx="285293" cy="285293"/>
          </a:xfrm>
          <a:prstGeom prst="rect">
            <a:avLst/>
          </a:prstGeom>
        </p:spPr>
      </p:pic>
      <p:sp>
        <p:nvSpPr>
          <p:cNvPr id="14" name="Text 11"/>
          <p:cNvSpPr txBox="1"/>
          <p:nvPr/>
        </p:nvSpPr>
        <p:spPr>
          <a:xfrm>
            <a:off x="3179978" y="2286000"/>
            <a:ext cx="594360" cy="320040"/>
          </a:xfrm>
          <a:prstGeom prst="rect">
            <a:avLst/>
          </a:prstGeom>
          <a:noFill/>
          <a:ln/>
        </p:spPr>
        <p:txBody>
          <a:bodyPr wrap="square" lIns="0" tIns="0" rIns="0" bIns="0" rtlCol="0" anchor="t"/>
          <a:lstStyle/>
          <a:p>
            <a:pPr algn="r" indent="0" marL="0">
              <a:buNone/>
            </a:pPr>
            <a:r>
              <a:rPr lang="en-US" sz="1200" b="1" dirty="0">
                <a:solidFill>
                  <a:schemeClr val="accent3"/>
                </a:solidFill>
                <a:latin typeface="Manrope" pitchFamily="34" charset="0"/>
                <a:ea typeface="Manrope" pitchFamily="34" charset="-122"/>
                <a:cs typeface="Manrope" pitchFamily="34" charset="-120"/>
              </a:rPr>
              <a:t>01</a:t>
            </a:r>
            <a:endParaRPr lang="en-US" sz="1200" dirty="0"/>
          </a:p>
        </p:txBody>
      </p:sp>
      <p:sp>
        <p:nvSpPr>
          <p:cNvPr id="15" name="Text 12"/>
          <p:cNvSpPr txBox="1"/>
          <p:nvPr/>
        </p:nvSpPr>
        <p:spPr>
          <a:xfrm>
            <a:off x="868680" y="2971800"/>
            <a:ext cx="2905658" cy="411480"/>
          </a:xfrm>
          <a:prstGeom prst="rect">
            <a:avLst/>
          </a:prstGeom>
          <a:noFill/>
          <a:ln/>
        </p:spPr>
        <p:txBody>
          <a:bodyPr wrap="square" lIns="0" tIns="0" rIns="0" bIns="0" rtlCol="0" anchor="t"/>
          <a:lstStyle/>
          <a:p>
            <a:pPr algn="l" indent="0" marL="0">
              <a:buNone/>
            </a:pPr>
            <a:r>
              <a:rPr lang="en-US" sz="2000" b="1" dirty="0">
                <a:solidFill>
                  <a:schemeClr val="tx1"/>
                </a:solidFill>
                <a:latin typeface="Manrope" pitchFamily="34" charset="0"/>
                <a:ea typeface="Manrope" pitchFamily="34" charset="-122"/>
                <a:cs typeface="Manrope" pitchFamily="34" charset="-120"/>
              </a:rPr>
              <a:t>Challenge</a:t>
            </a:r>
            <a:endParaRPr lang="en-US" sz="2000" dirty="0"/>
          </a:p>
        </p:txBody>
      </p:sp>
      <p:sp>
        <p:nvSpPr>
          <p:cNvPr id="16" name="Text 13"/>
          <p:cNvSpPr txBox="1"/>
          <p:nvPr/>
        </p:nvSpPr>
        <p:spPr>
          <a:xfrm>
            <a:off x="868680" y="3474720"/>
            <a:ext cx="2905658" cy="1371600"/>
          </a:xfrm>
          <a:prstGeom prst="rect">
            <a:avLst/>
          </a:prstGeom>
          <a:noFill/>
          <a:ln/>
        </p:spPr>
        <p:txBody>
          <a:bodyPr wrap="square" lIns="0" tIns="0" rIns="0" bIns="0" rtlCol="0" anchor="t"/>
          <a:lstStyle/>
          <a:p>
            <a:pPr algn="l" indent="0" marL="0">
              <a:lnSpc>
                <a:spcPct val="135000"/>
              </a:lnSpc>
              <a:buNone/>
            </a:pPr>
            <a:r>
              <a:rPr lang="en-US" sz="1200" dirty="0">
                <a:solidFill>
                  <a:schemeClr val="tx2"/>
                </a:solidFill>
                <a:latin typeface="Inter" pitchFamily="34" charset="0"/>
                <a:ea typeface="Inter" pitchFamily="34" charset="-122"/>
                <a:cs typeface="Inter" pitchFamily="34" charset="-120"/>
              </a:rPr>
              <a:t>Forecasts were built in spreadsheets by 14 regional managers. The board saw a different number every week and missed two quarters in a row.</a:t>
            </a:r>
            <a:endParaRPr lang="en-US" sz="1200" dirty="0"/>
          </a:p>
        </p:txBody>
      </p:sp>
      <p:sp>
        <p:nvSpPr>
          <p:cNvPr id="17" name="Shape 14"/>
          <p:cNvSpPr/>
          <p:nvPr/>
        </p:nvSpPr>
        <p:spPr>
          <a:xfrm>
            <a:off x="868680" y="5029200"/>
            <a:ext cx="2905658" cy="0"/>
          </a:xfrm>
          <a:prstGeom prst="line">
            <a:avLst/>
          </a:prstGeom>
          <a:noFill/>
          <a:ln w="9525">
            <a:solidFill>
              <a:schemeClr val="accent4"/>
            </a:solidFill>
            <a:prstDash val="solid"/>
          </a:ln>
        </p:spPr>
      </p:sp>
      <p:sp>
        <p:nvSpPr>
          <p:cNvPr id="18" name="Text 15"/>
          <p:cNvSpPr txBox="1"/>
          <p:nvPr/>
        </p:nvSpPr>
        <p:spPr>
          <a:xfrm>
            <a:off x="868680" y="51023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Forecast error</a:t>
            </a:r>
            <a:endParaRPr lang="en-US" sz="1050" dirty="0"/>
          </a:p>
        </p:txBody>
      </p:sp>
      <p:sp>
        <p:nvSpPr>
          <p:cNvPr id="19" name="Text 16"/>
          <p:cNvSpPr txBox="1"/>
          <p:nvPr/>
        </p:nvSpPr>
        <p:spPr>
          <a:xfrm>
            <a:off x="2219858" y="51023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22%</a:t>
            </a:r>
            <a:endParaRPr lang="en-US" sz="1300" dirty="0"/>
          </a:p>
        </p:txBody>
      </p:sp>
      <p:sp>
        <p:nvSpPr>
          <p:cNvPr id="20" name="Shape 17"/>
          <p:cNvSpPr/>
          <p:nvPr/>
        </p:nvSpPr>
        <p:spPr>
          <a:xfrm>
            <a:off x="868680" y="5486400"/>
            <a:ext cx="2905658" cy="0"/>
          </a:xfrm>
          <a:prstGeom prst="line">
            <a:avLst/>
          </a:prstGeom>
          <a:noFill/>
          <a:ln w="9525">
            <a:solidFill>
              <a:schemeClr val="accent4"/>
            </a:solidFill>
            <a:prstDash val="solid"/>
          </a:ln>
        </p:spPr>
      </p:sp>
      <p:sp>
        <p:nvSpPr>
          <p:cNvPr id="21" name="Text 18"/>
          <p:cNvSpPr txBox="1"/>
          <p:nvPr/>
        </p:nvSpPr>
        <p:spPr>
          <a:xfrm>
            <a:off x="868680" y="55595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Missed quarters</a:t>
            </a:r>
            <a:endParaRPr lang="en-US" sz="1050" dirty="0"/>
          </a:p>
        </p:txBody>
      </p:sp>
      <p:sp>
        <p:nvSpPr>
          <p:cNvPr id="22" name="Text 19"/>
          <p:cNvSpPr txBox="1"/>
          <p:nvPr/>
        </p:nvSpPr>
        <p:spPr>
          <a:xfrm>
            <a:off x="2219858" y="55595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2 in a row</a:t>
            </a:r>
            <a:endParaRPr lang="en-US" sz="1300" dirty="0"/>
          </a:p>
        </p:txBody>
      </p:sp>
      <p:sp>
        <p:nvSpPr>
          <p:cNvPr id="23" name="Shape 20"/>
          <p:cNvSpPr/>
          <p:nvPr/>
        </p:nvSpPr>
        <p:spPr>
          <a:xfrm>
            <a:off x="4322978" y="1874520"/>
            <a:ext cx="3545738" cy="4160520"/>
          </a:xfrm>
          <a:prstGeom prst="roundRect">
            <a:avLst>
              <a:gd name="adj" fmla="val 2579"/>
            </a:avLst>
          </a:prstGeom>
          <a:solidFill>
            <a:schemeClr val="bg2"/>
          </a:solidFill>
          <a:ln/>
        </p:spPr>
      </p:sp>
      <p:sp>
        <p:nvSpPr>
          <p:cNvPr id="24" name="Shape 21"/>
          <p:cNvSpPr/>
          <p:nvPr/>
        </p:nvSpPr>
        <p:spPr>
          <a:xfrm>
            <a:off x="4643018" y="2194560"/>
            <a:ext cx="548640" cy="548640"/>
          </a:xfrm>
          <a:prstGeom prst="ellipse">
            <a:avLst/>
          </a:prstGeom>
          <a:solidFill>
            <a:schemeClr val="bg1"/>
          </a:solidFill>
          <a:ln/>
        </p:spPr>
      </p:sp>
      <p:pic>
        <p:nvPicPr>
          <p:cNvPr id="25" name="Icon PiPath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4774692" y="2326234"/>
            <a:ext cx="285293" cy="285293"/>
          </a:xfrm>
          <a:prstGeom prst="rect">
            <a:avLst/>
          </a:prstGeom>
        </p:spPr>
      </p:pic>
      <p:sp>
        <p:nvSpPr>
          <p:cNvPr id="26" name="Text 22"/>
          <p:cNvSpPr txBox="1"/>
          <p:nvPr/>
        </p:nvSpPr>
        <p:spPr>
          <a:xfrm>
            <a:off x="6954317" y="2286000"/>
            <a:ext cx="594360" cy="320040"/>
          </a:xfrm>
          <a:prstGeom prst="rect">
            <a:avLst/>
          </a:prstGeom>
          <a:noFill/>
          <a:ln/>
        </p:spPr>
        <p:txBody>
          <a:bodyPr wrap="square" lIns="0" tIns="0" rIns="0" bIns="0" rtlCol="0" anchor="t"/>
          <a:lstStyle/>
          <a:p>
            <a:pPr algn="r" indent="0" marL="0">
              <a:buNone/>
            </a:pPr>
            <a:r>
              <a:rPr lang="en-US" sz="1200" b="1" dirty="0">
                <a:solidFill>
                  <a:schemeClr val="accent3"/>
                </a:solidFill>
                <a:latin typeface="Manrope" pitchFamily="34" charset="0"/>
                <a:ea typeface="Manrope" pitchFamily="34" charset="-122"/>
                <a:cs typeface="Manrope" pitchFamily="34" charset="-120"/>
              </a:rPr>
              <a:t>02</a:t>
            </a:r>
            <a:endParaRPr lang="en-US" sz="1200" dirty="0"/>
          </a:p>
        </p:txBody>
      </p:sp>
      <p:sp>
        <p:nvSpPr>
          <p:cNvPr id="27" name="Text 23"/>
          <p:cNvSpPr txBox="1"/>
          <p:nvPr/>
        </p:nvSpPr>
        <p:spPr>
          <a:xfrm>
            <a:off x="4643018" y="2971800"/>
            <a:ext cx="2905658" cy="411480"/>
          </a:xfrm>
          <a:prstGeom prst="rect">
            <a:avLst/>
          </a:prstGeom>
          <a:noFill/>
          <a:ln/>
        </p:spPr>
        <p:txBody>
          <a:bodyPr wrap="square" lIns="0" tIns="0" rIns="0" bIns="0" rtlCol="0" anchor="t"/>
          <a:lstStyle/>
          <a:p>
            <a:pPr algn="l" indent="0" marL="0">
              <a:buNone/>
            </a:pPr>
            <a:r>
              <a:rPr lang="en-US" sz="2000" b="1" dirty="0">
                <a:solidFill>
                  <a:schemeClr val="tx1"/>
                </a:solidFill>
                <a:latin typeface="Manrope" pitchFamily="34" charset="0"/>
                <a:ea typeface="Manrope" pitchFamily="34" charset="-122"/>
                <a:cs typeface="Manrope" pitchFamily="34" charset="-120"/>
              </a:rPr>
              <a:t>Approach</a:t>
            </a:r>
            <a:endParaRPr lang="en-US" sz="2000" dirty="0"/>
          </a:p>
        </p:txBody>
      </p:sp>
      <p:sp>
        <p:nvSpPr>
          <p:cNvPr id="28" name="Text 24"/>
          <p:cNvSpPr txBox="1"/>
          <p:nvPr/>
        </p:nvSpPr>
        <p:spPr>
          <a:xfrm>
            <a:off x="4643018" y="3474720"/>
            <a:ext cx="2905658" cy="1371600"/>
          </a:xfrm>
          <a:prstGeom prst="rect">
            <a:avLst/>
          </a:prstGeom>
          <a:noFill/>
          <a:ln/>
        </p:spPr>
        <p:txBody>
          <a:bodyPr wrap="square" lIns="0" tIns="0" rIns="0" bIns="0" rtlCol="0" anchor="t"/>
          <a:lstStyle/>
          <a:p>
            <a:pPr algn="l" indent="0" marL="0">
              <a:lnSpc>
                <a:spcPct val="135000"/>
              </a:lnSpc>
              <a:buNone/>
            </a:pPr>
            <a:r>
              <a:rPr lang="en-US" sz="1200" dirty="0">
                <a:solidFill>
                  <a:schemeClr val="tx2"/>
                </a:solidFill>
                <a:latin typeface="Inter" pitchFamily="34" charset="0"/>
                <a:ea typeface="Inter" pitchFamily="34" charset="-122"/>
                <a:cs typeface="Inter" pitchFamily="34" charset="-120"/>
              </a:rPr>
              <a:t>Corvanta connected CRM, email and calendar data in 9 days, introduced weekly AI-assisted forecast calls and coached managers on deal inspection.</a:t>
            </a:r>
            <a:endParaRPr lang="en-US" sz="1200" dirty="0"/>
          </a:p>
        </p:txBody>
      </p:sp>
      <p:sp>
        <p:nvSpPr>
          <p:cNvPr id="29" name="Shape 25"/>
          <p:cNvSpPr/>
          <p:nvPr/>
        </p:nvSpPr>
        <p:spPr>
          <a:xfrm>
            <a:off x="4643018" y="5029200"/>
            <a:ext cx="2905658" cy="0"/>
          </a:xfrm>
          <a:prstGeom prst="line">
            <a:avLst/>
          </a:prstGeom>
          <a:noFill/>
          <a:ln w="9525">
            <a:solidFill>
              <a:schemeClr val="accent4"/>
            </a:solidFill>
            <a:prstDash val="solid"/>
          </a:ln>
        </p:spPr>
      </p:sp>
      <p:sp>
        <p:nvSpPr>
          <p:cNvPr id="30" name="Text 26"/>
          <p:cNvSpPr txBox="1"/>
          <p:nvPr/>
        </p:nvSpPr>
        <p:spPr>
          <a:xfrm>
            <a:off x="4643018" y="51023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Time to connect</a:t>
            </a:r>
            <a:endParaRPr lang="en-US" sz="1050" dirty="0"/>
          </a:p>
        </p:txBody>
      </p:sp>
      <p:sp>
        <p:nvSpPr>
          <p:cNvPr id="31" name="Text 27"/>
          <p:cNvSpPr txBox="1"/>
          <p:nvPr/>
        </p:nvSpPr>
        <p:spPr>
          <a:xfrm>
            <a:off x="5994197" y="51023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9 days</a:t>
            </a:r>
            <a:endParaRPr lang="en-US" sz="1300" dirty="0"/>
          </a:p>
        </p:txBody>
      </p:sp>
      <p:sp>
        <p:nvSpPr>
          <p:cNvPr id="32" name="Shape 28"/>
          <p:cNvSpPr/>
          <p:nvPr/>
        </p:nvSpPr>
        <p:spPr>
          <a:xfrm>
            <a:off x="4643018" y="5486400"/>
            <a:ext cx="2905658" cy="0"/>
          </a:xfrm>
          <a:prstGeom prst="line">
            <a:avLst/>
          </a:prstGeom>
          <a:noFill/>
          <a:ln w="9525">
            <a:solidFill>
              <a:schemeClr val="accent4"/>
            </a:solidFill>
            <a:prstDash val="solid"/>
          </a:ln>
        </p:spPr>
      </p:sp>
      <p:sp>
        <p:nvSpPr>
          <p:cNvPr id="33" name="Text 29"/>
          <p:cNvSpPr txBox="1"/>
          <p:nvPr/>
        </p:nvSpPr>
        <p:spPr>
          <a:xfrm>
            <a:off x="4643018" y="55595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Full rollout</a:t>
            </a:r>
            <a:endParaRPr lang="en-US" sz="1050" dirty="0"/>
          </a:p>
        </p:txBody>
      </p:sp>
      <p:sp>
        <p:nvSpPr>
          <p:cNvPr id="34" name="Text 30"/>
          <p:cNvSpPr txBox="1"/>
          <p:nvPr/>
        </p:nvSpPr>
        <p:spPr>
          <a:xfrm>
            <a:off x="5994197" y="55595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6 weeks</a:t>
            </a:r>
            <a:endParaRPr lang="en-US" sz="1300" dirty="0"/>
          </a:p>
        </p:txBody>
      </p:sp>
      <p:sp>
        <p:nvSpPr>
          <p:cNvPr id="35" name="Shape 31"/>
          <p:cNvSpPr/>
          <p:nvPr/>
        </p:nvSpPr>
        <p:spPr>
          <a:xfrm>
            <a:off x="8097317" y="1874520"/>
            <a:ext cx="3545738" cy="4160520"/>
          </a:xfrm>
          <a:prstGeom prst="roundRect">
            <a:avLst>
              <a:gd name="adj" fmla="val 2579"/>
            </a:avLst>
          </a:prstGeom>
          <a:solidFill>
            <a:schemeClr val="tx1"/>
          </a:solidFill>
          <a:ln/>
        </p:spPr>
      </p:sp>
      <p:sp>
        <p:nvSpPr>
          <p:cNvPr id="36" name="Shape 32"/>
          <p:cNvSpPr/>
          <p:nvPr/>
        </p:nvSpPr>
        <p:spPr>
          <a:xfrm>
            <a:off x="8417357" y="2194560"/>
            <a:ext cx="548640" cy="548640"/>
          </a:xfrm>
          <a:prstGeom prst="ellipse">
            <a:avLst/>
          </a:prstGeom>
          <a:solidFill>
            <a:schemeClr val="accent1"/>
          </a:solidFill>
          <a:ln/>
        </p:spPr>
      </p:sp>
      <p:pic>
        <p:nvPicPr>
          <p:cNvPr id="37" name="Icon PiTrendUp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8549030" y="2326234"/>
            <a:ext cx="285293" cy="285293"/>
          </a:xfrm>
          <a:prstGeom prst="rect">
            <a:avLst/>
          </a:prstGeom>
        </p:spPr>
      </p:pic>
      <p:sp>
        <p:nvSpPr>
          <p:cNvPr id="38" name="Text 33"/>
          <p:cNvSpPr txBox="1"/>
          <p:nvPr/>
        </p:nvSpPr>
        <p:spPr>
          <a:xfrm>
            <a:off x="10728655" y="2286000"/>
            <a:ext cx="594360" cy="320040"/>
          </a:xfrm>
          <a:prstGeom prst="rect">
            <a:avLst/>
          </a:prstGeom>
          <a:noFill/>
          <a:ln/>
        </p:spPr>
        <p:txBody>
          <a:bodyPr wrap="square" lIns="0" tIns="0" rIns="0" bIns="0" rtlCol="0" anchor="t"/>
          <a:lstStyle/>
          <a:p>
            <a:pPr algn="r" indent="0" marL="0">
              <a:buNone/>
            </a:pPr>
            <a:r>
              <a:rPr lang="en-US" sz="1200" b="1" dirty="0">
                <a:solidFill>
                  <a:schemeClr val="accent4"/>
                </a:solidFill>
                <a:latin typeface="Manrope" pitchFamily="34" charset="0"/>
                <a:ea typeface="Manrope" pitchFamily="34" charset="-122"/>
                <a:cs typeface="Manrope" pitchFamily="34" charset="-120"/>
              </a:rPr>
              <a:t>03</a:t>
            </a:r>
            <a:endParaRPr lang="en-US" sz="1200" dirty="0"/>
          </a:p>
        </p:txBody>
      </p:sp>
      <p:sp>
        <p:nvSpPr>
          <p:cNvPr id="39" name="Text 34"/>
          <p:cNvSpPr txBox="1"/>
          <p:nvPr/>
        </p:nvSpPr>
        <p:spPr>
          <a:xfrm>
            <a:off x="8417357" y="2971800"/>
            <a:ext cx="2905658" cy="411480"/>
          </a:xfrm>
          <a:prstGeom prst="rect">
            <a:avLst/>
          </a:prstGeom>
          <a:noFill/>
          <a:ln/>
        </p:spPr>
        <p:txBody>
          <a:bodyPr wrap="square" lIns="0" tIns="0" rIns="0" bIns="0" rtlCol="0" anchor="t"/>
          <a:lstStyle/>
          <a:p>
            <a:pPr algn="l" indent="0" marL="0">
              <a:buNone/>
            </a:pPr>
            <a:r>
              <a:rPr lang="en-US" sz="2000" b="1" dirty="0">
                <a:solidFill>
                  <a:schemeClr val="bg1"/>
                </a:solidFill>
                <a:latin typeface="Manrope" pitchFamily="34" charset="0"/>
                <a:ea typeface="Manrope" pitchFamily="34" charset="-122"/>
                <a:cs typeface="Manrope" pitchFamily="34" charset="-120"/>
              </a:rPr>
              <a:t>Results</a:t>
            </a:r>
            <a:endParaRPr lang="en-US" sz="2000" dirty="0"/>
          </a:p>
        </p:txBody>
      </p:sp>
      <p:sp>
        <p:nvSpPr>
          <p:cNvPr id="40" name="Text 35"/>
          <p:cNvSpPr txBox="1"/>
          <p:nvPr/>
        </p:nvSpPr>
        <p:spPr>
          <a:xfrm>
            <a:off x="8417357" y="3520440"/>
            <a:ext cx="1463040" cy="548640"/>
          </a:xfrm>
          <a:prstGeom prst="rect">
            <a:avLst/>
          </a:prstGeom>
          <a:noFill/>
          <a:ln/>
        </p:spPr>
        <p:txBody>
          <a:bodyPr wrap="square" lIns="0" tIns="0" rIns="0" bIns="0" rtlCol="0" anchor="ctr"/>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4%</a:t>
            </a:r>
            <a:endParaRPr lang="en-US" sz="2800" dirty="0"/>
          </a:p>
        </p:txBody>
      </p:sp>
      <p:sp>
        <p:nvSpPr>
          <p:cNvPr id="41" name="Text 36"/>
          <p:cNvSpPr txBox="1"/>
          <p:nvPr/>
        </p:nvSpPr>
        <p:spPr>
          <a:xfrm>
            <a:off x="9880397" y="3520440"/>
            <a:ext cx="1488338" cy="548640"/>
          </a:xfrm>
          <a:prstGeom prst="rect">
            <a:avLst/>
          </a:prstGeom>
          <a:noFill/>
          <a:ln/>
        </p:spPr>
        <p:txBody>
          <a:bodyPr wrap="square" lIns="0" tIns="0" rIns="0" bIns="0" rtlCol="0" anchor="ctr"/>
          <a:lstStyle/>
          <a:p>
            <a:pPr algn="l" indent="0" marL="0">
              <a:buNone/>
            </a:pPr>
            <a:r>
              <a:rPr lang="en-US" sz="1100" dirty="0">
                <a:solidFill>
                  <a:schemeClr val="bg1"/>
                </a:solidFill>
                <a:latin typeface="Inter" pitchFamily="34" charset="0"/>
                <a:ea typeface="Inter" pitchFamily="34" charset="-122"/>
                <a:cs typeface="Inter" pitchFamily="34" charset="-120"/>
              </a:rPr>
              <a:t>forecast error, from 22%</a:t>
            </a:r>
            <a:endParaRPr lang="en-US" sz="1100" dirty="0"/>
          </a:p>
        </p:txBody>
      </p:sp>
      <p:sp>
        <p:nvSpPr>
          <p:cNvPr id="42" name="Shape 37"/>
          <p:cNvSpPr/>
          <p:nvPr/>
        </p:nvSpPr>
        <p:spPr>
          <a:xfrm>
            <a:off x="8417357" y="4197096"/>
            <a:ext cx="2905658" cy="0"/>
          </a:xfrm>
          <a:prstGeom prst="line">
            <a:avLst/>
          </a:prstGeom>
          <a:noFill/>
          <a:ln w="12700">
            <a:solidFill>
              <a:schemeClr val="accent5"/>
            </a:solidFill>
            <a:prstDash val="solid"/>
          </a:ln>
        </p:spPr>
      </p:sp>
      <p:sp>
        <p:nvSpPr>
          <p:cNvPr id="43" name="Text 38"/>
          <p:cNvSpPr txBox="1"/>
          <p:nvPr/>
        </p:nvSpPr>
        <p:spPr>
          <a:xfrm>
            <a:off x="8417357" y="4325112"/>
            <a:ext cx="1463040" cy="548640"/>
          </a:xfrm>
          <a:prstGeom prst="rect">
            <a:avLst/>
          </a:prstGeom>
          <a:noFill/>
          <a:ln/>
        </p:spPr>
        <p:txBody>
          <a:bodyPr wrap="square" lIns="0" tIns="0" rIns="0" bIns="0" rtlCol="0" anchor="ctr"/>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+31%</a:t>
            </a:r>
            <a:endParaRPr lang="en-US" sz="2800" dirty="0"/>
          </a:p>
        </p:txBody>
      </p:sp>
      <p:sp>
        <p:nvSpPr>
          <p:cNvPr id="44" name="Text 39"/>
          <p:cNvSpPr txBox="1"/>
          <p:nvPr/>
        </p:nvSpPr>
        <p:spPr>
          <a:xfrm>
            <a:off x="9880397" y="4325112"/>
            <a:ext cx="1488338" cy="548640"/>
          </a:xfrm>
          <a:prstGeom prst="rect">
            <a:avLst/>
          </a:prstGeom>
          <a:noFill/>
          <a:ln/>
        </p:spPr>
        <p:txBody>
          <a:bodyPr wrap="square" lIns="0" tIns="0" rIns="0" bIns="0" rtlCol="0" anchor="ctr"/>
          <a:lstStyle/>
          <a:p>
            <a:pPr algn="l" indent="0" marL="0">
              <a:buNone/>
            </a:pPr>
            <a:r>
              <a:rPr lang="en-US" sz="1100" dirty="0">
                <a:solidFill>
                  <a:schemeClr val="bg1"/>
                </a:solidFill>
                <a:latin typeface="Inter" pitchFamily="34" charset="0"/>
                <a:ea typeface="Inter" pitchFamily="34" charset="-122"/>
                <a:cs typeface="Inter" pitchFamily="34" charset="-120"/>
              </a:rPr>
              <a:t>win rate in six months</a:t>
            </a:r>
            <a:endParaRPr lang="en-US" sz="1100" dirty="0"/>
          </a:p>
        </p:txBody>
      </p:sp>
      <p:sp>
        <p:nvSpPr>
          <p:cNvPr id="45" name="Shape 40"/>
          <p:cNvSpPr/>
          <p:nvPr/>
        </p:nvSpPr>
        <p:spPr>
          <a:xfrm>
            <a:off x="8417357" y="5001768"/>
            <a:ext cx="2905658" cy="0"/>
          </a:xfrm>
          <a:prstGeom prst="line">
            <a:avLst/>
          </a:prstGeom>
          <a:noFill/>
          <a:ln w="12700">
            <a:solidFill>
              <a:schemeClr val="accent5"/>
            </a:solidFill>
            <a:prstDash val="solid"/>
          </a:ln>
        </p:spPr>
      </p:sp>
      <p:sp>
        <p:nvSpPr>
          <p:cNvPr id="46" name="Text 41"/>
          <p:cNvSpPr txBox="1"/>
          <p:nvPr/>
        </p:nvSpPr>
        <p:spPr>
          <a:xfrm>
            <a:off x="8417357" y="5129784"/>
            <a:ext cx="1463040" cy="548640"/>
          </a:xfrm>
          <a:prstGeom prst="rect">
            <a:avLst/>
          </a:prstGeom>
          <a:noFill/>
          <a:ln/>
        </p:spPr>
        <p:txBody>
          <a:bodyPr wrap="square" lIns="0" tIns="0" rIns="0" bIns="0" rtlCol="0" anchor="ctr"/>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6 hrs</a:t>
            </a:r>
            <a:endParaRPr lang="en-US" sz="2800" dirty="0"/>
          </a:p>
        </p:txBody>
      </p:sp>
      <p:sp>
        <p:nvSpPr>
          <p:cNvPr id="47" name="Text 42"/>
          <p:cNvSpPr txBox="1"/>
          <p:nvPr/>
        </p:nvSpPr>
        <p:spPr>
          <a:xfrm>
            <a:off x="9880397" y="5129784"/>
            <a:ext cx="1488338" cy="548640"/>
          </a:xfrm>
          <a:prstGeom prst="rect">
            <a:avLst/>
          </a:prstGeom>
          <a:noFill/>
          <a:ln/>
        </p:spPr>
        <p:txBody>
          <a:bodyPr wrap="square" lIns="0" tIns="0" rIns="0" bIns="0" rtlCol="0" anchor="ctr"/>
          <a:lstStyle/>
          <a:p>
            <a:pPr algn="l" indent="0" marL="0">
              <a:buNone/>
            </a:pPr>
            <a:r>
              <a:rPr lang="en-US" sz="1100" dirty="0">
                <a:solidFill>
                  <a:schemeClr val="bg1"/>
                </a:solidFill>
                <a:latin typeface="Inter" pitchFamily="34" charset="0"/>
                <a:ea typeface="Inter" pitchFamily="34" charset="-122"/>
                <a:cs typeface="Inter" pitchFamily="34" charset="-120"/>
              </a:rPr>
              <a:t>saved per manager per week</a:t>
            </a:r>
            <a:endParaRPr lang="en-US" sz="11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chemeClr val="bg2"/>
          </a:solidFill>
          <a:ln/>
        </p:spPr>
      </p:sp>
      <p:sp>
        <p:nvSpPr>
          <p:cNvPr id="3" name="Shape 1"/>
          <p:cNvSpPr/>
          <p:nvPr/>
        </p:nvSpPr>
        <p:spPr>
          <a:xfrm>
            <a:off x="6095848" y="0"/>
            <a:ext cx="6095848" cy="6858000"/>
          </a:xfrm>
          <a:prstGeom prst="rect">
            <a:avLst/>
          </a:prstGeom>
          <a:solidFill>
            <a:schemeClr val="tx1"/>
          </a:solidFill>
          <a:ln/>
        </p:spPr>
      </p:sp>
      <p:sp>
        <p:nvSpPr>
          <p:cNvPr id="4" name="Shape 2"/>
          <p:cNvSpPr/>
          <p:nvPr/>
        </p:nvSpPr>
        <p:spPr>
          <a:xfrm>
            <a:off x="548640" y="571500"/>
            <a:ext cx="91440" cy="91440"/>
          </a:xfrm>
          <a:prstGeom prst="rect">
            <a:avLst/>
          </a:prstGeom>
          <a:solidFill>
            <a:schemeClr val="accent1"/>
          </a:solidFill>
          <a:ln/>
        </p:spPr>
      </p:sp>
      <p:sp>
        <p:nvSpPr>
          <p:cNvPr id="5" name="Text 3"/>
          <p:cNvSpPr txBox="1"/>
          <p:nvPr/>
        </p:nvSpPr>
        <p:spPr>
          <a:xfrm>
            <a:off x="731520" y="50292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12 · CASE STUDY · BEFORE / AFTER</a:t>
            </a:r>
            <a:endParaRPr lang="en-US" sz="950" dirty="0"/>
          </a:p>
        </p:txBody>
      </p:sp>
      <p:sp>
        <p:nvSpPr>
          <p:cNvPr id="6" name="Text 4"/>
          <p:cNvSpPr txBox="1"/>
          <p:nvPr/>
        </p:nvSpPr>
        <p:spPr>
          <a:xfrm>
            <a:off x="548640" y="1234440"/>
            <a:ext cx="2743200" cy="274320"/>
          </a:xfrm>
          <a:prstGeom prst="rect">
            <a:avLst/>
          </a:prstGeom>
          <a:noFill/>
          <a:ln/>
        </p:spPr>
        <p:txBody>
          <a:bodyPr wrap="square" lIns="0" tIns="0" rIns="0" bIns="0" rtlCol="0" anchor="t"/>
          <a:lstStyle/>
          <a:p>
            <a:pPr algn="l" indent="0" marL="0">
              <a:buNone/>
            </a:pPr>
            <a:r>
              <a:rPr lang="en-US" sz="1100" spc="200" kern="0" dirty="0">
                <a:solidFill>
                  <a:schemeClr val="accent3"/>
                </a:solidFill>
                <a:latin typeface="Inter Medium" pitchFamily="34" charset="0"/>
                <a:ea typeface="Inter Medium" pitchFamily="34" charset="-122"/>
                <a:cs typeface="Inter Medium" pitchFamily="34" charset="-120"/>
              </a:rPr>
              <a:t>BEFORE</a:t>
            </a:r>
            <a:endParaRPr lang="en-US" sz="1100" dirty="0"/>
          </a:p>
        </p:txBody>
      </p:sp>
      <p:sp>
        <p:nvSpPr>
          <p:cNvPr id="7" name="Text 5"/>
          <p:cNvSpPr txBox="1"/>
          <p:nvPr/>
        </p:nvSpPr>
        <p:spPr>
          <a:xfrm>
            <a:off x="548640" y="1554480"/>
            <a:ext cx="4998568" cy="822960"/>
          </a:xfrm>
          <a:prstGeom prst="rect">
            <a:avLst/>
          </a:prstGeom>
          <a:noFill/>
          <a:ln/>
        </p:spPr>
        <p:txBody>
          <a:bodyPr wrap="square" lIns="0" tIns="0" rIns="0" bIns="0" rtlCol="0" anchor="t"/>
          <a:lstStyle/>
          <a:p>
            <a:pPr algn="l" indent="0" marL="0">
              <a:buNone/>
            </a:pPr>
            <a:r>
              <a:rPr lang="en-US" sz="2600" b="1" dirty="0">
                <a:solidFill>
                  <a:schemeClr val="tx1"/>
                </a:solidFill>
                <a:latin typeface="Manrope" pitchFamily="34" charset="0"/>
                <a:ea typeface="Manrope" pitchFamily="34" charset="-122"/>
                <a:cs typeface="Manrope" pitchFamily="34" charset="-120"/>
              </a:rPr>
              <a:t>Spreadsheets and guesswork</a:t>
            </a:r>
            <a:endParaRPr lang="en-US" sz="2600" dirty="0"/>
          </a:p>
        </p:txBody>
      </p:sp>
      <p:sp>
        <p:nvSpPr>
          <p:cNvPr id="8" name="Shape 6"/>
          <p:cNvSpPr/>
          <p:nvPr/>
        </p:nvSpPr>
        <p:spPr>
          <a:xfrm>
            <a:off x="6644488" y="1216152"/>
            <a:ext cx="868680" cy="274320"/>
          </a:xfrm>
          <a:prstGeom prst="roundRect">
            <a:avLst>
              <a:gd name="adj" fmla="val 50000"/>
            </a:avLst>
          </a:prstGeom>
          <a:solidFill>
            <a:schemeClr val="accent1"/>
          </a:solidFill>
          <a:ln/>
        </p:spPr>
      </p:sp>
      <p:sp>
        <p:nvSpPr>
          <p:cNvPr id="9" name="Text 7"/>
          <p:cNvSpPr txBox="1"/>
          <p:nvPr/>
        </p:nvSpPr>
        <p:spPr>
          <a:xfrm>
            <a:off x="6644488" y="1216152"/>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AFTER</a:t>
            </a:r>
            <a:endParaRPr lang="en-US" sz="900" dirty="0"/>
          </a:p>
        </p:txBody>
      </p:sp>
      <p:sp>
        <p:nvSpPr>
          <p:cNvPr id="10" name="Text 8"/>
          <p:cNvSpPr txBox="1"/>
          <p:nvPr/>
        </p:nvSpPr>
        <p:spPr>
          <a:xfrm>
            <a:off x="6644488" y="1554480"/>
            <a:ext cx="4998568" cy="822960"/>
          </a:xfrm>
          <a:prstGeom prst="rect">
            <a:avLst/>
          </a:prstGeom>
          <a:noFill/>
          <a:ln/>
        </p:spPr>
        <p:txBody>
          <a:bodyPr wrap="square" lIns="0" tIns="0" rIns="0" bIns="0" rtlCol="0" anchor="t"/>
          <a:lstStyle/>
          <a:p>
            <a:pPr algn="l" indent="0" marL="0">
              <a:buNone/>
            </a:pPr>
            <a:r>
              <a:rPr lang="en-US" sz="2600" b="1" dirty="0">
                <a:solidFill>
                  <a:schemeClr val="bg1"/>
                </a:solidFill>
                <a:latin typeface="Manrope" pitchFamily="34" charset="0"/>
                <a:ea typeface="Manrope" pitchFamily="34" charset="-122"/>
                <a:cs typeface="Manrope" pitchFamily="34" charset="-120"/>
              </a:rPr>
              <a:t>One forecast everyone trusts</a:t>
            </a:r>
            <a:endParaRPr lang="en-US" sz="2600" dirty="0"/>
          </a:p>
        </p:txBody>
      </p:sp>
      <p:sp>
        <p:nvSpPr>
          <p:cNvPr id="11" name="Shape 9"/>
          <p:cNvSpPr/>
          <p:nvPr/>
        </p:nvSpPr>
        <p:spPr>
          <a:xfrm>
            <a:off x="548640" y="2788920"/>
            <a:ext cx="4998568" cy="0"/>
          </a:xfrm>
          <a:prstGeom prst="line">
            <a:avLst/>
          </a:prstGeom>
          <a:noFill/>
          <a:ln w="9525">
            <a:solidFill>
              <a:schemeClr val="accent4"/>
            </a:solidFill>
            <a:prstDash val="solid"/>
          </a:ln>
        </p:spPr>
      </p:sp>
      <p:sp>
        <p:nvSpPr>
          <p:cNvPr id="12" name="Shape 10"/>
          <p:cNvSpPr/>
          <p:nvPr/>
        </p:nvSpPr>
        <p:spPr>
          <a:xfrm>
            <a:off x="6644488" y="2788920"/>
            <a:ext cx="4998568" cy="0"/>
          </a:xfrm>
          <a:prstGeom prst="line">
            <a:avLst/>
          </a:prstGeom>
          <a:noFill/>
          <a:ln w="12700">
            <a:solidFill>
              <a:schemeClr val="accent5"/>
            </a:solidFill>
            <a:prstDash val="solid"/>
          </a:ln>
        </p:spPr>
      </p:sp>
      <p:sp>
        <p:nvSpPr>
          <p:cNvPr id="13" name="Text 11"/>
          <p:cNvSpPr txBox="1"/>
          <p:nvPr/>
        </p:nvSpPr>
        <p:spPr>
          <a:xfrm>
            <a:off x="548640" y="292608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Forecast error</a:t>
            </a:r>
            <a:endParaRPr lang="en-US" sz="1200" dirty="0"/>
          </a:p>
        </p:txBody>
      </p:sp>
      <p:sp>
        <p:nvSpPr>
          <p:cNvPr id="14" name="Text 12"/>
          <p:cNvSpPr txBox="1"/>
          <p:nvPr/>
        </p:nvSpPr>
        <p:spPr>
          <a:xfrm>
            <a:off x="3718408" y="289864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22%</a:t>
            </a:r>
            <a:endParaRPr lang="en-US" sz="2600" dirty="0"/>
          </a:p>
        </p:txBody>
      </p:sp>
      <p:sp>
        <p:nvSpPr>
          <p:cNvPr id="15" name="Text 13"/>
          <p:cNvSpPr txBox="1"/>
          <p:nvPr/>
        </p:nvSpPr>
        <p:spPr>
          <a:xfrm>
            <a:off x="6644488" y="292608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Forecast error</a:t>
            </a:r>
            <a:endParaRPr lang="en-US" sz="1200" dirty="0"/>
          </a:p>
        </p:txBody>
      </p:sp>
      <p:sp>
        <p:nvSpPr>
          <p:cNvPr id="16" name="Text 14"/>
          <p:cNvSpPr txBox="1"/>
          <p:nvPr/>
        </p:nvSpPr>
        <p:spPr>
          <a:xfrm>
            <a:off x="9814255" y="289864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4%</a:t>
            </a:r>
            <a:endParaRPr lang="en-US" sz="2600" dirty="0"/>
          </a:p>
        </p:txBody>
      </p:sp>
      <p:sp>
        <p:nvSpPr>
          <p:cNvPr id="17" name="Shape 15"/>
          <p:cNvSpPr/>
          <p:nvPr/>
        </p:nvSpPr>
        <p:spPr>
          <a:xfrm>
            <a:off x="548640" y="3657600"/>
            <a:ext cx="4998568" cy="0"/>
          </a:xfrm>
          <a:prstGeom prst="line">
            <a:avLst/>
          </a:prstGeom>
          <a:noFill/>
          <a:ln w="9525">
            <a:solidFill>
              <a:schemeClr val="accent4"/>
            </a:solidFill>
            <a:prstDash val="solid"/>
          </a:ln>
        </p:spPr>
      </p:sp>
      <p:sp>
        <p:nvSpPr>
          <p:cNvPr id="18" name="Shape 16"/>
          <p:cNvSpPr/>
          <p:nvPr/>
        </p:nvSpPr>
        <p:spPr>
          <a:xfrm>
            <a:off x="6644488" y="3657600"/>
            <a:ext cx="4998568" cy="0"/>
          </a:xfrm>
          <a:prstGeom prst="line">
            <a:avLst/>
          </a:prstGeom>
          <a:noFill/>
          <a:ln w="12700">
            <a:solidFill>
              <a:schemeClr val="accent5"/>
            </a:solidFill>
            <a:prstDash val="solid"/>
          </a:ln>
        </p:spPr>
      </p:sp>
      <p:sp>
        <p:nvSpPr>
          <p:cNvPr id="19" name="Text 17"/>
          <p:cNvSpPr txBox="1"/>
          <p:nvPr/>
        </p:nvSpPr>
        <p:spPr>
          <a:xfrm>
            <a:off x="548640" y="379476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Time to build forecast</a:t>
            </a:r>
            <a:endParaRPr lang="en-US" sz="1200" dirty="0"/>
          </a:p>
        </p:txBody>
      </p:sp>
      <p:sp>
        <p:nvSpPr>
          <p:cNvPr id="20" name="Text 18"/>
          <p:cNvSpPr txBox="1"/>
          <p:nvPr/>
        </p:nvSpPr>
        <p:spPr>
          <a:xfrm>
            <a:off x="3718408" y="376732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2 days</a:t>
            </a:r>
            <a:endParaRPr lang="en-US" sz="2600" dirty="0"/>
          </a:p>
        </p:txBody>
      </p:sp>
      <p:sp>
        <p:nvSpPr>
          <p:cNvPr id="21" name="Text 19"/>
          <p:cNvSpPr txBox="1"/>
          <p:nvPr/>
        </p:nvSpPr>
        <p:spPr>
          <a:xfrm>
            <a:off x="6644488" y="379476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Time to build forecast</a:t>
            </a:r>
            <a:endParaRPr lang="en-US" sz="1200" dirty="0"/>
          </a:p>
        </p:txBody>
      </p:sp>
      <p:sp>
        <p:nvSpPr>
          <p:cNvPr id="22" name="Text 20"/>
          <p:cNvSpPr txBox="1"/>
          <p:nvPr/>
        </p:nvSpPr>
        <p:spPr>
          <a:xfrm>
            <a:off x="9814255" y="376732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20 min</a:t>
            </a:r>
            <a:endParaRPr lang="en-US" sz="2600" dirty="0"/>
          </a:p>
        </p:txBody>
      </p:sp>
      <p:sp>
        <p:nvSpPr>
          <p:cNvPr id="23" name="Shape 21"/>
          <p:cNvSpPr/>
          <p:nvPr/>
        </p:nvSpPr>
        <p:spPr>
          <a:xfrm>
            <a:off x="548640" y="4526280"/>
            <a:ext cx="4998568" cy="0"/>
          </a:xfrm>
          <a:prstGeom prst="line">
            <a:avLst/>
          </a:prstGeom>
          <a:noFill/>
          <a:ln w="9525">
            <a:solidFill>
              <a:schemeClr val="accent4"/>
            </a:solidFill>
            <a:prstDash val="solid"/>
          </a:ln>
        </p:spPr>
      </p:sp>
      <p:sp>
        <p:nvSpPr>
          <p:cNvPr id="24" name="Shape 22"/>
          <p:cNvSpPr/>
          <p:nvPr/>
        </p:nvSpPr>
        <p:spPr>
          <a:xfrm>
            <a:off x="6644488" y="4526280"/>
            <a:ext cx="4998568" cy="0"/>
          </a:xfrm>
          <a:prstGeom prst="line">
            <a:avLst/>
          </a:prstGeom>
          <a:noFill/>
          <a:ln w="12700">
            <a:solidFill>
              <a:schemeClr val="accent5"/>
            </a:solidFill>
            <a:prstDash val="solid"/>
          </a:ln>
        </p:spPr>
      </p:sp>
      <p:sp>
        <p:nvSpPr>
          <p:cNvPr id="25" name="Text 23"/>
          <p:cNvSpPr txBox="1"/>
          <p:nvPr/>
        </p:nvSpPr>
        <p:spPr>
          <a:xfrm>
            <a:off x="548640" y="466344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Deals slipping each quarter</a:t>
            </a:r>
            <a:endParaRPr lang="en-US" sz="1200" dirty="0"/>
          </a:p>
        </p:txBody>
      </p:sp>
      <p:sp>
        <p:nvSpPr>
          <p:cNvPr id="26" name="Text 24"/>
          <p:cNvSpPr txBox="1"/>
          <p:nvPr/>
        </p:nvSpPr>
        <p:spPr>
          <a:xfrm>
            <a:off x="3718408" y="463600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38%</a:t>
            </a:r>
            <a:endParaRPr lang="en-US" sz="2600" dirty="0"/>
          </a:p>
        </p:txBody>
      </p:sp>
      <p:sp>
        <p:nvSpPr>
          <p:cNvPr id="27" name="Text 25"/>
          <p:cNvSpPr txBox="1"/>
          <p:nvPr/>
        </p:nvSpPr>
        <p:spPr>
          <a:xfrm>
            <a:off x="6644488" y="466344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Deals slipping each quarter</a:t>
            </a:r>
            <a:endParaRPr lang="en-US" sz="1200" dirty="0"/>
          </a:p>
        </p:txBody>
      </p:sp>
      <p:sp>
        <p:nvSpPr>
          <p:cNvPr id="28" name="Text 26"/>
          <p:cNvSpPr txBox="1"/>
          <p:nvPr/>
        </p:nvSpPr>
        <p:spPr>
          <a:xfrm>
            <a:off x="9814255" y="463600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12%</a:t>
            </a:r>
            <a:endParaRPr lang="en-US" sz="2600" dirty="0"/>
          </a:p>
        </p:txBody>
      </p:sp>
      <p:sp>
        <p:nvSpPr>
          <p:cNvPr id="29" name="Shape 27"/>
          <p:cNvSpPr/>
          <p:nvPr/>
        </p:nvSpPr>
        <p:spPr>
          <a:xfrm>
            <a:off x="548640" y="5394960"/>
            <a:ext cx="4998568" cy="0"/>
          </a:xfrm>
          <a:prstGeom prst="line">
            <a:avLst/>
          </a:prstGeom>
          <a:noFill/>
          <a:ln w="9525">
            <a:solidFill>
              <a:schemeClr val="accent4"/>
            </a:solidFill>
            <a:prstDash val="solid"/>
          </a:ln>
        </p:spPr>
      </p:sp>
      <p:sp>
        <p:nvSpPr>
          <p:cNvPr id="30" name="Shape 28"/>
          <p:cNvSpPr/>
          <p:nvPr/>
        </p:nvSpPr>
        <p:spPr>
          <a:xfrm>
            <a:off x="6644488" y="5394960"/>
            <a:ext cx="4998568" cy="0"/>
          </a:xfrm>
          <a:prstGeom prst="line">
            <a:avLst/>
          </a:prstGeom>
          <a:noFill/>
          <a:ln w="12700">
            <a:solidFill>
              <a:schemeClr val="accent5"/>
            </a:solidFill>
            <a:prstDash val="solid"/>
          </a:ln>
        </p:spPr>
      </p:sp>
      <p:sp>
        <p:nvSpPr>
          <p:cNvPr id="31" name="Text 29"/>
          <p:cNvSpPr txBox="1"/>
          <p:nvPr/>
        </p:nvSpPr>
        <p:spPr>
          <a:xfrm>
            <a:off x="548640" y="553212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Manager hours on admin / week</a:t>
            </a:r>
            <a:endParaRPr lang="en-US" sz="1200" dirty="0"/>
          </a:p>
        </p:txBody>
      </p:sp>
      <p:sp>
        <p:nvSpPr>
          <p:cNvPr id="32" name="Text 30"/>
          <p:cNvSpPr txBox="1"/>
          <p:nvPr/>
        </p:nvSpPr>
        <p:spPr>
          <a:xfrm>
            <a:off x="3718408" y="550468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9 hrs</a:t>
            </a:r>
            <a:endParaRPr lang="en-US" sz="2600" dirty="0"/>
          </a:p>
        </p:txBody>
      </p:sp>
      <p:sp>
        <p:nvSpPr>
          <p:cNvPr id="33" name="Text 31"/>
          <p:cNvSpPr txBox="1"/>
          <p:nvPr/>
        </p:nvSpPr>
        <p:spPr>
          <a:xfrm>
            <a:off x="6644488" y="553212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Manager hours on admin / week</a:t>
            </a:r>
            <a:endParaRPr lang="en-US" sz="1200" dirty="0"/>
          </a:p>
        </p:txBody>
      </p:sp>
      <p:sp>
        <p:nvSpPr>
          <p:cNvPr id="34" name="Text 32"/>
          <p:cNvSpPr txBox="1"/>
          <p:nvPr/>
        </p:nvSpPr>
        <p:spPr>
          <a:xfrm>
            <a:off x="9814255" y="550468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3 hrs</a:t>
            </a:r>
            <a:endParaRPr lang="en-US" sz="2600" dirty="0"/>
          </a:p>
        </p:txBody>
      </p:sp>
      <p:sp>
        <p:nvSpPr>
          <p:cNvPr id="35" name="Shape 33"/>
          <p:cNvSpPr/>
          <p:nvPr/>
        </p:nvSpPr>
        <p:spPr>
          <a:xfrm>
            <a:off x="5775808" y="3520440"/>
            <a:ext cx="640080" cy="640080"/>
          </a:xfrm>
          <a:prstGeom prst="ellipse">
            <a:avLst/>
          </a:prstGeom>
          <a:solidFill>
            <a:schemeClr val="accent1"/>
          </a:solidFill>
          <a:ln/>
        </p:spPr>
      </p:sp>
      <p:pic>
        <p:nvPicPr>
          <p:cNvPr id="36" name="Icon PiArrowRight 0A1628"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5929427" y="3674059"/>
            <a:ext cx="332842" cy="332842"/>
          </a:xfrm>
          <a:prstGeom prst="rect">
            <a:avLst/>
          </a:prstGeom>
        </p:spPr>
      </p:pic>
      <p:sp>
        <p:nvSpPr>
          <p:cNvPr id="37" name="Text 34"/>
          <p:cNvSpPr txBox="1"/>
          <p:nvPr/>
        </p:nvSpPr>
        <p:spPr>
          <a:xfrm>
            <a:off x="548640" y="6263640"/>
            <a:ext cx="45720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Northwind Logistics, 6 months after go-live</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12 · CASE STUDY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Measured impact across 40 customer deployments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Median change, 12 months after go-live, versus the customer’s own baseline.</a:t>
            </a:r>
            <a:endParaRPr lang="en-US" sz="1150" dirty="0"/>
          </a:p>
        </p:txBody>
      </p:sp>
      <p:sp>
        <p:nvSpPr>
          <p:cNvPr id="6" name="Shape 4"/>
          <p:cNvSpPr/>
          <p:nvPr/>
        </p:nvSpPr>
        <p:spPr>
          <a:xfrm>
            <a:off x="548640" y="1874520"/>
            <a:ext cx="6376492" cy="4206240"/>
          </a:xfrm>
          <a:prstGeom prst="roundRect">
            <a:avLst>
              <a:gd name="adj" fmla="val 2174"/>
            </a:avLst>
          </a:prstGeom>
          <a:solidFill>
            <a:schemeClr val="bg1"/>
          </a:solidFill>
          <a:ln/>
        </p:spPr>
      </p:sp>
      <p:sp>
        <p:nvSpPr>
          <p:cNvPr id="7" name="Shape 5"/>
          <p:cNvSpPr/>
          <p:nvPr/>
        </p:nvSpPr>
        <p:spPr>
          <a:xfrm>
            <a:off x="868680" y="2103120"/>
            <a:ext cx="274320" cy="109728"/>
          </a:xfrm>
          <a:prstGeom prst="roundRect">
            <a:avLst>
              <a:gd name="adj" fmla="val 25000"/>
            </a:avLst>
          </a:prstGeom>
          <a:solidFill>
            <a:schemeClr val="accent4"/>
          </a:solidFill>
          <a:ln/>
        </p:spPr>
      </p:sp>
      <p:sp>
        <p:nvSpPr>
          <p:cNvPr id="8" name="Text 6"/>
          <p:cNvSpPr txBox="1"/>
          <p:nvPr/>
        </p:nvSpPr>
        <p:spPr>
          <a:xfrm>
            <a:off x="1234440" y="2048256"/>
            <a:ext cx="9144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Before</a:t>
            </a:r>
            <a:endParaRPr lang="en-US" sz="950" dirty="0"/>
          </a:p>
        </p:txBody>
      </p:sp>
      <p:sp>
        <p:nvSpPr>
          <p:cNvPr id="9" name="Shape 7"/>
          <p:cNvSpPr/>
          <p:nvPr/>
        </p:nvSpPr>
        <p:spPr>
          <a:xfrm>
            <a:off x="2057400" y="2103120"/>
            <a:ext cx="274320" cy="109728"/>
          </a:xfrm>
          <a:prstGeom prst="roundRect">
            <a:avLst>
              <a:gd name="adj" fmla="val 25000"/>
            </a:avLst>
          </a:prstGeom>
          <a:solidFill>
            <a:schemeClr val="tx1"/>
          </a:solidFill>
          <a:ln/>
        </p:spPr>
      </p:sp>
      <p:sp>
        <p:nvSpPr>
          <p:cNvPr id="10" name="Text 8"/>
          <p:cNvSpPr txBox="1"/>
          <p:nvPr/>
        </p:nvSpPr>
        <p:spPr>
          <a:xfrm>
            <a:off x="2423160" y="2048256"/>
            <a:ext cx="9144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After</a:t>
            </a:r>
            <a:endParaRPr lang="en-US" sz="950" dirty="0"/>
          </a:p>
        </p:txBody>
      </p:sp>
      <p:sp>
        <p:nvSpPr>
          <p:cNvPr id="11" name="Text 9"/>
          <p:cNvSpPr txBox="1"/>
          <p:nvPr/>
        </p:nvSpPr>
        <p:spPr>
          <a:xfrm>
            <a:off x="868680" y="2468880"/>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Win rate</a:t>
            </a:r>
            <a:endParaRPr lang="en-US" sz="1100" dirty="0"/>
          </a:p>
        </p:txBody>
      </p:sp>
      <p:sp>
        <p:nvSpPr>
          <p:cNvPr id="12" name="Shape 10"/>
          <p:cNvSpPr/>
          <p:nvPr/>
        </p:nvSpPr>
        <p:spPr>
          <a:xfrm>
            <a:off x="5690692" y="2651760"/>
            <a:ext cx="914400" cy="274320"/>
          </a:xfrm>
          <a:prstGeom prst="roundRect">
            <a:avLst>
              <a:gd name="adj" fmla="val 50000"/>
            </a:avLst>
          </a:prstGeom>
          <a:solidFill>
            <a:schemeClr val="accent1"/>
          </a:solidFill>
          <a:ln/>
        </p:spPr>
      </p:sp>
      <p:sp>
        <p:nvSpPr>
          <p:cNvPr id="13" name="Text 11"/>
          <p:cNvSpPr txBox="1"/>
          <p:nvPr/>
        </p:nvSpPr>
        <p:spPr>
          <a:xfrm>
            <a:off x="5690692" y="2651760"/>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+31%</a:t>
            </a:r>
            <a:endParaRPr lang="en-US" sz="900" dirty="0"/>
          </a:p>
        </p:txBody>
      </p:sp>
      <p:sp>
        <p:nvSpPr>
          <p:cNvPr id="14" name="Shape 12"/>
          <p:cNvSpPr/>
          <p:nvPr/>
        </p:nvSpPr>
        <p:spPr>
          <a:xfrm>
            <a:off x="868680" y="2770632"/>
            <a:ext cx="2819016" cy="164592"/>
          </a:xfrm>
          <a:prstGeom prst="roundRect">
            <a:avLst>
              <a:gd name="adj" fmla="val 16667"/>
            </a:avLst>
          </a:prstGeom>
          <a:solidFill>
            <a:schemeClr val="accent4"/>
          </a:solidFill>
          <a:ln/>
        </p:spPr>
      </p:sp>
      <p:sp>
        <p:nvSpPr>
          <p:cNvPr id="15" name="Shape 13"/>
          <p:cNvSpPr/>
          <p:nvPr/>
        </p:nvSpPr>
        <p:spPr>
          <a:xfrm>
            <a:off x="868680" y="2971800"/>
            <a:ext cx="3715976" cy="164592"/>
          </a:xfrm>
          <a:prstGeom prst="roundRect">
            <a:avLst>
              <a:gd name="adj" fmla="val 16667"/>
            </a:avLst>
          </a:prstGeom>
          <a:solidFill>
            <a:schemeClr val="tx1"/>
          </a:solidFill>
          <a:ln/>
        </p:spPr>
      </p:sp>
      <p:sp>
        <p:nvSpPr>
          <p:cNvPr id="16" name="Text 14"/>
          <p:cNvSpPr txBox="1"/>
          <p:nvPr/>
        </p:nvSpPr>
        <p:spPr>
          <a:xfrm>
            <a:off x="868680" y="3355848"/>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Forecast accuracy</a:t>
            </a:r>
            <a:endParaRPr lang="en-US" sz="1100" dirty="0"/>
          </a:p>
        </p:txBody>
      </p:sp>
      <p:sp>
        <p:nvSpPr>
          <p:cNvPr id="17" name="Shape 15"/>
          <p:cNvSpPr/>
          <p:nvPr/>
        </p:nvSpPr>
        <p:spPr>
          <a:xfrm>
            <a:off x="5690692" y="3538728"/>
            <a:ext cx="914400" cy="274320"/>
          </a:xfrm>
          <a:prstGeom prst="roundRect">
            <a:avLst>
              <a:gd name="adj" fmla="val 50000"/>
            </a:avLst>
          </a:prstGeom>
          <a:solidFill>
            <a:schemeClr val="accent1"/>
          </a:solidFill>
          <a:ln/>
        </p:spPr>
      </p:sp>
      <p:sp>
        <p:nvSpPr>
          <p:cNvPr id="18" name="Text 16"/>
          <p:cNvSpPr txBox="1"/>
          <p:nvPr/>
        </p:nvSpPr>
        <p:spPr>
          <a:xfrm>
            <a:off x="5690692" y="3538728"/>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+18 pts</a:t>
            </a:r>
            <a:endParaRPr lang="en-US" sz="900" dirty="0"/>
          </a:p>
        </p:txBody>
      </p:sp>
      <p:sp>
        <p:nvSpPr>
          <p:cNvPr id="19" name="Shape 17"/>
          <p:cNvSpPr/>
          <p:nvPr/>
        </p:nvSpPr>
        <p:spPr>
          <a:xfrm>
            <a:off x="868680" y="3657600"/>
            <a:ext cx="3019230" cy="164592"/>
          </a:xfrm>
          <a:prstGeom prst="roundRect">
            <a:avLst>
              <a:gd name="adj" fmla="val 16667"/>
            </a:avLst>
          </a:prstGeom>
          <a:solidFill>
            <a:schemeClr val="accent4"/>
          </a:solidFill>
          <a:ln/>
        </p:spPr>
      </p:sp>
      <p:sp>
        <p:nvSpPr>
          <p:cNvPr id="20" name="Shape 18"/>
          <p:cNvSpPr/>
          <p:nvPr/>
        </p:nvSpPr>
        <p:spPr>
          <a:xfrm>
            <a:off x="868680" y="3858768"/>
            <a:ext cx="3715976" cy="164592"/>
          </a:xfrm>
          <a:prstGeom prst="roundRect">
            <a:avLst>
              <a:gd name="adj" fmla="val 16667"/>
            </a:avLst>
          </a:prstGeom>
          <a:solidFill>
            <a:schemeClr val="tx1"/>
          </a:solidFill>
          <a:ln/>
        </p:spPr>
      </p:sp>
      <p:sp>
        <p:nvSpPr>
          <p:cNvPr id="21" name="Text 19"/>
          <p:cNvSpPr txBox="1"/>
          <p:nvPr/>
        </p:nvSpPr>
        <p:spPr>
          <a:xfrm>
            <a:off x="868680" y="4242816"/>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Pipeline coverage</a:t>
            </a:r>
            <a:endParaRPr lang="en-US" sz="1100" dirty="0"/>
          </a:p>
        </p:txBody>
      </p:sp>
      <p:sp>
        <p:nvSpPr>
          <p:cNvPr id="22" name="Shape 20"/>
          <p:cNvSpPr/>
          <p:nvPr/>
        </p:nvSpPr>
        <p:spPr>
          <a:xfrm>
            <a:off x="5690692" y="4425696"/>
            <a:ext cx="914400" cy="274320"/>
          </a:xfrm>
          <a:prstGeom prst="roundRect">
            <a:avLst>
              <a:gd name="adj" fmla="val 50000"/>
            </a:avLst>
          </a:prstGeom>
          <a:solidFill>
            <a:schemeClr val="accent1"/>
          </a:solidFill>
          <a:ln/>
        </p:spPr>
      </p:sp>
      <p:sp>
        <p:nvSpPr>
          <p:cNvPr id="23" name="Text 21"/>
          <p:cNvSpPr txBox="1"/>
          <p:nvPr/>
        </p:nvSpPr>
        <p:spPr>
          <a:xfrm>
            <a:off x="5690692" y="4425696"/>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+38%</a:t>
            </a:r>
            <a:endParaRPr lang="en-US" sz="900" dirty="0"/>
          </a:p>
        </p:txBody>
      </p:sp>
      <p:sp>
        <p:nvSpPr>
          <p:cNvPr id="24" name="Shape 22"/>
          <p:cNvSpPr/>
          <p:nvPr/>
        </p:nvSpPr>
        <p:spPr>
          <a:xfrm>
            <a:off x="868680" y="4544568"/>
            <a:ext cx="2702528" cy="164592"/>
          </a:xfrm>
          <a:prstGeom prst="roundRect">
            <a:avLst>
              <a:gd name="adj" fmla="val 16667"/>
            </a:avLst>
          </a:prstGeom>
          <a:solidFill>
            <a:schemeClr val="accent4"/>
          </a:solidFill>
          <a:ln/>
        </p:spPr>
      </p:sp>
      <p:sp>
        <p:nvSpPr>
          <p:cNvPr id="25" name="Shape 23"/>
          <p:cNvSpPr/>
          <p:nvPr/>
        </p:nvSpPr>
        <p:spPr>
          <a:xfrm>
            <a:off x="868680" y="4745736"/>
            <a:ext cx="3715976" cy="164592"/>
          </a:xfrm>
          <a:prstGeom prst="roundRect">
            <a:avLst>
              <a:gd name="adj" fmla="val 16667"/>
            </a:avLst>
          </a:prstGeom>
          <a:solidFill>
            <a:schemeClr val="tx1"/>
          </a:solidFill>
          <a:ln/>
        </p:spPr>
      </p:sp>
      <p:sp>
        <p:nvSpPr>
          <p:cNvPr id="26" name="Text 24"/>
          <p:cNvSpPr txBox="1"/>
          <p:nvPr/>
        </p:nvSpPr>
        <p:spPr>
          <a:xfrm>
            <a:off x="868680" y="5129784"/>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Ramp time, new reps (weeks)</a:t>
            </a:r>
            <a:endParaRPr lang="en-US" sz="1100" dirty="0"/>
          </a:p>
        </p:txBody>
      </p:sp>
      <p:sp>
        <p:nvSpPr>
          <p:cNvPr id="27" name="Shape 25"/>
          <p:cNvSpPr/>
          <p:nvPr/>
        </p:nvSpPr>
        <p:spPr>
          <a:xfrm>
            <a:off x="5690692" y="5312664"/>
            <a:ext cx="914400" cy="274320"/>
          </a:xfrm>
          <a:prstGeom prst="roundRect">
            <a:avLst>
              <a:gd name="adj" fmla="val 50000"/>
            </a:avLst>
          </a:prstGeom>
          <a:solidFill>
            <a:schemeClr val="accent1"/>
          </a:solidFill>
          <a:ln/>
        </p:spPr>
      </p:sp>
      <p:sp>
        <p:nvSpPr>
          <p:cNvPr id="28" name="Text 26"/>
          <p:cNvSpPr txBox="1"/>
          <p:nvPr/>
        </p:nvSpPr>
        <p:spPr>
          <a:xfrm>
            <a:off x="5690692" y="5312664"/>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−38%</a:t>
            </a:r>
            <a:endParaRPr lang="en-US" sz="900" dirty="0"/>
          </a:p>
        </p:txBody>
      </p:sp>
      <p:sp>
        <p:nvSpPr>
          <p:cNvPr id="29" name="Shape 27"/>
          <p:cNvSpPr/>
          <p:nvPr/>
        </p:nvSpPr>
        <p:spPr>
          <a:xfrm>
            <a:off x="868680" y="5431536"/>
            <a:ext cx="3715976" cy="164592"/>
          </a:xfrm>
          <a:prstGeom prst="roundRect">
            <a:avLst>
              <a:gd name="adj" fmla="val 16667"/>
            </a:avLst>
          </a:prstGeom>
          <a:solidFill>
            <a:schemeClr val="accent4"/>
          </a:solidFill>
          <a:ln/>
        </p:spPr>
      </p:sp>
      <p:sp>
        <p:nvSpPr>
          <p:cNvPr id="30" name="Shape 28"/>
          <p:cNvSpPr/>
          <p:nvPr/>
        </p:nvSpPr>
        <p:spPr>
          <a:xfrm>
            <a:off x="868680" y="5632704"/>
            <a:ext cx="2322485" cy="164592"/>
          </a:xfrm>
          <a:prstGeom prst="roundRect">
            <a:avLst>
              <a:gd name="adj" fmla="val 16667"/>
            </a:avLst>
          </a:prstGeom>
          <a:solidFill>
            <a:schemeClr val="tx1"/>
          </a:solidFill>
          <a:ln/>
        </p:spPr>
      </p:sp>
      <p:sp>
        <p:nvSpPr>
          <p:cNvPr id="31" name="Shape 29"/>
          <p:cNvSpPr/>
          <p:nvPr/>
        </p:nvSpPr>
        <p:spPr>
          <a:xfrm>
            <a:off x="7428052" y="1874520"/>
            <a:ext cx="4215003" cy="4160520"/>
          </a:xfrm>
          <a:prstGeom prst="roundRect">
            <a:avLst>
              <a:gd name="adj" fmla="val 2198"/>
            </a:avLst>
          </a:prstGeom>
          <a:solidFill>
            <a:schemeClr val="tx1"/>
          </a:solidFill>
          <a:ln/>
        </p:spPr>
      </p:sp>
      <p:pic>
        <p:nvPicPr>
          <p:cNvPr id="32" name="Icon PiQuotes C6F432"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7793812" y="2194560"/>
            <a:ext cx="548640" cy="548640"/>
          </a:xfrm>
          <a:prstGeom prst="rect">
            <a:avLst/>
          </a:prstGeom>
        </p:spPr>
      </p:pic>
      <p:sp>
        <p:nvSpPr>
          <p:cNvPr id="33" name="Text 30"/>
          <p:cNvSpPr txBox="1"/>
          <p:nvPr/>
        </p:nvSpPr>
        <p:spPr>
          <a:xfrm>
            <a:off x="7793812" y="2926080"/>
            <a:ext cx="3483483" cy="1828800"/>
          </a:xfrm>
          <a:prstGeom prst="rect">
            <a:avLst/>
          </a:prstGeom>
          <a:noFill/>
          <a:ln/>
        </p:spPr>
        <p:txBody>
          <a:bodyPr wrap="square" lIns="0" tIns="0" rIns="0" bIns="0" rtlCol="0" anchor="t"/>
          <a:lstStyle/>
          <a:p>
            <a:pPr algn="l" indent="0" marL="0">
              <a:lnSpc>
                <a:spcPct val="120000"/>
              </a:lnSpc>
              <a:buNone/>
            </a:pPr>
            <a:r>
              <a:rPr lang="en-US" sz="1900" b="1" dirty="0">
                <a:solidFill>
                  <a:schemeClr val="bg1"/>
                </a:solidFill>
                <a:latin typeface="Manrope" pitchFamily="34" charset="0"/>
                <a:ea typeface="Manrope" pitchFamily="34" charset="-122"/>
                <a:cs typeface="Manrope" pitchFamily="34" charset="-120"/>
              </a:rPr>
              <a:t>For the first time, sales, finance and the board look at the same number — and believe it.</a:t>
            </a:r>
            <a:endParaRPr lang="en-US" sz="1900" dirty="0"/>
          </a:p>
        </p:txBody>
      </p:sp>
      <p:sp>
        <p:nvSpPr>
          <p:cNvPr id="34" name="Shape 31"/>
          <p:cNvSpPr/>
          <p:nvPr/>
        </p:nvSpPr>
        <p:spPr>
          <a:xfrm>
            <a:off x="7793812" y="5074920"/>
            <a:ext cx="548640" cy="0"/>
          </a:xfrm>
          <a:prstGeom prst="line">
            <a:avLst/>
          </a:prstGeom>
          <a:noFill/>
          <a:ln w="25400">
            <a:solidFill>
              <a:schemeClr val="accent1"/>
            </a:solidFill>
            <a:prstDash val="solid"/>
          </a:ln>
        </p:spPr>
      </p:sp>
      <p:sp>
        <p:nvSpPr>
          <p:cNvPr id="35" name="Text 32"/>
          <p:cNvSpPr txBox="1"/>
          <p:nvPr/>
        </p:nvSpPr>
        <p:spPr>
          <a:xfrm>
            <a:off x="7793812" y="5257800"/>
            <a:ext cx="3483483" cy="256032"/>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Chief Revenue Officer</a:t>
            </a:r>
            <a:endParaRPr lang="en-US" sz="1100" dirty="0"/>
          </a:p>
        </p:txBody>
      </p:sp>
      <p:sp>
        <p:nvSpPr>
          <p:cNvPr id="36" name="Text 33"/>
          <p:cNvSpPr txBox="1"/>
          <p:nvPr/>
        </p:nvSpPr>
        <p:spPr>
          <a:xfrm>
            <a:off x="7793812" y="5513832"/>
            <a:ext cx="3483483"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Northwind Logistics</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COMPARISON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Build in-house or buy a platform?</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Recommendation: buy. Building costs 3.2× more over three years and delays value by 14 months.</a:t>
            </a:r>
            <a:endParaRPr lang="en-US" sz="1150" dirty="0"/>
          </a:p>
        </p:txBody>
      </p:sp>
      <p:sp>
        <p:nvSpPr>
          <p:cNvPr id="6" name="Shape 4"/>
          <p:cNvSpPr/>
          <p:nvPr/>
        </p:nvSpPr>
        <p:spPr>
          <a:xfrm>
            <a:off x="548640" y="1874520"/>
            <a:ext cx="5090008" cy="4160520"/>
          </a:xfrm>
          <a:prstGeom prst="roundRect">
            <a:avLst>
              <a:gd name="adj" fmla="val 2198"/>
            </a:avLst>
          </a:prstGeom>
          <a:solidFill>
            <a:schemeClr val="bg2"/>
          </a:solidFill>
          <a:ln/>
        </p:spPr>
      </p:sp>
      <p:sp>
        <p:nvSpPr>
          <p:cNvPr id="7" name="Text 5"/>
          <p:cNvSpPr txBox="1"/>
          <p:nvPr/>
        </p:nvSpPr>
        <p:spPr>
          <a:xfrm>
            <a:off x="868680" y="2148840"/>
            <a:ext cx="18288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OPTION A</a:t>
            </a:r>
            <a:endParaRPr lang="en-US" sz="950" dirty="0"/>
          </a:p>
        </p:txBody>
      </p:sp>
      <p:sp>
        <p:nvSpPr>
          <p:cNvPr id="8" name="Text 6"/>
          <p:cNvSpPr txBox="1"/>
          <p:nvPr/>
        </p:nvSpPr>
        <p:spPr>
          <a:xfrm>
            <a:off x="868680" y="2423160"/>
            <a:ext cx="4449928" cy="457200"/>
          </a:xfrm>
          <a:prstGeom prst="rect">
            <a:avLst/>
          </a:prstGeom>
          <a:noFill/>
          <a:ln/>
        </p:spPr>
        <p:txBody>
          <a:bodyPr wrap="square" lIns="0" tIns="0" rIns="0" bIns="0" rtlCol="0" anchor="t"/>
          <a:lstStyle/>
          <a:p>
            <a:pPr algn="l" indent="0" marL="0">
              <a:buNone/>
            </a:pPr>
            <a:r>
              <a:rPr lang="en-US" sz="2200" b="1" dirty="0">
                <a:solidFill>
                  <a:schemeClr val="tx1"/>
                </a:solidFill>
                <a:latin typeface="Manrope" pitchFamily="34" charset="0"/>
                <a:ea typeface="Manrope" pitchFamily="34" charset="-122"/>
                <a:cs typeface="Manrope" pitchFamily="34" charset="-120"/>
              </a:rPr>
              <a:t>Build in-house</a:t>
            </a:r>
            <a:endParaRPr lang="en-US" sz="2200" dirty="0"/>
          </a:p>
        </p:txBody>
      </p:sp>
      <p:sp>
        <p:nvSpPr>
          <p:cNvPr id="9" name="Text 7"/>
          <p:cNvSpPr txBox="1"/>
          <p:nvPr/>
        </p:nvSpPr>
        <p:spPr>
          <a:xfrm>
            <a:off x="868680" y="3108960"/>
            <a:ext cx="1828800" cy="228600"/>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Advantages</a:t>
            </a:r>
            <a:endParaRPr lang="en-US" sz="1000" dirty="0"/>
          </a:p>
        </p:txBody>
      </p:sp>
      <p:pic>
        <p:nvPicPr>
          <p:cNvPr id="10" name="Icon PiCheckCircle 0A1628" descr="preencoded.png">    </p:cNvPr>
          <p:cNvPicPr>
            <a:picLocks noChangeAspect="1"/>
          </p:cNvPicPr>
          <p:nvPr/>
        </p:nvPicPr>
        <p:blipFill>
          <a:blip r:embed="rId1">
            <a:extLst>
              <a:ext uri="{96DAC541-7B7A-43D3-8B79-37D633B846F1}">
                <asvg:svgBlip xmlns:asvg="http://schemas.microsoft.com/office/drawing/2016/SVG/main" r:embed="rId12"/>
              </a:ext>
            </a:extLst>
          </a:blip>
          <a:stretch>
            <a:fillRect/>
          </a:stretch>
        </p:blipFill>
        <p:spPr>
          <a:xfrm>
            <a:off x="868680" y="3447288"/>
            <a:ext cx="219456" cy="219456"/>
          </a:xfrm>
          <a:prstGeom prst="rect">
            <a:avLst/>
          </a:prstGeom>
        </p:spPr>
      </p:pic>
      <p:sp>
        <p:nvSpPr>
          <p:cNvPr id="11" name="Text 8"/>
          <p:cNvSpPr txBox="1"/>
          <p:nvPr/>
        </p:nvSpPr>
        <p:spPr>
          <a:xfrm>
            <a:off x="1207008" y="342900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Full control of roadmap</a:t>
            </a:r>
            <a:endParaRPr lang="en-US" sz="1150" dirty="0"/>
          </a:p>
        </p:txBody>
      </p:sp>
      <p:pic>
        <p:nvPicPr>
          <p:cNvPr id="12" name="Icon PiCheckCircle 0A1628" descr="preencoded.png">    </p:cNvPr>
          <p:cNvPicPr>
            <a:picLocks noChangeAspect="1"/>
          </p:cNvPicPr>
          <p:nvPr/>
        </p:nvPicPr>
        <p:blipFill>
          <a:blip r:embed="rId2">
            <a:extLst>
              <a:ext uri="{96DAC541-7B7A-43D3-8B79-37D633B846F1}">
                <asvg:svgBlip xmlns:asvg="http://schemas.microsoft.com/office/drawing/2016/SVG/main" r:embed="rId13"/>
              </a:ext>
            </a:extLst>
          </a:blip>
          <a:stretch>
            <a:fillRect/>
          </a:stretch>
        </p:blipFill>
        <p:spPr>
          <a:xfrm>
            <a:off x="868680" y="3813048"/>
            <a:ext cx="219456" cy="219456"/>
          </a:xfrm>
          <a:prstGeom prst="rect">
            <a:avLst/>
          </a:prstGeom>
        </p:spPr>
      </p:pic>
      <p:sp>
        <p:nvSpPr>
          <p:cNvPr id="13" name="Text 9"/>
          <p:cNvSpPr txBox="1"/>
          <p:nvPr/>
        </p:nvSpPr>
        <p:spPr>
          <a:xfrm>
            <a:off x="1207008" y="379476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Uses existing data team</a:t>
            </a:r>
            <a:endParaRPr lang="en-US" sz="1150" dirty="0"/>
          </a:p>
        </p:txBody>
      </p:sp>
      <p:sp>
        <p:nvSpPr>
          <p:cNvPr id="14" name="Text 10"/>
          <p:cNvSpPr txBox="1"/>
          <p:nvPr/>
        </p:nvSpPr>
        <p:spPr>
          <a:xfrm>
            <a:off x="868680" y="4617720"/>
            <a:ext cx="1828800"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Medium" pitchFamily="34" charset="0"/>
                <a:ea typeface="Inter Medium" pitchFamily="34" charset="-122"/>
                <a:cs typeface="Inter Medium" pitchFamily="34" charset="-120"/>
              </a:rPr>
              <a:t>Trade-offs</a:t>
            </a:r>
            <a:endParaRPr lang="en-US" sz="1000" dirty="0"/>
          </a:p>
        </p:txBody>
      </p:sp>
      <p:pic>
        <p:nvPicPr>
          <p:cNvPr id="15" name="Icon PiMinus 6B7688" descr="preencoded.png">    </p:cNvPr>
          <p:cNvPicPr>
            <a:picLocks noChangeAspect="1"/>
          </p:cNvPicPr>
          <p:nvPr/>
        </p:nvPicPr>
        <p:blipFill>
          <a:blip r:embed="rId3">
            <a:extLst>
              <a:ext uri="{96DAC541-7B7A-43D3-8B79-37D633B846F1}">
                <asvg:svgBlip xmlns:asvg="http://schemas.microsoft.com/office/drawing/2016/SVG/main" r:embed="rId14"/>
              </a:ext>
            </a:extLst>
          </a:blip>
          <a:stretch>
            <a:fillRect/>
          </a:stretch>
        </p:blipFill>
        <p:spPr>
          <a:xfrm>
            <a:off x="868680" y="4956048"/>
            <a:ext cx="219456" cy="219456"/>
          </a:xfrm>
          <a:prstGeom prst="rect">
            <a:avLst/>
          </a:prstGeom>
        </p:spPr>
      </p:pic>
      <p:sp>
        <p:nvSpPr>
          <p:cNvPr id="16" name="Text 11"/>
          <p:cNvSpPr txBox="1"/>
          <p:nvPr/>
        </p:nvSpPr>
        <p:spPr>
          <a:xfrm>
            <a:off x="1207008" y="493776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$4.1M over 3 years</a:t>
            </a:r>
            <a:endParaRPr lang="en-US" sz="1150" dirty="0"/>
          </a:p>
        </p:txBody>
      </p:sp>
      <p:pic>
        <p:nvPicPr>
          <p:cNvPr id="17" name="Icon PiMinus 6B7688" descr="preencoded.png">    </p:cNvPr>
          <p:cNvPicPr>
            <a:picLocks noChangeAspect="1"/>
          </p:cNvPicPr>
          <p:nvPr/>
        </p:nvPicPr>
        <p:blipFill>
          <a:blip r:embed="rId4">
            <a:extLst>
              <a:ext uri="{96DAC541-7B7A-43D3-8B79-37D633B846F1}">
                <asvg:svgBlip xmlns:asvg="http://schemas.microsoft.com/office/drawing/2016/SVG/main" r:embed="rId15"/>
              </a:ext>
            </a:extLst>
          </a:blip>
          <a:stretch>
            <a:fillRect/>
          </a:stretch>
        </p:blipFill>
        <p:spPr>
          <a:xfrm>
            <a:off x="868680" y="5321808"/>
            <a:ext cx="219456" cy="219456"/>
          </a:xfrm>
          <a:prstGeom prst="rect">
            <a:avLst/>
          </a:prstGeom>
        </p:spPr>
      </p:pic>
      <p:sp>
        <p:nvSpPr>
          <p:cNvPr id="18" name="Text 12"/>
          <p:cNvSpPr txBox="1"/>
          <p:nvPr/>
        </p:nvSpPr>
        <p:spPr>
          <a:xfrm>
            <a:off x="1207008" y="530352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14 months to first forecast</a:t>
            </a:r>
            <a:endParaRPr lang="en-US" sz="1150" dirty="0"/>
          </a:p>
        </p:txBody>
      </p:sp>
      <p:pic>
        <p:nvPicPr>
          <p:cNvPr id="19" name="Icon PiMinus 6B7688" descr="preencoded.png">    </p:cNvPr>
          <p:cNvPicPr>
            <a:picLocks noChangeAspect="1"/>
          </p:cNvPicPr>
          <p:nvPr/>
        </p:nvPicPr>
        <p:blipFill>
          <a:blip r:embed="rId5">
            <a:extLst>
              <a:ext uri="{96DAC541-7B7A-43D3-8B79-37D633B846F1}">
                <asvg:svgBlip xmlns:asvg="http://schemas.microsoft.com/office/drawing/2016/SVG/main" r:embed="rId16"/>
              </a:ext>
            </a:extLst>
          </a:blip>
          <a:stretch>
            <a:fillRect/>
          </a:stretch>
        </p:blipFill>
        <p:spPr>
          <a:xfrm>
            <a:off x="868680" y="5687568"/>
            <a:ext cx="219456" cy="219456"/>
          </a:xfrm>
          <a:prstGeom prst="rect">
            <a:avLst/>
          </a:prstGeom>
        </p:spPr>
      </p:pic>
      <p:sp>
        <p:nvSpPr>
          <p:cNvPr id="20" name="Text 13"/>
          <p:cNvSpPr txBox="1"/>
          <p:nvPr/>
        </p:nvSpPr>
        <p:spPr>
          <a:xfrm>
            <a:off x="1207008" y="566928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Ongoing maintenance burden</a:t>
            </a:r>
            <a:endParaRPr lang="en-US" sz="1150" dirty="0"/>
          </a:p>
        </p:txBody>
      </p:sp>
      <p:sp>
        <p:nvSpPr>
          <p:cNvPr id="21" name="Shape 14"/>
          <p:cNvSpPr/>
          <p:nvPr/>
        </p:nvSpPr>
        <p:spPr>
          <a:xfrm>
            <a:off x="6553048" y="1874520"/>
            <a:ext cx="5090008" cy="4160520"/>
          </a:xfrm>
          <a:prstGeom prst="roundRect">
            <a:avLst>
              <a:gd name="adj" fmla="val 2198"/>
            </a:avLst>
          </a:prstGeom>
          <a:solidFill>
            <a:schemeClr val="tx1"/>
          </a:solidFill>
          <a:ln/>
        </p:spPr>
      </p:sp>
      <p:sp>
        <p:nvSpPr>
          <p:cNvPr id="22" name="Text 15"/>
          <p:cNvSpPr txBox="1"/>
          <p:nvPr/>
        </p:nvSpPr>
        <p:spPr>
          <a:xfrm>
            <a:off x="6873088" y="2148840"/>
            <a:ext cx="18288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OPTION B</a:t>
            </a:r>
            <a:endParaRPr lang="en-US" sz="950" dirty="0"/>
          </a:p>
        </p:txBody>
      </p:sp>
      <p:sp>
        <p:nvSpPr>
          <p:cNvPr id="23" name="Shape 16"/>
          <p:cNvSpPr/>
          <p:nvPr/>
        </p:nvSpPr>
        <p:spPr>
          <a:xfrm>
            <a:off x="10042855" y="2130552"/>
            <a:ext cx="1280160" cy="274320"/>
          </a:xfrm>
          <a:prstGeom prst="roundRect">
            <a:avLst>
              <a:gd name="adj" fmla="val 50000"/>
            </a:avLst>
          </a:prstGeom>
          <a:solidFill>
            <a:schemeClr val="accent1"/>
          </a:solidFill>
          <a:ln/>
        </p:spPr>
      </p:sp>
      <p:sp>
        <p:nvSpPr>
          <p:cNvPr id="24" name="Text 17"/>
          <p:cNvSpPr txBox="1"/>
          <p:nvPr/>
        </p:nvSpPr>
        <p:spPr>
          <a:xfrm>
            <a:off x="10042855" y="2130552"/>
            <a:ext cx="128016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Recommended</a:t>
            </a:r>
            <a:endParaRPr lang="en-US" sz="900" dirty="0"/>
          </a:p>
        </p:txBody>
      </p:sp>
      <p:sp>
        <p:nvSpPr>
          <p:cNvPr id="25" name="Text 18"/>
          <p:cNvSpPr txBox="1"/>
          <p:nvPr/>
        </p:nvSpPr>
        <p:spPr>
          <a:xfrm>
            <a:off x="6873088" y="2423160"/>
            <a:ext cx="4449928" cy="457200"/>
          </a:xfrm>
          <a:prstGeom prst="rect">
            <a:avLst/>
          </a:prstGeom>
          <a:noFill/>
          <a:ln/>
        </p:spPr>
        <p:txBody>
          <a:bodyPr wrap="square" lIns="0" tIns="0" rIns="0" bIns="0" rtlCol="0" anchor="t"/>
          <a:lstStyle/>
          <a:p>
            <a:pPr algn="l" indent="0" marL="0">
              <a:buNone/>
            </a:pPr>
            <a:r>
              <a:rPr lang="en-US" sz="2200" b="1" dirty="0">
                <a:solidFill>
                  <a:schemeClr val="bg1"/>
                </a:solidFill>
                <a:latin typeface="Manrope" pitchFamily="34" charset="0"/>
                <a:ea typeface="Manrope" pitchFamily="34" charset="-122"/>
                <a:cs typeface="Manrope" pitchFamily="34" charset="-120"/>
              </a:rPr>
              <a:t>Buy Corvanta</a:t>
            </a:r>
            <a:endParaRPr lang="en-US" sz="2200" dirty="0"/>
          </a:p>
        </p:txBody>
      </p:sp>
      <p:sp>
        <p:nvSpPr>
          <p:cNvPr id="26" name="Text 19"/>
          <p:cNvSpPr txBox="1"/>
          <p:nvPr/>
        </p:nvSpPr>
        <p:spPr>
          <a:xfrm>
            <a:off x="6873088" y="3108960"/>
            <a:ext cx="1828800" cy="228600"/>
          </a:xfrm>
          <a:prstGeom prst="rect">
            <a:avLst/>
          </a:prstGeom>
          <a:noFill/>
          <a:ln/>
        </p:spPr>
        <p:txBody>
          <a:bodyPr wrap="square" lIns="0" tIns="0" rIns="0" bIns="0" rtlCol="0" anchor="t"/>
          <a:lstStyle/>
          <a:p>
            <a:pPr algn="l" indent="0" marL="0">
              <a:buNone/>
            </a:pPr>
            <a:r>
              <a:rPr lang="en-US" sz="1000" dirty="0">
                <a:solidFill>
                  <a:schemeClr val="accent1"/>
                </a:solidFill>
                <a:latin typeface="Inter Medium" pitchFamily="34" charset="0"/>
                <a:ea typeface="Inter Medium" pitchFamily="34" charset="-122"/>
                <a:cs typeface="Inter Medium" pitchFamily="34" charset="-120"/>
              </a:rPr>
              <a:t>Advantages</a:t>
            </a:r>
            <a:endParaRPr lang="en-US" sz="1000" dirty="0"/>
          </a:p>
        </p:txBody>
      </p:sp>
      <p:pic>
        <p:nvPicPr>
          <p:cNvPr id="27" name="Icon PiCheckCircle C6F432" descr="preencoded.png">    </p:cNvPr>
          <p:cNvPicPr>
            <a:picLocks noChangeAspect="1"/>
          </p:cNvPicPr>
          <p:nvPr/>
        </p:nvPicPr>
        <p:blipFill>
          <a:blip r:embed="rId6">
            <a:extLst>
              <a:ext uri="{96DAC541-7B7A-43D3-8B79-37D633B846F1}">
                <asvg:svgBlip xmlns:asvg="http://schemas.microsoft.com/office/drawing/2016/SVG/main" r:embed="rId17"/>
              </a:ext>
            </a:extLst>
          </a:blip>
          <a:stretch>
            <a:fillRect/>
          </a:stretch>
        </p:blipFill>
        <p:spPr>
          <a:xfrm>
            <a:off x="6873088" y="3447288"/>
            <a:ext cx="219456" cy="219456"/>
          </a:xfrm>
          <a:prstGeom prst="rect">
            <a:avLst/>
          </a:prstGeom>
        </p:spPr>
      </p:pic>
      <p:sp>
        <p:nvSpPr>
          <p:cNvPr id="28" name="Text 20"/>
          <p:cNvSpPr txBox="1"/>
          <p:nvPr/>
        </p:nvSpPr>
        <p:spPr>
          <a:xfrm>
            <a:off x="7211416" y="3429000"/>
            <a:ext cx="4175608"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pitchFamily="34" charset="0"/>
                <a:ea typeface="Inter" pitchFamily="34" charset="-122"/>
                <a:cs typeface="Inter" pitchFamily="34" charset="-120"/>
              </a:rPr>
              <a:t>Live in 30 days</a:t>
            </a:r>
            <a:endParaRPr lang="en-US" sz="1150" dirty="0"/>
          </a:p>
        </p:txBody>
      </p:sp>
      <p:pic>
        <p:nvPicPr>
          <p:cNvPr id="29" name="Icon PiCheckCircle C6F432" descr="preencoded.png">    </p:cNvPr>
          <p:cNvPicPr>
            <a:picLocks noChangeAspect="1"/>
          </p:cNvPicPr>
          <p:nvPr/>
        </p:nvPicPr>
        <p:blipFill>
          <a:blip r:embed="rId7">
            <a:extLst>
              <a:ext uri="{96DAC541-7B7A-43D3-8B79-37D633B846F1}">
                <asvg:svgBlip xmlns:asvg="http://schemas.microsoft.com/office/drawing/2016/SVG/main" r:embed="rId18"/>
              </a:ext>
            </a:extLst>
          </a:blip>
          <a:stretch>
            <a:fillRect/>
          </a:stretch>
        </p:blipFill>
        <p:spPr>
          <a:xfrm>
            <a:off x="6873088" y="3813048"/>
            <a:ext cx="219456" cy="219456"/>
          </a:xfrm>
          <a:prstGeom prst="rect">
            <a:avLst/>
          </a:prstGeom>
        </p:spPr>
      </p:pic>
      <p:sp>
        <p:nvSpPr>
          <p:cNvPr id="30" name="Text 21"/>
          <p:cNvSpPr txBox="1"/>
          <p:nvPr/>
        </p:nvSpPr>
        <p:spPr>
          <a:xfrm>
            <a:off x="7211416" y="3794760"/>
            <a:ext cx="4175608"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pitchFamily="34" charset="0"/>
                <a:ea typeface="Inter" pitchFamily="34" charset="-122"/>
                <a:cs typeface="Inter" pitchFamily="34" charset="-120"/>
              </a:rPr>
              <a:t>Proven 96% accuracy</a:t>
            </a:r>
            <a:endParaRPr lang="en-US" sz="1150" dirty="0"/>
          </a:p>
        </p:txBody>
      </p:sp>
      <p:pic>
        <p:nvPicPr>
          <p:cNvPr id="31" name="Icon PiCheckCircle C6F432" descr="preencoded.png">    </p:cNvPr>
          <p:cNvPicPr>
            <a:picLocks noChangeAspect="1"/>
          </p:cNvPicPr>
          <p:nvPr/>
        </p:nvPicPr>
        <p:blipFill>
          <a:blip r:embed="rId8">
            <a:extLst>
              <a:ext uri="{96DAC541-7B7A-43D3-8B79-37D633B846F1}">
                <asvg:svgBlip xmlns:asvg="http://schemas.microsoft.com/office/drawing/2016/SVG/main" r:embed="rId19"/>
              </a:ext>
            </a:extLst>
          </a:blip>
          <a:stretch>
            <a:fillRect/>
          </a:stretch>
        </p:blipFill>
        <p:spPr>
          <a:xfrm>
            <a:off x="6873088" y="4178808"/>
            <a:ext cx="219456" cy="219456"/>
          </a:xfrm>
          <a:prstGeom prst="rect">
            <a:avLst/>
          </a:prstGeom>
        </p:spPr>
      </p:pic>
      <p:sp>
        <p:nvSpPr>
          <p:cNvPr id="32" name="Text 22"/>
          <p:cNvSpPr txBox="1"/>
          <p:nvPr/>
        </p:nvSpPr>
        <p:spPr>
          <a:xfrm>
            <a:off x="7211416" y="4160520"/>
            <a:ext cx="4175608"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pitchFamily="34" charset="0"/>
                <a:ea typeface="Inter" pitchFamily="34" charset="-122"/>
                <a:cs typeface="Inter" pitchFamily="34" charset="-120"/>
              </a:rPr>
              <a:t>$1.3M over 3 years</a:t>
            </a:r>
            <a:endParaRPr lang="en-US" sz="1150" dirty="0"/>
          </a:p>
        </p:txBody>
      </p:sp>
      <p:sp>
        <p:nvSpPr>
          <p:cNvPr id="33" name="Text 23"/>
          <p:cNvSpPr txBox="1"/>
          <p:nvPr/>
        </p:nvSpPr>
        <p:spPr>
          <a:xfrm>
            <a:off x="6873088" y="4617720"/>
            <a:ext cx="1828800"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Trade-offs</a:t>
            </a:r>
            <a:endParaRPr lang="en-US" sz="1000" dirty="0"/>
          </a:p>
        </p:txBody>
      </p:sp>
      <p:pic>
        <p:nvPicPr>
          <p:cNvPr id="34" name="Icon PiMinus D5DBE3" descr="preencoded.png">    </p:cNvPr>
          <p:cNvPicPr>
            <a:picLocks noChangeAspect="1"/>
          </p:cNvPicPr>
          <p:nvPr/>
        </p:nvPicPr>
        <p:blipFill>
          <a:blip r:embed="rId9">
            <a:extLst>
              <a:ext uri="{96DAC541-7B7A-43D3-8B79-37D633B846F1}">
                <asvg:svgBlip xmlns:asvg="http://schemas.microsoft.com/office/drawing/2016/SVG/main" r:embed="rId20"/>
              </a:ext>
            </a:extLst>
          </a:blip>
          <a:stretch>
            <a:fillRect/>
          </a:stretch>
        </p:blipFill>
        <p:spPr>
          <a:xfrm>
            <a:off x="6873088" y="4956048"/>
            <a:ext cx="219456" cy="219456"/>
          </a:xfrm>
          <a:prstGeom prst="rect">
            <a:avLst/>
          </a:prstGeom>
        </p:spPr>
      </p:pic>
      <p:sp>
        <p:nvSpPr>
          <p:cNvPr id="35" name="Text 24"/>
          <p:cNvSpPr txBox="1"/>
          <p:nvPr/>
        </p:nvSpPr>
        <p:spPr>
          <a:xfrm>
            <a:off x="7211416" y="4937760"/>
            <a:ext cx="4175608"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Less roadmap control</a:t>
            </a:r>
            <a:endParaRPr lang="en-US" sz="1150" dirty="0"/>
          </a:p>
        </p:txBody>
      </p:sp>
      <p:sp>
        <p:nvSpPr>
          <p:cNvPr id="36" name="Shape 25"/>
          <p:cNvSpPr/>
          <p:nvPr/>
        </p:nvSpPr>
        <p:spPr>
          <a:xfrm>
            <a:off x="5711800" y="3570732"/>
            <a:ext cx="768096" cy="768096"/>
          </a:xfrm>
          <a:prstGeom prst="ellipse">
            <a:avLst/>
          </a:prstGeom>
          <a:solidFill>
            <a:schemeClr val="bg1"/>
          </a:solidFill>
          <a:ln w="12700">
            <a:solidFill>
              <a:schemeClr val="accent4"/>
            </a:solidFill>
            <a:prstDash val="solid"/>
          </a:ln>
        </p:spPr>
      </p:sp>
      <p:sp>
        <p:nvSpPr>
          <p:cNvPr id="37" name="Text 26"/>
          <p:cNvSpPr txBox="1"/>
          <p:nvPr/>
        </p:nvSpPr>
        <p:spPr>
          <a:xfrm>
            <a:off x="5711800" y="3570732"/>
            <a:ext cx="768096" cy="768096"/>
          </a:xfrm>
          <a:prstGeom prst="rect">
            <a:avLst/>
          </a:prstGeom>
          <a:noFill/>
          <a:ln/>
        </p:spPr>
        <p:txBody>
          <a:bodyPr wrap="square" lIns="0" tIns="0" rIns="0" bIns="0" rtlCol="0" anchor="ctr"/>
          <a:lstStyle/>
          <a:p>
            <a:pPr algn="ctr" indent="0" marL="0">
              <a:buNone/>
            </a:pPr>
            <a:r>
              <a:rPr lang="en-US" sz="1600" dirty="0">
                <a:solidFill>
                  <a:schemeClr val="tx1"/>
                </a:solidFill>
                <a:latin typeface="Manrope ExtraBold" pitchFamily="34" charset="0"/>
                <a:ea typeface="Manrope ExtraBold" pitchFamily="34" charset="-122"/>
                <a:cs typeface="Manrope ExtraBold" pitchFamily="34" charset="-120"/>
              </a:rPr>
              <a:t>VS</a:t>
            </a:r>
            <a:endParaRPr lang="en-US" sz="16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COMPARISON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ways to enter the French market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Scored 1–5 on speed, cost, control and risk (5 = best).</a:t>
            </a:r>
            <a:endParaRPr lang="en-US" sz="1150" dirty="0"/>
          </a:p>
        </p:txBody>
      </p:sp>
      <p:sp>
        <p:nvSpPr>
          <p:cNvPr id="6" name="Shape 4"/>
          <p:cNvSpPr/>
          <p:nvPr/>
        </p:nvSpPr>
        <p:spPr>
          <a:xfrm>
            <a:off x="548640" y="1874520"/>
            <a:ext cx="3545738" cy="4160520"/>
          </a:xfrm>
          <a:prstGeom prst="roundRect">
            <a:avLst>
              <a:gd name="adj" fmla="val 2579"/>
            </a:avLst>
          </a:prstGeom>
          <a:solidFill>
            <a:schemeClr val="bg1"/>
          </a:solidFill>
          <a:ln/>
        </p:spPr>
      </p:sp>
      <p:sp>
        <p:nvSpPr>
          <p:cNvPr id="7" name="Shape 5"/>
          <p:cNvSpPr/>
          <p:nvPr/>
        </p:nvSpPr>
        <p:spPr>
          <a:xfrm>
            <a:off x="822960" y="2148840"/>
            <a:ext cx="502920" cy="502920"/>
          </a:xfrm>
          <a:prstGeom prst="ellipse">
            <a:avLst/>
          </a:prstGeom>
          <a:solidFill>
            <a:schemeClr val="bg2"/>
          </a:solidFill>
          <a:ln/>
        </p:spPr>
      </p:sp>
      <p:pic>
        <p:nvPicPr>
          <p:cNvPr id="8" name="Icon PiBuildings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943661" y="2269541"/>
            <a:ext cx="261518" cy="261518"/>
          </a:xfrm>
          <a:prstGeom prst="rect">
            <a:avLst/>
          </a:prstGeom>
        </p:spPr>
      </p:pic>
      <p:sp>
        <p:nvSpPr>
          <p:cNvPr id="9" name="Text 6"/>
          <p:cNvSpPr txBox="1"/>
          <p:nvPr/>
        </p:nvSpPr>
        <p:spPr>
          <a:xfrm>
            <a:off x="822960" y="2788920"/>
            <a:ext cx="2997098"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Direct entry</a:t>
            </a:r>
            <a:endParaRPr lang="en-US" sz="1700" dirty="0"/>
          </a:p>
        </p:txBody>
      </p:sp>
      <p:sp>
        <p:nvSpPr>
          <p:cNvPr id="10" name="Text 7"/>
          <p:cNvSpPr txBox="1"/>
          <p:nvPr/>
        </p:nvSpPr>
        <p:spPr>
          <a:xfrm>
            <a:off x="822960" y="3172968"/>
            <a:ext cx="299709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Open a Paris office with a local sales team.</a:t>
            </a:r>
            <a:endParaRPr lang="en-US" sz="1050" dirty="0"/>
          </a:p>
        </p:txBody>
      </p:sp>
      <p:sp>
        <p:nvSpPr>
          <p:cNvPr id="11" name="Text 8"/>
          <p:cNvSpPr txBox="1"/>
          <p:nvPr/>
        </p:nvSpPr>
        <p:spPr>
          <a:xfrm>
            <a:off x="822960" y="3840480"/>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Speed</a:t>
            </a:r>
            <a:endParaRPr lang="en-US" sz="1050" dirty="0"/>
          </a:p>
        </p:txBody>
      </p:sp>
      <p:sp>
        <p:nvSpPr>
          <p:cNvPr id="12" name="Shape 9"/>
          <p:cNvSpPr/>
          <p:nvPr/>
        </p:nvSpPr>
        <p:spPr>
          <a:xfrm>
            <a:off x="2594762" y="3895344"/>
            <a:ext cx="146304" cy="146304"/>
          </a:xfrm>
          <a:prstGeom prst="ellipse">
            <a:avLst/>
          </a:prstGeom>
          <a:solidFill>
            <a:schemeClr val="tx1"/>
          </a:solidFill>
          <a:ln/>
        </p:spPr>
      </p:sp>
      <p:sp>
        <p:nvSpPr>
          <p:cNvPr id="13" name="Shape 10"/>
          <p:cNvSpPr/>
          <p:nvPr/>
        </p:nvSpPr>
        <p:spPr>
          <a:xfrm>
            <a:off x="2850794" y="3895344"/>
            <a:ext cx="146304" cy="146304"/>
          </a:xfrm>
          <a:prstGeom prst="ellipse">
            <a:avLst/>
          </a:prstGeom>
          <a:solidFill>
            <a:schemeClr val="tx1"/>
          </a:solidFill>
          <a:ln/>
        </p:spPr>
      </p:sp>
      <p:sp>
        <p:nvSpPr>
          <p:cNvPr id="14" name="Shape 11"/>
          <p:cNvSpPr/>
          <p:nvPr/>
        </p:nvSpPr>
        <p:spPr>
          <a:xfrm>
            <a:off x="3106826" y="3895344"/>
            <a:ext cx="146304" cy="146304"/>
          </a:xfrm>
          <a:prstGeom prst="ellipse">
            <a:avLst/>
          </a:prstGeom>
          <a:solidFill>
            <a:schemeClr val="accent4"/>
          </a:solidFill>
          <a:ln/>
        </p:spPr>
      </p:sp>
      <p:sp>
        <p:nvSpPr>
          <p:cNvPr id="15" name="Shape 12"/>
          <p:cNvSpPr/>
          <p:nvPr/>
        </p:nvSpPr>
        <p:spPr>
          <a:xfrm>
            <a:off x="3362858" y="3895344"/>
            <a:ext cx="146304" cy="146304"/>
          </a:xfrm>
          <a:prstGeom prst="ellipse">
            <a:avLst/>
          </a:prstGeom>
          <a:solidFill>
            <a:schemeClr val="accent4"/>
          </a:solidFill>
          <a:ln/>
        </p:spPr>
      </p:sp>
      <p:sp>
        <p:nvSpPr>
          <p:cNvPr id="16" name="Shape 13"/>
          <p:cNvSpPr/>
          <p:nvPr/>
        </p:nvSpPr>
        <p:spPr>
          <a:xfrm>
            <a:off x="3618890" y="3895344"/>
            <a:ext cx="146304" cy="146304"/>
          </a:xfrm>
          <a:prstGeom prst="ellipse">
            <a:avLst/>
          </a:prstGeom>
          <a:solidFill>
            <a:schemeClr val="accent4"/>
          </a:solidFill>
          <a:ln/>
        </p:spPr>
      </p:sp>
      <p:sp>
        <p:nvSpPr>
          <p:cNvPr id="17" name="Text 14"/>
          <p:cNvSpPr txBox="1"/>
          <p:nvPr/>
        </p:nvSpPr>
        <p:spPr>
          <a:xfrm>
            <a:off x="822960" y="4187952"/>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Cost</a:t>
            </a:r>
            <a:endParaRPr lang="en-US" sz="1050" dirty="0"/>
          </a:p>
        </p:txBody>
      </p:sp>
      <p:sp>
        <p:nvSpPr>
          <p:cNvPr id="18" name="Shape 15"/>
          <p:cNvSpPr/>
          <p:nvPr/>
        </p:nvSpPr>
        <p:spPr>
          <a:xfrm>
            <a:off x="2594762" y="4242816"/>
            <a:ext cx="146304" cy="146304"/>
          </a:xfrm>
          <a:prstGeom prst="ellipse">
            <a:avLst/>
          </a:prstGeom>
          <a:solidFill>
            <a:schemeClr val="tx1"/>
          </a:solidFill>
          <a:ln/>
        </p:spPr>
      </p:sp>
      <p:sp>
        <p:nvSpPr>
          <p:cNvPr id="19" name="Shape 16"/>
          <p:cNvSpPr/>
          <p:nvPr/>
        </p:nvSpPr>
        <p:spPr>
          <a:xfrm>
            <a:off x="2850794" y="4242816"/>
            <a:ext cx="146304" cy="146304"/>
          </a:xfrm>
          <a:prstGeom prst="ellipse">
            <a:avLst/>
          </a:prstGeom>
          <a:solidFill>
            <a:schemeClr val="tx1"/>
          </a:solidFill>
          <a:ln/>
        </p:spPr>
      </p:sp>
      <p:sp>
        <p:nvSpPr>
          <p:cNvPr id="20" name="Shape 17"/>
          <p:cNvSpPr/>
          <p:nvPr/>
        </p:nvSpPr>
        <p:spPr>
          <a:xfrm>
            <a:off x="3106826" y="4242816"/>
            <a:ext cx="146304" cy="146304"/>
          </a:xfrm>
          <a:prstGeom prst="ellipse">
            <a:avLst/>
          </a:prstGeom>
          <a:solidFill>
            <a:schemeClr val="accent4"/>
          </a:solidFill>
          <a:ln/>
        </p:spPr>
      </p:sp>
      <p:sp>
        <p:nvSpPr>
          <p:cNvPr id="21" name="Shape 18"/>
          <p:cNvSpPr/>
          <p:nvPr/>
        </p:nvSpPr>
        <p:spPr>
          <a:xfrm>
            <a:off x="3362858" y="4242816"/>
            <a:ext cx="146304" cy="146304"/>
          </a:xfrm>
          <a:prstGeom prst="ellipse">
            <a:avLst/>
          </a:prstGeom>
          <a:solidFill>
            <a:schemeClr val="accent4"/>
          </a:solidFill>
          <a:ln/>
        </p:spPr>
      </p:sp>
      <p:sp>
        <p:nvSpPr>
          <p:cNvPr id="22" name="Shape 19"/>
          <p:cNvSpPr/>
          <p:nvPr/>
        </p:nvSpPr>
        <p:spPr>
          <a:xfrm>
            <a:off x="3618890" y="4242816"/>
            <a:ext cx="146304" cy="146304"/>
          </a:xfrm>
          <a:prstGeom prst="ellipse">
            <a:avLst/>
          </a:prstGeom>
          <a:solidFill>
            <a:schemeClr val="accent4"/>
          </a:solidFill>
          <a:ln/>
        </p:spPr>
      </p:sp>
      <p:sp>
        <p:nvSpPr>
          <p:cNvPr id="23" name="Text 20"/>
          <p:cNvSpPr txBox="1"/>
          <p:nvPr/>
        </p:nvSpPr>
        <p:spPr>
          <a:xfrm>
            <a:off x="822960" y="4535424"/>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Control</a:t>
            </a:r>
            <a:endParaRPr lang="en-US" sz="1050" dirty="0"/>
          </a:p>
        </p:txBody>
      </p:sp>
      <p:sp>
        <p:nvSpPr>
          <p:cNvPr id="24" name="Shape 21"/>
          <p:cNvSpPr/>
          <p:nvPr/>
        </p:nvSpPr>
        <p:spPr>
          <a:xfrm>
            <a:off x="2594762" y="4590288"/>
            <a:ext cx="146304" cy="146304"/>
          </a:xfrm>
          <a:prstGeom prst="ellipse">
            <a:avLst/>
          </a:prstGeom>
          <a:solidFill>
            <a:schemeClr val="tx1"/>
          </a:solidFill>
          <a:ln/>
        </p:spPr>
      </p:sp>
      <p:sp>
        <p:nvSpPr>
          <p:cNvPr id="25" name="Shape 22"/>
          <p:cNvSpPr/>
          <p:nvPr/>
        </p:nvSpPr>
        <p:spPr>
          <a:xfrm>
            <a:off x="2850794" y="4590288"/>
            <a:ext cx="146304" cy="146304"/>
          </a:xfrm>
          <a:prstGeom prst="ellipse">
            <a:avLst/>
          </a:prstGeom>
          <a:solidFill>
            <a:schemeClr val="tx1"/>
          </a:solidFill>
          <a:ln/>
        </p:spPr>
      </p:sp>
      <p:sp>
        <p:nvSpPr>
          <p:cNvPr id="26" name="Shape 23"/>
          <p:cNvSpPr/>
          <p:nvPr/>
        </p:nvSpPr>
        <p:spPr>
          <a:xfrm>
            <a:off x="3106826" y="4590288"/>
            <a:ext cx="146304" cy="146304"/>
          </a:xfrm>
          <a:prstGeom prst="ellipse">
            <a:avLst/>
          </a:prstGeom>
          <a:solidFill>
            <a:schemeClr val="tx1"/>
          </a:solidFill>
          <a:ln/>
        </p:spPr>
      </p:sp>
      <p:sp>
        <p:nvSpPr>
          <p:cNvPr id="27" name="Shape 24"/>
          <p:cNvSpPr/>
          <p:nvPr/>
        </p:nvSpPr>
        <p:spPr>
          <a:xfrm>
            <a:off x="3362858" y="4590288"/>
            <a:ext cx="146304" cy="146304"/>
          </a:xfrm>
          <a:prstGeom prst="ellipse">
            <a:avLst/>
          </a:prstGeom>
          <a:solidFill>
            <a:schemeClr val="tx1"/>
          </a:solidFill>
          <a:ln/>
        </p:spPr>
      </p:sp>
      <p:sp>
        <p:nvSpPr>
          <p:cNvPr id="28" name="Shape 25"/>
          <p:cNvSpPr/>
          <p:nvPr/>
        </p:nvSpPr>
        <p:spPr>
          <a:xfrm>
            <a:off x="3618890" y="4590288"/>
            <a:ext cx="146304" cy="146304"/>
          </a:xfrm>
          <a:prstGeom prst="ellipse">
            <a:avLst/>
          </a:prstGeom>
          <a:solidFill>
            <a:schemeClr val="tx1"/>
          </a:solidFill>
          <a:ln/>
        </p:spPr>
      </p:sp>
      <p:sp>
        <p:nvSpPr>
          <p:cNvPr id="29" name="Text 26"/>
          <p:cNvSpPr txBox="1"/>
          <p:nvPr/>
        </p:nvSpPr>
        <p:spPr>
          <a:xfrm>
            <a:off x="822960" y="4882896"/>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Risk</a:t>
            </a:r>
            <a:endParaRPr lang="en-US" sz="1050" dirty="0"/>
          </a:p>
        </p:txBody>
      </p:sp>
      <p:sp>
        <p:nvSpPr>
          <p:cNvPr id="30" name="Shape 27"/>
          <p:cNvSpPr/>
          <p:nvPr/>
        </p:nvSpPr>
        <p:spPr>
          <a:xfrm>
            <a:off x="2594762" y="4937760"/>
            <a:ext cx="146304" cy="146304"/>
          </a:xfrm>
          <a:prstGeom prst="ellipse">
            <a:avLst/>
          </a:prstGeom>
          <a:solidFill>
            <a:schemeClr val="tx1"/>
          </a:solidFill>
          <a:ln/>
        </p:spPr>
      </p:sp>
      <p:sp>
        <p:nvSpPr>
          <p:cNvPr id="31" name="Shape 28"/>
          <p:cNvSpPr/>
          <p:nvPr/>
        </p:nvSpPr>
        <p:spPr>
          <a:xfrm>
            <a:off x="2850794" y="4937760"/>
            <a:ext cx="146304" cy="146304"/>
          </a:xfrm>
          <a:prstGeom prst="ellipse">
            <a:avLst/>
          </a:prstGeom>
          <a:solidFill>
            <a:schemeClr val="tx1"/>
          </a:solidFill>
          <a:ln/>
        </p:spPr>
      </p:sp>
      <p:sp>
        <p:nvSpPr>
          <p:cNvPr id="32" name="Shape 29"/>
          <p:cNvSpPr/>
          <p:nvPr/>
        </p:nvSpPr>
        <p:spPr>
          <a:xfrm>
            <a:off x="3106826" y="4937760"/>
            <a:ext cx="146304" cy="146304"/>
          </a:xfrm>
          <a:prstGeom prst="ellipse">
            <a:avLst/>
          </a:prstGeom>
          <a:solidFill>
            <a:schemeClr val="tx1"/>
          </a:solidFill>
          <a:ln/>
        </p:spPr>
      </p:sp>
      <p:sp>
        <p:nvSpPr>
          <p:cNvPr id="33" name="Shape 30"/>
          <p:cNvSpPr/>
          <p:nvPr/>
        </p:nvSpPr>
        <p:spPr>
          <a:xfrm>
            <a:off x="3362858" y="4937760"/>
            <a:ext cx="146304" cy="146304"/>
          </a:xfrm>
          <a:prstGeom prst="ellipse">
            <a:avLst/>
          </a:prstGeom>
          <a:solidFill>
            <a:schemeClr val="accent4"/>
          </a:solidFill>
          <a:ln/>
        </p:spPr>
      </p:sp>
      <p:sp>
        <p:nvSpPr>
          <p:cNvPr id="34" name="Shape 31"/>
          <p:cNvSpPr/>
          <p:nvPr/>
        </p:nvSpPr>
        <p:spPr>
          <a:xfrm>
            <a:off x="3618890" y="4937760"/>
            <a:ext cx="146304" cy="146304"/>
          </a:xfrm>
          <a:prstGeom prst="ellipse">
            <a:avLst/>
          </a:prstGeom>
          <a:solidFill>
            <a:schemeClr val="accent4"/>
          </a:solidFill>
          <a:ln/>
        </p:spPr>
      </p:sp>
      <p:sp>
        <p:nvSpPr>
          <p:cNvPr id="35" name="Shape 32"/>
          <p:cNvSpPr/>
          <p:nvPr/>
        </p:nvSpPr>
        <p:spPr>
          <a:xfrm>
            <a:off x="822960" y="5303520"/>
            <a:ext cx="2997098" cy="0"/>
          </a:xfrm>
          <a:prstGeom prst="line">
            <a:avLst/>
          </a:prstGeom>
          <a:noFill/>
          <a:ln w="9525">
            <a:solidFill>
              <a:schemeClr val="accent4"/>
            </a:solidFill>
            <a:prstDash val="solid"/>
          </a:ln>
        </p:spPr>
      </p:sp>
      <p:sp>
        <p:nvSpPr>
          <p:cNvPr id="36" name="Text 33"/>
          <p:cNvSpPr txBox="1"/>
          <p:nvPr/>
        </p:nvSpPr>
        <p:spPr>
          <a:xfrm>
            <a:off x="822960" y="5394960"/>
            <a:ext cx="14630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$3.2M</a:t>
            </a:r>
            <a:endParaRPr lang="en-US" sz="1800" dirty="0"/>
          </a:p>
        </p:txBody>
      </p:sp>
      <p:sp>
        <p:nvSpPr>
          <p:cNvPr id="37" name="Text 34"/>
          <p:cNvSpPr txBox="1"/>
          <p:nvPr/>
        </p:nvSpPr>
        <p:spPr>
          <a:xfrm>
            <a:off x="822960" y="5715000"/>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investment</a:t>
            </a:r>
            <a:endParaRPr lang="en-US" sz="900" dirty="0"/>
          </a:p>
        </p:txBody>
      </p:sp>
      <p:sp>
        <p:nvSpPr>
          <p:cNvPr id="38" name="Text 35"/>
          <p:cNvSpPr txBox="1"/>
          <p:nvPr/>
        </p:nvSpPr>
        <p:spPr>
          <a:xfrm>
            <a:off x="2357018" y="5394960"/>
            <a:ext cx="1463040" cy="365760"/>
          </a:xfrm>
          <a:prstGeom prst="rect">
            <a:avLst/>
          </a:prstGeom>
          <a:noFill/>
          <a:ln/>
        </p:spPr>
        <p:txBody>
          <a:bodyPr wrap="square" lIns="0" tIns="0" rIns="0" bIns="0" rtlCol="0" anchor="t"/>
          <a:lstStyle/>
          <a:p>
            <a:pPr algn="r" indent="0" marL="0">
              <a:buNone/>
            </a:pPr>
            <a:r>
              <a:rPr lang="en-US" sz="1800" dirty="0">
                <a:solidFill>
                  <a:schemeClr val="tx1"/>
                </a:solidFill>
                <a:latin typeface="Manrope ExtraBold" pitchFamily="34" charset="0"/>
                <a:ea typeface="Manrope ExtraBold" pitchFamily="34" charset="-122"/>
                <a:cs typeface="Manrope ExtraBold" pitchFamily="34" charset="-120"/>
              </a:rPr>
              <a:t>9 months</a:t>
            </a:r>
            <a:endParaRPr lang="en-US" sz="1800" dirty="0"/>
          </a:p>
        </p:txBody>
      </p:sp>
      <p:sp>
        <p:nvSpPr>
          <p:cNvPr id="39" name="Text 36"/>
          <p:cNvSpPr txBox="1"/>
          <p:nvPr/>
        </p:nvSpPr>
        <p:spPr>
          <a:xfrm>
            <a:off x="2357018" y="5715000"/>
            <a:ext cx="146304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to first revenue</a:t>
            </a:r>
            <a:endParaRPr lang="en-US" sz="900" dirty="0"/>
          </a:p>
        </p:txBody>
      </p:sp>
      <p:sp>
        <p:nvSpPr>
          <p:cNvPr id="40" name="Shape 37"/>
          <p:cNvSpPr/>
          <p:nvPr/>
        </p:nvSpPr>
        <p:spPr>
          <a:xfrm>
            <a:off x="4322978" y="1874520"/>
            <a:ext cx="3545738" cy="4160520"/>
          </a:xfrm>
          <a:prstGeom prst="roundRect">
            <a:avLst>
              <a:gd name="adj" fmla="val 2579"/>
            </a:avLst>
          </a:prstGeom>
          <a:solidFill>
            <a:schemeClr val="bg1"/>
          </a:solidFill>
          <a:ln w="9525">
            <a:solidFill>
              <a:schemeClr val="tx1"/>
            </a:solidFill>
            <a:prstDash val="solid"/>
          </a:ln>
        </p:spPr>
      </p:sp>
      <p:sp>
        <p:nvSpPr>
          <p:cNvPr id="41" name="Shape 38"/>
          <p:cNvSpPr/>
          <p:nvPr/>
        </p:nvSpPr>
        <p:spPr>
          <a:xfrm>
            <a:off x="4597298" y="2148840"/>
            <a:ext cx="502920" cy="502920"/>
          </a:xfrm>
          <a:prstGeom prst="ellipse">
            <a:avLst/>
          </a:prstGeom>
          <a:solidFill>
            <a:schemeClr val="accent1"/>
          </a:solidFill>
          <a:ln/>
        </p:spPr>
      </p:sp>
      <p:pic>
        <p:nvPicPr>
          <p:cNvPr id="42" name="Icon PiHandshake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4717999" y="2269541"/>
            <a:ext cx="261518" cy="261518"/>
          </a:xfrm>
          <a:prstGeom prst="rect">
            <a:avLst/>
          </a:prstGeom>
        </p:spPr>
      </p:pic>
      <p:sp>
        <p:nvSpPr>
          <p:cNvPr id="43" name="Shape 39"/>
          <p:cNvSpPr/>
          <p:nvPr/>
        </p:nvSpPr>
        <p:spPr>
          <a:xfrm>
            <a:off x="6451397" y="2258568"/>
            <a:ext cx="1143000" cy="274320"/>
          </a:xfrm>
          <a:prstGeom prst="roundRect">
            <a:avLst>
              <a:gd name="adj" fmla="val 50000"/>
            </a:avLst>
          </a:prstGeom>
          <a:solidFill>
            <a:schemeClr val="tx1"/>
          </a:solidFill>
          <a:ln/>
        </p:spPr>
      </p:sp>
      <p:sp>
        <p:nvSpPr>
          <p:cNvPr id="44" name="Text 40"/>
          <p:cNvSpPr txBox="1"/>
          <p:nvPr/>
        </p:nvSpPr>
        <p:spPr>
          <a:xfrm>
            <a:off x="6451397" y="2258568"/>
            <a:ext cx="114300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Preferred</a:t>
            </a:r>
            <a:endParaRPr lang="en-US" sz="900" dirty="0"/>
          </a:p>
        </p:txBody>
      </p:sp>
      <p:sp>
        <p:nvSpPr>
          <p:cNvPr id="45" name="Text 41"/>
          <p:cNvSpPr txBox="1"/>
          <p:nvPr/>
        </p:nvSpPr>
        <p:spPr>
          <a:xfrm>
            <a:off x="4597298" y="2788920"/>
            <a:ext cx="2997098"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Partner-led</a:t>
            </a:r>
            <a:endParaRPr lang="en-US" sz="1700" dirty="0"/>
          </a:p>
        </p:txBody>
      </p:sp>
      <p:sp>
        <p:nvSpPr>
          <p:cNvPr id="46" name="Text 42"/>
          <p:cNvSpPr txBox="1"/>
          <p:nvPr/>
        </p:nvSpPr>
        <p:spPr>
          <a:xfrm>
            <a:off x="4597298" y="3172968"/>
            <a:ext cx="299709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Sell through two established CRM resellers.</a:t>
            </a:r>
            <a:endParaRPr lang="en-US" sz="1050" dirty="0"/>
          </a:p>
        </p:txBody>
      </p:sp>
      <p:sp>
        <p:nvSpPr>
          <p:cNvPr id="47" name="Text 43"/>
          <p:cNvSpPr txBox="1"/>
          <p:nvPr/>
        </p:nvSpPr>
        <p:spPr>
          <a:xfrm>
            <a:off x="4597298" y="3840480"/>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Speed</a:t>
            </a:r>
            <a:endParaRPr lang="en-US" sz="1050" dirty="0"/>
          </a:p>
        </p:txBody>
      </p:sp>
      <p:sp>
        <p:nvSpPr>
          <p:cNvPr id="48" name="Shape 44"/>
          <p:cNvSpPr/>
          <p:nvPr/>
        </p:nvSpPr>
        <p:spPr>
          <a:xfrm>
            <a:off x="6369101" y="3895344"/>
            <a:ext cx="146304" cy="146304"/>
          </a:xfrm>
          <a:prstGeom prst="ellipse">
            <a:avLst/>
          </a:prstGeom>
          <a:solidFill>
            <a:schemeClr val="tx1"/>
          </a:solidFill>
          <a:ln/>
        </p:spPr>
      </p:sp>
      <p:sp>
        <p:nvSpPr>
          <p:cNvPr id="49" name="Shape 45"/>
          <p:cNvSpPr/>
          <p:nvPr/>
        </p:nvSpPr>
        <p:spPr>
          <a:xfrm>
            <a:off x="6625133" y="3895344"/>
            <a:ext cx="146304" cy="146304"/>
          </a:xfrm>
          <a:prstGeom prst="ellipse">
            <a:avLst/>
          </a:prstGeom>
          <a:solidFill>
            <a:schemeClr val="tx1"/>
          </a:solidFill>
          <a:ln/>
        </p:spPr>
      </p:sp>
      <p:sp>
        <p:nvSpPr>
          <p:cNvPr id="50" name="Shape 46"/>
          <p:cNvSpPr/>
          <p:nvPr/>
        </p:nvSpPr>
        <p:spPr>
          <a:xfrm>
            <a:off x="6881165" y="3895344"/>
            <a:ext cx="146304" cy="146304"/>
          </a:xfrm>
          <a:prstGeom prst="ellipse">
            <a:avLst/>
          </a:prstGeom>
          <a:solidFill>
            <a:schemeClr val="tx1"/>
          </a:solidFill>
          <a:ln/>
        </p:spPr>
      </p:sp>
      <p:sp>
        <p:nvSpPr>
          <p:cNvPr id="51" name="Shape 47"/>
          <p:cNvSpPr/>
          <p:nvPr/>
        </p:nvSpPr>
        <p:spPr>
          <a:xfrm>
            <a:off x="7137197" y="3895344"/>
            <a:ext cx="146304" cy="146304"/>
          </a:xfrm>
          <a:prstGeom prst="ellipse">
            <a:avLst/>
          </a:prstGeom>
          <a:solidFill>
            <a:schemeClr val="tx1"/>
          </a:solidFill>
          <a:ln/>
        </p:spPr>
      </p:sp>
      <p:sp>
        <p:nvSpPr>
          <p:cNvPr id="52" name="Shape 48"/>
          <p:cNvSpPr/>
          <p:nvPr/>
        </p:nvSpPr>
        <p:spPr>
          <a:xfrm>
            <a:off x="7393229" y="3895344"/>
            <a:ext cx="146304" cy="146304"/>
          </a:xfrm>
          <a:prstGeom prst="ellipse">
            <a:avLst/>
          </a:prstGeom>
          <a:solidFill>
            <a:schemeClr val="tx1"/>
          </a:solidFill>
          <a:ln/>
        </p:spPr>
      </p:sp>
      <p:sp>
        <p:nvSpPr>
          <p:cNvPr id="53" name="Text 49"/>
          <p:cNvSpPr txBox="1"/>
          <p:nvPr/>
        </p:nvSpPr>
        <p:spPr>
          <a:xfrm>
            <a:off x="4597298" y="4187952"/>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Cost</a:t>
            </a:r>
            <a:endParaRPr lang="en-US" sz="1050" dirty="0"/>
          </a:p>
        </p:txBody>
      </p:sp>
      <p:sp>
        <p:nvSpPr>
          <p:cNvPr id="54" name="Shape 50"/>
          <p:cNvSpPr/>
          <p:nvPr/>
        </p:nvSpPr>
        <p:spPr>
          <a:xfrm>
            <a:off x="6369101" y="4242816"/>
            <a:ext cx="146304" cy="146304"/>
          </a:xfrm>
          <a:prstGeom prst="ellipse">
            <a:avLst/>
          </a:prstGeom>
          <a:solidFill>
            <a:schemeClr val="tx1"/>
          </a:solidFill>
          <a:ln/>
        </p:spPr>
      </p:sp>
      <p:sp>
        <p:nvSpPr>
          <p:cNvPr id="55" name="Shape 51"/>
          <p:cNvSpPr/>
          <p:nvPr/>
        </p:nvSpPr>
        <p:spPr>
          <a:xfrm>
            <a:off x="6625133" y="4242816"/>
            <a:ext cx="146304" cy="146304"/>
          </a:xfrm>
          <a:prstGeom prst="ellipse">
            <a:avLst/>
          </a:prstGeom>
          <a:solidFill>
            <a:schemeClr val="tx1"/>
          </a:solidFill>
          <a:ln/>
        </p:spPr>
      </p:sp>
      <p:sp>
        <p:nvSpPr>
          <p:cNvPr id="56" name="Shape 52"/>
          <p:cNvSpPr/>
          <p:nvPr/>
        </p:nvSpPr>
        <p:spPr>
          <a:xfrm>
            <a:off x="6881165" y="4242816"/>
            <a:ext cx="146304" cy="146304"/>
          </a:xfrm>
          <a:prstGeom prst="ellipse">
            <a:avLst/>
          </a:prstGeom>
          <a:solidFill>
            <a:schemeClr val="tx1"/>
          </a:solidFill>
          <a:ln/>
        </p:spPr>
      </p:sp>
      <p:sp>
        <p:nvSpPr>
          <p:cNvPr id="57" name="Shape 53"/>
          <p:cNvSpPr/>
          <p:nvPr/>
        </p:nvSpPr>
        <p:spPr>
          <a:xfrm>
            <a:off x="7137197" y="4242816"/>
            <a:ext cx="146304" cy="146304"/>
          </a:xfrm>
          <a:prstGeom prst="ellipse">
            <a:avLst/>
          </a:prstGeom>
          <a:solidFill>
            <a:schemeClr val="tx1"/>
          </a:solidFill>
          <a:ln/>
        </p:spPr>
      </p:sp>
      <p:sp>
        <p:nvSpPr>
          <p:cNvPr id="58" name="Shape 54"/>
          <p:cNvSpPr/>
          <p:nvPr/>
        </p:nvSpPr>
        <p:spPr>
          <a:xfrm>
            <a:off x="7393229" y="4242816"/>
            <a:ext cx="146304" cy="146304"/>
          </a:xfrm>
          <a:prstGeom prst="ellipse">
            <a:avLst/>
          </a:prstGeom>
          <a:solidFill>
            <a:schemeClr val="accent4"/>
          </a:solidFill>
          <a:ln/>
        </p:spPr>
      </p:sp>
      <p:sp>
        <p:nvSpPr>
          <p:cNvPr id="59" name="Text 55"/>
          <p:cNvSpPr txBox="1"/>
          <p:nvPr/>
        </p:nvSpPr>
        <p:spPr>
          <a:xfrm>
            <a:off x="4597298" y="4535424"/>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Control</a:t>
            </a:r>
            <a:endParaRPr lang="en-US" sz="1050" dirty="0"/>
          </a:p>
        </p:txBody>
      </p:sp>
      <p:sp>
        <p:nvSpPr>
          <p:cNvPr id="60" name="Shape 56"/>
          <p:cNvSpPr/>
          <p:nvPr/>
        </p:nvSpPr>
        <p:spPr>
          <a:xfrm>
            <a:off x="6369101" y="4590288"/>
            <a:ext cx="146304" cy="146304"/>
          </a:xfrm>
          <a:prstGeom prst="ellipse">
            <a:avLst/>
          </a:prstGeom>
          <a:solidFill>
            <a:schemeClr val="tx1"/>
          </a:solidFill>
          <a:ln/>
        </p:spPr>
      </p:sp>
      <p:sp>
        <p:nvSpPr>
          <p:cNvPr id="61" name="Shape 57"/>
          <p:cNvSpPr/>
          <p:nvPr/>
        </p:nvSpPr>
        <p:spPr>
          <a:xfrm>
            <a:off x="6625133" y="4590288"/>
            <a:ext cx="146304" cy="146304"/>
          </a:xfrm>
          <a:prstGeom prst="ellipse">
            <a:avLst/>
          </a:prstGeom>
          <a:solidFill>
            <a:schemeClr val="tx1"/>
          </a:solidFill>
          <a:ln/>
        </p:spPr>
      </p:sp>
      <p:sp>
        <p:nvSpPr>
          <p:cNvPr id="62" name="Shape 58"/>
          <p:cNvSpPr/>
          <p:nvPr/>
        </p:nvSpPr>
        <p:spPr>
          <a:xfrm>
            <a:off x="6881165" y="4590288"/>
            <a:ext cx="146304" cy="146304"/>
          </a:xfrm>
          <a:prstGeom prst="ellipse">
            <a:avLst/>
          </a:prstGeom>
          <a:solidFill>
            <a:schemeClr val="tx1"/>
          </a:solidFill>
          <a:ln/>
        </p:spPr>
      </p:sp>
      <p:sp>
        <p:nvSpPr>
          <p:cNvPr id="63" name="Shape 59"/>
          <p:cNvSpPr/>
          <p:nvPr/>
        </p:nvSpPr>
        <p:spPr>
          <a:xfrm>
            <a:off x="7137197" y="4590288"/>
            <a:ext cx="146304" cy="146304"/>
          </a:xfrm>
          <a:prstGeom prst="ellipse">
            <a:avLst/>
          </a:prstGeom>
          <a:solidFill>
            <a:schemeClr val="accent4"/>
          </a:solidFill>
          <a:ln/>
        </p:spPr>
      </p:sp>
      <p:sp>
        <p:nvSpPr>
          <p:cNvPr id="64" name="Shape 60"/>
          <p:cNvSpPr/>
          <p:nvPr/>
        </p:nvSpPr>
        <p:spPr>
          <a:xfrm>
            <a:off x="7393229" y="4590288"/>
            <a:ext cx="146304" cy="146304"/>
          </a:xfrm>
          <a:prstGeom prst="ellipse">
            <a:avLst/>
          </a:prstGeom>
          <a:solidFill>
            <a:schemeClr val="accent4"/>
          </a:solidFill>
          <a:ln/>
        </p:spPr>
      </p:sp>
      <p:sp>
        <p:nvSpPr>
          <p:cNvPr id="65" name="Text 61"/>
          <p:cNvSpPr txBox="1"/>
          <p:nvPr/>
        </p:nvSpPr>
        <p:spPr>
          <a:xfrm>
            <a:off x="4597298" y="4882896"/>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Risk</a:t>
            </a:r>
            <a:endParaRPr lang="en-US" sz="1050" dirty="0"/>
          </a:p>
        </p:txBody>
      </p:sp>
      <p:sp>
        <p:nvSpPr>
          <p:cNvPr id="66" name="Shape 62"/>
          <p:cNvSpPr/>
          <p:nvPr/>
        </p:nvSpPr>
        <p:spPr>
          <a:xfrm>
            <a:off x="6369101" y="4937760"/>
            <a:ext cx="146304" cy="146304"/>
          </a:xfrm>
          <a:prstGeom prst="ellipse">
            <a:avLst/>
          </a:prstGeom>
          <a:solidFill>
            <a:schemeClr val="tx1"/>
          </a:solidFill>
          <a:ln/>
        </p:spPr>
      </p:sp>
      <p:sp>
        <p:nvSpPr>
          <p:cNvPr id="67" name="Shape 63"/>
          <p:cNvSpPr/>
          <p:nvPr/>
        </p:nvSpPr>
        <p:spPr>
          <a:xfrm>
            <a:off x="6625133" y="4937760"/>
            <a:ext cx="146304" cy="146304"/>
          </a:xfrm>
          <a:prstGeom prst="ellipse">
            <a:avLst/>
          </a:prstGeom>
          <a:solidFill>
            <a:schemeClr val="tx1"/>
          </a:solidFill>
          <a:ln/>
        </p:spPr>
      </p:sp>
      <p:sp>
        <p:nvSpPr>
          <p:cNvPr id="68" name="Shape 64"/>
          <p:cNvSpPr/>
          <p:nvPr/>
        </p:nvSpPr>
        <p:spPr>
          <a:xfrm>
            <a:off x="6881165" y="4937760"/>
            <a:ext cx="146304" cy="146304"/>
          </a:xfrm>
          <a:prstGeom prst="ellipse">
            <a:avLst/>
          </a:prstGeom>
          <a:solidFill>
            <a:schemeClr val="tx1"/>
          </a:solidFill>
          <a:ln/>
        </p:spPr>
      </p:sp>
      <p:sp>
        <p:nvSpPr>
          <p:cNvPr id="69" name="Shape 65"/>
          <p:cNvSpPr/>
          <p:nvPr/>
        </p:nvSpPr>
        <p:spPr>
          <a:xfrm>
            <a:off x="7137197" y="4937760"/>
            <a:ext cx="146304" cy="146304"/>
          </a:xfrm>
          <a:prstGeom prst="ellipse">
            <a:avLst/>
          </a:prstGeom>
          <a:solidFill>
            <a:schemeClr val="tx1"/>
          </a:solidFill>
          <a:ln/>
        </p:spPr>
      </p:sp>
      <p:sp>
        <p:nvSpPr>
          <p:cNvPr id="70" name="Shape 66"/>
          <p:cNvSpPr/>
          <p:nvPr/>
        </p:nvSpPr>
        <p:spPr>
          <a:xfrm>
            <a:off x="7393229" y="4937760"/>
            <a:ext cx="146304" cy="146304"/>
          </a:xfrm>
          <a:prstGeom prst="ellipse">
            <a:avLst/>
          </a:prstGeom>
          <a:solidFill>
            <a:schemeClr val="accent4"/>
          </a:solidFill>
          <a:ln/>
        </p:spPr>
      </p:sp>
      <p:sp>
        <p:nvSpPr>
          <p:cNvPr id="71" name="Shape 67"/>
          <p:cNvSpPr/>
          <p:nvPr/>
        </p:nvSpPr>
        <p:spPr>
          <a:xfrm>
            <a:off x="4597298" y="5303520"/>
            <a:ext cx="2997098" cy="0"/>
          </a:xfrm>
          <a:prstGeom prst="line">
            <a:avLst/>
          </a:prstGeom>
          <a:noFill/>
          <a:ln w="9525">
            <a:solidFill>
              <a:schemeClr val="accent4"/>
            </a:solidFill>
            <a:prstDash val="solid"/>
          </a:ln>
        </p:spPr>
      </p:sp>
      <p:sp>
        <p:nvSpPr>
          <p:cNvPr id="72" name="Text 68"/>
          <p:cNvSpPr txBox="1"/>
          <p:nvPr/>
        </p:nvSpPr>
        <p:spPr>
          <a:xfrm>
            <a:off x="4597298" y="5394960"/>
            <a:ext cx="14630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$0.9M</a:t>
            </a:r>
            <a:endParaRPr lang="en-US" sz="1800" dirty="0"/>
          </a:p>
        </p:txBody>
      </p:sp>
      <p:sp>
        <p:nvSpPr>
          <p:cNvPr id="73" name="Text 69"/>
          <p:cNvSpPr txBox="1"/>
          <p:nvPr/>
        </p:nvSpPr>
        <p:spPr>
          <a:xfrm>
            <a:off x="4597298" y="5715000"/>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investment</a:t>
            </a:r>
            <a:endParaRPr lang="en-US" sz="900" dirty="0"/>
          </a:p>
        </p:txBody>
      </p:sp>
      <p:sp>
        <p:nvSpPr>
          <p:cNvPr id="74" name="Text 70"/>
          <p:cNvSpPr txBox="1"/>
          <p:nvPr/>
        </p:nvSpPr>
        <p:spPr>
          <a:xfrm>
            <a:off x="6131357" y="5394960"/>
            <a:ext cx="1463040" cy="365760"/>
          </a:xfrm>
          <a:prstGeom prst="rect">
            <a:avLst/>
          </a:prstGeom>
          <a:noFill/>
          <a:ln/>
        </p:spPr>
        <p:txBody>
          <a:bodyPr wrap="square" lIns="0" tIns="0" rIns="0" bIns="0" rtlCol="0" anchor="t"/>
          <a:lstStyle/>
          <a:p>
            <a:pPr algn="r" indent="0" marL="0">
              <a:buNone/>
            </a:pPr>
            <a:r>
              <a:rPr lang="en-US" sz="1800" dirty="0">
                <a:solidFill>
                  <a:schemeClr val="tx1"/>
                </a:solidFill>
                <a:latin typeface="Manrope ExtraBold" pitchFamily="34" charset="0"/>
                <a:ea typeface="Manrope ExtraBold" pitchFamily="34" charset="-122"/>
                <a:cs typeface="Manrope ExtraBold" pitchFamily="34" charset="-120"/>
              </a:rPr>
              <a:t>3 months</a:t>
            </a:r>
            <a:endParaRPr lang="en-US" sz="1800" dirty="0"/>
          </a:p>
        </p:txBody>
      </p:sp>
      <p:sp>
        <p:nvSpPr>
          <p:cNvPr id="75" name="Text 71"/>
          <p:cNvSpPr txBox="1"/>
          <p:nvPr/>
        </p:nvSpPr>
        <p:spPr>
          <a:xfrm>
            <a:off x="6131357" y="5715000"/>
            <a:ext cx="146304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to first revenue</a:t>
            </a:r>
            <a:endParaRPr lang="en-US" sz="900" dirty="0"/>
          </a:p>
        </p:txBody>
      </p:sp>
      <p:sp>
        <p:nvSpPr>
          <p:cNvPr id="76" name="Shape 72"/>
          <p:cNvSpPr/>
          <p:nvPr/>
        </p:nvSpPr>
        <p:spPr>
          <a:xfrm>
            <a:off x="8097317" y="1874520"/>
            <a:ext cx="3545738" cy="4160520"/>
          </a:xfrm>
          <a:prstGeom prst="roundRect">
            <a:avLst>
              <a:gd name="adj" fmla="val 2579"/>
            </a:avLst>
          </a:prstGeom>
          <a:solidFill>
            <a:schemeClr val="bg1"/>
          </a:solidFill>
          <a:ln/>
        </p:spPr>
      </p:sp>
      <p:sp>
        <p:nvSpPr>
          <p:cNvPr id="77" name="Shape 73"/>
          <p:cNvSpPr/>
          <p:nvPr/>
        </p:nvSpPr>
        <p:spPr>
          <a:xfrm>
            <a:off x="8371637" y="2148840"/>
            <a:ext cx="502920" cy="502920"/>
          </a:xfrm>
          <a:prstGeom prst="ellipse">
            <a:avLst/>
          </a:prstGeom>
          <a:solidFill>
            <a:schemeClr val="bg2"/>
          </a:solidFill>
          <a:ln/>
        </p:spPr>
      </p:sp>
      <p:pic>
        <p:nvPicPr>
          <p:cNvPr id="78" name="Icon PiArrowsSplit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8492338" y="2269541"/>
            <a:ext cx="261518" cy="261518"/>
          </a:xfrm>
          <a:prstGeom prst="rect">
            <a:avLst/>
          </a:prstGeom>
        </p:spPr>
      </p:pic>
      <p:sp>
        <p:nvSpPr>
          <p:cNvPr id="79" name="Text 74"/>
          <p:cNvSpPr txBox="1"/>
          <p:nvPr/>
        </p:nvSpPr>
        <p:spPr>
          <a:xfrm>
            <a:off x="8371637" y="2788920"/>
            <a:ext cx="2997098"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Acquisition</a:t>
            </a:r>
            <a:endParaRPr lang="en-US" sz="1700" dirty="0"/>
          </a:p>
        </p:txBody>
      </p:sp>
      <p:sp>
        <p:nvSpPr>
          <p:cNvPr id="80" name="Text 75"/>
          <p:cNvSpPr txBox="1"/>
          <p:nvPr/>
        </p:nvSpPr>
        <p:spPr>
          <a:xfrm>
            <a:off x="8371637" y="3172968"/>
            <a:ext cx="299709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Buy a local competitor with 120 customers.</a:t>
            </a:r>
            <a:endParaRPr lang="en-US" sz="1050" dirty="0"/>
          </a:p>
        </p:txBody>
      </p:sp>
      <p:sp>
        <p:nvSpPr>
          <p:cNvPr id="81" name="Text 76"/>
          <p:cNvSpPr txBox="1"/>
          <p:nvPr/>
        </p:nvSpPr>
        <p:spPr>
          <a:xfrm>
            <a:off x="8371637" y="3840480"/>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Speed</a:t>
            </a:r>
            <a:endParaRPr lang="en-US" sz="1050" dirty="0"/>
          </a:p>
        </p:txBody>
      </p:sp>
      <p:sp>
        <p:nvSpPr>
          <p:cNvPr id="82" name="Shape 77"/>
          <p:cNvSpPr/>
          <p:nvPr/>
        </p:nvSpPr>
        <p:spPr>
          <a:xfrm>
            <a:off x="10143439" y="3895344"/>
            <a:ext cx="146304" cy="146304"/>
          </a:xfrm>
          <a:prstGeom prst="ellipse">
            <a:avLst/>
          </a:prstGeom>
          <a:solidFill>
            <a:schemeClr val="tx1"/>
          </a:solidFill>
          <a:ln/>
        </p:spPr>
      </p:sp>
      <p:sp>
        <p:nvSpPr>
          <p:cNvPr id="83" name="Shape 78"/>
          <p:cNvSpPr/>
          <p:nvPr/>
        </p:nvSpPr>
        <p:spPr>
          <a:xfrm>
            <a:off x="10399471" y="3895344"/>
            <a:ext cx="146304" cy="146304"/>
          </a:xfrm>
          <a:prstGeom prst="ellipse">
            <a:avLst/>
          </a:prstGeom>
          <a:solidFill>
            <a:schemeClr val="tx1"/>
          </a:solidFill>
          <a:ln/>
        </p:spPr>
      </p:sp>
      <p:sp>
        <p:nvSpPr>
          <p:cNvPr id="84" name="Shape 79"/>
          <p:cNvSpPr/>
          <p:nvPr/>
        </p:nvSpPr>
        <p:spPr>
          <a:xfrm>
            <a:off x="10655503" y="3895344"/>
            <a:ext cx="146304" cy="146304"/>
          </a:xfrm>
          <a:prstGeom prst="ellipse">
            <a:avLst/>
          </a:prstGeom>
          <a:solidFill>
            <a:schemeClr val="tx1"/>
          </a:solidFill>
          <a:ln/>
        </p:spPr>
      </p:sp>
      <p:sp>
        <p:nvSpPr>
          <p:cNvPr id="85" name="Shape 80"/>
          <p:cNvSpPr/>
          <p:nvPr/>
        </p:nvSpPr>
        <p:spPr>
          <a:xfrm>
            <a:off x="10911535" y="3895344"/>
            <a:ext cx="146304" cy="146304"/>
          </a:xfrm>
          <a:prstGeom prst="ellipse">
            <a:avLst/>
          </a:prstGeom>
          <a:solidFill>
            <a:schemeClr val="tx1"/>
          </a:solidFill>
          <a:ln/>
        </p:spPr>
      </p:sp>
      <p:sp>
        <p:nvSpPr>
          <p:cNvPr id="86" name="Shape 81"/>
          <p:cNvSpPr/>
          <p:nvPr/>
        </p:nvSpPr>
        <p:spPr>
          <a:xfrm>
            <a:off x="11167567" y="3895344"/>
            <a:ext cx="146304" cy="146304"/>
          </a:xfrm>
          <a:prstGeom prst="ellipse">
            <a:avLst/>
          </a:prstGeom>
          <a:solidFill>
            <a:schemeClr val="accent4"/>
          </a:solidFill>
          <a:ln/>
        </p:spPr>
      </p:sp>
      <p:sp>
        <p:nvSpPr>
          <p:cNvPr id="87" name="Text 82"/>
          <p:cNvSpPr txBox="1"/>
          <p:nvPr/>
        </p:nvSpPr>
        <p:spPr>
          <a:xfrm>
            <a:off x="8371637" y="4187952"/>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Cost</a:t>
            </a:r>
            <a:endParaRPr lang="en-US" sz="1050" dirty="0"/>
          </a:p>
        </p:txBody>
      </p:sp>
      <p:sp>
        <p:nvSpPr>
          <p:cNvPr id="88" name="Shape 83"/>
          <p:cNvSpPr/>
          <p:nvPr/>
        </p:nvSpPr>
        <p:spPr>
          <a:xfrm>
            <a:off x="10143439" y="4242816"/>
            <a:ext cx="146304" cy="146304"/>
          </a:xfrm>
          <a:prstGeom prst="ellipse">
            <a:avLst/>
          </a:prstGeom>
          <a:solidFill>
            <a:schemeClr val="tx1"/>
          </a:solidFill>
          <a:ln/>
        </p:spPr>
      </p:sp>
      <p:sp>
        <p:nvSpPr>
          <p:cNvPr id="89" name="Shape 84"/>
          <p:cNvSpPr/>
          <p:nvPr/>
        </p:nvSpPr>
        <p:spPr>
          <a:xfrm>
            <a:off x="10399471" y="4242816"/>
            <a:ext cx="146304" cy="146304"/>
          </a:xfrm>
          <a:prstGeom prst="ellipse">
            <a:avLst/>
          </a:prstGeom>
          <a:solidFill>
            <a:schemeClr val="accent4"/>
          </a:solidFill>
          <a:ln/>
        </p:spPr>
      </p:sp>
      <p:sp>
        <p:nvSpPr>
          <p:cNvPr id="90" name="Shape 85"/>
          <p:cNvSpPr/>
          <p:nvPr/>
        </p:nvSpPr>
        <p:spPr>
          <a:xfrm>
            <a:off x="10655503" y="4242816"/>
            <a:ext cx="146304" cy="146304"/>
          </a:xfrm>
          <a:prstGeom prst="ellipse">
            <a:avLst/>
          </a:prstGeom>
          <a:solidFill>
            <a:schemeClr val="accent4"/>
          </a:solidFill>
          <a:ln/>
        </p:spPr>
      </p:sp>
      <p:sp>
        <p:nvSpPr>
          <p:cNvPr id="91" name="Shape 86"/>
          <p:cNvSpPr/>
          <p:nvPr/>
        </p:nvSpPr>
        <p:spPr>
          <a:xfrm>
            <a:off x="10911535" y="4242816"/>
            <a:ext cx="146304" cy="146304"/>
          </a:xfrm>
          <a:prstGeom prst="ellipse">
            <a:avLst/>
          </a:prstGeom>
          <a:solidFill>
            <a:schemeClr val="accent4"/>
          </a:solidFill>
          <a:ln/>
        </p:spPr>
      </p:sp>
      <p:sp>
        <p:nvSpPr>
          <p:cNvPr id="92" name="Shape 87"/>
          <p:cNvSpPr/>
          <p:nvPr/>
        </p:nvSpPr>
        <p:spPr>
          <a:xfrm>
            <a:off x="11167567" y="4242816"/>
            <a:ext cx="146304" cy="146304"/>
          </a:xfrm>
          <a:prstGeom prst="ellipse">
            <a:avLst/>
          </a:prstGeom>
          <a:solidFill>
            <a:schemeClr val="accent4"/>
          </a:solidFill>
          <a:ln/>
        </p:spPr>
      </p:sp>
      <p:sp>
        <p:nvSpPr>
          <p:cNvPr id="93" name="Text 88"/>
          <p:cNvSpPr txBox="1"/>
          <p:nvPr/>
        </p:nvSpPr>
        <p:spPr>
          <a:xfrm>
            <a:off x="8371637" y="4535424"/>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Control</a:t>
            </a:r>
            <a:endParaRPr lang="en-US" sz="1050" dirty="0"/>
          </a:p>
        </p:txBody>
      </p:sp>
      <p:sp>
        <p:nvSpPr>
          <p:cNvPr id="94" name="Shape 89"/>
          <p:cNvSpPr/>
          <p:nvPr/>
        </p:nvSpPr>
        <p:spPr>
          <a:xfrm>
            <a:off x="10143439" y="4590288"/>
            <a:ext cx="146304" cy="146304"/>
          </a:xfrm>
          <a:prstGeom prst="ellipse">
            <a:avLst/>
          </a:prstGeom>
          <a:solidFill>
            <a:schemeClr val="tx1"/>
          </a:solidFill>
          <a:ln/>
        </p:spPr>
      </p:sp>
      <p:sp>
        <p:nvSpPr>
          <p:cNvPr id="95" name="Shape 90"/>
          <p:cNvSpPr/>
          <p:nvPr/>
        </p:nvSpPr>
        <p:spPr>
          <a:xfrm>
            <a:off x="10399471" y="4590288"/>
            <a:ext cx="146304" cy="146304"/>
          </a:xfrm>
          <a:prstGeom prst="ellipse">
            <a:avLst/>
          </a:prstGeom>
          <a:solidFill>
            <a:schemeClr val="tx1"/>
          </a:solidFill>
          <a:ln/>
        </p:spPr>
      </p:sp>
      <p:sp>
        <p:nvSpPr>
          <p:cNvPr id="96" name="Shape 91"/>
          <p:cNvSpPr/>
          <p:nvPr/>
        </p:nvSpPr>
        <p:spPr>
          <a:xfrm>
            <a:off x="10655503" y="4590288"/>
            <a:ext cx="146304" cy="146304"/>
          </a:xfrm>
          <a:prstGeom prst="ellipse">
            <a:avLst/>
          </a:prstGeom>
          <a:solidFill>
            <a:schemeClr val="tx1"/>
          </a:solidFill>
          <a:ln/>
        </p:spPr>
      </p:sp>
      <p:sp>
        <p:nvSpPr>
          <p:cNvPr id="97" name="Shape 92"/>
          <p:cNvSpPr/>
          <p:nvPr/>
        </p:nvSpPr>
        <p:spPr>
          <a:xfrm>
            <a:off x="10911535" y="4590288"/>
            <a:ext cx="146304" cy="146304"/>
          </a:xfrm>
          <a:prstGeom prst="ellipse">
            <a:avLst/>
          </a:prstGeom>
          <a:solidFill>
            <a:schemeClr val="tx1"/>
          </a:solidFill>
          <a:ln/>
        </p:spPr>
      </p:sp>
      <p:sp>
        <p:nvSpPr>
          <p:cNvPr id="98" name="Shape 93"/>
          <p:cNvSpPr/>
          <p:nvPr/>
        </p:nvSpPr>
        <p:spPr>
          <a:xfrm>
            <a:off x="11167567" y="4590288"/>
            <a:ext cx="146304" cy="146304"/>
          </a:xfrm>
          <a:prstGeom prst="ellipse">
            <a:avLst/>
          </a:prstGeom>
          <a:solidFill>
            <a:schemeClr val="accent4"/>
          </a:solidFill>
          <a:ln/>
        </p:spPr>
      </p:sp>
      <p:sp>
        <p:nvSpPr>
          <p:cNvPr id="99" name="Text 94"/>
          <p:cNvSpPr txBox="1"/>
          <p:nvPr/>
        </p:nvSpPr>
        <p:spPr>
          <a:xfrm>
            <a:off x="8371637" y="4882896"/>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Risk</a:t>
            </a:r>
            <a:endParaRPr lang="en-US" sz="1050" dirty="0"/>
          </a:p>
        </p:txBody>
      </p:sp>
      <p:sp>
        <p:nvSpPr>
          <p:cNvPr id="100" name="Shape 95"/>
          <p:cNvSpPr/>
          <p:nvPr/>
        </p:nvSpPr>
        <p:spPr>
          <a:xfrm>
            <a:off x="10143439" y="4937760"/>
            <a:ext cx="146304" cy="146304"/>
          </a:xfrm>
          <a:prstGeom prst="ellipse">
            <a:avLst/>
          </a:prstGeom>
          <a:solidFill>
            <a:schemeClr val="tx1"/>
          </a:solidFill>
          <a:ln/>
        </p:spPr>
      </p:sp>
      <p:sp>
        <p:nvSpPr>
          <p:cNvPr id="101" name="Shape 96"/>
          <p:cNvSpPr/>
          <p:nvPr/>
        </p:nvSpPr>
        <p:spPr>
          <a:xfrm>
            <a:off x="10399471" y="4937760"/>
            <a:ext cx="146304" cy="146304"/>
          </a:xfrm>
          <a:prstGeom prst="ellipse">
            <a:avLst/>
          </a:prstGeom>
          <a:solidFill>
            <a:schemeClr val="tx1"/>
          </a:solidFill>
          <a:ln/>
        </p:spPr>
      </p:sp>
      <p:sp>
        <p:nvSpPr>
          <p:cNvPr id="102" name="Shape 97"/>
          <p:cNvSpPr/>
          <p:nvPr/>
        </p:nvSpPr>
        <p:spPr>
          <a:xfrm>
            <a:off x="10655503" y="4937760"/>
            <a:ext cx="146304" cy="146304"/>
          </a:xfrm>
          <a:prstGeom prst="ellipse">
            <a:avLst/>
          </a:prstGeom>
          <a:solidFill>
            <a:schemeClr val="accent4"/>
          </a:solidFill>
          <a:ln/>
        </p:spPr>
      </p:sp>
      <p:sp>
        <p:nvSpPr>
          <p:cNvPr id="103" name="Shape 98"/>
          <p:cNvSpPr/>
          <p:nvPr/>
        </p:nvSpPr>
        <p:spPr>
          <a:xfrm>
            <a:off x="10911535" y="4937760"/>
            <a:ext cx="146304" cy="146304"/>
          </a:xfrm>
          <a:prstGeom prst="ellipse">
            <a:avLst/>
          </a:prstGeom>
          <a:solidFill>
            <a:schemeClr val="accent4"/>
          </a:solidFill>
          <a:ln/>
        </p:spPr>
      </p:sp>
      <p:sp>
        <p:nvSpPr>
          <p:cNvPr id="104" name="Shape 99"/>
          <p:cNvSpPr/>
          <p:nvPr/>
        </p:nvSpPr>
        <p:spPr>
          <a:xfrm>
            <a:off x="11167567" y="4937760"/>
            <a:ext cx="146304" cy="146304"/>
          </a:xfrm>
          <a:prstGeom prst="ellipse">
            <a:avLst/>
          </a:prstGeom>
          <a:solidFill>
            <a:schemeClr val="accent4"/>
          </a:solidFill>
          <a:ln/>
        </p:spPr>
      </p:sp>
      <p:sp>
        <p:nvSpPr>
          <p:cNvPr id="105" name="Shape 100"/>
          <p:cNvSpPr/>
          <p:nvPr/>
        </p:nvSpPr>
        <p:spPr>
          <a:xfrm>
            <a:off x="8371637" y="5303520"/>
            <a:ext cx="2997098" cy="0"/>
          </a:xfrm>
          <a:prstGeom prst="line">
            <a:avLst/>
          </a:prstGeom>
          <a:noFill/>
          <a:ln w="9525">
            <a:solidFill>
              <a:schemeClr val="accent4"/>
            </a:solidFill>
            <a:prstDash val="solid"/>
          </a:ln>
        </p:spPr>
      </p:sp>
      <p:sp>
        <p:nvSpPr>
          <p:cNvPr id="106" name="Text 101"/>
          <p:cNvSpPr txBox="1"/>
          <p:nvPr/>
        </p:nvSpPr>
        <p:spPr>
          <a:xfrm>
            <a:off x="8371637" y="5394960"/>
            <a:ext cx="14630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$11M</a:t>
            </a:r>
            <a:endParaRPr lang="en-US" sz="1800" dirty="0"/>
          </a:p>
        </p:txBody>
      </p:sp>
      <p:sp>
        <p:nvSpPr>
          <p:cNvPr id="107" name="Text 102"/>
          <p:cNvSpPr txBox="1"/>
          <p:nvPr/>
        </p:nvSpPr>
        <p:spPr>
          <a:xfrm>
            <a:off x="8371637" y="5715000"/>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investment</a:t>
            </a:r>
            <a:endParaRPr lang="en-US" sz="900" dirty="0"/>
          </a:p>
        </p:txBody>
      </p:sp>
      <p:sp>
        <p:nvSpPr>
          <p:cNvPr id="108" name="Text 103"/>
          <p:cNvSpPr txBox="1"/>
          <p:nvPr/>
        </p:nvSpPr>
        <p:spPr>
          <a:xfrm>
            <a:off x="9905695" y="5394960"/>
            <a:ext cx="1463040" cy="365760"/>
          </a:xfrm>
          <a:prstGeom prst="rect">
            <a:avLst/>
          </a:prstGeom>
          <a:noFill/>
          <a:ln/>
        </p:spPr>
        <p:txBody>
          <a:bodyPr wrap="square" lIns="0" tIns="0" rIns="0" bIns="0" rtlCol="0" anchor="t"/>
          <a:lstStyle/>
          <a:p>
            <a:pPr algn="r" indent="0" marL="0">
              <a:buNone/>
            </a:pPr>
            <a:r>
              <a:rPr lang="en-US" sz="1800" dirty="0">
                <a:solidFill>
                  <a:schemeClr val="tx1"/>
                </a:solidFill>
                <a:latin typeface="Manrope ExtraBold" pitchFamily="34" charset="0"/>
                <a:ea typeface="Manrope ExtraBold" pitchFamily="34" charset="-122"/>
                <a:cs typeface="Manrope ExtraBold" pitchFamily="34" charset="-120"/>
              </a:rPr>
              <a:t>6 months</a:t>
            </a:r>
            <a:endParaRPr lang="en-US" sz="1800" dirty="0"/>
          </a:p>
        </p:txBody>
      </p:sp>
      <p:sp>
        <p:nvSpPr>
          <p:cNvPr id="109" name="Text 104"/>
          <p:cNvSpPr txBox="1"/>
          <p:nvPr/>
        </p:nvSpPr>
        <p:spPr>
          <a:xfrm>
            <a:off x="9905695" y="5715000"/>
            <a:ext cx="146304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to first revenue</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COMPARISON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Plan comparison: what each tier includes</a:t>
            </a:r>
            <a:endParaRPr lang="en-US" sz="28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566160"/>
                <a:gridCol w="2505456"/>
                <a:gridCol w="2505456"/>
                <a:gridCol w="2517343"/>
              </a:tblGrid>
              <a:tr h="502920">
                <a:tc>
                  <a:txBody>
                    <a:bodyPr/>
                    <a:lstStyle/>
                    <a:p>
                      <a:pPr algn="l" indent="0" marL="0">
                        <a:buNone/>
                      </a:pPr>
                      <a:r>
                        <a:rPr lang="en-US" sz="1300" b="1" dirty="0">
                          <a:solidFill>
                            <a:schemeClr val="accent3"/>
                          </a:solidFill>
                          <a:latin typeface="Manrope" pitchFamily="34" charset="0"/>
                          <a:ea typeface="Manrope" pitchFamily="34" charset="-122"/>
                          <a:cs typeface="Manrope" pitchFamily="34" charset="-120"/>
                        </a:rPr>
                        <a:t>Feature</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Manrope" pitchFamily="34" charset="0"/>
                          <a:ea typeface="Manrope" pitchFamily="34" charset="-122"/>
                          <a:cs typeface="Manrope" pitchFamily="34" charset="-120"/>
                        </a:rPr>
                        <a:t>Starter</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Manrope" pitchFamily="34" charset="0"/>
                          <a:ea typeface="Manrope" pitchFamily="34" charset="-122"/>
                          <a:cs typeface="Manrope" pitchFamily="34" charset="-120"/>
                        </a:rPr>
                        <a:t>Growth</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latin typeface="Manrope" pitchFamily="34" charset="0"/>
                          <a:ea typeface="Manrope" pitchFamily="34" charset="-122"/>
                          <a:cs typeface="Manrope" pitchFamily="34" charset="-120"/>
                        </a:rPr>
                        <a:t>Enterprise</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Price per seat / month</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tx1"/>
                          </a:solidFill>
                          <a:latin typeface="Manrope" pitchFamily="34" charset="0"/>
                          <a:ea typeface="Manrope" pitchFamily="34" charset="-122"/>
                          <a:cs typeface="Manrope" pitchFamily="34" charset="-120"/>
                        </a:rPr>
                        <a:t>$39</a:t>
                      </a:r>
                      <a:endParaRPr lang="en-US" sz="115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bg1"/>
                          </a:solidFill>
                          <a:latin typeface="Manrope" pitchFamily="34" charset="0"/>
                          <a:ea typeface="Manrope" pitchFamily="34" charset="-122"/>
                          <a:cs typeface="Manrope" pitchFamily="34" charset="-120"/>
                        </a:rPr>
                        <a:t>$79</a:t>
                      </a:r>
                      <a:endParaRPr lang="en-US" sz="115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b="1" dirty="0">
                          <a:solidFill>
                            <a:schemeClr val="tx1"/>
                          </a:solidFill>
                          <a:latin typeface="Manrope" pitchFamily="34" charset="0"/>
                          <a:ea typeface="Manrope" pitchFamily="34" charset="-122"/>
                          <a:cs typeface="Manrope" pitchFamily="34" charset="-120"/>
                        </a:rPr>
                        <a:t>Custom</a:t>
                      </a:r>
                      <a:endParaRPr lang="en-US" sz="115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Pipeline &amp; forecasting</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bg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AI deal scoring</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bg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Guided coaching</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bg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Integrations</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20</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bg1"/>
                          </a:solidFill>
                          <a:latin typeface="Inter" pitchFamily="34" charset="0"/>
                          <a:ea typeface="Inter" pitchFamily="34" charset="-122"/>
                          <a:cs typeface="Inter" pitchFamily="34" charset="-120"/>
                        </a:rPr>
                        <a:t>140+</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140+ &amp; custom</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SSO &amp; SCIM</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Data residency</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Support</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Email</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bg1"/>
                          </a:solidFill>
                          <a:latin typeface="Inter" pitchFamily="34" charset="0"/>
                          <a:ea typeface="Inter" pitchFamily="34" charset="-122"/>
                          <a:cs typeface="Inter" pitchFamily="34" charset="-120"/>
                        </a:rPr>
                        <a:t>Named CSM</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24/7 + TAM</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Uptime SLA</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bg1"/>
                          </a:solidFill>
                          <a:latin typeface="Inter" pitchFamily="34" charset="0"/>
                          <a:ea typeface="Inter" pitchFamily="34" charset="-122"/>
                          <a:cs typeface="Inter" pitchFamily="34" charset="-120"/>
                        </a:rPr>
                        <a:t>99.9%</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99.95%</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TABLES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Quarterly P&amp;L summary</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Unaudited, $K. Variance vs budget shown for the current quarter.</a:t>
            </a:r>
            <a:endParaRPr lang="en-US" sz="115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108960"/>
                <a:gridCol w="1325880"/>
                <a:gridCol w="1325880"/>
                <a:gridCol w="1325880"/>
                <a:gridCol w="1325880"/>
                <a:gridCol w="1325880"/>
                <a:gridCol w="1356055"/>
              </a:tblGrid>
              <a:tr h="457200">
                <a:tc>
                  <a:txBody>
                    <a:bodyPr/>
                    <a:lstStyle/>
                    <a:p>
                      <a:pPr algn="l" indent="0" marL="0">
                        <a:buNone/>
                      </a:pPr>
                      <a:r>
                        <a:rPr lang="en-US" sz="1000" dirty="0">
                          <a:solidFill>
                            <a:schemeClr val="bg1"/>
                          </a:solidFill>
                          <a:latin typeface="Inter Medium" pitchFamily="34" charset="0"/>
                          <a:ea typeface="Inter Medium" pitchFamily="34" charset="-122"/>
                          <a:cs typeface="Inter Medium" pitchFamily="34" charset="-120"/>
                        </a:rPr>
                        <a:t>$K</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Q4 2025</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Q1 2026</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Q2 2026</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Q3 2026</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Budget Q3</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Variance</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Subscription revenue</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7,210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8,440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9,760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11,350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10,900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6"/>
                          </a:solidFill>
                          <a:latin typeface="Inter" pitchFamily="34" charset="0"/>
                          <a:ea typeface="Inter" pitchFamily="34" charset="-122"/>
                          <a:cs typeface="Inter" pitchFamily="34" charset="-120"/>
                        </a:rPr>
                        <a:t>+4.1%</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Services revenue</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990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1,160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1,340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1,550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1,600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3"/>
                          </a:solidFill>
                          <a:latin typeface="Inter" pitchFamily="34" charset="0"/>
                          <a:ea typeface="Inter" pitchFamily="34" charset="-122"/>
                          <a:cs typeface="Inter" pitchFamily="34" charset="-120"/>
                        </a:rPr>
                        <a:t>−3.1%</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b="1" dirty="0">
                          <a:solidFill>
                            <a:schemeClr val="tx1"/>
                          </a:solidFill>
                          <a:latin typeface="Manrope" pitchFamily="34" charset="0"/>
                          <a:ea typeface="Manrope" pitchFamily="34" charset="-122"/>
                          <a:cs typeface="Manrope" pitchFamily="34" charset="-120"/>
                        </a:rPr>
                        <a:t>Total revenue</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8,200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9,600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11,100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12,900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12,500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accent6"/>
                          </a:solidFill>
                          <a:latin typeface="Manrope" pitchFamily="34" charset="0"/>
                          <a:ea typeface="Manrope" pitchFamily="34" charset="-122"/>
                          <a:cs typeface="Manrope" pitchFamily="34" charset="-120"/>
                        </a:rPr>
                        <a:t>+3.2%</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Cost of revenue</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(1,850)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(2,110)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(2,420)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(2,820)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(2,700)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3"/>
                          </a:solidFill>
                          <a:latin typeface="Inter" pitchFamily="34" charset="0"/>
                          <a:ea typeface="Inter" pitchFamily="34" charset="-122"/>
                          <a:cs typeface="Inter" pitchFamily="34" charset="-120"/>
                        </a:rPr>
                        <a:t>−4.4%</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b="1" dirty="0">
                          <a:solidFill>
                            <a:schemeClr val="tx1"/>
                          </a:solidFill>
                          <a:latin typeface="Manrope" pitchFamily="34" charset="0"/>
                          <a:ea typeface="Manrope" pitchFamily="34" charset="-122"/>
                          <a:cs typeface="Manrope" pitchFamily="34" charset="-120"/>
                        </a:rPr>
                        <a:t>Gross profit</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6,350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7,490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8,680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10,080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9,800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accent6"/>
                          </a:solidFill>
                          <a:latin typeface="Manrope" pitchFamily="34" charset="0"/>
                          <a:ea typeface="Manrope" pitchFamily="34" charset="-122"/>
                          <a:cs typeface="Manrope" pitchFamily="34" charset="-120"/>
                        </a:rPr>
                        <a:t>+2.9%</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Operating expenses</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(7,300)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(7,900)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(8,450)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(9,650)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(9,900)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6"/>
                          </a:solidFill>
                          <a:latin typeface="Inter" pitchFamily="34" charset="0"/>
                          <a:ea typeface="Inter" pitchFamily="34" charset="-122"/>
                          <a:cs typeface="Inter" pitchFamily="34" charset="-120"/>
                        </a:rPr>
                        <a:t>+2.5%</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b="1" dirty="0">
                          <a:solidFill>
                            <a:schemeClr val="tx1"/>
                          </a:solidFill>
                          <a:latin typeface="Manrope" pitchFamily="34" charset="0"/>
                          <a:ea typeface="Manrope" pitchFamily="34" charset="-122"/>
                          <a:cs typeface="Manrope" pitchFamily="34" charset="-120"/>
                        </a:rPr>
                        <a:t>EBITDA</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(950)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(410)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230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430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accent3"/>
                          </a:solidFill>
                          <a:latin typeface="Manrope" pitchFamily="34" charset="0"/>
                          <a:ea typeface="Manrope" pitchFamily="34" charset="-122"/>
                          <a:cs typeface="Manrope" pitchFamily="34" charset="-120"/>
                        </a:rPr>
                        <a:t>n.m.</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r>
            </a:tbl>
          </a:graphicData>
        </a:graphic>
      </p:graphicFrame>
      <p:sp>
        <p:nvSpPr>
          <p:cNvPr id="7" name="Text 4"/>
          <p:cNvSpPr txBox="1"/>
          <p:nvPr/>
        </p:nvSpPr>
        <p:spPr>
          <a:xfrm>
            <a:off x="548640" y="5715000"/>
            <a:ext cx="82296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Current quarter highlighted in lime. Brackets denote negative values. n.m. = not meaningful.</a:t>
            </a:r>
            <a:endParaRPr lang="en-US" sz="9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Bars and columns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Use bars to rank categories, columns to compare periods. Highlight one bar; mute the rest.</a:t>
            </a:r>
            <a:endParaRPr lang="en-US" sz="1150" dirty="0"/>
          </a:p>
        </p:txBody>
      </p:sp>
      <p:sp>
        <p:nvSpPr>
          <p:cNvPr id="6" name="Shape 4"/>
          <p:cNvSpPr/>
          <p:nvPr/>
        </p:nvSpPr>
        <p:spPr>
          <a:xfrm>
            <a:off x="548640" y="1874520"/>
            <a:ext cx="5432908" cy="4160520"/>
          </a:xfrm>
          <a:prstGeom prst="roundRect">
            <a:avLst>
              <a:gd name="adj" fmla="val 2198"/>
            </a:avLst>
          </a:prstGeom>
          <a:solidFill>
            <a:schemeClr val="bg2"/>
          </a:solidFill>
          <a:ln/>
        </p:spPr>
      </p:sp>
      <p:sp>
        <p:nvSpPr>
          <p:cNvPr id="7" name="Text 5"/>
          <p:cNvSpPr txBox="1"/>
          <p:nvPr/>
        </p:nvSpPr>
        <p:spPr>
          <a:xfrm>
            <a:off x="822960"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Ranked horizontal bar</a:t>
            </a:r>
            <a:endParaRPr lang="en-US" sz="1300" dirty="0"/>
          </a:p>
        </p:txBody>
      </p:sp>
      <p:sp>
        <p:nvSpPr>
          <p:cNvPr id="8" name="Text 6"/>
          <p:cNvSpPr txBox="1"/>
          <p:nvPr/>
        </p:nvSpPr>
        <p:spPr>
          <a:xfrm>
            <a:off x="822960"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Win rate by industry, %</a:t>
            </a:r>
            <a:endParaRPr lang="en-US" sz="950" dirty="0"/>
          </a:p>
        </p:txBody>
      </p:sp>
      <p:graphicFrame>
        <p:nvGraphicFramePr>
          <p:cNvPr id="9" name="Chart 0" descr=""/>
          <p:cNvGraphicFramePr/>
          <p:nvPr/>
        </p:nvGraphicFramePr>
        <p:xfrm>
          <a:off x="685800" y="2697480"/>
          <a:ext cx="5158588" cy="32004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210148" y="1874520"/>
            <a:ext cx="5432908" cy="4160520"/>
          </a:xfrm>
          <a:prstGeom prst="roundRect">
            <a:avLst>
              <a:gd name="adj" fmla="val 2198"/>
            </a:avLst>
          </a:prstGeom>
          <a:solidFill>
            <a:schemeClr val="bg2"/>
          </a:solidFill>
          <a:ln/>
        </p:spPr>
      </p:sp>
      <p:sp>
        <p:nvSpPr>
          <p:cNvPr id="11" name="Text 8"/>
          <p:cNvSpPr txBox="1"/>
          <p:nvPr/>
        </p:nvSpPr>
        <p:spPr>
          <a:xfrm>
            <a:off x="6484468"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Clustered column</a:t>
            </a:r>
            <a:endParaRPr lang="en-US" sz="1300" dirty="0"/>
          </a:p>
        </p:txBody>
      </p:sp>
      <p:sp>
        <p:nvSpPr>
          <p:cNvPr id="12" name="Text 9"/>
          <p:cNvSpPr txBox="1"/>
          <p:nvPr/>
        </p:nvSpPr>
        <p:spPr>
          <a:xfrm>
            <a:off x="6484468"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New customers by quarter, 2025 vs 2026</a:t>
            </a:r>
            <a:endParaRPr lang="en-US" sz="950" dirty="0"/>
          </a:p>
        </p:txBody>
      </p:sp>
      <p:graphicFrame>
        <p:nvGraphicFramePr>
          <p:cNvPr id="13" name="Chart 1" descr=""/>
          <p:cNvGraphicFramePr/>
          <p:nvPr/>
        </p:nvGraphicFramePr>
        <p:xfrm>
          <a:off x="6347308" y="2697480"/>
          <a:ext cx="5158588" cy="32004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Lines and areas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Lines for trends over time; stacked areas for composition over time. Limit to four series.</a:t>
            </a:r>
            <a:endParaRPr lang="en-US" sz="1150" dirty="0"/>
          </a:p>
        </p:txBody>
      </p:sp>
      <p:sp>
        <p:nvSpPr>
          <p:cNvPr id="6" name="Shape 4"/>
          <p:cNvSpPr/>
          <p:nvPr/>
        </p:nvSpPr>
        <p:spPr>
          <a:xfrm>
            <a:off x="548640" y="1874520"/>
            <a:ext cx="5432908" cy="4160520"/>
          </a:xfrm>
          <a:prstGeom prst="roundRect">
            <a:avLst>
              <a:gd name="adj" fmla="val 2198"/>
            </a:avLst>
          </a:prstGeom>
          <a:solidFill>
            <a:schemeClr val="bg2"/>
          </a:solidFill>
          <a:ln/>
        </p:spPr>
      </p:sp>
      <p:sp>
        <p:nvSpPr>
          <p:cNvPr id="7" name="Text 5"/>
          <p:cNvSpPr txBox="1"/>
          <p:nvPr/>
        </p:nvSpPr>
        <p:spPr>
          <a:xfrm>
            <a:off x="822960"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Multi-series line</a:t>
            </a:r>
            <a:endParaRPr lang="en-US" sz="1300" dirty="0"/>
          </a:p>
        </p:txBody>
      </p:sp>
      <p:sp>
        <p:nvSpPr>
          <p:cNvPr id="8" name="Text 6"/>
          <p:cNvSpPr txBox="1"/>
          <p:nvPr/>
        </p:nvSpPr>
        <p:spPr>
          <a:xfrm>
            <a:off x="822960"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Weekly active users by plan, thousands</a:t>
            </a:r>
            <a:endParaRPr lang="en-US" sz="950" dirty="0"/>
          </a:p>
        </p:txBody>
      </p:sp>
      <p:graphicFrame>
        <p:nvGraphicFramePr>
          <p:cNvPr id="9" name="Chart 0" descr=""/>
          <p:cNvGraphicFramePr/>
          <p:nvPr/>
        </p:nvGraphicFramePr>
        <p:xfrm>
          <a:off x="685800" y="2697480"/>
          <a:ext cx="5158588" cy="32004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210148" y="1874520"/>
            <a:ext cx="5432908" cy="4160520"/>
          </a:xfrm>
          <a:prstGeom prst="roundRect">
            <a:avLst>
              <a:gd name="adj" fmla="val 2198"/>
            </a:avLst>
          </a:prstGeom>
          <a:solidFill>
            <a:schemeClr val="bg2"/>
          </a:solidFill>
          <a:ln/>
        </p:spPr>
      </p:sp>
      <p:sp>
        <p:nvSpPr>
          <p:cNvPr id="11" name="Text 8"/>
          <p:cNvSpPr txBox="1"/>
          <p:nvPr/>
        </p:nvSpPr>
        <p:spPr>
          <a:xfrm>
            <a:off x="6484468"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Stacked area</a:t>
            </a:r>
            <a:endParaRPr lang="en-US" sz="1300" dirty="0"/>
          </a:p>
        </p:txBody>
      </p:sp>
      <p:sp>
        <p:nvSpPr>
          <p:cNvPr id="12" name="Text 9"/>
          <p:cNvSpPr txBox="1"/>
          <p:nvPr/>
        </p:nvSpPr>
        <p:spPr>
          <a:xfrm>
            <a:off x="6484468"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Revenue by product line, $M</a:t>
            </a:r>
            <a:endParaRPr lang="en-US" sz="950" dirty="0"/>
          </a:p>
        </p:txBody>
      </p:sp>
      <p:graphicFrame>
        <p:nvGraphicFramePr>
          <p:cNvPr id="13" name="Chart 1" descr=""/>
          <p:cNvGraphicFramePr/>
          <p:nvPr/>
        </p:nvGraphicFramePr>
        <p:xfrm>
          <a:off x="6347308" y="2697480"/>
          <a:ext cx="5158588" cy="32004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Proportions, profiles and progress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Pie for 2–3 parts, donut for up to 5, radar for profiles, rings for goal attainment.</a:t>
            </a:r>
            <a:endParaRPr lang="en-US" sz="1150" dirty="0"/>
          </a:p>
        </p:txBody>
      </p:sp>
      <p:sp>
        <p:nvSpPr>
          <p:cNvPr id="6" name="Shape 4"/>
          <p:cNvSpPr/>
          <p:nvPr/>
        </p:nvSpPr>
        <p:spPr>
          <a:xfrm>
            <a:off x="548640" y="1874520"/>
            <a:ext cx="2602154" cy="4160520"/>
          </a:xfrm>
          <a:prstGeom prst="roundRect">
            <a:avLst>
              <a:gd name="adj" fmla="val 3514"/>
            </a:avLst>
          </a:prstGeom>
          <a:solidFill>
            <a:schemeClr val="bg1"/>
          </a:solidFill>
          <a:ln/>
        </p:spPr>
      </p:sp>
      <p:sp>
        <p:nvSpPr>
          <p:cNvPr id="7" name="Text 5"/>
          <p:cNvSpPr txBox="1"/>
          <p:nvPr/>
        </p:nvSpPr>
        <p:spPr>
          <a:xfrm>
            <a:off x="822960"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Pie</a:t>
            </a:r>
            <a:endParaRPr lang="en-US" sz="1300" dirty="0"/>
          </a:p>
        </p:txBody>
      </p:sp>
      <p:sp>
        <p:nvSpPr>
          <p:cNvPr id="8" name="Text 6"/>
          <p:cNvSpPr txBox="1"/>
          <p:nvPr/>
        </p:nvSpPr>
        <p:spPr>
          <a:xfrm>
            <a:off x="822960"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Contract length</a:t>
            </a:r>
            <a:endParaRPr lang="en-US" sz="950" dirty="0"/>
          </a:p>
        </p:txBody>
      </p:sp>
      <p:graphicFrame>
        <p:nvGraphicFramePr>
          <p:cNvPr id="9" name="Chart 0" descr=""/>
          <p:cNvGraphicFramePr/>
          <p:nvPr/>
        </p:nvGraphicFramePr>
        <p:xfrm>
          <a:off x="685800" y="2697480"/>
          <a:ext cx="2327834" cy="31546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3379394" y="1874520"/>
            <a:ext cx="2602154" cy="4160520"/>
          </a:xfrm>
          <a:prstGeom prst="roundRect">
            <a:avLst>
              <a:gd name="adj" fmla="val 3514"/>
            </a:avLst>
          </a:prstGeom>
          <a:solidFill>
            <a:schemeClr val="bg1"/>
          </a:solidFill>
          <a:ln/>
        </p:spPr>
      </p:sp>
      <p:sp>
        <p:nvSpPr>
          <p:cNvPr id="11" name="Text 8"/>
          <p:cNvSpPr txBox="1"/>
          <p:nvPr/>
        </p:nvSpPr>
        <p:spPr>
          <a:xfrm>
            <a:off x="3653714"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Donut</a:t>
            </a:r>
            <a:endParaRPr lang="en-US" sz="1300" dirty="0"/>
          </a:p>
        </p:txBody>
      </p:sp>
      <p:sp>
        <p:nvSpPr>
          <p:cNvPr id="12" name="Text 9"/>
          <p:cNvSpPr txBox="1"/>
          <p:nvPr/>
        </p:nvSpPr>
        <p:spPr>
          <a:xfrm>
            <a:off x="3653714"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Seats by role</a:t>
            </a:r>
            <a:endParaRPr lang="en-US" sz="950" dirty="0"/>
          </a:p>
        </p:txBody>
      </p:sp>
      <p:graphicFrame>
        <p:nvGraphicFramePr>
          <p:cNvPr id="13" name="Chart 1" descr=""/>
          <p:cNvGraphicFramePr/>
          <p:nvPr/>
        </p:nvGraphicFramePr>
        <p:xfrm>
          <a:off x="3516554" y="2697480"/>
          <a:ext cx="2327834" cy="315468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6210148" y="1874520"/>
            <a:ext cx="2602154" cy="4160520"/>
          </a:xfrm>
          <a:prstGeom prst="roundRect">
            <a:avLst>
              <a:gd name="adj" fmla="val 3514"/>
            </a:avLst>
          </a:prstGeom>
          <a:solidFill>
            <a:schemeClr val="bg1"/>
          </a:solidFill>
          <a:ln/>
        </p:spPr>
      </p:sp>
      <p:sp>
        <p:nvSpPr>
          <p:cNvPr id="15" name="Text 11"/>
          <p:cNvSpPr txBox="1"/>
          <p:nvPr/>
        </p:nvSpPr>
        <p:spPr>
          <a:xfrm>
            <a:off x="6484468"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Radar</a:t>
            </a:r>
            <a:endParaRPr lang="en-US" sz="1300" dirty="0"/>
          </a:p>
        </p:txBody>
      </p:sp>
      <p:sp>
        <p:nvSpPr>
          <p:cNvPr id="16" name="Text 12"/>
          <p:cNvSpPr txBox="1"/>
          <p:nvPr/>
        </p:nvSpPr>
        <p:spPr>
          <a:xfrm>
            <a:off x="6484468"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Team skills profile</a:t>
            </a:r>
            <a:endParaRPr lang="en-US" sz="950" dirty="0"/>
          </a:p>
        </p:txBody>
      </p:sp>
      <p:graphicFrame>
        <p:nvGraphicFramePr>
          <p:cNvPr id="17" name="Chart 2" descr=""/>
          <p:cNvGraphicFramePr/>
          <p:nvPr/>
        </p:nvGraphicFramePr>
        <p:xfrm>
          <a:off x="6301588" y="2697480"/>
          <a:ext cx="2419274" cy="3154680"/>
        </p:xfrm>
        <a:graphic xmlns:a="http://schemas.openxmlformats.org/drawingml/2006/main">
          <a:graphicData uri="http://schemas.openxmlformats.org/drawingml/2006/chart">
            <c:chart xmlns:c="http://schemas.openxmlformats.org/drawingml/2006/chart" r:id="rId3"/>
          </a:graphicData>
        </a:graphic>
      </p:graphicFrame>
      <p:sp>
        <p:nvSpPr>
          <p:cNvPr id="18" name="Shape 13"/>
          <p:cNvSpPr/>
          <p:nvPr/>
        </p:nvSpPr>
        <p:spPr>
          <a:xfrm>
            <a:off x="9040901" y="1874520"/>
            <a:ext cx="2602154" cy="4160520"/>
          </a:xfrm>
          <a:prstGeom prst="roundRect">
            <a:avLst>
              <a:gd name="adj" fmla="val 3514"/>
            </a:avLst>
          </a:prstGeom>
          <a:solidFill>
            <a:schemeClr val="bg1"/>
          </a:solidFill>
          <a:ln/>
        </p:spPr>
      </p:sp>
      <p:sp>
        <p:nvSpPr>
          <p:cNvPr id="19" name="Text 14"/>
          <p:cNvSpPr txBox="1"/>
          <p:nvPr/>
        </p:nvSpPr>
        <p:spPr>
          <a:xfrm>
            <a:off x="9315221"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Progress rings</a:t>
            </a:r>
            <a:endParaRPr lang="en-US" sz="1300" dirty="0"/>
          </a:p>
        </p:txBody>
      </p:sp>
      <p:sp>
        <p:nvSpPr>
          <p:cNvPr id="20" name="Text 15"/>
          <p:cNvSpPr txBox="1"/>
          <p:nvPr/>
        </p:nvSpPr>
        <p:spPr>
          <a:xfrm>
            <a:off x="9315221"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Annual goal attainment</a:t>
            </a:r>
            <a:endParaRPr lang="en-US" sz="950" dirty="0"/>
          </a:p>
        </p:txBody>
      </p:sp>
      <p:sp>
        <p:nvSpPr>
          <p:cNvPr id="21" name="Shape 16"/>
          <p:cNvSpPr/>
          <p:nvPr/>
        </p:nvSpPr>
        <p:spPr>
          <a:xfrm>
            <a:off x="9679038" y="2743200"/>
            <a:ext cx="1325880" cy="1325880"/>
          </a:xfrm>
          <a:prstGeom prst="blockArc">
            <a:avLst>
              <a:gd name="adj1" fmla="val 0"/>
              <a:gd name="adj2" fmla="val 21594000"/>
              <a:gd name="adj3" fmla="val 11000"/>
            </a:avLst>
          </a:prstGeom>
          <a:solidFill>
            <a:schemeClr val="bg2"/>
          </a:solidFill>
          <a:ln/>
        </p:spPr>
      </p:sp>
      <p:sp>
        <p:nvSpPr>
          <p:cNvPr id="22" name="Shape 17"/>
          <p:cNvSpPr/>
          <p:nvPr/>
        </p:nvSpPr>
        <p:spPr>
          <a:xfrm>
            <a:off x="9679038" y="2743200"/>
            <a:ext cx="1325880" cy="1325880"/>
          </a:xfrm>
          <a:prstGeom prst="blockArc">
            <a:avLst>
              <a:gd name="adj1" fmla="val 16200000"/>
              <a:gd name="adj2" fmla="val 12096000"/>
              <a:gd name="adj3" fmla="val 11000"/>
            </a:avLst>
          </a:prstGeom>
          <a:solidFill>
            <a:schemeClr val="tx1"/>
          </a:solidFill>
          <a:ln/>
        </p:spPr>
      </p:sp>
      <p:sp>
        <p:nvSpPr>
          <p:cNvPr id="23" name="Text 18"/>
          <p:cNvSpPr txBox="1"/>
          <p:nvPr/>
        </p:nvSpPr>
        <p:spPr>
          <a:xfrm>
            <a:off x="9679038" y="3177540"/>
            <a:ext cx="1325880" cy="457200"/>
          </a:xfrm>
          <a:prstGeom prst="rect">
            <a:avLst/>
          </a:prstGeom>
          <a:noFill/>
          <a:ln/>
        </p:spPr>
        <p:txBody>
          <a:bodyPr wrap="square" lIns="0" tIns="0" rIns="0" bIns="0" rtlCol="0" anchor="ctr"/>
          <a:lstStyle/>
          <a:p>
            <a:pPr algn="ctr" indent="0" marL="0">
              <a:buNone/>
            </a:pPr>
            <a:r>
              <a:rPr lang="en-US" sz="1800" dirty="0">
                <a:solidFill>
                  <a:schemeClr val="tx1"/>
                </a:solidFill>
                <a:latin typeface="Manrope ExtraBold" pitchFamily="34" charset="0"/>
                <a:ea typeface="Manrope ExtraBold" pitchFamily="34" charset="-122"/>
                <a:cs typeface="Manrope ExtraBold" pitchFamily="34" charset="-120"/>
              </a:rPr>
              <a:t>81%</a:t>
            </a:r>
            <a:endParaRPr lang="en-US" sz="1800" dirty="0"/>
          </a:p>
        </p:txBody>
      </p:sp>
      <p:sp>
        <p:nvSpPr>
          <p:cNvPr id="24" name="Text 19"/>
          <p:cNvSpPr txBox="1"/>
          <p:nvPr/>
        </p:nvSpPr>
        <p:spPr>
          <a:xfrm>
            <a:off x="9223781" y="4087368"/>
            <a:ext cx="2236394" cy="228600"/>
          </a:xfrm>
          <a:prstGeom prst="rect">
            <a:avLst/>
          </a:prstGeom>
          <a:noFill/>
          <a:ln/>
        </p:spPr>
        <p:txBody>
          <a:bodyPr wrap="square" lIns="0" tIns="0" rIns="0" bIns="0" rtlCol="0" anchor="t"/>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Revenue</a:t>
            </a:r>
            <a:endParaRPr lang="en-US" sz="1000" dirty="0"/>
          </a:p>
        </p:txBody>
      </p:sp>
      <p:sp>
        <p:nvSpPr>
          <p:cNvPr id="25" name="Shape 20"/>
          <p:cNvSpPr/>
          <p:nvPr/>
        </p:nvSpPr>
        <p:spPr>
          <a:xfrm>
            <a:off x="9679038" y="4389120"/>
            <a:ext cx="1325880" cy="1325880"/>
          </a:xfrm>
          <a:prstGeom prst="blockArc">
            <a:avLst>
              <a:gd name="adj1" fmla="val 0"/>
              <a:gd name="adj2" fmla="val 21594000"/>
              <a:gd name="adj3" fmla="val 11000"/>
            </a:avLst>
          </a:prstGeom>
          <a:solidFill>
            <a:schemeClr val="bg2"/>
          </a:solidFill>
          <a:ln/>
        </p:spPr>
      </p:sp>
      <p:sp>
        <p:nvSpPr>
          <p:cNvPr id="26" name="Shape 21"/>
          <p:cNvSpPr/>
          <p:nvPr/>
        </p:nvSpPr>
        <p:spPr>
          <a:xfrm>
            <a:off x="9679038" y="4389120"/>
            <a:ext cx="1325880" cy="1325880"/>
          </a:xfrm>
          <a:prstGeom prst="blockArc">
            <a:avLst>
              <a:gd name="adj1" fmla="val 16200000"/>
              <a:gd name="adj2" fmla="val 10584000"/>
              <a:gd name="adj3" fmla="val 11000"/>
            </a:avLst>
          </a:prstGeom>
          <a:solidFill>
            <a:schemeClr val="accent2"/>
          </a:solidFill>
          <a:ln/>
        </p:spPr>
      </p:sp>
      <p:sp>
        <p:nvSpPr>
          <p:cNvPr id="27" name="Text 22"/>
          <p:cNvSpPr txBox="1"/>
          <p:nvPr/>
        </p:nvSpPr>
        <p:spPr>
          <a:xfrm>
            <a:off x="9679038" y="4823460"/>
            <a:ext cx="1325880" cy="457200"/>
          </a:xfrm>
          <a:prstGeom prst="rect">
            <a:avLst/>
          </a:prstGeom>
          <a:noFill/>
          <a:ln/>
        </p:spPr>
        <p:txBody>
          <a:bodyPr wrap="square" lIns="0" tIns="0" rIns="0" bIns="0" rtlCol="0" anchor="ctr"/>
          <a:lstStyle/>
          <a:p>
            <a:pPr algn="ctr" indent="0" marL="0">
              <a:buNone/>
            </a:pPr>
            <a:r>
              <a:rPr lang="en-US" sz="1800" dirty="0">
                <a:solidFill>
                  <a:schemeClr val="tx1"/>
                </a:solidFill>
                <a:latin typeface="Manrope ExtraBold" pitchFamily="34" charset="0"/>
                <a:ea typeface="Manrope ExtraBold" pitchFamily="34" charset="-122"/>
                <a:cs typeface="Manrope ExtraBold" pitchFamily="34" charset="-120"/>
              </a:rPr>
              <a:t>74%</a:t>
            </a:r>
            <a:endParaRPr lang="en-US" sz="1800" dirty="0"/>
          </a:p>
        </p:txBody>
      </p:sp>
      <p:sp>
        <p:nvSpPr>
          <p:cNvPr id="28" name="Text 23"/>
          <p:cNvSpPr txBox="1"/>
          <p:nvPr/>
        </p:nvSpPr>
        <p:spPr>
          <a:xfrm>
            <a:off x="9223781" y="5733288"/>
            <a:ext cx="2236394" cy="228600"/>
          </a:xfrm>
          <a:prstGeom prst="rect">
            <a:avLst/>
          </a:prstGeom>
          <a:noFill/>
          <a:ln/>
        </p:spPr>
        <p:txBody>
          <a:bodyPr wrap="square" lIns="0" tIns="0" rIns="0" bIns="0" rtlCol="0" anchor="t"/>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Logos</a:t>
            </a:r>
            <a:endParaRPr lang="en-US" sz="1000" dirty="0"/>
          </a:p>
        </p:txBody>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Combinations, compositions and correlations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Combo charts pair volume with rate; bubbles add a third dimension.</a:t>
            </a:r>
            <a:endParaRPr lang="en-US" sz="1150" dirty="0"/>
          </a:p>
        </p:txBody>
      </p:sp>
      <p:sp>
        <p:nvSpPr>
          <p:cNvPr id="6" name="Shape 4"/>
          <p:cNvSpPr/>
          <p:nvPr/>
        </p:nvSpPr>
        <p:spPr>
          <a:xfrm>
            <a:off x="548640" y="1874520"/>
            <a:ext cx="3545738" cy="4160520"/>
          </a:xfrm>
          <a:prstGeom prst="roundRect">
            <a:avLst>
              <a:gd name="adj" fmla="val 2579"/>
            </a:avLst>
          </a:prstGeom>
          <a:solidFill>
            <a:schemeClr val="bg2"/>
          </a:solidFill>
          <a:ln/>
        </p:spPr>
      </p:sp>
      <p:sp>
        <p:nvSpPr>
          <p:cNvPr id="7" name="Text 5"/>
          <p:cNvSpPr txBox="1"/>
          <p:nvPr/>
        </p:nvSpPr>
        <p:spPr>
          <a:xfrm>
            <a:off x="822960" y="2075688"/>
            <a:ext cx="29970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Column + line combo</a:t>
            </a:r>
            <a:endParaRPr lang="en-US" sz="1300" dirty="0"/>
          </a:p>
        </p:txBody>
      </p:sp>
      <p:sp>
        <p:nvSpPr>
          <p:cNvPr id="8" name="Text 6"/>
          <p:cNvSpPr txBox="1"/>
          <p:nvPr/>
        </p:nvSpPr>
        <p:spPr>
          <a:xfrm>
            <a:off x="822960" y="2350008"/>
            <a:ext cx="299709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Deals won and win rate</a:t>
            </a:r>
            <a:endParaRPr lang="en-US" sz="950" dirty="0"/>
          </a:p>
        </p:txBody>
      </p:sp>
      <p:graphicFrame>
        <p:nvGraphicFramePr>
          <p:cNvPr id="9" name="Chart 0" descr=""/>
          <p:cNvGraphicFramePr/>
          <p:nvPr/>
        </p:nvGraphicFramePr>
        <p:xfrm>
          <a:off x="640080" y="2697480"/>
          <a:ext cx="3362858" cy="32004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322978" y="1874520"/>
            <a:ext cx="3545738" cy="4160520"/>
          </a:xfrm>
          <a:prstGeom prst="roundRect">
            <a:avLst>
              <a:gd name="adj" fmla="val 2579"/>
            </a:avLst>
          </a:prstGeom>
          <a:solidFill>
            <a:schemeClr val="bg2"/>
          </a:solidFill>
          <a:ln/>
        </p:spPr>
      </p:sp>
      <p:sp>
        <p:nvSpPr>
          <p:cNvPr id="11" name="Text 8"/>
          <p:cNvSpPr txBox="1"/>
          <p:nvPr/>
        </p:nvSpPr>
        <p:spPr>
          <a:xfrm>
            <a:off x="4597298" y="2075688"/>
            <a:ext cx="29970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100% stacked column</a:t>
            </a:r>
            <a:endParaRPr lang="en-US" sz="1300" dirty="0"/>
          </a:p>
        </p:txBody>
      </p:sp>
      <p:sp>
        <p:nvSpPr>
          <p:cNvPr id="12" name="Text 9"/>
          <p:cNvSpPr txBox="1"/>
          <p:nvPr/>
        </p:nvSpPr>
        <p:spPr>
          <a:xfrm>
            <a:off x="4597298" y="2350008"/>
            <a:ext cx="299709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Deal stage mix by region</a:t>
            </a:r>
            <a:endParaRPr lang="en-US" sz="950" dirty="0"/>
          </a:p>
        </p:txBody>
      </p:sp>
      <p:graphicFrame>
        <p:nvGraphicFramePr>
          <p:cNvPr id="13" name="Chart 1" descr=""/>
          <p:cNvGraphicFramePr/>
          <p:nvPr/>
        </p:nvGraphicFramePr>
        <p:xfrm>
          <a:off x="4414418" y="2697480"/>
          <a:ext cx="3362858" cy="320040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8097317" y="1874520"/>
            <a:ext cx="3545738" cy="4160520"/>
          </a:xfrm>
          <a:prstGeom prst="roundRect">
            <a:avLst>
              <a:gd name="adj" fmla="val 2579"/>
            </a:avLst>
          </a:prstGeom>
          <a:solidFill>
            <a:schemeClr val="bg2"/>
          </a:solidFill>
          <a:ln/>
        </p:spPr>
      </p:sp>
      <p:sp>
        <p:nvSpPr>
          <p:cNvPr id="15" name="Text 11"/>
          <p:cNvSpPr txBox="1"/>
          <p:nvPr/>
        </p:nvSpPr>
        <p:spPr>
          <a:xfrm>
            <a:off x="8371637" y="2075688"/>
            <a:ext cx="29970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Bubble</a:t>
            </a:r>
            <a:endParaRPr lang="en-US" sz="1300" dirty="0"/>
          </a:p>
        </p:txBody>
      </p:sp>
      <p:sp>
        <p:nvSpPr>
          <p:cNvPr id="16" name="Text 12"/>
          <p:cNvSpPr txBox="1"/>
          <p:nvPr/>
        </p:nvSpPr>
        <p:spPr>
          <a:xfrm>
            <a:off x="8371637" y="2350008"/>
            <a:ext cx="299709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Segment size vs growth (bubble = ARR)</a:t>
            </a:r>
            <a:endParaRPr lang="en-US" sz="950" dirty="0"/>
          </a:p>
        </p:txBody>
      </p:sp>
      <p:graphicFrame>
        <p:nvGraphicFramePr>
          <p:cNvPr id="17" name="Chart 2" descr=""/>
          <p:cNvGraphicFramePr/>
          <p:nvPr/>
        </p:nvGraphicFramePr>
        <p:xfrm>
          <a:off x="8188757" y="2697480"/>
          <a:ext cx="3362858" cy="320040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Shape 0"/>
          <p:cNvSpPr/>
          <p:nvPr/>
        </p:nvSpPr>
        <p:spPr>
          <a:xfrm>
            <a:off x="548640" y="617220"/>
            <a:ext cx="91440" cy="91440"/>
          </a:xfrm>
          <a:prstGeom prst="rect">
            <a:avLst/>
          </a:prstGeom>
          <a:solidFill>
            <a:schemeClr val="accent1"/>
          </a:solidFill>
          <a:ln/>
        </p:spPr>
      </p:sp>
      <p:sp>
        <p:nvSpPr>
          <p:cNvPr id="3" name="Text 1"/>
          <p:cNvSpPr txBox="1"/>
          <p:nvPr/>
        </p:nvSpPr>
        <p:spPr>
          <a:xfrm>
            <a:off x="731520" y="54864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14 · CLOSING · CUSTOMER VOICE</a:t>
            </a:r>
            <a:endParaRPr lang="en-US" sz="950" dirty="0"/>
          </a:p>
        </p:txBody>
      </p:sp>
      <p:pic>
        <p:nvPicPr>
          <p:cNvPr id="4" name="Icon PiQuotes C6F432"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548640" y="1371600"/>
            <a:ext cx="822960" cy="822960"/>
          </a:xfrm>
          <a:prstGeom prst="rect">
            <a:avLst/>
          </a:prstGeom>
        </p:spPr>
      </p:pic>
      <p:sp>
        <p:nvSpPr>
          <p:cNvPr id="5" name="Text 2"/>
          <p:cNvSpPr txBox="1"/>
          <p:nvPr/>
        </p:nvSpPr>
        <p:spPr>
          <a:xfrm>
            <a:off x="548640" y="2377440"/>
            <a:ext cx="8263661" cy="2194560"/>
          </a:xfrm>
          <a:prstGeom prst="rect">
            <a:avLst/>
          </a:prstGeom>
          <a:noFill/>
          <a:ln/>
        </p:spPr>
        <p:txBody>
          <a:bodyPr wrap="square" lIns="0" tIns="0" rIns="0" bIns="0" rtlCol="0" anchor="t"/>
          <a:lstStyle/>
          <a:p>
            <a:pPr algn="l" indent="0" marL="0">
              <a:lnSpc>
                <a:spcPct val="110000"/>
              </a:lnSpc>
              <a:buNone/>
            </a:pPr>
            <a:r>
              <a:rPr lang="en-US" sz="3600" b="1" dirty="0">
                <a:solidFill>
                  <a:schemeClr val="bg1"/>
                </a:solidFill>
                <a:latin typeface="Manrope" pitchFamily="34" charset="0"/>
                <a:ea typeface="Manrope" pitchFamily="34" charset="-122"/>
                <a:cs typeface="Manrope" pitchFamily="34" charset="-120"/>
              </a:rPr>
              <a:t>Corvanta didn’t just change our forecast. It changed how the whole company talks about revenue.</a:t>
            </a:r>
            <a:endParaRPr lang="en-US" sz="3600" dirty="0"/>
          </a:p>
        </p:txBody>
      </p:sp>
      <p:sp>
        <p:nvSpPr>
          <p:cNvPr id="6" name="Shape 3"/>
          <p:cNvSpPr/>
          <p:nvPr/>
        </p:nvSpPr>
        <p:spPr>
          <a:xfrm>
            <a:off x="548640" y="4983480"/>
            <a:ext cx="731520" cy="0"/>
          </a:xfrm>
          <a:prstGeom prst="line">
            <a:avLst/>
          </a:prstGeom>
          <a:noFill/>
          <a:ln w="31750">
            <a:solidFill>
              <a:schemeClr val="accent1"/>
            </a:solidFill>
            <a:prstDash val="solid"/>
          </a:ln>
        </p:spPr>
      </p:sp>
      <p:sp>
        <p:nvSpPr>
          <p:cNvPr id="7" name="Text 4"/>
          <p:cNvSpPr txBox="1"/>
          <p:nvPr/>
        </p:nvSpPr>
        <p:spPr>
          <a:xfrm>
            <a:off x="548640" y="5166360"/>
            <a:ext cx="4572000" cy="274320"/>
          </a:xfrm>
          <a:prstGeom prst="rect">
            <a:avLst/>
          </a:prstGeom>
          <a:noFill/>
          <a:ln/>
        </p:spPr>
        <p:txBody>
          <a:bodyPr wrap="square" lIns="0" tIns="0" rIns="0" bIns="0" rtlCol="0" anchor="t"/>
          <a:lstStyle/>
          <a:p>
            <a:pPr algn="l" indent="0" marL="0">
              <a:buNone/>
            </a:pPr>
            <a:r>
              <a:rPr lang="en-US" sz="1300" dirty="0">
                <a:solidFill>
                  <a:schemeClr val="bg1"/>
                </a:solidFill>
                <a:latin typeface="Inter Medium" pitchFamily="34" charset="0"/>
                <a:ea typeface="Inter Medium" pitchFamily="34" charset="-122"/>
                <a:cs typeface="Inter Medium" pitchFamily="34" charset="-120"/>
              </a:rPr>
              <a:t>Chief Executive Officer</a:t>
            </a:r>
            <a:endParaRPr lang="en-US" sz="1300" dirty="0"/>
          </a:p>
        </p:txBody>
      </p:sp>
      <p:sp>
        <p:nvSpPr>
          <p:cNvPr id="8" name="Text 5"/>
          <p:cNvSpPr txBox="1"/>
          <p:nvPr/>
        </p:nvSpPr>
        <p:spPr>
          <a:xfrm>
            <a:off x="548640" y="5458968"/>
            <a:ext cx="5486400" cy="274320"/>
          </a:xfrm>
          <a:prstGeom prst="rect">
            <a:avLst/>
          </a:prstGeom>
          <a:noFill/>
          <a:ln/>
        </p:spPr>
        <p:txBody>
          <a:bodyPr wrap="square" lIns="0" tIns="0" rIns="0" bIns="0" rtlCol="0" anchor="t"/>
          <a:lstStyle/>
          <a:p>
            <a:pPr algn="l" indent="0" marL="0">
              <a:buNone/>
            </a:pPr>
            <a:r>
              <a:rPr lang="en-US" sz="1100" dirty="0">
                <a:solidFill>
                  <a:schemeClr val="accent4"/>
                </a:solidFill>
                <a:latin typeface="Inter" pitchFamily="34" charset="0"/>
                <a:ea typeface="Inter" pitchFamily="34" charset="-122"/>
                <a:cs typeface="Inter" pitchFamily="34" charset="-120"/>
              </a:rPr>
              <a:t>Brightline Retail Group · customer since 2021</a:t>
            </a:r>
            <a:endParaRPr lang="en-US" sz="1100" dirty="0"/>
          </a:p>
        </p:txBody>
      </p:sp>
      <p:sp>
        <p:nvSpPr>
          <p:cNvPr id="9" name="Shape 6"/>
          <p:cNvSpPr/>
          <p:nvPr/>
        </p:nvSpPr>
        <p:spPr>
          <a:xfrm>
            <a:off x="9859975" y="1417320"/>
            <a:ext cx="64008" cy="64008"/>
          </a:xfrm>
          <a:prstGeom prst="ellipse">
            <a:avLst/>
          </a:prstGeom>
          <a:solidFill>
            <a:schemeClr val="accent2"/>
          </a:solidFill>
          <a:ln/>
        </p:spPr>
      </p:sp>
      <p:sp>
        <p:nvSpPr>
          <p:cNvPr id="10" name="Shape 7"/>
          <p:cNvSpPr/>
          <p:nvPr/>
        </p:nvSpPr>
        <p:spPr>
          <a:xfrm>
            <a:off x="9859975" y="1673352"/>
            <a:ext cx="64008" cy="64008"/>
          </a:xfrm>
          <a:prstGeom prst="ellipse">
            <a:avLst/>
          </a:prstGeom>
          <a:solidFill>
            <a:schemeClr val="accent2"/>
          </a:solidFill>
          <a:ln/>
        </p:spPr>
      </p:sp>
      <p:sp>
        <p:nvSpPr>
          <p:cNvPr id="11" name="Shape 8"/>
          <p:cNvSpPr/>
          <p:nvPr/>
        </p:nvSpPr>
        <p:spPr>
          <a:xfrm>
            <a:off x="9859975" y="1929384"/>
            <a:ext cx="64008" cy="64008"/>
          </a:xfrm>
          <a:prstGeom prst="ellipse">
            <a:avLst/>
          </a:prstGeom>
          <a:solidFill>
            <a:schemeClr val="accent2"/>
          </a:solidFill>
          <a:ln/>
        </p:spPr>
      </p:sp>
      <p:sp>
        <p:nvSpPr>
          <p:cNvPr id="12" name="Shape 9"/>
          <p:cNvSpPr/>
          <p:nvPr/>
        </p:nvSpPr>
        <p:spPr>
          <a:xfrm>
            <a:off x="9859975" y="2185416"/>
            <a:ext cx="64008" cy="64008"/>
          </a:xfrm>
          <a:prstGeom prst="ellipse">
            <a:avLst/>
          </a:prstGeom>
          <a:solidFill>
            <a:schemeClr val="accent2"/>
          </a:solidFill>
          <a:ln/>
        </p:spPr>
      </p:sp>
      <p:sp>
        <p:nvSpPr>
          <p:cNvPr id="13" name="Shape 10"/>
          <p:cNvSpPr/>
          <p:nvPr/>
        </p:nvSpPr>
        <p:spPr>
          <a:xfrm>
            <a:off x="9859975" y="2441448"/>
            <a:ext cx="64008" cy="64008"/>
          </a:xfrm>
          <a:prstGeom prst="ellipse">
            <a:avLst/>
          </a:prstGeom>
          <a:solidFill>
            <a:schemeClr val="accent2"/>
          </a:solidFill>
          <a:ln/>
        </p:spPr>
      </p:sp>
      <p:sp>
        <p:nvSpPr>
          <p:cNvPr id="14" name="Shape 11"/>
          <p:cNvSpPr/>
          <p:nvPr/>
        </p:nvSpPr>
        <p:spPr>
          <a:xfrm>
            <a:off x="10116007" y="1417320"/>
            <a:ext cx="64008" cy="64008"/>
          </a:xfrm>
          <a:prstGeom prst="ellipse">
            <a:avLst/>
          </a:prstGeom>
          <a:solidFill>
            <a:schemeClr val="accent2"/>
          </a:solidFill>
          <a:ln/>
        </p:spPr>
      </p:sp>
      <p:sp>
        <p:nvSpPr>
          <p:cNvPr id="15" name="Shape 12"/>
          <p:cNvSpPr/>
          <p:nvPr/>
        </p:nvSpPr>
        <p:spPr>
          <a:xfrm>
            <a:off x="10116007" y="1673352"/>
            <a:ext cx="64008" cy="64008"/>
          </a:xfrm>
          <a:prstGeom prst="ellipse">
            <a:avLst/>
          </a:prstGeom>
          <a:solidFill>
            <a:schemeClr val="accent2"/>
          </a:solidFill>
          <a:ln/>
        </p:spPr>
      </p:sp>
      <p:sp>
        <p:nvSpPr>
          <p:cNvPr id="16" name="Shape 13"/>
          <p:cNvSpPr/>
          <p:nvPr/>
        </p:nvSpPr>
        <p:spPr>
          <a:xfrm>
            <a:off x="10116007" y="1929384"/>
            <a:ext cx="64008" cy="64008"/>
          </a:xfrm>
          <a:prstGeom prst="ellipse">
            <a:avLst/>
          </a:prstGeom>
          <a:solidFill>
            <a:schemeClr val="accent2"/>
          </a:solidFill>
          <a:ln/>
        </p:spPr>
      </p:sp>
      <p:sp>
        <p:nvSpPr>
          <p:cNvPr id="17" name="Shape 14"/>
          <p:cNvSpPr/>
          <p:nvPr/>
        </p:nvSpPr>
        <p:spPr>
          <a:xfrm>
            <a:off x="10116007" y="2185416"/>
            <a:ext cx="64008" cy="64008"/>
          </a:xfrm>
          <a:prstGeom prst="ellipse">
            <a:avLst/>
          </a:prstGeom>
          <a:solidFill>
            <a:schemeClr val="accent2"/>
          </a:solidFill>
          <a:ln/>
        </p:spPr>
      </p:sp>
      <p:sp>
        <p:nvSpPr>
          <p:cNvPr id="18" name="Shape 15"/>
          <p:cNvSpPr/>
          <p:nvPr/>
        </p:nvSpPr>
        <p:spPr>
          <a:xfrm>
            <a:off x="10116007" y="2441448"/>
            <a:ext cx="64008" cy="64008"/>
          </a:xfrm>
          <a:prstGeom prst="ellipse">
            <a:avLst/>
          </a:prstGeom>
          <a:solidFill>
            <a:schemeClr val="accent2"/>
          </a:solidFill>
          <a:ln/>
        </p:spPr>
      </p:sp>
      <p:sp>
        <p:nvSpPr>
          <p:cNvPr id="19" name="Shape 16"/>
          <p:cNvSpPr/>
          <p:nvPr/>
        </p:nvSpPr>
        <p:spPr>
          <a:xfrm>
            <a:off x="10372039" y="1417320"/>
            <a:ext cx="64008" cy="64008"/>
          </a:xfrm>
          <a:prstGeom prst="ellipse">
            <a:avLst/>
          </a:prstGeom>
          <a:solidFill>
            <a:schemeClr val="accent2"/>
          </a:solidFill>
          <a:ln/>
        </p:spPr>
      </p:sp>
      <p:sp>
        <p:nvSpPr>
          <p:cNvPr id="20" name="Shape 17"/>
          <p:cNvSpPr/>
          <p:nvPr/>
        </p:nvSpPr>
        <p:spPr>
          <a:xfrm>
            <a:off x="10372039" y="1673352"/>
            <a:ext cx="64008" cy="64008"/>
          </a:xfrm>
          <a:prstGeom prst="ellipse">
            <a:avLst/>
          </a:prstGeom>
          <a:solidFill>
            <a:schemeClr val="accent2"/>
          </a:solidFill>
          <a:ln/>
        </p:spPr>
      </p:sp>
      <p:sp>
        <p:nvSpPr>
          <p:cNvPr id="21" name="Shape 18"/>
          <p:cNvSpPr/>
          <p:nvPr/>
        </p:nvSpPr>
        <p:spPr>
          <a:xfrm>
            <a:off x="10372039" y="1929384"/>
            <a:ext cx="64008" cy="64008"/>
          </a:xfrm>
          <a:prstGeom prst="ellipse">
            <a:avLst/>
          </a:prstGeom>
          <a:solidFill>
            <a:schemeClr val="accent2"/>
          </a:solidFill>
          <a:ln/>
        </p:spPr>
      </p:sp>
      <p:sp>
        <p:nvSpPr>
          <p:cNvPr id="22" name="Shape 19"/>
          <p:cNvSpPr/>
          <p:nvPr/>
        </p:nvSpPr>
        <p:spPr>
          <a:xfrm>
            <a:off x="10372039" y="2185416"/>
            <a:ext cx="64008" cy="64008"/>
          </a:xfrm>
          <a:prstGeom prst="ellipse">
            <a:avLst/>
          </a:prstGeom>
          <a:solidFill>
            <a:schemeClr val="accent2"/>
          </a:solidFill>
          <a:ln/>
        </p:spPr>
      </p:sp>
      <p:sp>
        <p:nvSpPr>
          <p:cNvPr id="23" name="Shape 20"/>
          <p:cNvSpPr/>
          <p:nvPr/>
        </p:nvSpPr>
        <p:spPr>
          <a:xfrm>
            <a:off x="10372039" y="2441448"/>
            <a:ext cx="64008" cy="64008"/>
          </a:xfrm>
          <a:prstGeom prst="ellipse">
            <a:avLst/>
          </a:prstGeom>
          <a:solidFill>
            <a:schemeClr val="accent2"/>
          </a:solidFill>
          <a:ln/>
        </p:spPr>
      </p:sp>
      <p:sp>
        <p:nvSpPr>
          <p:cNvPr id="24" name="Shape 21"/>
          <p:cNvSpPr/>
          <p:nvPr/>
        </p:nvSpPr>
        <p:spPr>
          <a:xfrm>
            <a:off x="10628071" y="1417320"/>
            <a:ext cx="64008" cy="64008"/>
          </a:xfrm>
          <a:prstGeom prst="ellipse">
            <a:avLst/>
          </a:prstGeom>
          <a:solidFill>
            <a:schemeClr val="accent2"/>
          </a:solidFill>
          <a:ln/>
        </p:spPr>
      </p:sp>
      <p:sp>
        <p:nvSpPr>
          <p:cNvPr id="25" name="Shape 22"/>
          <p:cNvSpPr/>
          <p:nvPr/>
        </p:nvSpPr>
        <p:spPr>
          <a:xfrm>
            <a:off x="10628071" y="1673352"/>
            <a:ext cx="64008" cy="64008"/>
          </a:xfrm>
          <a:prstGeom prst="ellipse">
            <a:avLst/>
          </a:prstGeom>
          <a:solidFill>
            <a:schemeClr val="accent2"/>
          </a:solidFill>
          <a:ln/>
        </p:spPr>
      </p:sp>
      <p:sp>
        <p:nvSpPr>
          <p:cNvPr id="26" name="Shape 23"/>
          <p:cNvSpPr/>
          <p:nvPr/>
        </p:nvSpPr>
        <p:spPr>
          <a:xfrm>
            <a:off x="10628071" y="1929384"/>
            <a:ext cx="64008" cy="64008"/>
          </a:xfrm>
          <a:prstGeom prst="ellipse">
            <a:avLst/>
          </a:prstGeom>
          <a:solidFill>
            <a:schemeClr val="accent2"/>
          </a:solidFill>
          <a:ln/>
        </p:spPr>
      </p:sp>
      <p:sp>
        <p:nvSpPr>
          <p:cNvPr id="27" name="Shape 24"/>
          <p:cNvSpPr/>
          <p:nvPr/>
        </p:nvSpPr>
        <p:spPr>
          <a:xfrm>
            <a:off x="10628071" y="2185416"/>
            <a:ext cx="64008" cy="64008"/>
          </a:xfrm>
          <a:prstGeom prst="ellipse">
            <a:avLst/>
          </a:prstGeom>
          <a:solidFill>
            <a:schemeClr val="accent2"/>
          </a:solidFill>
          <a:ln/>
        </p:spPr>
      </p:sp>
      <p:sp>
        <p:nvSpPr>
          <p:cNvPr id="28" name="Shape 25"/>
          <p:cNvSpPr/>
          <p:nvPr/>
        </p:nvSpPr>
        <p:spPr>
          <a:xfrm>
            <a:off x="10628071" y="2441448"/>
            <a:ext cx="64008" cy="64008"/>
          </a:xfrm>
          <a:prstGeom prst="ellipse">
            <a:avLst/>
          </a:prstGeom>
          <a:solidFill>
            <a:schemeClr val="accent2"/>
          </a:solidFill>
          <a:ln/>
        </p:spPr>
      </p:sp>
      <p:sp>
        <p:nvSpPr>
          <p:cNvPr id="29" name="Shape 26"/>
          <p:cNvSpPr/>
          <p:nvPr/>
        </p:nvSpPr>
        <p:spPr>
          <a:xfrm>
            <a:off x="10884103" y="1417320"/>
            <a:ext cx="64008" cy="64008"/>
          </a:xfrm>
          <a:prstGeom prst="ellipse">
            <a:avLst/>
          </a:prstGeom>
          <a:solidFill>
            <a:schemeClr val="accent2"/>
          </a:solidFill>
          <a:ln/>
        </p:spPr>
      </p:sp>
      <p:sp>
        <p:nvSpPr>
          <p:cNvPr id="30" name="Shape 27"/>
          <p:cNvSpPr/>
          <p:nvPr/>
        </p:nvSpPr>
        <p:spPr>
          <a:xfrm>
            <a:off x="10884103" y="1673352"/>
            <a:ext cx="64008" cy="64008"/>
          </a:xfrm>
          <a:prstGeom prst="ellipse">
            <a:avLst/>
          </a:prstGeom>
          <a:solidFill>
            <a:schemeClr val="accent2"/>
          </a:solidFill>
          <a:ln/>
        </p:spPr>
      </p:sp>
      <p:sp>
        <p:nvSpPr>
          <p:cNvPr id="31" name="Shape 28"/>
          <p:cNvSpPr/>
          <p:nvPr/>
        </p:nvSpPr>
        <p:spPr>
          <a:xfrm>
            <a:off x="10884103" y="1929384"/>
            <a:ext cx="64008" cy="64008"/>
          </a:xfrm>
          <a:prstGeom prst="ellipse">
            <a:avLst/>
          </a:prstGeom>
          <a:solidFill>
            <a:schemeClr val="accent2"/>
          </a:solidFill>
          <a:ln/>
        </p:spPr>
      </p:sp>
      <p:sp>
        <p:nvSpPr>
          <p:cNvPr id="32" name="Shape 29"/>
          <p:cNvSpPr/>
          <p:nvPr/>
        </p:nvSpPr>
        <p:spPr>
          <a:xfrm>
            <a:off x="10884103" y="2185416"/>
            <a:ext cx="64008" cy="64008"/>
          </a:xfrm>
          <a:prstGeom prst="ellipse">
            <a:avLst/>
          </a:prstGeom>
          <a:solidFill>
            <a:schemeClr val="accent2"/>
          </a:solidFill>
          <a:ln/>
        </p:spPr>
      </p:sp>
      <p:sp>
        <p:nvSpPr>
          <p:cNvPr id="33" name="Shape 30"/>
          <p:cNvSpPr/>
          <p:nvPr/>
        </p:nvSpPr>
        <p:spPr>
          <a:xfrm>
            <a:off x="10884103" y="2441448"/>
            <a:ext cx="64008" cy="64008"/>
          </a:xfrm>
          <a:prstGeom prst="ellipse">
            <a:avLst/>
          </a:prstGeom>
          <a:solidFill>
            <a:schemeClr val="accent2"/>
          </a:solidFill>
          <a:ln/>
        </p:spPr>
      </p:sp>
      <p:sp>
        <p:nvSpPr>
          <p:cNvPr id="34" name="Shape 31"/>
          <p:cNvSpPr/>
          <p:nvPr/>
        </p:nvSpPr>
        <p:spPr>
          <a:xfrm>
            <a:off x="11140135" y="1417320"/>
            <a:ext cx="64008" cy="64008"/>
          </a:xfrm>
          <a:prstGeom prst="ellipse">
            <a:avLst/>
          </a:prstGeom>
          <a:solidFill>
            <a:schemeClr val="accent2"/>
          </a:solidFill>
          <a:ln/>
        </p:spPr>
      </p:sp>
      <p:sp>
        <p:nvSpPr>
          <p:cNvPr id="35" name="Shape 32"/>
          <p:cNvSpPr/>
          <p:nvPr/>
        </p:nvSpPr>
        <p:spPr>
          <a:xfrm>
            <a:off x="11140135" y="1673352"/>
            <a:ext cx="64008" cy="64008"/>
          </a:xfrm>
          <a:prstGeom prst="ellipse">
            <a:avLst/>
          </a:prstGeom>
          <a:solidFill>
            <a:schemeClr val="accent2"/>
          </a:solidFill>
          <a:ln/>
        </p:spPr>
      </p:sp>
      <p:sp>
        <p:nvSpPr>
          <p:cNvPr id="36" name="Shape 33"/>
          <p:cNvSpPr/>
          <p:nvPr/>
        </p:nvSpPr>
        <p:spPr>
          <a:xfrm>
            <a:off x="11140135" y="1929384"/>
            <a:ext cx="64008" cy="64008"/>
          </a:xfrm>
          <a:prstGeom prst="ellipse">
            <a:avLst/>
          </a:prstGeom>
          <a:solidFill>
            <a:schemeClr val="accent2"/>
          </a:solidFill>
          <a:ln/>
        </p:spPr>
      </p:sp>
      <p:sp>
        <p:nvSpPr>
          <p:cNvPr id="37" name="Shape 34"/>
          <p:cNvSpPr/>
          <p:nvPr/>
        </p:nvSpPr>
        <p:spPr>
          <a:xfrm>
            <a:off x="11140135" y="2185416"/>
            <a:ext cx="64008" cy="64008"/>
          </a:xfrm>
          <a:prstGeom prst="ellipse">
            <a:avLst/>
          </a:prstGeom>
          <a:solidFill>
            <a:schemeClr val="accent2"/>
          </a:solidFill>
          <a:ln/>
        </p:spPr>
      </p:sp>
      <p:sp>
        <p:nvSpPr>
          <p:cNvPr id="38" name="Shape 35"/>
          <p:cNvSpPr/>
          <p:nvPr/>
        </p:nvSpPr>
        <p:spPr>
          <a:xfrm>
            <a:off x="11140135" y="2441448"/>
            <a:ext cx="64008" cy="64008"/>
          </a:xfrm>
          <a:prstGeom prst="ellipse">
            <a:avLst/>
          </a:prstGeom>
          <a:solidFill>
            <a:schemeClr val="accent2"/>
          </a:solidFill>
          <a:ln/>
        </p:spPr>
      </p:sp>
      <p:sp>
        <p:nvSpPr>
          <p:cNvPr id="39" name="Shape 36"/>
          <p:cNvSpPr/>
          <p:nvPr/>
        </p:nvSpPr>
        <p:spPr>
          <a:xfrm>
            <a:off x="11396167" y="1417320"/>
            <a:ext cx="64008" cy="64008"/>
          </a:xfrm>
          <a:prstGeom prst="ellipse">
            <a:avLst/>
          </a:prstGeom>
          <a:solidFill>
            <a:schemeClr val="accent2"/>
          </a:solidFill>
          <a:ln/>
        </p:spPr>
      </p:sp>
      <p:sp>
        <p:nvSpPr>
          <p:cNvPr id="40" name="Shape 37"/>
          <p:cNvSpPr/>
          <p:nvPr/>
        </p:nvSpPr>
        <p:spPr>
          <a:xfrm>
            <a:off x="11396167" y="1673352"/>
            <a:ext cx="64008" cy="64008"/>
          </a:xfrm>
          <a:prstGeom prst="ellipse">
            <a:avLst/>
          </a:prstGeom>
          <a:solidFill>
            <a:schemeClr val="accent2"/>
          </a:solidFill>
          <a:ln/>
        </p:spPr>
      </p:sp>
      <p:sp>
        <p:nvSpPr>
          <p:cNvPr id="41" name="Shape 38"/>
          <p:cNvSpPr/>
          <p:nvPr/>
        </p:nvSpPr>
        <p:spPr>
          <a:xfrm>
            <a:off x="11396167" y="1929384"/>
            <a:ext cx="64008" cy="64008"/>
          </a:xfrm>
          <a:prstGeom prst="ellipse">
            <a:avLst/>
          </a:prstGeom>
          <a:solidFill>
            <a:schemeClr val="accent2"/>
          </a:solidFill>
          <a:ln/>
        </p:spPr>
      </p:sp>
      <p:sp>
        <p:nvSpPr>
          <p:cNvPr id="42" name="Shape 39"/>
          <p:cNvSpPr/>
          <p:nvPr/>
        </p:nvSpPr>
        <p:spPr>
          <a:xfrm>
            <a:off x="11396167" y="2185416"/>
            <a:ext cx="64008" cy="64008"/>
          </a:xfrm>
          <a:prstGeom prst="ellipse">
            <a:avLst/>
          </a:prstGeom>
          <a:solidFill>
            <a:schemeClr val="accent2"/>
          </a:solidFill>
          <a:ln/>
        </p:spPr>
      </p:sp>
      <p:sp>
        <p:nvSpPr>
          <p:cNvPr id="43" name="Shape 40"/>
          <p:cNvSpPr/>
          <p:nvPr/>
        </p:nvSpPr>
        <p:spPr>
          <a:xfrm>
            <a:off x="11396167" y="2441448"/>
            <a:ext cx="64008" cy="64008"/>
          </a:xfrm>
          <a:prstGeom prst="ellipse">
            <a:avLst/>
          </a:prstGeom>
          <a:solidFill>
            <a:schemeClr val="accent2"/>
          </a:solidFill>
          <a:ln/>
        </p:spPr>
      </p:sp>
      <p:sp>
        <p:nvSpPr>
          <p:cNvPr id="44" name="Shape 41"/>
          <p:cNvSpPr/>
          <p:nvPr/>
        </p:nvSpPr>
        <p:spPr>
          <a:xfrm>
            <a:off x="11652199" y="1417320"/>
            <a:ext cx="64008" cy="64008"/>
          </a:xfrm>
          <a:prstGeom prst="ellipse">
            <a:avLst/>
          </a:prstGeom>
          <a:solidFill>
            <a:schemeClr val="accent2"/>
          </a:solidFill>
          <a:ln/>
        </p:spPr>
      </p:sp>
      <p:sp>
        <p:nvSpPr>
          <p:cNvPr id="45" name="Shape 42"/>
          <p:cNvSpPr/>
          <p:nvPr/>
        </p:nvSpPr>
        <p:spPr>
          <a:xfrm>
            <a:off x="11652199" y="1673352"/>
            <a:ext cx="64008" cy="64008"/>
          </a:xfrm>
          <a:prstGeom prst="ellipse">
            <a:avLst/>
          </a:prstGeom>
          <a:solidFill>
            <a:schemeClr val="accent2"/>
          </a:solidFill>
          <a:ln/>
        </p:spPr>
      </p:sp>
      <p:sp>
        <p:nvSpPr>
          <p:cNvPr id="46" name="Shape 43"/>
          <p:cNvSpPr/>
          <p:nvPr/>
        </p:nvSpPr>
        <p:spPr>
          <a:xfrm>
            <a:off x="11652199" y="1929384"/>
            <a:ext cx="64008" cy="64008"/>
          </a:xfrm>
          <a:prstGeom prst="ellipse">
            <a:avLst/>
          </a:prstGeom>
          <a:solidFill>
            <a:schemeClr val="accent2"/>
          </a:solidFill>
          <a:ln/>
        </p:spPr>
      </p:sp>
      <p:sp>
        <p:nvSpPr>
          <p:cNvPr id="47" name="Shape 44"/>
          <p:cNvSpPr/>
          <p:nvPr/>
        </p:nvSpPr>
        <p:spPr>
          <a:xfrm>
            <a:off x="11652199" y="2185416"/>
            <a:ext cx="64008" cy="64008"/>
          </a:xfrm>
          <a:prstGeom prst="ellipse">
            <a:avLst/>
          </a:prstGeom>
          <a:solidFill>
            <a:schemeClr val="accent2"/>
          </a:solidFill>
          <a:ln/>
        </p:spPr>
      </p:sp>
      <p:sp>
        <p:nvSpPr>
          <p:cNvPr id="48" name="Shape 45"/>
          <p:cNvSpPr/>
          <p:nvPr/>
        </p:nvSpPr>
        <p:spPr>
          <a:xfrm>
            <a:off x="11652199" y="2441448"/>
            <a:ext cx="64008" cy="64008"/>
          </a:xfrm>
          <a:prstGeom prst="ellipse">
            <a:avLst/>
          </a:prstGeom>
          <a:solidFill>
            <a:schemeClr val="accent2"/>
          </a:solidFill>
          <a:ln/>
        </p:spPr>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14 · CLOSING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decisions we need today</a:t>
            </a:r>
            <a:endParaRPr lang="en-US" sz="2800" dirty="0"/>
          </a:p>
        </p:txBody>
      </p:sp>
      <p:sp>
        <p:nvSpPr>
          <p:cNvPr id="5" name="Shape 3"/>
          <p:cNvSpPr/>
          <p:nvPr/>
        </p:nvSpPr>
        <p:spPr>
          <a:xfrm>
            <a:off x="548640" y="1874520"/>
            <a:ext cx="3545738" cy="2834640"/>
          </a:xfrm>
          <a:prstGeom prst="roundRect">
            <a:avLst>
              <a:gd name="adj" fmla="val 3226"/>
            </a:avLst>
          </a:prstGeom>
          <a:solidFill>
            <a:schemeClr val="tx1"/>
          </a:solidFill>
          <a:ln/>
        </p:spPr>
      </p:sp>
      <p:sp>
        <p:nvSpPr>
          <p:cNvPr id="6" name="Text 4"/>
          <p:cNvSpPr txBox="1"/>
          <p:nvPr/>
        </p:nvSpPr>
        <p:spPr>
          <a:xfrm>
            <a:off x="822960" y="2148840"/>
            <a:ext cx="1097280" cy="640080"/>
          </a:xfrm>
          <a:prstGeom prst="rect">
            <a:avLst/>
          </a:prstGeom>
          <a:noFill/>
          <a:ln/>
        </p:spPr>
        <p:txBody>
          <a:bodyPr wrap="square" lIns="0" tIns="0" rIns="0" bIns="0" rtlCol="0" anchor="t"/>
          <a:lstStyle/>
          <a:p>
            <a:pPr algn="l" indent="0" marL="0">
              <a:buNone/>
            </a:pPr>
            <a:r>
              <a:rPr lang="en-US" sz="3600" dirty="0">
                <a:solidFill>
                  <a:schemeClr val="accent1"/>
                </a:solidFill>
                <a:latin typeface="Manrope ExtraBold" pitchFamily="34" charset="0"/>
                <a:ea typeface="Manrope ExtraBold" pitchFamily="34" charset="-122"/>
                <a:cs typeface="Manrope ExtraBold" pitchFamily="34" charset="-120"/>
              </a:rPr>
              <a:t>01</a:t>
            </a:r>
            <a:endParaRPr lang="en-US" sz="3600" dirty="0"/>
          </a:p>
        </p:txBody>
      </p:sp>
      <p:sp>
        <p:nvSpPr>
          <p:cNvPr id="7" name="Text 5"/>
          <p:cNvSpPr txBox="1"/>
          <p:nvPr/>
        </p:nvSpPr>
        <p:spPr>
          <a:xfrm>
            <a:off x="822960" y="2926080"/>
            <a:ext cx="2997098" cy="36576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Approve the 2027 plan</a:t>
            </a:r>
            <a:endParaRPr lang="en-US" sz="1600" dirty="0"/>
          </a:p>
        </p:txBody>
      </p:sp>
      <p:sp>
        <p:nvSpPr>
          <p:cNvPr id="8" name="Text 6"/>
          <p:cNvSpPr txBox="1"/>
          <p:nvPr/>
        </p:nvSpPr>
        <p:spPr>
          <a:xfrm>
            <a:off x="822960" y="3319272"/>
            <a:ext cx="2997098" cy="457200"/>
          </a:xfrm>
          <a:prstGeom prst="rect">
            <a:avLst/>
          </a:prstGeom>
          <a:noFill/>
          <a:ln/>
        </p:spPr>
        <p:txBody>
          <a:bodyPr wrap="square" lIns="0" tIns="0" rIns="0" bIns="0" rtlCol="0" anchor="t"/>
          <a:lstStyle/>
          <a:p>
            <a:pPr algn="l" indent="0" marL="0">
              <a:buNone/>
            </a:pPr>
            <a:r>
              <a:rPr lang="en-US" sz="1100" dirty="0">
                <a:solidFill>
                  <a:schemeClr val="accent4"/>
                </a:solidFill>
                <a:latin typeface="Inter" pitchFamily="34" charset="0"/>
                <a:ea typeface="Inter" pitchFamily="34" charset="-122"/>
                <a:cs typeface="Inter" pitchFamily="34" charset="-120"/>
              </a:rPr>
              <a:t>Sign off targets and the $65M allocation.</a:t>
            </a:r>
            <a:endParaRPr lang="en-US" sz="1100" dirty="0"/>
          </a:p>
        </p:txBody>
      </p:sp>
      <p:sp>
        <p:nvSpPr>
          <p:cNvPr id="9" name="Shape 7"/>
          <p:cNvSpPr/>
          <p:nvPr/>
        </p:nvSpPr>
        <p:spPr>
          <a:xfrm>
            <a:off x="822960" y="3977640"/>
            <a:ext cx="2997098" cy="0"/>
          </a:xfrm>
          <a:prstGeom prst="line">
            <a:avLst/>
          </a:prstGeom>
          <a:noFill/>
          <a:ln w="12700">
            <a:solidFill>
              <a:schemeClr val="accent5"/>
            </a:solidFill>
            <a:prstDash val="solid"/>
          </a:ln>
        </p:spPr>
      </p:sp>
      <p:pic>
        <p:nvPicPr>
          <p:cNvPr id="10" name="Icon PiUserCircle C6F432" descr="preencoded.png">    </p:cNvPr>
          <p:cNvPicPr>
            <a:picLocks noChangeAspect="1"/>
          </p:cNvPicPr>
          <p:nvPr/>
        </p:nvPicPr>
        <p:blipFill>
          <a:blip r:embed="rId1">
            <a:extLst>
              <a:ext uri="{96DAC541-7B7A-43D3-8B79-37D633B846F1}">
                <asvg:svgBlip xmlns:asvg="http://schemas.microsoft.com/office/drawing/2016/SVG/main" r:embed="rId10"/>
              </a:ext>
            </a:extLst>
          </a:blip>
          <a:stretch>
            <a:fillRect/>
          </a:stretch>
        </p:blipFill>
        <p:spPr>
          <a:xfrm>
            <a:off x="822960" y="4160520"/>
            <a:ext cx="219456" cy="219456"/>
          </a:xfrm>
          <a:prstGeom prst="rect">
            <a:avLst/>
          </a:prstGeom>
        </p:spPr>
      </p:pic>
      <p:sp>
        <p:nvSpPr>
          <p:cNvPr id="11" name="Text 8"/>
          <p:cNvSpPr txBox="1"/>
          <p:nvPr/>
        </p:nvSpPr>
        <p:spPr>
          <a:xfrm>
            <a:off x="1115568" y="4142232"/>
            <a:ext cx="1645920" cy="256032"/>
          </a:xfrm>
          <a:prstGeom prst="rect">
            <a:avLst/>
          </a:prstGeom>
          <a:noFill/>
          <a:ln/>
        </p:spPr>
        <p:txBody>
          <a:bodyPr wrap="square" lIns="0" tIns="0" rIns="0" bIns="0" rtlCol="0" anchor="t"/>
          <a:lstStyle/>
          <a:p>
            <a:pPr algn="l" indent="0" marL="0">
              <a:buNone/>
            </a:pPr>
            <a:r>
              <a:rPr lang="en-US" sz="1050" dirty="0">
                <a:solidFill>
                  <a:schemeClr val="bg1"/>
                </a:solidFill>
                <a:latin typeface="Inter Medium" pitchFamily="34" charset="0"/>
                <a:ea typeface="Inter Medium" pitchFamily="34" charset="-122"/>
                <a:cs typeface="Inter Medium" pitchFamily="34" charset="-120"/>
              </a:rPr>
              <a:t>Board</a:t>
            </a:r>
            <a:endParaRPr lang="en-US" sz="1050" dirty="0"/>
          </a:p>
        </p:txBody>
      </p:sp>
      <p:pic>
        <p:nvPicPr>
          <p:cNvPr id="12" name="Icon PiCalendarBlank C6F432" descr="preencoded.png">    </p:cNvPr>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2905658" y="4160520"/>
            <a:ext cx="219456" cy="219456"/>
          </a:xfrm>
          <a:prstGeom prst="rect">
            <a:avLst/>
          </a:prstGeom>
        </p:spPr>
      </p:pic>
      <p:sp>
        <p:nvSpPr>
          <p:cNvPr id="13" name="Text 9"/>
          <p:cNvSpPr txBox="1"/>
          <p:nvPr/>
        </p:nvSpPr>
        <p:spPr>
          <a:xfrm>
            <a:off x="3179978" y="4142232"/>
            <a:ext cx="685800" cy="256032"/>
          </a:xfrm>
          <a:prstGeom prst="rect">
            <a:avLst/>
          </a:prstGeom>
          <a:noFill/>
          <a:ln/>
        </p:spPr>
        <p:txBody>
          <a:bodyPr wrap="square" lIns="0" tIns="0" rIns="0" bIns="0" rtlCol="0" anchor="t"/>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22 Oct</a:t>
            </a:r>
            <a:endParaRPr lang="en-US" sz="1050" dirty="0"/>
          </a:p>
        </p:txBody>
      </p:sp>
      <p:sp>
        <p:nvSpPr>
          <p:cNvPr id="14" name="Shape 10"/>
          <p:cNvSpPr/>
          <p:nvPr/>
        </p:nvSpPr>
        <p:spPr>
          <a:xfrm>
            <a:off x="4322978" y="1874520"/>
            <a:ext cx="3545738" cy="2834640"/>
          </a:xfrm>
          <a:prstGeom prst="roundRect">
            <a:avLst>
              <a:gd name="adj" fmla="val 3226"/>
            </a:avLst>
          </a:prstGeom>
          <a:solidFill>
            <a:schemeClr val="bg2"/>
          </a:solidFill>
          <a:ln/>
        </p:spPr>
      </p:sp>
      <p:sp>
        <p:nvSpPr>
          <p:cNvPr id="15" name="Text 11"/>
          <p:cNvSpPr txBox="1"/>
          <p:nvPr/>
        </p:nvSpPr>
        <p:spPr>
          <a:xfrm>
            <a:off x="4597298" y="2148840"/>
            <a:ext cx="1097280"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02</a:t>
            </a:r>
            <a:endParaRPr lang="en-US" sz="3600" dirty="0"/>
          </a:p>
        </p:txBody>
      </p:sp>
      <p:sp>
        <p:nvSpPr>
          <p:cNvPr id="16" name="Text 12"/>
          <p:cNvSpPr txBox="1"/>
          <p:nvPr/>
        </p:nvSpPr>
        <p:spPr>
          <a:xfrm>
            <a:off x="4597298" y="2926080"/>
            <a:ext cx="2997098" cy="36576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Green-light US hiring</a:t>
            </a:r>
            <a:endParaRPr lang="en-US" sz="1600" dirty="0"/>
          </a:p>
        </p:txBody>
      </p:sp>
      <p:sp>
        <p:nvSpPr>
          <p:cNvPr id="17" name="Text 13"/>
          <p:cNvSpPr txBox="1"/>
          <p:nvPr/>
        </p:nvSpPr>
        <p:spPr>
          <a:xfrm>
            <a:off x="4597298" y="3319272"/>
            <a:ext cx="2997098" cy="45720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Open 24 sales and CS roles in Q1.</a:t>
            </a:r>
            <a:endParaRPr lang="en-US" sz="1100" dirty="0"/>
          </a:p>
        </p:txBody>
      </p:sp>
      <p:sp>
        <p:nvSpPr>
          <p:cNvPr id="18" name="Shape 14"/>
          <p:cNvSpPr/>
          <p:nvPr/>
        </p:nvSpPr>
        <p:spPr>
          <a:xfrm>
            <a:off x="4597298" y="3977640"/>
            <a:ext cx="2997098" cy="0"/>
          </a:xfrm>
          <a:prstGeom prst="line">
            <a:avLst/>
          </a:prstGeom>
          <a:noFill/>
          <a:ln w="12700">
            <a:solidFill>
              <a:schemeClr val="accent4"/>
            </a:solidFill>
            <a:prstDash val="solid"/>
          </a:ln>
        </p:spPr>
      </p:sp>
      <p:pic>
        <p:nvPicPr>
          <p:cNvPr id="19" name="Icon PiUserCircle 0A1628" descr="preencoded.png">    </p:cNvPr>
          <p:cNvPicPr>
            <a:picLocks noChangeAspect="1"/>
          </p:cNvPicPr>
          <p:nvPr/>
        </p:nvPicPr>
        <p:blipFill>
          <a:blip r:embed="rId3">
            <a:extLst>
              <a:ext uri="{96DAC541-7B7A-43D3-8B79-37D633B846F1}">
                <asvg:svgBlip xmlns:asvg="http://schemas.microsoft.com/office/drawing/2016/SVG/main" r:embed="rId12"/>
              </a:ext>
            </a:extLst>
          </a:blip>
          <a:stretch>
            <a:fillRect/>
          </a:stretch>
        </p:blipFill>
        <p:spPr>
          <a:xfrm>
            <a:off x="4597298" y="4160520"/>
            <a:ext cx="219456" cy="219456"/>
          </a:xfrm>
          <a:prstGeom prst="rect">
            <a:avLst/>
          </a:prstGeom>
        </p:spPr>
      </p:pic>
      <p:sp>
        <p:nvSpPr>
          <p:cNvPr id="20" name="Text 15"/>
          <p:cNvSpPr txBox="1"/>
          <p:nvPr/>
        </p:nvSpPr>
        <p:spPr>
          <a:xfrm>
            <a:off x="4889906" y="4142232"/>
            <a:ext cx="1645920"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CEO &amp; CRO</a:t>
            </a:r>
            <a:endParaRPr lang="en-US" sz="1050" dirty="0"/>
          </a:p>
        </p:txBody>
      </p:sp>
      <p:pic>
        <p:nvPicPr>
          <p:cNvPr id="21" name="Icon PiCalendarBlank 0A1628" descr="preencoded.png">    </p:cNvPr>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6679997" y="4160520"/>
            <a:ext cx="219456" cy="219456"/>
          </a:xfrm>
          <a:prstGeom prst="rect">
            <a:avLst/>
          </a:prstGeom>
        </p:spPr>
      </p:pic>
      <p:sp>
        <p:nvSpPr>
          <p:cNvPr id="22" name="Text 16"/>
          <p:cNvSpPr txBox="1"/>
          <p:nvPr/>
        </p:nvSpPr>
        <p:spPr>
          <a:xfrm>
            <a:off x="6954317" y="4142232"/>
            <a:ext cx="685800" cy="256032"/>
          </a:xfrm>
          <a:prstGeom prst="rect">
            <a:avLst/>
          </a:prstGeom>
          <a:noFill/>
          <a:ln/>
        </p:spPr>
        <p:txBody>
          <a:bodyPr wrap="square" lIns="0" tIns="0" rIns="0" bIns="0" rtlCol="0" anchor="t"/>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31 Oct</a:t>
            </a:r>
            <a:endParaRPr lang="en-US" sz="1050" dirty="0"/>
          </a:p>
        </p:txBody>
      </p:sp>
      <p:sp>
        <p:nvSpPr>
          <p:cNvPr id="23" name="Shape 17"/>
          <p:cNvSpPr/>
          <p:nvPr/>
        </p:nvSpPr>
        <p:spPr>
          <a:xfrm>
            <a:off x="8097317" y="1874520"/>
            <a:ext cx="3545738" cy="2834640"/>
          </a:xfrm>
          <a:prstGeom prst="roundRect">
            <a:avLst>
              <a:gd name="adj" fmla="val 3226"/>
            </a:avLst>
          </a:prstGeom>
          <a:solidFill>
            <a:schemeClr val="bg2"/>
          </a:solidFill>
          <a:ln/>
        </p:spPr>
      </p:sp>
      <p:sp>
        <p:nvSpPr>
          <p:cNvPr id="24" name="Text 18"/>
          <p:cNvSpPr txBox="1"/>
          <p:nvPr/>
        </p:nvSpPr>
        <p:spPr>
          <a:xfrm>
            <a:off x="8371637" y="2148840"/>
            <a:ext cx="1097280"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03</a:t>
            </a:r>
            <a:endParaRPr lang="en-US" sz="3600" dirty="0"/>
          </a:p>
        </p:txBody>
      </p:sp>
      <p:sp>
        <p:nvSpPr>
          <p:cNvPr id="25" name="Text 19"/>
          <p:cNvSpPr txBox="1"/>
          <p:nvPr/>
        </p:nvSpPr>
        <p:spPr>
          <a:xfrm>
            <a:off x="8371637" y="2926080"/>
            <a:ext cx="2997098" cy="36576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Confirm France partner</a:t>
            </a:r>
            <a:endParaRPr lang="en-US" sz="1600" dirty="0"/>
          </a:p>
        </p:txBody>
      </p:sp>
      <p:sp>
        <p:nvSpPr>
          <p:cNvPr id="26" name="Text 20"/>
          <p:cNvSpPr txBox="1"/>
          <p:nvPr/>
        </p:nvSpPr>
        <p:spPr>
          <a:xfrm>
            <a:off x="8371637" y="3319272"/>
            <a:ext cx="2997098" cy="45720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Select one of two reseller proposals.</a:t>
            </a:r>
            <a:endParaRPr lang="en-US" sz="1100" dirty="0"/>
          </a:p>
        </p:txBody>
      </p:sp>
      <p:sp>
        <p:nvSpPr>
          <p:cNvPr id="27" name="Shape 21"/>
          <p:cNvSpPr/>
          <p:nvPr/>
        </p:nvSpPr>
        <p:spPr>
          <a:xfrm>
            <a:off x="8371637" y="3977640"/>
            <a:ext cx="2997098" cy="0"/>
          </a:xfrm>
          <a:prstGeom prst="line">
            <a:avLst/>
          </a:prstGeom>
          <a:noFill/>
          <a:ln w="12700">
            <a:solidFill>
              <a:schemeClr val="accent4"/>
            </a:solidFill>
            <a:prstDash val="solid"/>
          </a:ln>
        </p:spPr>
      </p:sp>
      <p:pic>
        <p:nvPicPr>
          <p:cNvPr id="28" name="Icon PiUserCircle 0A1628" descr="preencoded.png">    </p:cNvPr>
          <p:cNvPicPr>
            <a:picLocks noChangeAspect="1"/>
          </p:cNvPicPr>
          <p:nvPr/>
        </p:nvPicPr>
        <p:blipFill>
          <a:blip r:embed="rId5">
            <a:extLst>
              <a:ext uri="{96DAC541-7B7A-43D3-8B79-37D633B846F1}">
                <asvg:svgBlip xmlns:asvg="http://schemas.microsoft.com/office/drawing/2016/SVG/main" r:embed="rId14"/>
              </a:ext>
            </a:extLst>
          </a:blip>
          <a:stretch>
            <a:fillRect/>
          </a:stretch>
        </p:blipFill>
        <p:spPr>
          <a:xfrm>
            <a:off x="8371637" y="4160520"/>
            <a:ext cx="219456" cy="219456"/>
          </a:xfrm>
          <a:prstGeom prst="rect">
            <a:avLst/>
          </a:prstGeom>
        </p:spPr>
      </p:pic>
      <p:sp>
        <p:nvSpPr>
          <p:cNvPr id="29" name="Text 22"/>
          <p:cNvSpPr txBox="1"/>
          <p:nvPr/>
        </p:nvSpPr>
        <p:spPr>
          <a:xfrm>
            <a:off x="8664245" y="4142232"/>
            <a:ext cx="1645920"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CPO</a:t>
            </a:r>
            <a:endParaRPr lang="en-US" sz="1050" dirty="0"/>
          </a:p>
        </p:txBody>
      </p:sp>
      <p:pic>
        <p:nvPicPr>
          <p:cNvPr id="30" name="Icon PiCalendarBlank 0A1628" descr="preencoded.png">    </p:cNvPr>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10454335" y="4160520"/>
            <a:ext cx="219456" cy="219456"/>
          </a:xfrm>
          <a:prstGeom prst="rect">
            <a:avLst/>
          </a:prstGeom>
        </p:spPr>
      </p:pic>
      <p:sp>
        <p:nvSpPr>
          <p:cNvPr id="31" name="Text 23"/>
          <p:cNvSpPr txBox="1"/>
          <p:nvPr/>
        </p:nvSpPr>
        <p:spPr>
          <a:xfrm>
            <a:off x="10728655" y="4142232"/>
            <a:ext cx="685800" cy="256032"/>
          </a:xfrm>
          <a:prstGeom prst="rect">
            <a:avLst/>
          </a:prstGeom>
          <a:noFill/>
          <a:ln/>
        </p:spPr>
        <p:txBody>
          <a:bodyPr wrap="square" lIns="0" tIns="0" rIns="0" bIns="0" rtlCol="0" anchor="t"/>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15 Nov</a:t>
            </a:r>
            <a:endParaRPr lang="en-US" sz="1050" dirty="0"/>
          </a:p>
        </p:txBody>
      </p:sp>
      <p:sp>
        <p:nvSpPr>
          <p:cNvPr id="32" name="Shape 24"/>
          <p:cNvSpPr/>
          <p:nvPr/>
        </p:nvSpPr>
        <p:spPr>
          <a:xfrm>
            <a:off x="548640" y="4983480"/>
            <a:ext cx="11094415" cy="1051560"/>
          </a:xfrm>
          <a:prstGeom prst="roundRect">
            <a:avLst>
              <a:gd name="adj" fmla="val 8696"/>
            </a:avLst>
          </a:prstGeom>
          <a:solidFill>
            <a:schemeClr val="accent1"/>
          </a:solidFill>
          <a:ln/>
        </p:spPr>
      </p:sp>
      <p:sp>
        <p:nvSpPr>
          <p:cNvPr id="33" name="Text 25"/>
          <p:cNvSpPr txBox="1"/>
          <p:nvPr/>
        </p:nvSpPr>
        <p:spPr>
          <a:xfrm>
            <a:off x="914400" y="4983480"/>
            <a:ext cx="6400800" cy="1051560"/>
          </a:xfrm>
          <a:prstGeom prst="rect">
            <a:avLst/>
          </a:prstGeom>
          <a:noFill/>
          <a:ln/>
        </p:spPr>
        <p:txBody>
          <a:bodyPr wrap="square" lIns="0" tIns="0" rIns="0" bIns="0" rtlCol="0" anchor="ctr"/>
          <a:lstStyle/>
          <a:p>
            <a:pPr algn="l" indent="0" marL="0">
              <a:buNone/>
            </a:pPr>
            <a:r>
              <a:rPr lang="en-US" sz="2000" b="1" dirty="0">
                <a:solidFill>
                  <a:schemeClr val="tx1"/>
                </a:solidFill>
                <a:latin typeface="Manrope" pitchFamily="34" charset="0"/>
                <a:ea typeface="Manrope" pitchFamily="34" charset="-122"/>
                <a:cs typeface="Manrope" pitchFamily="34" charset="-120"/>
              </a:rPr>
              <a:t>Ready to see Corvanta on your own data?</a:t>
            </a:r>
            <a:endParaRPr lang="en-US" sz="2000" dirty="0"/>
          </a:p>
        </p:txBody>
      </p:sp>
      <p:sp>
        <p:nvSpPr>
          <p:cNvPr id="34" name="Shape 26"/>
          <p:cNvSpPr/>
          <p:nvPr/>
        </p:nvSpPr>
        <p:spPr>
          <a:xfrm>
            <a:off x="8854135" y="5257800"/>
            <a:ext cx="2423160" cy="502920"/>
          </a:xfrm>
          <a:prstGeom prst="roundRect">
            <a:avLst>
              <a:gd name="adj" fmla="val 50000"/>
            </a:avLst>
          </a:prstGeom>
          <a:solidFill>
            <a:schemeClr val="tx1"/>
          </a:solidFill>
          <a:ln/>
        </p:spPr>
      </p:sp>
      <p:sp>
        <p:nvSpPr>
          <p:cNvPr id="35" name="Text 27"/>
          <p:cNvSpPr txBox="1"/>
          <p:nvPr/>
        </p:nvSpPr>
        <p:spPr>
          <a:xfrm>
            <a:off x="8854135" y="5257800"/>
            <a:ext cx="2057400" cy="502920"/>
          </a:xfrm>
          <a:prstGeom prst="rect">
            <a:avLst/>
          </a:prstGeom>
          <a:noFill/>
          <a:ln/>
        </p:spPr>
        <p:txBody>
          <a:bodyPr wrap="square" lIns="0" tIns="0" rIns="0" bIns="0" rtlCol="0" anchor="ctr"/>
          <a:lstStyle/>
          <a:p>
            <a:pPr algn="ctr" indent="0" marL="0">
              <a:buNone/>
            </a:pPr>
            <a:r>
              <a:rPr lang="en-US" sz="1150" dirty="0">
                <a:solidFill>
                  <a:schemeClr val="bg1"/>
                </a:solidFill>
                <a:latin typeface="Inter Medium" pitchFamily="34" charset="0"/>
                <a:ea typeface="Inter Medium" pitchFamily="34" charset="-122"/>
                <a:cs typeface="Inter Medium" pitchFamily="34" charset="-120"/>
              </a:rPr>
              <a:t>Book a strategy session</a:t>
            </a:r>
            <a:endParaRPr lang="en-US" sz="1150" dirty="0"/>
          </a:p>
        </p:txBody>
      </p:sp>
      <p:pic>
        <p:nvPicPr>
          <p:cNvPr id="36" name="Icon PiArrowRight C6F432" descr="preencoded.png">    </p:cNvPr>
          <p:cNvPicPr>
            <a:picLocks noChangeAspect="1"/>
          </p:cNvPicPr>
          <p:nvPr/>
        </p:nvPicPr>
        <p:blipFill>
          <a:blip r:embed="rId7">
            <a:extLst>
              <a:ext uri="{96DAC541-7B7A-43D3-8B79-37D633B846F1}">
                <asvg:svgBlip xmlns:asvg="http://schemas.microsoft.com/office/drawing/2016/SVG/main" r:embed="rId16"/>
              </a:ext>
            </a:extLst>
          </a:blip>
          <a:stretch>
            <a:fillRect/>
          </a:stretch>
        </p:blipFill>
        <p:spPr>
          <a:xfrm>
            <a:off x="10865815" y="5394960"/>
            <a:ext cx="228600" cy="228600"/>
          </a:xfrm>
          <a:prstGeom prst="rect">
            <a:avLst/>
          </a:prstGeom>
        </p:spPr>
      </p:pic>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548640" y="530352"/>
            <a:ext cx="1828800" cy="274320"/>
          </a:xfrm>
          <a:prstGeom prst="rect">
            <a:avLst/>
          </a:prstGeom>
          <a:noFill/>
          <a:ln/>
        </p:spPr>
        <p:txBody>
          <a:bodyPr wrap="square" lIns="0" tIns="0" rIns="0" bIns="0" rtlCol="0" anchor="t"/>
          <a:lstStyle/>
          <a:p>
            <a:pPr algn="l" indent="0" marL="0">
              <a:buNone/>
            </a:pPr>
            <a:r>
              <a:rPr lang="en-US" sz="1300" spc="200" kern="0" dirty="0">
                <a:solidFill>
                  <a:schemeClr val="bg1"/>
                </a:solidFill>
                <a:latin typeface="Manrope ExtraBold" pitchFamily="34" charset="0"/>
                <a:ea typeface="Manrope ExtraBold" pitchFamily="34" charset="-122"/>
                <a:cs typeface="Manrope ExtraBold" pitchFamily="34" charset="-120"/>
              </a:rPr>
              <a:t>VERTEX</a:t>
            </a:r>
            <a:endParaRPr lang="en-US" sz="1300" dirty="0"/>
          </a:p>
        </p:txBody>
      </p:sp>
      <p:sp>
        <p:nvSpPr>
          <p:cNvPr id="3" name="Text 1"/>
          <p:cNvSpPr txBox="1"/>
          <p:nvPr/>
        </p:nvSpPr>
        <p:spPr>
          <a:xfrm>
            <a:off x="502920" y="1463040"/>
            <a:ext cx="7315200" cy="1463040"/>
          </a:xfrm>
          <a:prstGeom prst="rect">
            <a:avLst/>
          </a:prstGeom>
          <a:noFill/>
          <a:ln/>
        </p:spPr>
        <p:txBody>
          <a:bodyPr wrap="square" lIns="0" tIns="0" rIns="0" bIns="0" rtlCol="0" anchor="t"/>
          <a:lstStyle/>
          <a:p>
            <a:pPr algn="l" indent="0" marL="0">
              <a:buNone/>
            </a:pPr>
            <a:r>
              <a:rPr lang="en-US" sz="8800" dirty="0">
                <a:solidFill>
                  <a:schemeClr val="bg1"/>
                </a:solidFill>
                <a:latin typeface="Manrope ExtraBold" pitchFamily="34" charset="0"/>
                <a:ea typeface="Manrope ExtraBold" pitchFamily="34" charset="-122"/>
                <a:cs typeface="Manrope ExtraBold" pitchFamily="34" charset="-120"/>
              </a:rPr>
              <a:t>Thank you</a:t>
            </a:r>
            <a:pPr algn="l" indent="0" marL="0">
              <a:buNone/>
            </a:pPr>
            <a:r>
              <a:rPr lang="en-US" sz="8800" dirty="0">
                <a:solidFill>
                  <a:schemeClr val="accent1"/>
                </a:solidFill>
                <a:latin typeface="Manrope ExtraBold" pitchFamily="34" charset="0"/>
                <a:ea typeface="Manrope ExtraBold" pitchFamily="34" charset="-122"/>
                <a:cs typeface="Manrope ExtraBold" pitchFamily="34" charset="-120"/>
              </a:rPr>
              <a:t>.</a:t>
            </a:r>
            <a:endParaRPr lang="en-US" sz="8800" dirty="0"/>
          </a:p>
        </p:txBody>
      </p:sp>
      <p:sp>
        <p:nvSpPr>
          <p:cNvPr id="4" name="Text 2"/>
          <p:cNvSpPr txBox="1"/>
          <p:nvPr/>
        </p:nvSpPr>
        <p:spPr>
          <a:xfrm>
            <a:off x="548640" y="3017520"/>
            <a:ext cx="5943600" cy="457200"/>
          </a:xfrm>
          <a:prstGeom prst="rect">
            <a:avLst/>
          </a:prstGeom>
          <a:noFill/>
          <a:ln/>
        </p:spPr>
        <p:txBody>
          <a:bodyPr wrap="square" lIns="0" tIns="0" rIns="0" bIns="0" rtlCol="0" anchor="t"/>
          <a:lstStyle/>
          <a:p>
            <a:pPr algn="l" indent="0" marL="0">
              <a:buNone/>
            </a:pPr>
            <a:r>
              <a:rPr lang="en-US" sz="1500" dirty="0">
                <a:solidFill>
                  <a:schemeClr val="accent4"/>
                </a:solidFill>
                <a:latin typeface="Inter" pitchFamily="34" charset="0"/>
                <a:ea typeface="Inter" pitchFamily="34" charset="-122"/>
                <a:cs typeface="Inter" pitchFamily="34" charset="-120"/>
              </a:rPr>
              <a:t>Questions, feedback or next steps — we would love to hear from you.</a:t>
            </a:r>
            <a:endParaRPr lang="en-US" sz="1500" dirty="0"/>
          </a:p>
        </p:txBody>
      </p:sp>
      <p:sp>
        <p:nvSpPr>
          <p:cNvPr id="5" name="Shape 3"/>
          <p:cNvSpPr/>
          <p:nvPr/>
        </p:nvSpPr>
        <p:spPr>
          <a:xfrm>
            <a:off x="548640" y="4206240"/>
            <a:ext cx="502920" cy="502920"/>
          </a:xfrm>
          <a:prstGeom prst="ellipse">
            <a:avLst/>
          </a:prstGeom>
          <a:solidFill>
            <a:schemeClr val="accent5"/>
          </a:solidFill>
          <a:ln/>
        </p:spPr>
      </p:sp>
      <p:pic>
        <p:nvPicPr>
          <p:cNvPr id="6" name="Icon PiEnvelopeSimple C6F432"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669341" y="4326941"/>
            <a:ext cx="261518" cy="261518"/>
          </a:xfrm>
          <a:prstGeom prst="rect">
            <a:avLst/>
          </a:prstGeom>
        </p:spPr>
      </p:pic>
      <p:sp>
        <p:nvSpPr>
          <p:cNvPr id="7" name="Text 4"/>
          <p:cNvSpPr txBox="1"/>
          <p:nvPr/>
        </p:nvSpPr>
        <p:spPr>
          <a:xfrm>
            <a:off x="1234440" y="420624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hello@yourcompany.com</a:t>
            </a:r>
            <a:endParaRPr lang="en-US" sz="1200" dirty="0"/>
          </a:p>
        </p:txBody>
      </p:sp>
      <p:sp>
        <p:nvSpPr>
          <p:cNvPr id="8" name="Shape 5"/>
          <p:cNvSpPr/>
          <p:nvPr/>
        </p:nvSpPr>
        <p:spPr>
          <a:xfrm>
            <a:off x="3840480" y="4206240"/>
            <a:ext cx="502920" cy="502920"/>
          </a:xfrm>
          <a:prstGeom prst="ellipse">
            <a:avLst/>
          </a:prstGeom>
          <a:solidFill>
            <a:schemeClr val="accent5"/>
          </a:solidFill>
          <a:ln/>
        </p:spPr>
      </p:sp>
      <p:pic>
        <p:nvPicPr>
          <p:cNvPr id="9" name="Icon PiPhone C6F432"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961181" y="4326941"/>
            <a:ext cx="261518" cy="261518"/>
          </a:xfrm>
          <a:prstGeom prst="rect">
            <a:avLst/>
          </a:prstGeom>
        </p:spPr>
      </p:pic>
      <p:sp>
        <p:nvSpPr>
          <p:cNvPr id="10" name="Text 6"/>
          <p:cNvSpPr txBox="1"/>
          <p:nvPr/>
        </p:nvSpPr>
        <p:spPr>
          <a:xfrm>
            <a:off x="4526280" y="420624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+1 (555) 010-2026</a:t>
            </a:r>
            <a:endParaRPr lang="en-US" sz="1200" dirty="0"/>
          </a:p>
        </p:txBody>
      </p:sp>
      <p:sp>
        <p:nvSpPr>
          <p:cNvPr id="11" name="Shape 7"/>
          <p:cNvSpPr/>
          <p:nvPr/>
        </p:nvSpPr>
        <p:spPr>
          <a:xfrm>
            <a:off x="548640" y="4983480"/>
            <a:ext cx="502920" cy="502920"/>
          </a:xfrm>
          <a:prstGeom prst="ellipse">
            <a:avLst/>
          </a:prstGeom>
          <a:solidFill>
            <a:schemeClr val="accent5"/>
          </a:solidFill>
          <a:ln/>
        </p:spPr>
      </p:sp>
      <p:pic>
        <p:nvPicPr>
          <p:cNvPr id="12" name="Icon PiGlobe C6F432"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69341" y="5104181"/>
            <a:ext cx="261518" cy="261518"/>
          </a:xfrm>
          <a:prstGeom prst="rect">
            <a:avLst/>
          </a:prstGeom>
        </p:spPr>
      </p:pic>
      <p:sp>
        <p:nvSpPr>
          <p:cNvPr id="13" name="Text 8"/>
          <p:cNvSpPr txBox="1"/>
          <p:nvPr/>
        </p:nvSpPr>
        <p:spPr>
          <a:xfrm>
            <a:off x="1234440" y="498348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www.yourcompany.com</a:t>
            </a:r>
            <a:endParaRPr lang="en-US" sz="1200" dirty="0"/>
          </a:p>
        </p:txBody>
      </p:sp>
      <p:sp>
        <p:nvSpPr>
          <p:cNvPr id="14" name="Shape 9"/>
          <p:cNvSpPr/>
          <p:nvPr/>
        </p:nvSpPr>
        <p:spPr>
          <a:xfrm>
            <a:off x="3840480" y="4983480"/>
            <a:ext cx="502920" cy="502920"/>
          </a:xfrm>
          <a:prstGeom prst="ellipse">
            <a:avLst/>
          </a:prstGeom>
          <a:solidFill>
            <a:schemeClr val="accent5"/>
          </a:solidFill>
          <a:ln/>
        </p:spPr>
      </p:sp>
      <p:pic>
        <p:nvPicPr>
          <p:cNvPr id="15" name="Icon PiMapPin C6F432"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3961181" y="5104181"/>
            <a:ext cx="261518" cy="261518"/>
          </a:xfrm>
          <a:prstGeom prst="rect">
            <a:avLst/>
          </a:prstGeom>
        </p:spPr>
      </p:pic>
      <p:sp>
        <p:nvSpPr>
          <p:cNvPr id="16" name="Text 10"/>
          <p:cNvSpPr txBox="1"/>
          <p:nvPr/>
        </p:nvSpPr>
        <p:spPr>
          <a:xfrm>
            <a:off x="4526280" y="498348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100 Market Street, Suite 400</a:t>
            </a:r>
            <a:endParaRPr lang="en-US" sz="1200" dirty="0"/>
          </a:p>
        </p:txBody>
      </p:sp>
      <p:sp>
        <p:nvSpPr>
          <p:cNvPr id="17" name="Shape 11"/>
          <p:cNvSpPr/>
          <p:nvPr/>
        </p:nvSpPr>
        <p:spPr>
          <a:xfrm>
            <a:off x="8351215" y="1920240"/>
            <a:ext cx="2194560" cy="2194560"/>
          </a:xfrm>
          <a:prstGeom prst="pie">
            <a:avLst>
              <a:gd name="adj1" fmla="val 10800000"/>
              <a:gd name="adj2" fmla="val 16200000"/>
            </a:avLst>
          </a:prstGeom>
          <a:solidFill>
            <a:schemeClr val="accent1"/>
          </a:solidFill>
          <a:ln/>
        </p:spPr>
      </p:sp>
      <p:sp>
        <p:nvSpPr>
          <p:cNvPr id="18" name="Shape 12"/>
          <p:cNvSpPr/>
          <p:nvPr/>
        </p:nvSpPr>
        <p:spPr>
          <a:xfrm>
            <a:off x="9448495" y="1920240"/>
            <a:ext cx="1097280" cy="1097280"/>
          </a:xfrm>
          <a:prstGeom prst="rect">
            <a:avLst/>
          </a:prstGeom>
          <a:solidFill>
            <a:schemeClr val="accent5"/>
          </a:solidFill>
          <a:ln/>
        </p:spPr>
      </p:sp>
      <p:sp>
        <p:nvSpPr>
          <p:cNvPr id="19" name="Shape 13"/>
          <p:cNvSpPr/>
          <p:nvPr/>
        </p:nvSpPr>
        <p:spPr>
          <a:xfrm>
            <a:off x="9865462" y="2337206"/>
            <a:ext cx="263347" cy="263347"/>
          </a:xfrm>
          <a:prstGeom prst="ellipse">
            <a:avLst/>
          </a:prstGeom>
          <a:solidFill>
            <a:schemeClr val="accent1"/>
          </a:solidFill>
          <a:ln/>
        </p:spPr>
      </p:sp>
      <p:sp>
        <p:nvSpPr>
          <p:cNvPr id="20" name="Shape 14"/>
          <p:cNvSpPr/>
          <p:nvPr/>
        </p:nvSpPr>
        <p:spPr>
          <a:xfrm>
            <a:off x="10545775" y="1920240"/>
            <a:ext cx="1097280" cy="1097280"/>
          </a:xfrm>
          <a:prstGeom prst="ellipse">
            <a:avLst/>
          </a:prstGeom>
          <a:solidFill>
            <a:schemeClr val="accent2"/>
          </a:solidFill>
          <a:ln/>
        </p:spPr>
      </p:sp>
      <p:sp>
        <p:nvSpPr>
          <p:cNvPr id="21" name="Shape 15"/>
          <p:cNvSpPr/>
          <p:nvPr/>
        </p:nvSpPr>
        <p:spPr>
          <a:xfrm>
            <a:off x="8351215" y="3017520"/>
            <a:ext cx="1097280" cy="1097280"/>
          </a:xfrm>
          <a:prstGeom prst="rect">
            <a:avLst/>
          </a:prstGeom>
          <a:solidFill>
            <a:schemeClr val="accent5"/>
          </a:solidFill>
          <a:ln/>
        </p:spPr>
      </p:sp>
      <p:sp>
        <p:nvSpPr>
          <p:cNvPr id="22" name="Shape 16"/>
          <p:cNvSpPr/>
          <p:nvPr/>
        </p:nvSpPr>
        <p:spPr>
          <a:xfrm>
            <a:off x="7802575" y="3017520"/>
            <a:ext cx="1097280" cy="1097280"/>
          </a:xfrm>
          <a:prstGeom prst="pie">
            <a:avLst>
              <a:gd name="adj1" fmla="val 16200000"/>
              <a:gd name="adj2" fmla="val 5400000"/>
            </a:avLst>
          </a:prstGeom>
          <a:solidFill>
            <a:schemeClr val="accent1"/>
          </a:solidFill>
          <a:ln/>
        </p:spPr>
      </p:sp>
      <p:sp>
        <p:nvSpPr>
          <p:cNvPr id="23" name="Shape 17"/>
          <p:cNvSpPr/>
          <p:nvPr/>
        </p:nvSpPr>
        <p:spPr>
          <a:xfrm>
            <a:off x="9448495" y="3017520"/>
            <a:ext cx="1097280" cy="1097280"/>
          </a:xfrm>
          <a:prstGeom prst="rect">
            <a:avLst/>
          </a:prstGeom>
          <a:solidFill>
            <a:schemeClr val="accent1"/>
          </a:solidFill>
          <a:ln/>
        </p:spPr>
      </p:sp>
      <p:sp>
        <p:nvSpPr>
          <p:cNvPr id="24" name="Shape 18"/>
          <p:cNvSpPr/>
          <p:nvPr/>
        </p:nvSpPr>
        <p:spPr>
          <a:xfrm>
            <a:off x="8351215" y="1920240"/>
            <a:ext cx="2194560" cy="2194560"/>
          </a:xfrm>
          <a:prstGeom prst="pie">
            <a:avLst>
              <a:gd name="adj1" fmla="val 0"/>
              <a:gd name="adj2" fmla="val 5400000"/>
            </a:avLst>
          </a:prstGeom>
          <a:solidFill>
            <a:schemeClr val="tx1"/>
          </a:solidFill>
          <a:ln/>
        </p:spPr>
      </p:sp>
      <p:sp>
        <p:nvSpPr>
          <p:cNvPr id="25" name="Shape 19"/>
          <p:cNvSpPr/>
          <p:nvPr/>
        </p:nvSpPr>
        <p:spPr>
          <a:xfrm>
            <a:off x="10545775" y="3017520"/>
            <a:ext cx="1097280" cy="1097280"/>
          </a:xfrm>
          <a:prstGeom prst="rect">
            <a:avLst/>
          </a:prstGeom>
          <a:solidFill>
            <a:schemeClr val="accent5"/>
          </a:solidFill>
          <a:ln/>
        </p:spPr>
      </p:sp>
      <p:sp>
        <p:nvSpPr>
          <p:cNvPr id="26" name="Shape 20"/>
          <p:cNvSpPr/>
          <p:nvPr/>
        </p:nvSpPr>
        <p:spPr>
          <a:xfrm>
            <a:off x="10737799" y="3209544"/>
            <a:ext cx="54864" cy="54864"/>
          </a:xfrm>
          <a:prstGeom prst="ellipse">
            <a:avLst/>
          </a:prstGeom>
          <a:solidFill>
            <a:schemeClr val="accent1"/>
          </a:solidFill>
          <a:ln/>
        </p:spPr>
      </p:sp>
      <p:sp>
        <p:nvSpPr>
          <p:cNvPr id="27" name="Shape 21"/>
          <p:cNvSpPr/>
          <p:nvPr/>
        </p:nvSpPr>
        <p:spPr>
          <a:xfrm>
            <a:off x="10737799" y="3538728"/>
            <a:ext cx="54864" cy="54864"/>
          </a:xfrm>
          <a:prstGeom prst="ellipse">
            <a:avLst/>
          </a:prstGeom>
          <a:solidFill>
            <a:schemeClr val="accent1"/>
          </a:solidFill>
          <a:ln/>
        </p:spPr>
      </p:sp>
      <p:sp>
        <p:nvSpPr>
          <p:cNvPr id="28" name="Shape 22"/>
          <p:cNvSpPr/>
          <p:nvPr/>
        </p:nvSpPr>
        <p:spPr>
          <a:xfrm>
            <a:off x="10737799" y="3867912"/>
            <a:ext cx="54864" cy="54864"/>
          </a:xfrm>
          <a:prstGeom prst="ellipse">
            <a:avLst/>
          </a:prstGeom>
          <a:solidFill>
            <a:schemeClr val="accent1"/>
          </a:solidFill>
          <a:ln/>
        </p:spPr>
      </p:sp>
      <p:sp>
        <p:nvSpPr>
          <p:cNvPr id="29" name="Shape 23"/>
          <p:cNvSpPr/>
          <p:nvPr/>
        </p:nvSpPr>
        <p:spPr>
          <a:xfrm>
            <a:off x="11066983" y="3209544"/>
            <a:ext cx="54864" cy="54864"/>
          </a:xfrm>
          <a:prstGeom prst="ellipse">
            <a:avLst/>
          </a:prstGeom>
          <a:solidFill>
            <a:schemeClr val="accent1"/>
          </a:solidFill>
          <a:ln/>
        </p:spPr>
      </p:sp>
      <p:sp>
        <p:nvSpPr>
          <p:cNvPr id="30" name="Shape 24"/>
          <p:cNvSpPr/>
          <p:nvPr/>
        </p:nvSpPr>
        <p:spPr>
          <a:xfrm>
            <a:off x="11066983" y="3538728"/>
            <a:ext cx="54864" cy="54864"/>
          </a:xfrm>
          <a:prstGeom prst="ellipse">
            <a:avLst/>
          </a:prstGeom>
          <a:solidFill>
            <a:schemeClr val="accent1"/>
          </a:solidFill>
          <a:ln/>
        </p:spPr>
      </p:sp>
      <p:sp>
        <p:nvSpPr>
          <p:cNvPr id="31" name="Shape 25"/>
          <p:cNvSpPr/>
          <p:nvPr/>
        </p:nvSpPr>
        <p:spPr>
          <a:xfrm>
            <a:off x="11066983" y="3867912"/>
            <a:ext cx="54864" cy="54864"/>
          </a:xfrm>
          <a:prstGeom prst="ellipse">
            <a:avLst/>
          </a:prstGeom>
          <a:solidFill>
            <a:schemeClr val="accent1"/>
          </a:solidFill>
          <a:ln/>
        </p:spPr>
      </p:sp>
      <p:sp>
        <p:nvSpPr>
          <p:cNvPr id="32" name="Shape 26"/>
          <p:cNvSpPr/>
          <p:nvPr/>
        </p:nvSpPr>
        <p:spPr>
          <a:xfrm>
            <a:off x="11396167" y="3209544"/>
            <a:ext cx="54864" cy="54864"/>
          </a:xfrm>
          <a:prstGeom prst="ellipse">
            <a:avLst/>
          </a:prstGeom>
          <a:solidFill>
            <a:schemeClr val="accent1"/>
          </a:solidFill>
          <a:ln/>
        </p:spPr>
      </p:sp>
      <p:sp>
        <p:nvSpPr>
          <p:cNvPr id="33" name="Shape 27"/>
          <p:cNvSpPr/>
          <p:nvPr/>
        </p:nvSpPr>
        <p:spPr>
          <a:xfrm>
            <a:off x="11396167" y="3538728"/>
            <a:ext cx="54864" cy="54864"/>
          </a:xfrm>
          <a:prstGeom prst="ellipse">
            <a:avLst/>
          </a:prstGeom>
          <a:solidFill>
            <a:schemeClr val="accent1"/>
          </a:solidFill>
          <a:ln/>
        </p:spPr>
      </p:sp>
      <p:sp>
        <p:nvSpPr>
          <p:cNvPr id="34" name="Shape 28"/>
          <p:cNvSpPr/>
          <p:nvPr/>
        </p:nvSpPr>
        <p:spPr>
          <a:xfrm>
            <a:off x="11396167" y="3867912"/>
            <a:ext cx="54864" cy="54864"/>
          </a:xfrm>
          <a:prstGeom prst="ellipse">
            <a:avLst/>
          </a:prstGeom>
          <a:solidFill>
            <a:schemeClr val="accent1"/>
          </a:solidFill>
          <a:ln/>
        </p:spPr>
      </p:sp>
      <p:sp>
        <p:nvSpPr>
          <p:cNvPr id="35" name="Shape 29"/>
          <p:cNvSpPr/>
          <p:nvPr/>
        </p:nvSpPr>
        <p:spPr>
          <a:xfrm>
            <a:off x="8351215" y="4114800"/>
            <a:ext cx="1097280" cy="1097280"/>
          </a:xfrm>
          <a:prstGeom prst="ellipse">
            <a:avLst/>
          </a:prstGeom>
          <a:solidFill>
            <a:schemeClr val="accent5"/>
          </a:solidFill>
          <a:ln/>
        </p:spPr>
      </p:sp>
      <p:sp>
        <p:nvSpPr>
          <p:cNvPr id="36" name="Shape 30"/>
          <p:cNvSpPr/>
          <p:nvPr/>
        </p:nvSpPr>
        <p:spPr>
          <a:xfrm>
            <a:off x="9448495" y="4114800"/>
            <a:ext cx="1097280" cy="1097280"/>
          </a:xfrm>
          <a:prstGeom prst="rect">
            <a:avLst/>
          </a:prstGeom>
          <a:solidFill>
            <a:schemeClr val="accent2"/>
          </a:solidFill>
          <a:ln/>
        </p:spPr>
      </p:sp>
      <p:sp>
        <p:nvSpPr>
          <p:cNvPr id="37" name="Shape 31"/>
          <p:cNvSpPr/>
          <p:nvPr/>
        </p:nvSpPr>
        <p:spPr>
          <a:xfrm>
            <a:off x="9448495" y="4663440"/>
            <a:ext cx="1097280" cy="1097280"/>
          </a:xfrm>
          <a:prstGeom prst="pie">
            <a:avLst>
              <a:gd name="adj1" fmla="val 10800000"/>
              <a:gd name="adj2" fmla="val 21600000"/>
            </a:avLst>
          </a:prstGeom>
          <a:solidFill>
            <a:schemeClr val="tx1"/>
          </a:solidFill>
          <a:ln/>
        </p:spPr>
      </p:sp>
      <p:sp>
        <p:nvSpPr>
          <p:cNvPr id="38" name="Shape 32"/>
          <p:cNvSpPr/>
          <p:nvPr/>
        </p:nvSpPr>
        <p:spPr>
          <a:xfrm>
            <a:off x="9448495" y="4114800"/>
            <a:ext cx="2194560" cy="2194560"/>
          </a:xfrm>
          <a:prstGeom prst="pie">
            <a:avLst>
              <a:gd name="adj1" fmla="val 16200000"/>
              <a:gd name="adj2" fmla="val 21600000"/>
            </a:avLst>
          </a:prstGeom>
          <a:solidFill>
            <a:schemeClr val="accent1"/>
          </a:solidFill>
          <a:ln/>
        </p:spPr>
      </p:sp>
      <p:sp>
        <p:nvSpPr>
          <p:cNvPr id="39" name="Shape 33"/>
          <p:cNvSpPr/>
          <p:nvPr/>
        </p:nvSpPr>
        <p:spPr>
          <a:xfrm>
            <a:off x="9448495" y="5212080"/>
            <a:ext cx="1097280" cy="1097280"/>
          </a:xfrm>
          <a:prstGeom prst="rect">
            <a:avLst/>
          </a:prstGeom>
          <a:solidFill>
            <a:schemeClr val="accent5"/>
          </a:solidFill>
          <a:ln/>
        </p:spPr>
      </p:sp>
      <p:sp>
        <p:nvSpPr>
          <p:cNvPr id="40" name="Shape 34"/>
          <p:cNvSpPr/>
          <p:nvPr/>
        </p:nvSpPr>
        <p:spPr>
          <a:xfrm>
            <a:off x="9514332" y="5277917"/>
            <a:ext cx="965606" cy="965606"/>
          </a:xfrm>
          <a:prstGeom prst="ellipse">
            <a:avLst/>
          </a:prstGeom>
          <a:ln w="19050">
            <a:solidFill>
              <a:schemeClr val="accent1"/>
            </a:solidFill>
            <a:prstDash val="solid"/>
          </a:ln>
        </p:spPr>
      </p:sp>
      <p:sp>
        <p:nvSpPr>
          <p:cNvPr id="41" name="Shape 35"/>
          <p:cNvSpPr/>
          <p:nvPr/>
        </p:nvSpPr>
        <p:spPr>
          <a:xfrm>
            <a:off x="10545775" y="5212080"/>
            <a:ext cx="1097280" cy="1097280"/>
          </a:xfrm>
          <a:prstGeom prst="rect">
            <a:avLst/>
          </a:prstGeom>
          <a:solidFill>
            <a:schemeClr val="accent1"/>
          </a:solidFill>
          <a:ln/>
        </p:spPr>
      </p:sp>
    </p:spTree>
  </p:cSld>
  <p:clrMapOvr>
    <a:masterClrMapping/>
  </p:clrMapOvr>
</p:sld>
</file>

<file path=ppt/theme/theme1.xml><?xml version="1.0" encoding="utf-8"?>
<a:theme xmlns:a="http://schemas.openxmlformats.org/drawingml/2006/main" name="Vertex">
  <a:themeElements>
    <a:clrScheme name="Vertex">
      <a:dk1>
        <a:srgbClr val="0A1628"/>
      </a:dk1>
      <a:lt1>
        <a:srgbClr val="FFFFFF"/>
      </a:lt1>
      <a:dk2>
        <a:srgbClr val="2E3645"/>
      </a:dk2>
      <a:lt2>
        <a:srgbClr val="F3F5F7"/>
      </a:lt2>
      <a:accent1>
        <a:srgbClr val="C6F432"/>
      </a:accent1>
      <a:accent2>
        <a:srgbClr val="2C4A74"/>
      </a:accent2>
      <a:accent3>
        <a:srgbClr val="6B7688"/>
      </a:accent3>
      <a:accent4>
        <a:srgbClr val="D5DBE3"/>
      </a:accent4>
      <a:accent5>
        <a:srgbClr val="17253D"/>
      </a:accent5>
      <a:accent6>
        <a:srgbClr val="5B7A0C"/>
      </a:accent6>
      <a:hlink>
        <a:srgbClr val="2C4A74"/>
      </a:hlink>
      <a:folHlink>
        <a:srgbClr val="6B7688"/>
      </a:folHlink>
    </a:clrScheme>
    <a:fontScheme name="Vertex">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Vertex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Vertex — Premium Business &amp; Sales PowerPoint Template</dc:title>
  <dc:subject>PptxGenJS Presentation</dc:subject>
  <dc:creator>Vertex Studio</dc:creator>
  <cp:lastModifiedBy>Vertex Studio</cp:lastModifiedBy>
  <cp:revision>1</cp:revision>
  <dcterms:created xsi:type="dcterms:W3CDTF">2026-09-30T20:18:57Z</dcterms:created>
  <dcterms:modified xsi:type="dcterms:W3CDTF">2026-09-30T20:18:57Z</dcterms:modified>
</cp:coreProperties>
</file>