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slides/slide15.xml" ContentType="application/vnd.openxmlformats-officedocument.presentationml.slide+xml"/>
  <Override PartName="/ppt/charts/chart10.xml" ContentType="application/vnd.openxmlformats-officedocument.drawingml.chart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harts/chart11.xml" ContentType="application/vnd.openxmlformats-officedocument.drawingml.chart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s/slide20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s/slide21.xml" ContentType="application/vnd.openxmlformats-officedocument.presentationml.slide+xml"/>
  <Override PartName="/ppt/charts/chart17.xml" ContentType="application/vnd.openxmlformats-officedocument.drawingml.chart+xml"/>
  <Override PartName="/ppt/slides/slide22.xml" ContentType="application/vnd.openxmlformats-officedocument.presentationml.slide+xml"/>
  <Override PartName="/ppt/charts/chart18.xml" ContentType="application/vnd.openxmlformats-officedocument.drawingml.chart+xml"/>
  <Override PartName="/ppt/slides/slide23.xml" ContentType="application/vnd.openxmlformats-officedocument.presentationml.slide+xml"/>
  <Override PartName="/ppt/charts/chart19.xml" ContentType="application/vnd.openxmlformats-officedocument.drawingml.chart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20.xml" ContentType="application/vnd.openxmlformats-officedocument.drawingml.chart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charts/chart21.xml" ContentType="application/vnd.openxmlformats-officedocument.drawingml.chart+xml"/>
  <Override PartName="/ppt/slides/slide28.xml" ContentType="application/vnd.openxmlformats-officedocument.presentationml.slide+xml"/>
  <Override PartName="/ppt/charts/chart22.xml" ContentType="application/vnd.openxmlformats-officedocument.drawingml.chart+xml"/>
  <Override PartName="/ppt/slides/slide29.xml" ContentType="application/vnd.openxmlformats-officedocument.presentationml.slide+xml"/>
  <Override PartName="/ppt/charts/chart23.xml" ContentType="application/vnd.openxmlformats-officedocument.drawingml.chart+xml"/>
  <Override PartName="/ppt/slides/slide30.xml" ContentType="application/vnd.openxmlformats-officedocument.presentationml.slide+xml"/>
  <Override PartName="/ppt/charts/chart24.xml" ContentType="application/vnd.openxmlformats-officedocument.drawingml.chart+xml"/>
  <Override PartName="/ppt/slides/slide31.xml" ContentType="application/vnd.openxmlformats-officedocument.presentationml.slide+xml"/>
  <Override PartName="/ppt/charts/chart25.xml" ContentType="application/vnd.openxmlformats-officedocument.drawingml.chart+xml"/>
  <Override PartName="/ppt/slides/slide32.xml" ContentType="application/vnd.openxmlformats-officedocument.presentationml.slide+xml"/>
  <Override PartName="/ppt/charts/chart26.xml" ContentType="application/vnd.openxmlformats-officedocument.drawingml.chart+xml"/>
  <Override PartName="/ppt/slides/slide33.xml" ContentType="application/vnd.openxmlformats-officedocument.presentationml.slide+xml"/>
  <Override PartName="/ppt/charts/chart27.xml" ContentType="application/vnd.openxmlformats-officedocument.drawingml.chart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charts/chart28.xml" ContentType="application/vnd.openxmlformats-officedocument.drawingml.chart+xml"/>
  <Override PartName="/ppt/slides/slide36.xml" ContentType="application/vnd.openxmlformats-officedocument.presentationml.slide+xml"/>
  <Override PartName="/ppt/charts/chart29.xml" ContentType="application/vnd.openxmlformats-officedocument.drawingml.chart+xml"/>
  <Override PartName="/ppt/slides/slide37.xml" ContentType="application/vnd.openxmlformats-officedocument.presentationml.slide+xml"/>
  <Override PartName="/ppt/charts/chart30.xml" ContentType="application/vnd.openxmlformats-officedocument.drawingml.chart+xml"/>
  <Override PartName="/ppt/slides/slide38.xml" ContentType="application/vnd.openxmlformats-officedocument.presentationml.slide+xml"/>
  <Override PartName="/ppt/charts/chart31.xml" ContentType="application/vnd.openxmlformats-officedocument.drawingml.chart+xml"/>
  <Override PartName="/ppt/slides/slide39.xml" ContentType="application/vnd.openxmlformats-officedocument.presentationml.slide+xml"/>
  <Override PartName="/ppt/charts/chart32.xml" ContentType="application/vnd.openxmlformats-officedocument.drawingml.chart+xml"/>
  <Override PartName="/ppt/slides/slide40.xml" ContentType="application/vnd.openxmlformats-officedocument.presentationml.slide+xml"/>
  <Override PartName="/ppt/charts/chart33.xml" ContentType="application/vnd.openxmlformats-officedocument.drawingml.chart+xml"/>
  <Override PartName="/ppt/slides/slide41.xml" ContentType="application/vnd.openxmlformats-officedocument.presentationml.slide+xml"/>
  <Override PartName="/ppt/charts/chart34.xml" ContentType="application/vnd.openxmlformats-officedocument.drawingml.chart+xml"/>
  <Override PartName="/ppt/slides/slide42.xml" ContentType="application/vnd.openxmlformats-officedocument.presentationml.slide+xml"/>
  <Override PartName="/ppt/charts/chart35.xml" ContentType="application/vnd.openxmlformats-officedocument.drawingml.chart+xml"/>
  <Override PartName="/ppt/slides/slide43.xml" ContentType="application/vnd.openxmlformats-officedocument.presentationml.slide+xml"/>
  <Override PartName="/ppt/charts/chart36.xml" ContentType="application/vnd.openxmlformats-officedocument.drawingml.chart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charts/chart37.xml" ContentType="application/vnd.openxmlformats-officedocument.drawingml.chart+xml"/>
  <Override PartName="/ppt/slides/slide48.xml" ContentType="application/vnd.openxmlformats-officedocument.presentationml.slide+xml"/>
  <Override PartName="/ppt/charts/chart38.xml" ContentType="application/vnd.openxmlformats-officedocument.drawingml.chart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charts/chart39.xml" ContentType="application/vnd.openxmlformats-officedocument.drawingml.chart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charts/chart42.xml" ContentType="application/vnd.openxmlformats-officedocument.drawingml.chart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8"/>
          <c:w val="0.9"/>
          <c:h val="0.8"/>
        </c:manualLayout>
      </c:layout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>
                <a:alpha val="90000"/>
              </a:schemeClr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24.6</c:v>
                </c:pt>
                <c:pt idx="1">
                  <c:v>27.9</c:v>
                </c:pt>
                <c:pt idx="2">
                  <c:v>35.2</c:v>
                </c:pt>
                <c:pt idx="3">
                  <c:v>43.8</c:v>
                </c:pt>
                <c:pt idx="4">
                  <c:v>52.1</c:v>
                </c:pt>
                <c:pt idx="5">
                  <c:v>58.7</c:v>
                </c:pt>
                <c:pt idx="6">
                  <c:v>64.3</c:v>
                </c:pt>
                <c:pt idx="7">
                  <c:v>84.2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3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accent4"/>
              </a:solidFill>
              <a:ln w="2540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44</c:v>
                </c:pt>
                <c:pt idx="1">
                  <c:v>35</c:v>
                </c:pt>
                <c:pt idx="2">
                  <c:v>21</c:v>
                </c:pt>
              </c:numCache>
            </c:numRef>
          </c:val>
        </c:ser>
        <c:firstSliceAng val="0"/>
        <c:holeSize val="66"/>
      </c:doughnutChart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Headcount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</c:v>
                </c:pt>
                <c:pt idx="1">
                  <c:v>196</c:v>
                </c:pt>
                <c:pt idx="2">
                  <c:v>241</c:v>
                </c:pt>
                <c:pt idx="3">
                  <c:v>288</c:v>
                </c:pt>
                <c:pt idx="4">
                  <c:v>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 24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Q1 25</c:v>
                  </c:pt>
                  <c:pt idx="5">
                    <c:v>Q2</c:v>
                  </c:pt>
                  <c:pt idx="6">
                    <c:v>Q3</c:v>
                  </c:pt>
                  <c:pt idx="7">
                    <c:v>Q4</c:v>
                  </c:pt>
                  <c:pt idx="8">
                    <c:v>Q1 26</c:v>
                  </c:pt>
                  <c:pt idx="9">
                    <c:v>Q2</c:v>
                  </c:pt>
                  <c:pt idx="10">
                    <c:v>Q3</c:v>
                  </c:pt>
                  <c:pt idx="11">
                    <c:v>Q4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13.2</c:v>
                </c:pt>
                <c:pt idx="1">
                  <c:v>14.1</c:v>
                </c:pt>
                <c:pt idx="2">
                  <c:v>15</c:v>
                </c:pt>
                <c:pt idx="3">
                  <c:v>16.4</c:v>
                </c:pt>
                <c:pt idx="4">
                  <c:v>15.8</c:v>
                </c:pt>
                <c:pt idx="5">
                  <c:v>16.9</c:v>
                </c:pt>
                <c:pt idx="6">
                  <c:v>17.6</c:v>
                </c:pt>
                <c:pt idx="7">
                  <c:v>18</c:v>
                </c:pt>
                <c:pt idx="8">
                  <c:v>19.4</c:v>
                </c:pt>
                <c:pt idx="9">
                  <c:v>20.6</c:v>
                </c:pt>
                <c:pt idx="10">
                  <c:v>21.3</c:v>
                </c:pt>
                <c:pt idx="11">
                  <c:v>22.9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Subscriptions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68</c:v>
                </c:pt>
                <c:pt idx="2">
                  <c:v>73</c:v>
                </c:pt>
                <c:pt idx="3">
                  <c:v>77</c:v>
                </c:pt>
                <c:pt idx="4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</c:v>
                </c:pt>
                <c:pt idx="1">
                  <c:v>20</c:v>
                </c:pt>
                <c:pt idx="2">
                  <c:v>16</c:v>
                </c:pt>
                <c:pt idx="3">
                  <c:v>13</c:v>
                </c:pt>
                <c:pt idx="4">
                  <c:v>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Marketplace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Training</c:v>
                </c:pt>
              </c:strCache>
            </c:strRef>
          </c:tx>
          <c:spPr>
            <a:solidFill>
              <a:schemeClr val="accent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Opportunity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Lbls>
            <c:numFmt formatCode="&quot;$&quot;0.0&quot;B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Mid-market SaaS</c:v>
                  </c:pt>
                  <c:pt idx="1">
                    <c:v>Financial services</c:v>
                  </c:pt>
                  <c:pt idx="2">
                    <c:v>Manufacturing</c:v>
                  </c:pt>
                  <c:pt idx="3">
                    <c:v>Healthcare</c:v>
                  </c:pt>
                  <c:pt idx="4">
                    <c:v>Retail</c:v>
                  </c:pt>
                  <c:pt idx="5">
                    <c:v>Public sector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11.8</c:v>
                </c:pt>
                <c:pt idx="1">
                  <c:v>9.6</c:v>
                </c:pt>
                <c:pt idx="2">
                  <c:v>8.1</c:v>
                </c:pt>
                <c:pt idx="3">
                  <c:v>7.2</c:v>
                </c:pt>
                <c:pt idx="4">
                  <c:v>5.4</c:v>
                </c:pt>
                <c:pt idx="5">
                  <c:v>3.9</c:v>
                </c:pt>
              </c:numCache>
            </c:numRef>
          </c:val>
        </c:ser>
        <c:dLbls>
          <c:numFmt formatCode="&quot;$&quot;0.0&quot;B&quot;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D3283"/>
        </a:solidFill>
        <a:ln>
          <a:noFill/>
        </a:ln>
        <a:effectLst/>
      </c:spPr>
    </c:plotArea>
    <c:plotVisOnly val="1"/>
    <c:dispBlanksAs val="span"/>
  </c:chart>
  <c:spPr>
    <a:solidFill>
      <a:srgbClr val="1D3283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chemeClr val="accent4"/>
            </a:solidFill>
            <a:ln w="31750" cap="flat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4"/>
              </a:solidFill>
              <a:ln w="9525" cap="flat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</c:v>
                  </c:pt>
                  <c:pt idx="8">
                    <c:v>2028</c:v>
                  </c:pt>
                  <c:pt idx="9">
                    <c:v>2029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12.1</c:v>
                </c:pt>
                <c:pt idx="1">
                  <c:v>13</c:v>
                </c:pt>
                <c:pt idx="2">
                  <c:v>14.2</c:v>
                </c:pt>
                <c:pt idx="3">
                  <c:v>15.1</c:v>
                </c:pt>
                <c:pt idx="4">
                  <c:v>16</c:v>
                </c:pt>
                <c:pt idx="5">
                  <c:v>17.2</c:v>
                </c:pt>
                <c:pt idx="6">
                  <c:v>18.3</c:v>
                </c:pt>
                <c:pt idx="7">
                  <c:v>19.4</c:v>
                </c:pt>
                <c:pt idx="8">
                  <c:v>20.4</c:v>
                </c:pt>
                <c:pt idx="9">
                  <c:v>21.5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chemeClr val="accent3"/>
            </a:solidFill>
            <a:ln w="31750" cap="flat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</c:v>
                  </c:pt>
                  <c:pt idx="8">
                    <c:v>2028</c:v>
                  </c:pt>
                  <c:pt idx="9">
                    <c:v>2029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8.4</c:v>
                </c:pt>
                <c:pt idx="1">
                  <c:v>9</c:v>
                </c:pt>
                <c:pt idx="2">
                  <c:v>9.9</c:v>
                </c:pt>
                <c:pt idx="3">
                  <c:v>10.6</c:v>
                </c:pt>
                <c:pt idx="4">
                  <c:v>11.5</c:v>
                </c:pt>
                <c:pt idx="5">
                  <c:v>12.4</c:v>
                </c:pt>
                <c:pt idx="6">
                  <c:v>13.4</c:v>
                </c:pt>
                <c:pt idx="7">
                  <c:v>14.5</c:v>
                </c:pt>
                <c:pt idx="8">
                  <c:v>15.5</c:v>
                </c:pt>
                <c:pt idx="9">
                  <c:v>16.6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Asia-Pacific</c:v>
                </c:pt>
              </c:strCache>
            </c:strRef>
          </c:tx>
          <c:spPr>
            <a:solidFill>
              <a:schemeClr val="accent2"/>
            </a:solidFill>
            <a:ln w="31750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</c:v>
                  </c:pt>
                  <c:pt idx="8">
                    <c:v>2028</c:v>
                  </c:pt>
                  <c:pt idx="9">
                    <c:v>2029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4.2</c:v>
                </c:pt>
                <c:pt idx="1">
                  <c:v>5</c:v>
                </c:pt>
                <c:pt idx="2">
                  <c:v>5.9</c:v>
                </c:pt>
                <c:pt idx="3">
                  <c:v>7.1</c:v>
                </c:pt>
                <c:pt idx="4">
                  <c:v>8.4</c:v>
                </c:pt>
                <c:pt idx="5">
                  <c:v>9.9</c:v>
                </c:pt>
                <c:pt idx="6">
                  <c:v>11.6</c:v>
                </c:pt>
                <c:pt idx="7">
                  <c:v>13.6</c:v>
                </c:pt>
                <c:pt idx="8">
                  <c:v>15.8</c:v>
                </c:pt>
                <c:pt idx="9">
                  <c:v>18.4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Rest of world</c:v>
                </c:pt>
              </c:strCache>
            </c:strRef>
          </c:tx>
          <c:spPr>
            <a:solidFill>
              <a:schemeClr val="accent5"/>
            </a:solidFill>
            <a:ln w="31750" cap="flat">
              <a:solidFill>
                <a:schemeClr val="accent5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5"/>
              </a:solidFill>
              <a:ln w="9525" cap="flat">
                <a:solidFill>
                  <a:schemeClr val="accent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  <c:pt idx="7">
                    <c:v>2027</c:v>
                  </c:pt>
                  <c:pt idx="8">
                    <c:v>2028</c:v>
                  </c:pt>
                  <c:pt idx="9">
                    <c:v>2029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1.6</c:v>
                </c:pt>
                <c:pt idx="1">
                  <c:v>1.8</c:v>
                </c:pt>
                <c:pt idx="2">
                  <c:v>2</c:v>
                </c:pt>
                <c:pt idx="3">
                  <c:v>2.2</c:v>
                </c:pt>
                <c:pt idx="4">
                  <c:v>2.4</c:v>
                </c:pt>
                <c:pt idx="5">
                  <c:v>2.6</c:v>
                </c:pt>
                <c:pt idx="6">
                  <c:v>2.7</c:v>
                </c:pt>
                <c:pt idx="7">
                  <c:v>2.9</c:v>
                </c:pt>
                <c:pt idx="8">
                  <c:v>3.1</c:v>
                </c:pt>
                <c:pt idx="9">
                  <c:v>3.3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chemeClr val="bg1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chemeClr val="tx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2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DEAE3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Halden Group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11.4</c:v>
                </c:pt>
                <c:pt idx="1">
                  <c:v>22.6</c:v>
                </c:pt>
                <c:pt idx="2">
                  <c:v>17.9</c:v>
                </c:pt>
                <c:pt idx="3">
                  <c:v>9.8</c:v>
                </c:pt>
                <c:pt idx="4">
                  <c:v>38.3</c:v>
                </c:pt>
              </c:numCache>
            </c:numRef>
          </c:val>
        </c:ser>
        <c:firstSliceAng val="0"/>
        <c:holeSize val="62"/>
      </c:doughnutChart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Halden Group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8.2</c:v>
                </c:pt>
                <c:pt idx="1">
                  <c:v>8.9</c:v>
                </c:pt>
                <c:pt idx="2">
                  <c:v>9.7</c:v>
                </c:pt>
                <c:pt idx="3">
                  <c:v>10.4</c:v>
                </c:pt>
                <c:pt idx="4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Competitor A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24.1</c:v>
                </c:pt>
                <c:pt idx="1">
                  <c:v>23.8</c:v>
                </c:pt>
                <c:pt idx="2">
                  <c:v>23.4</c:v>
                </c:pt>
                <c:pt idx="3">
                  <c:v>23</c:v>
                </c:pt>
                <c:pt idx="4">
                  <c:v>22.6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Competitor B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16</c:v>
                </c:pt>
                <c:pt idx="1">
                  <c:v>16.8</c:v>
                </c:pt>
                <c:pt idx="2">
                  <c:v>17.3</c:v>
                </c:pt>
                <c:pt idx="3">
                  <c:v>17.6</c:v>
                </c:pt>
                <c:pt idx="4">
                  <c:v>17.9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chemeClr val="tx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9"/>
          <c:y val="0.06"/>
          <c:w val="0.87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Competitors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92</c:v>
                </c:pt>
                <c:pt idx="1">
                  <c:v>134</c:v>
                </c:pt>
                <c:pt idx="2">
                  <c:v>108</c:v>
                </c:pt>
                <c:pt idx="3">
                  <c:v>71</c:v>
                </c:pt>
                <c:pt idx="4">
                  <c:v>86</c:v>
                </c:pt>
                <c:pt idx="5">
                  <c:v>121</c:v>
                </c:pt>
                <c:pt idx="6">
                  <c:v>64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1">
                  <c:v>84</c:v>
                </c:pt>
                <c:pt idx="2">
                  <c:v>66</c:v>
                </c:pt>
                <c:pt idx="3">
                  <c:v>48</c:v>
                </c:pt>
                <c:pt idx="4">
                  <c:v>57</c:v>
                </c:pt>
                <c:pt idx="5">
                  <c:v>72</c:v>
                </c:pt>
                <c:pt idx="6">
                  <c:v>39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Halden Group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marker>
            <c:symbol val="circle"/>
            <c:size val="12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92</c:v>
                </c:pt>
                <c:pt idx="1">
                  <c:v>134</c:v>
                </c:pt>
                <c:pt idx="2">
                  <c:v>108</c:v>
                </c:pt>
                <c:pt idx="3">
                  <c:v>71</c:v>
                </c:pt>
                <c:pt idx="4">
                  <c:v>86</c:v>
                </c:pt>
                <c:pt idx="5">
                  <c:v>121</c:v>
                </c:pt>
                <c:pt idx="6">
                  <c:v>64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81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50"/>
          <c:min val="50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chemeClr val="accent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chemeClr val="accent5"/>
                    </a:solidFill>
                    <a:latin typeface="Arial"/>
                  </a:rPr>
                  <a:t>Price index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</c:val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chemeClr val="accent5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chemeClr val="accent5"/>
                    </a:solidFill>
                    <a:latin typeface="Arial"/>
                  </a:rPr>
                  <a:t>Capability score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10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7"/>
          <c:y val="0.05"/>
          <c:w val="0.9"/>
          <c:h val="0.85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Competitors</c:v>
                </c:pt>
              </c:strCache>
            </c:strRef>
          </c:tx>
          <c:spPr>
            <a:solidFill>
              <a:schemeClr val="accent1">
                <a:alpha val="80000"/>
              </a:schemeClr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xVal>
            <c:numRef>
              <c:f>Sheet1!$A$2:$A$7</c:f>
              <c:numCache>
                <c:formatCode>General</c:formatCode>
                <c:ptCount val="6"/>
                <c:pt idx="0">
                  <c:v>60</c:v>
                </c:pt>
                <c:pt idx="1">
                  <c:v>86</c:v>
                </c:pt>
                <c:pt idx="2">
                  <c:v>74</c:v>
                </c:pt>
                <c:pt idx="3">
                  <c:v>32</c:v>
                </c:pt>
                <c:pt idx="4">
                  <c:v>18</c:v>
                </c:pt>
                <c:pt idx="5">
                  <c:v>24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1">
                  <c:v>86</c:v>
                </c:pt>
                <c:pt idx="2">
                  <c:v>38</c:v>
                </c:pt>
                <c:pt idx="3">
                  <c:v>34</c:v>
                </c:pt>
                <c:pt idx="4">
                  <c:v>16</c:v>
                </c:pt>
                <c:pt idx="5">
                  <c:v>78</c:v>
                </c:pt>
              </c:numCache>
            </c:numRef>
          </c:yVal>
          <c:bubbleSize>
            <c:numRef>
              <c:f>Sheet1!$C$2:$C$7</c:f>
              <c:numCache>
                <c:formatCode>General</c:formatCode>
                <c:ptCount val="6"/>
                <c:pt idx="1">
                  <c:v>23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  <c:pt idx="5">
                  <c:v>6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Halden Group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</c:spPr>
          <c:xVal>
            <c:numRef>
              <c:f>Sheet1!$A$2:$A$7</c:f>
              <c:numCache>
                <c:formatCode>General</c:formatCode>
                <c:ptCount val="6"/>
                <c:pt idx="0">
                  <c:v>60</c:v>
                </c:pt>
                <c:pt idx="1">
                  <c:v>86</c:v>
                </c:pt>
                <c:pt idx="2">
                  <c:v>74</c:v>
                </c:pt>
                <c:pt idx="3">
                  <c:v>32</c:v>
                </c:pt>
                <c:pt idx="4">
                  <c:v>18</c:v>
                </c:pt>
                <c:pt idx="5">
                  <c:v>24</c:v>
                </c:pt>
              </c:numCache>
            </c:numRef>
          </c:xVal>
          <c:yVal>
            <c:numRef>
              <c:f>Sheet1!$D$2:$D$7</c:f>
              <c:numCache>
                <c:formatCode>General</c:formatCode>
                <c:ptCount val="6"/>
                <c:pt idx="0">
                  <c:v>66</c:v>
                </c:pt>
              </c:numCache>
            </c:numRef>
          </c:yVal>
          <c:bubbleSize>
            <c:numRef>
              <c:f>Sheet1!$E$2:$E$7</c:f>
              <c:numCache>
                <c:formatCode>General</c:formatCode>
                <c:ptCount val="6"/>
                <c:pt idx="0">
                  <c:v>11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  <c:max val="100"/>
          <c:min val="0"/>
        </c:scaling>
        <c:delete val="0"/>
        <c:axPos val="b"/>
        <c:numFmt formatCode="0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majorUnit val="50"/>
      </c:valAx>
      <c:valAx>
        <c:axId val="2094734552"/>
        <c:scaling>
          <c:orientation val="minMax"/>
          <c:max val="100"/>
          <c:min val="0"/>
        </c:scaling>
        <c:delete val="0"/>
        <c:axPos val="l"/>
        <c:numFmt formatCode="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chemeClr val="bg1">
            <a:alpha val="0"/>
          </a:schemeClr>
        </a:solidFill>
        <a:ln>
          <a:noFill/>
        </a:ln>
        <a:effectLst/>
      </c:spPr>
    </c:plotArea>
    <c:plotVisOnly val="1"/>
    <c:dispBlanksAs val="span"/>
  </c:chart>
  <c:spPr>
    <a:solidFill>
      <a:schemeClr val="bg2">
        <a:alpha val="0"/>
      </a:schemeClr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2"/>
            </a:solidFill>
            <a:ln w="2857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5.9</c:v>
                </c:pt>
                <c:pt idx="1">
                  <c:v>6.1</c:v>
                </c:pt>
                <c:pt idx="2">
                  <c:v>6.6</c:v>
                </c:pt>
                <c:pt idx="3">
                  <c:v>6.5</c:v>
                </c:pt>
                <c:pt idx="4">
                  <c:v>6.9</c:v>
                </c:pt>
                <c:pt idx="5">
                  <c:v>7</c:v>
                </c:pt>
                <c:pt idx="6">
                  <c:v>7.2</c:v>
                </c:pt>
                <c:pt idx="7">
                  <c:v>7.1</c:v>
                </c:pt>
                <c:pt idx="8">
                  <c:v>7.4</c:v>
                </c:pt>
                <c:pt idx="9">
                  <c:v>7.6</c:v>
                </c:pt>
                <c:pt idx="10">
                  <c:v>7.8</c:v>
                </c:pt>
                <c:pt idx="11">
                  <c:v>8.1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chemeClr val="accent3"/>
            </a:solidFill>
            <a:ln w="28575" cap="flat">
              <a:solidFill>
                <a:schemeClr val="accent3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5.8</c:v>
                </c:pt>
                <c:pt idx="1">
                  <c:v>6</c:v>
                </c:pt>
                <c:pt idx="2">
                  <c:v>6.2</c:v>
                </c:pt>
                <c:pt idx="3">
                  <c:v>6.3</c:v>
                </c:pt>
                <c:pt idx="4">
                  <c:v>6.5</c:v>
                </c:pt>
                <c:pt idx="5">
                  <c:v>6.6</c:v>
                </c:pt>
                <c:pt idx="6">
                  <c:v>6.8</c:v>
                </c:pt>
                <c:pt idx="7">
                  <c:v>6.9</c:v>
                </c:pt>
                <c:pt idx="8">
                  <c:v>7</c:v>
                </c:pt>
                <c:pt idx="9">
                  <c:v>7.2</c:v>
                </c:pt>
                <c:pt idx="10">
                  <c:v>7.3</c:v>
                </c:pt>
                <c:pt idx="11">
                  <c:v>7.5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2A3C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5"/>
        </c:scaling>
        <c:delete val="0"/>
        <c:axPos val="l"/>
        <c:majorGridlines>
          <c:spPr>
            <a:ln w="9525" cap="flat">
              <a:solidFill>
                <a:srgbClr val="2A3C86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1D3283"/>
        </a:solidFill>
        <a:ln>
          <a:noFill/>
        </a:ln>
        <a:effectLst/>
      </c:spPr>
    </c:plotArea>
    <c:plotVisOnly val="1"/>
    <c:dispBlanksAs val="span"/>
  </c:chart>
  <c:spPr>
    <a:solidFill>
      <a:srgbClr val="1D3283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Lbls>
            <c:numFmt formatCode="&quot;$&quot;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Partners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42.4</c:v>
                </c:pt>
                <c:pt idx="1">
                  <c:v>30.8</c:v>
                </c:pt>
                <c:pt idx="2">
                  <c:v>11.6</c:v>
                </c:pt>
                <c:pt idx="3">
                  <c:v>11.6</c:v>
                </c:pt>
              </c:numCache>
            </c:numRef>
          </c:val>
        </c:ser>
        <c:dLbls>
          <c:numFmt formatCode="&quot;$&quot;0.0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D3283"/>
        </a:solidFill>
        <a:ln>
          <a:noFill/>
        </a:ln>
        <a:effectLst/>
      </c:spPr>
    </c:plotArea>
    <c:plotVisOnly val="1"/>
    <c:dispBlanksAs val="span"/>
  </c:chart>
  <c:spPr>
    <a:solidFill>
      <a:srgbClr val="1D3283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Achieved</c:v>
                </c:pt>
                <c:pt idx="1">
                  <c:v>Remaining</c:v>
                </c:pt>
                <c:pt idx="2">
                  <c:v>Lower half (hidden)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</c:ser>
        <c:firstSliceAng val="270"/>
        <c:holeSize val="74"/>
      </c:doughnutChart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Net retention 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2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Achieved</c:v>
                </c:pt>
                <c:pt idx="1">
                  <c:v>Remaining</c:v>
                </c:pt>
                <c:pt idx="2">
                  <c:v>Lower half (hidden)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98</c:v>
                </c:pt>
                <c:pt idx="1">
                  <c:v>2</c:v>
                </c:pt>
                <c:pt idx="2">
                  <c:v>100</c:v>
                </c:pt>
              </c:numCache>
            </c:numRef>
          </c:val>
        </c:ser>
        <c:firstSliceAng val="270"/>
        <c:holeSize val="74"/>
      </c:doughnutChart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target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4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bg1"/>
              </a:solidFill>
              <a:ln w="6350" cap="flat">
                <a:solidFill>
                  <a:schemeClr val="bg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Achieved</c:v>
                </c:pt>
                <c:pt idx="1">
                  <c:v>Remaining</c:v>
                </c:pt>
                <c:pt idx="2">
                  <c:v>Lower half (hidden)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</c:v>
                </c:pt>
                <c:pt idx="1">
                  <c:v>0</c:v>
                </c:pt>
                <c:pt idx="2">
                  <c:v>100</c:v>
                </c:pt>
              </c:numCache>
            </c:numRef>
          </c:val>
        </c:ser>
        <c:firstSliceAng val="270"/>
        <c:holeSize val="74"/>
      </c:doughnutChart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5"/>
          <c:y val="0.12"/>
          <c:w val="0.93"/>
          <c:h val="0.7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chemeClr val="accent1"/>
            </a:solidFill>
            <a:ln w="31750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  <c:pt idx="9">
                    <c:v>O</c:v>
                  </c:pt>
                  <c:pt idx="10">
                    <c:v>N</c:v>
                  </c:pt>
                  <c:pt idx="11">
                    <c:v>D</c:v>
                  </c:pt>
                  <c:pt idx="12">
                    <c:v>J</c:v>
                  </c:pt>
                  <c:pt idx="13">
                    <c:v>F</c:v>
                  </c:pt>
                  <c:pt idx="14">
                    <c:v>M</c:v>
                  </c:pt>
                  <c:pt idx="15">
                    <c:v>A</c:v>
                  </c:pt>
                  <c:pt idx="16">
                    <c:v>M</c:v>
                  </c:pt>
                  <c:pt idx="17">
                    <c:v>J</c:v>
                  </c:pt>
                  <c:pt idx="18">
                    <c:v>J</c:v>
                  </c:pt>
                  <c:pt idx="19">
                    <c:v>A</c:v>
                  </c:pt>
                  <c:pt idx="20">
                    <c:v>S</c:v>
                  </c:pt>
                  <c:pt idx="21">
                    <c:v>O</c:v>
                  </c:pt>
                  <c:pt idx="22">
                    <c:v>N</c:v>
                  </c:pt>
                  <c:pt idx="23">
                    <c:v>D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5.1</c:v>
                </c:pt>
                <c:pt idx="1">
                  <c:v>5.4</c:v>
                </c:pt>
                <c:pt idx="2">
                  <c:v>6</c:v>
                </c:pt>
                <c:pt idx="3">
                  <c:v>5.6</c:v>
                </c:pt>
                <c:pt idx="4">
                  <c:v>5.9</c:v>
                </c:pt>
                <c:pt idx="5">
                  <c:v>6.4</c:v>
                </c:pt>
                <c:pt idx="6">
                  <c:v>5.8</c:v>
                </c:pt>
                <c:pt idx="7">
                  <c:v>5.5</c:v>
                </c:pt>
                <c:pt idx="8">
                  <c:v>6.6</c:v>
                </c:pt>
                <c:pt idx="9">
                  <c:v>6.9</c:v>
                </c:pt>
                <c:pt idx="10">
                  <c:v>7.1</c:v>
                </c:pt>
                <c:pt idx="11">
                  <c:v>8.4</c:v>
                </c:pt>
                <c:pt idx="12">
                  <c:v>6.2</c:v>
                </c:pt>
                <c:pt idx="13">
                  <c:v>6.5</c:v>
                </c:pt>
                <c:pt idx="14">
                  <c:v>7.4</c:v>
                </c:pt>
                <c:pt idx="15">
                  <c:v>7</c:v>
                </c:pt>
                <c:pt idx="16">
                  <c:v>7.6</c:v>
                </c:pt>
                <c:pt idx="17">
                  <c:v>9.1</c:v>
                </c:pt>
                <c:pt idx="18">
                  <c:v>7.5</c:v>
                </c:pt>
                <c:pt idx="19">
                  <c:v>7.2</c:v>
                </c:pt>
                <c:pt idx="20">
                  <c:v>8.3</c:v>
                </c:pt>
                <c:pt idx="21">
                  <c:v>8.8</c:v>
                </c:pt>
                <c:pt idx="22">
                  <c:v>9.2</c:v>
                </c:pt>
                <c:pt idx="23">
                  <c:v>11.4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4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17.6</c:v>
                </c:pt>
                <c:pt idx="1">
                  <c:v>18.9</c:v>
                </c:pt>
                <c:pt idx="2">
                  <c:v>19.8</c:v>
                </c:pt>
                <c:pt idx="3">
                  <c:v>21.4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19.4</c:v>
                </c:pt>
                <c:pt idx="1">
                  <c:v>20.6</c:v>
                </c:pt>
                <c:pt idx="2">
                  <c:v>21.3</c:v>
                </c:pt>
                <c:pt idx="3">
                  <c:v>22.9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-6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27.9</c:v>
                </c:pt>
                <c:pt idx="1">
                  <c:v>35.2</c:v>
                </c:pt>
                <c:pt idx="2">
                  <c:v>43.8</c:v>
                </c:pt>
                <c:pt idx="3">
                  <c:v>52.1</c:v>
                </c:pt>
                <c:pt idx="4">
                  <c:v>58.7</c:v>
                </c:pt>
                <c:pt idx="5">
                  <c:v>64.3</c:v>
                </c:pt>
                <c:pt idx="6">
                  <c:v>84.2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chemeClr val="accent2"/>
            </a:solidFill>
            <a:ln w="31750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948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</c:v>
                </c:pt>
                <c:pt idx="1">
                  <c:v>26</c:v>
                </c:pt>
                <c:pt idx="2">
                  <c:v>24</c:v>
                </c:pt>
                <c:pt idx="3">
                  <c:v>19</c:v>
                </c:pt>
                <c:pt idx="4">
                  <c:v>13</c:v>
                </c:pt>
                <c:pt idx="5">
                  <c:v>10</c:v>
                </c:pt>
                <c:pt idx="6">
                  <c:v>31</c:v>
                </c:pt>
              </c:numCache>
            </c:numRef>
          </c:val>
          <c:smooth val="0"/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D948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valAx>
        <c:axId val="2094734553"/>
        <c:scaling>
          <c:orientation val="minMax"/>
          <c:max val="40"/>
          <c:min val="0"/>
        </c:scaling>
        <c:delete val="0"/>
        <c:axPos val="r"/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Analytics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  <c:pt idx="7">
                    <c:v>Q4 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8.4</c:v>
                </c:pt>
                <c:pt idx="1">
                  <c:v>8.5</c:v>
                </c:pt>
                <c:pt idx="2">
                  <c:v>8.6</c:v>
                </c:pt>
                <c:pt idx="3">
                  <c:v>8.4</c:v>
                </c:pt>
                <c:pt idx="4">
                  <c:v>8.7</c:v>
                </c:pt>
                <c:pt idx="5">
                  <c:v>8.8</c:v>
                </c:pt>
                <c:pt idx="6">
                  <c:v>9</c:v>
                </c:pt>
                <c:pt idx="7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Planning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  <c:pt idx="7">
                    <c:v>Q4 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2.4</c:v>
                </c:pt>
                <c:pt idx="1">
                  <c:v>2.9</c:v>
                </c:pt>
                <c:pt idx="2">
                  <c:v>3.4</c:v>
                </c:pt>
                <c:pt idx="3">
                  <c:v>4.1</c:v>
                </c:pt>
                <c:pt idx="4">
                  <c:v>4.9</c:v>
                </c:pt>
                <c:pt idx="5">
                  <c:v>5.7</c:v>
                </c:pt>
                <c:pt idx="6">
                  <c:v>6.5</c:v>
                </c:pt>
                <c:pt idx="7">
                  <c:v>7.4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Forecasting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  <c:pt idx="7">
                    <c:v>Q4 26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3.5</c:v>
                </c:pt>
                <c:pt idx="1">
                  <c:v>3.6</c:v>
                </c:pt>
                <c:pt idx="2">
                  <c:v>3.7</c:v>
                </c:pt>
                <c:pt idx="3">
                  <c:v>3.6</c:v>
                </c:pt>
                <c:pt idx="4">
                  <c:v>3.9</c:v>
                </c:pt>
                <c:pt idx="5">
                  <c:v>4</c:v>
                </c:pt>
                <c:pt idx="6">
                  <c:v>4.1</c:v>
                </c:pt>
                <c:pt idx="7">
                  <c:v>4.2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Data cloud</c:v>
                </c:pt>
              </c:strCache>
            </c:strRef>
          </c:tx>
          <c:spPr>
            <a:solidFill>
              <a:schemeClr val="tx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25</c:v>
                  </c:pt>
                  <c:pt idx="1">
                    <c:v>Q2 25</c:v>
                  </c:pt>
                  <c:pt idx="2">
                    <c:v>Q3 25</c:v>
                  </c:pt>
                  <c:pt idx="3">
                    <c:v>Q4 25</c:v>
                  </c:pt>
                  <c:pt idx="4">
                    <c:v>Q1 26</c:v>
                  </c:pt>
                  <c:pt idx="5">
                    <c:v>Q2 26</c:v>
                  </c:pt>
                  <c:pt idx="6">
                    <c:v>Q3 26</c:v>
                  </c:pt>
                  <c:pt idx="7">
                    <c:v>Q4 26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1.3</c:v>
                </c:pt>
                <c:pt idx="1">
                  <c:v>1.4</c:v>
                </c:pt>
                <c:pt idx="2">
                  <c:v>1.5</c:v>
                </c:pt>
                <c:pt idx="3">
                  <c:v>1.6</c:v>
                </c:pt>
                <c:pt idx="4">
                  <c:v>1.7</c:v>
                </c:pt>
                <c:pt idx="5">
                  <c:v>1.9</c:v>
                </c:pt>
                <c:pt idx="6">
                  <c:v>2</c:v>
                </c:pt>
                <c:pt idx="7">
                  <c:v>2.2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Analytics</c:v>
                  </c:pt>
                  <c:pt idx="1">
                    <c:v>Planning</c:v>
                  </c:pt>
                  <c:pt idx="2">
                    <c:v>Forecasting</c:v>
                  </c:pt>
                  <c:pt idx="3">
                    <c:v>Data cloud</c:v>
                  </c:pt>
                  <c:pt idx="4">
                    <c:v>Services</c:v>
                  </c:pt>
                  <c:pt idx="5">
                    <c:v>Marketplace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35.6</c:v>
                </c:pt>
                <c:pt idx="1">
                  <c:v>26</c:v>
                </c:pt>
                <c:pt idx="2">
                  <c:v>16.8</c:v>
                </c:pt>
                <c:pt idx="3">
                  <c:v>8.4</c:v>
                </c:pt>
                <c:pt idx="4">
                  <c:v>9.3</c:v>
                </c:pt>
                <c:pt idx="5">
                  <c:v>5.1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tx1"/>
            </a:solidFill>
            <a:ln>
              <a:noFill/>
            </a:ln>
            <a:effectLst/>
          </c:spPr>
          <c:marker>
            <c:symbol val="dash"/>
            <c:size val="26"/>
            <c:spPr>
              <a:solidFill>
                <a:schemeClr val="tx1"/>
              </a:solidFill>
              <a:ln w="2" cap="flat">
                <a:solidFill>
                  <a:schemeClr val="tx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Analytics</c:v>
                  </c:pt>
                  <c:pt idx="1">
                    <c:v>Planning</c:v>
                  </c:pt>
                  <c:pt idx="2">
                    <c:v>Forecasting</c:v>
                  </c:pt>
                  <c:pt idx="3">
                    <c:v>Data cloud</c:v>
                  </c:pt>
                  <c:pt idx="4">
                    <c:v>Services</c:v>
                  </c:pt>
                  <c:pt idx="5">
                    <c:v>Marketplace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33</c:v>
                </c:pt>
                <c:pt idx="1">
                  <c:v>22.5</c:v>
                </c:pt>
                <c:pt idx="2">
                  <c:v>16</c:v>
                </c:pt>
                <c:pt idx="3">
                  <c:v>8</c:v>
                </c:pt>
                <c:pt idx="4">
                  <c:v>10.4</c:v>
                </c:pt>
                <c:pt idx="5">
                  <c:v>5.6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Lbls>
            <c:numFmt formatCode="+0.0;−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Subscription revenue</c:v>
                  </c:pt>
                  <c:pt idx="1">
                    <c:v>Services revenue</c:v>
                  </c:pt>
                  <c:pt idx="2">
                    <c:v>Cost of revenue</c:v>
                  </c:pt>
                  <c:pt idx="3">
                    <c:v>Sales &amp; marketing</c:v>
                  </c:pt>
                  <c:pt idx="4">
                    <c:v>Research &amp; development</c:v>
                  </c:pt>
                  <c:pt idx="5">
                    <c:v>General &amp; admin</c:v>
                  </c:pt>
                  <c:pt idx="6">
                    <c:v>Other income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4.6</c:v>
                </c:pt>
                <c:pt idx="1">
                  <c:v>-1.1</c:v>
                </c:pt>
                <c:pt idx="2">
                  <c:v>-0.8</c:v>
                </c:pt>
                <c:pt idx="3">
                  <c:v>-2.3</c:v>
                </c:pt>
                <c:pt idx="4">
                  <c:v>1.2</c:v>
                </c:pt>
                <c:pt idx="5">
                  <c:v>0.6</c:v>
                </c:pt>
                <c:pt idx="6">
                  <c:v>0.3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-3"/>
        </c:scaling>
        <c:delete val="0"/>
        <c:axPos val="b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+0;−0;0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1"/>
          <c:y val="0.02"/>
          <c:w val="0.98"/>
          <c:h val="0.96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solidFill>
              <a:schemeClr val="bg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Leads</c:v>
                  </c:pt>
                  <c:pt idx="1">
                    <c:v>Qualified leads</c:v>
                  </c:pt>
                  <c:pt idx="2">
                    <c:v>Discovery calls</c:v>
                  </c:pt>
                  <c:pt idx="3">
                    <c:v>Proposals</c:v>
                  </c:pt>
                  <c:pt idx="4">
                    <c:v>Negotiation</c:v>
                  </c:pt>
                  <c:pt idx="5">
                    <c:v>Closed won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815</c:v>
                </c:pt>
                <c:pt idx="2">
                  <c:v>1150</c:v>
                </c:pt>
                <c:pt idx="3">
                  <c:v>1330</c:v>
                </c:pt>
                <c:pt idx="4">
                  <c:v>1415</c:v>
                </c:pt>
                <c:pt idx="5">
                  <c:v>1454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Volume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Leads</c:v>
                  </c:pt>
                  <c:pt idx="1">
                    <c:v>Qualified leads</c:v>
                  </c:pt>
                  <c:pt idx="2">
                    <c:v>Discovery calls</c:v>
                  </c:pt>
                  <c:pt idx="3">
                    <c:v>Proposals</c:v>
                  </c:pt>
                  <c:pt idx="4">
                    <c:v>Negotiation</c:v>
                  </c:pt>
                  <c:pt idx="5">
                    <c:v>Closed won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3120</c:v>
                </c:pt>
                <c:pt idx="1">
                  <c:v>1490</c:v>
                </c:pt>
                <c:pt idx="2">
                  <c:v>820</c:v>
                </c:pt>
                <c:pt idx="3">
                  <c:v>460</c:v>
                </c:pt>
                <c:pt idx="4">
                  <c:v>290</c:v>
                </c:pt>
                <c:pt idx="5">
                  <c:v>212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2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20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17"/>
          <c:y val="0.13"/>
          <c:w val="0.7"/>
          <c:h val="0.8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chemeClr val="tx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Discovery</c:v>
                  </c:pt>
                  <c:pt idx="1">
                    <c:v>Qualification</c:v>
                  </c:pt>
                  <c:pt idx="2">
                    <c:v>Solution</c:v>
                  </c:pt>
                  <c:pt idx="3">
                    <c:v>Proposal</c:v>
                  </c:pt>
                  <c:pt idx="4">
                    <c:v>Negotiation</c:v>
                  </c:pt>
                  <c:pt idx="5">
                    <c:v>Commit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6.2</c:v>
                </c:pt>
                <c:pt idx="1">
                  <c:v>7.4</c:v>
                </c:pt>
                <c:pt idx="2">
                  <c:v>8.1</c:v>
                </c:pt>
                <c:pt idx="3">
                  <c:v>7.6</c:v>
                </c:pt>
                <c:pt idx="4">
                  <c:v>5.9</c:v>
                </c:pt>
                <c:pt idx="5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Discovery</c:v>
                  </c:pt>
                  <c:pt idx="1">
                    <c:v>Qualification</c:v>
                  </c:pt>
                  <c:pt idx="2">
                    <c:v>Solution</c:v>
                  </c:pt>
                  <c:pt idx="3">
                    <c:v>Proposal</c:v>
                  </c:pt>
                  <c:pt idx="4">
                    <c:v>Negotiation</c:v>
                  </c:pt>
                  <c:pt idx="5">
                    <c:v>Commit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4.1</c:v>
                </c:pt>
                <c:pt idx="1">
                  <c:v>4.6</c:v>
                </c:pt>
                <c:pt idx="2">
                  <c:v>4.4</c:v>
                </c:pt>
                <c:pt idx="3">
                  <c:v>3.9</c:v>
                </c:pt>
                <c:pt idx="4">
                  <c:v>2.8</c:v>
                </c:pt>
                <c:pt idx="5">
                  <c:v>2.2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Discovery</c:v>
                  </c:pt>
                  <c:pt idx="1">
                    <c:v>Qualification</c:v>
                  </c:pt>
                  <c:pt idx="2">
                    <c:v>Solution</c:v>
                  </c:pt>
                  <c:pt idx="3">
                    <c:v>Proposal</c:v>
                  </c:pt>
                  <c:pt idx="4">
                    <c:v>Negotiation</c:v>
                  </c:pt>
                  <c:pt idx="5">
                    <c:v>Commit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1.6</c:v>
                </c:pt>
                <c:pt idx="1">
                  <c:v>1.4</c:v>
                </c:pt>
                <c:pt idx="2">
                  <c:v>1.2</c:v>
                </c:pt>
                <c:pt idx="3">
                  <c:v>0.9</c:v>
                </c:pt>
                <c:pt idx="4">
                  <c:v>0.7</c:v>
                </c:pt>
                <c:pt idx="5">
                  <c:v>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Partners</c:v>
                </c:pt>
              </c:strCache>
            </c:strRef>
          </c:tx>
          <c:spPr>
            <a:solidFill>
              <a:schemeClr val="accent2"/>
            </a:solidFill>
            <a:ln w="31750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8.1</c:v>
                </c:pt>
                <c:pt idx="1">
                  <c:v>8.4</c:v>
                </c:pt>
                <c:pt idx="2">
                  <c:v>8.9</c:v>
                </c:pt>
                <c:pt idx="3">
                  <c:v>9.2</c:v>
                </c:pt>
                <c:pt idx="4">
                  <c:v>9</c:v>
                </c:pt>
                <c:pt idx="5">
                  <c:v>9.8</c:v>
                </c:pt>
                <c:pt idx="6">
                  <c:v>10.1</c:v>
                </c:pt>
                <c:pt idx="7">
                  <c:v>10.4</c:v>
                </c:pt>
                <c:pt idx="8">
                  <c:v>10.2</c:v>
                </c:pt>
                <c:pt idx="9">
                  <c:v>10.8</c:v>
                </c:pt>
                <c:pt idx="10">
                  <c:v>11</c:v>
                </c:pt>
                <c:pt idx="11">
                  <c:v>11.2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Inbound</c:v>
                </c:pt>
              </c:strCache>
            </c:strRef>
          </c:tx>
          <c:spPr>
            <a:solidFill>
              <a:schemeClr val="accent1"/>
            </a:solidFill>
            <a:ln w="31750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6.2</c:v>
                </c:pt>
                <c:pt idx="1">
                  <c:v>6.3</c:v>
                </c:pt>
                <c:pt idx="2">
                  <c:v>6.6</c:v>
                </c:pt>
                <c:pt idx="3">
                  <c:v>6.5</c:v>
                </c:pt>
                <c:pt idx="4">
                  <c:v>6.8</c:v>
                </c:pt>
                <c:pt idx="5">
                  <c:v>6.9</c:v>
                </c:pt>
                <c:pt idx="6">
                  <c:v>7</c:v>
                </c:pt>
                <c:pt idx="7">
                  <c:v>7.1</c:v>
                </c:pt>
                <c:pt idx="8">
                  <c:v>7</c:v>
                </c:pt>
                <c:pt idx="9">
                  <c:v>7.2</c:v>
                </c:pt>
                <c:pt idx="10">
                  <c:v>7.3</c:v>
                </c:pt>
                <c:pt idx="11">
                  <c:v>7.4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Outbound</c:v>
                </c:pt>
              </c:strCache>
            </c:strRef>
          </c:tx>
          <c:spPr>
            <a:solidFill>
              <a:schemeClr val="accent3"/>
            </a:solidFill>
            <a:ln w="31750" cap="flat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2.6</c:v>
                </c:pt>
                <c:pt idx="1">
                  <c:v>2.7</c:v>
                </c:pt>
                <c:pt idx="2">
                  <c:v>2.6</c:v>
                </c:pt>
                <c:pt idx="3">
                  <c:v>2.8</c:v>
                </c:pt>
                <c:pt idx="4">
                  <c:v>2.9</c:v>
                </c:pt>
                <c:pt idx="5">
                  <c:v>2.8</c:v>
                </c:pt>
                <c:pt idx="6">
                  <c:v>3</c:v>
                </c:pt>
                <c:pt idx="7">
                  <c:v>2.9</c:v>
                </c:pt>
                <c:pt idx="8">
                  <c:v>3</c:v>
                </c:pt>
                <c:pt idx="9">
                  <c:v>3.1</c:v>
                </c:pt>
                <c:pt idx="10">
                  <c:v>3</c:v>
                </c:pt>
                <c:pt idx="11">
                  <c:v>3.1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sales</c:v>
                </c:pt>
              </c:strCache>
            </c:strRef>
          </c:tx>
          <c:spPr>
            <a:solidFill>
              <a:schemeClr val="tx2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  <c:pt idx="11">
                    <c:v>Q4 26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6.1</c:v>
                </c:pt>
                <c:pt idx="1">
                  <c:v>6.3</c:v>
                </c:pt>
                <c:pt idx="2">
                  <c:v>6.5</c:v>
                </c:pt>
                <c:pt idx="3">
                  <c:v>7</c:v>
                </c:pt>
                <c:pt idx="4">
                  <c:v>6.8</c:v>
                </c:pt>
                <c:pt idx="5">
                  <c:v>7.1</c:v>
                </c:pt>
                <c:pt idx="6">
                  <c:v>7.3</c:v>
                </c:pt>
                <c:pt idx="7">
                  <c:v>7.4</c:v>
                </c:pt>
                <c:pt idx="8">
                  <c:v>7.6</c:v>
                </c:pt>
                <c:pt idx="9">
                  <c:v>7.9</c:v>
                </c:pt>
                <c:pt idx="10">
                  <c:v>8</c:v>
                </c:pt>
                <c:pt idx="11">
                  <c:v>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Inbound</c:v>
                </c:pt>
              </c:strCache>
            </c:strRef>
          </c:tx>
          <c:spPr>
            <a:solidFill>
              <a:schemeClr val="accent1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  <c:pt idx="11">
                    <c:v>Q4 26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3.6</c:v>
                </c:pt>
                <c:pt idx="1">
                  <c:v>3.8</c:v>
                </c:pt>
                <c:pt idx="2">
                  <c:v>4</c:v>
                </c:pt>
                <c:pt idx="3">
                  <c:v>4.3</c:v>
                </c:pt>
                <c:pt idx="4">
                  <c:v>4.2</c:v>
                </c:pt>
                <c:pt idx="5">
                  <c:v>4.5</c:v>
                </c:pt>
                <c:pt idx="6">
                  <c:v>4.6</c:v>
                </c:pt>
                <c:pt idx="7">
                  <c:v>4.7</c:v>
                </c:pt>
                <c:pt idx="8">
                  <c:v>5</c:v>
                </c:pt>
                <c:pt idx="9">
                  <c:v>5.2</c:v>
                </c:pt>
                <c:pt idx="10">
                  <c:v>5.3</c:v>
                </c:pt>
                <c:pt idx="11">
                  <c:v>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Self-serve</c:v>
                </c:pt>
              </c:strCache>
            </c:strRef>
          </c:tx>
          <c:spPr>
            <a:solidFill>
              <a:schemeClr val="accent3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  <c:pt idx="11">
                    <c:v>Q4 26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2.7</c:v>
                </c:pt>
                <c:pt idx="1">
                  <c:v>2.9</c:v>
                </c:pt>
                <c:pt idx="2">
                  <c:v>3</c:v>
                </c:pt>
                <c:pt idx="3">
                  <c:v>3.2</c:v>
                </c:pt>
                <c:pt idx="4">
                  <c:v>3.1</c:v>
                </c:pt>
                <c:pt idx="5">
                  <c:v>3.2</c:v>
                </c:pt>
                <c:pt idx="6">
                  <c:v>3.3</c:v>
                </c:pt>
                <c:pt idx="7">
                  <c:v>3.3</c:v>
                </c:pt>
                <c:pt idx="8">
                  <c:v>3.4</c:v>
                </c:pt>
                <c:pt idx="9">
                  <c:v>3.5</c:v>
                </c:pt>
                <c:pt idx="10">
                  <c:v>3.5</c:v>
                </c:pt>
                <c:pt idx="11">
                  <c:v>3.6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Partners</c:v>
                </c:pt>
              </c:strCache>
            </c:strRef>
          </c:tx>
          <c:spPr>
            <a:solidFill>
              <a:schemeClr val="accent2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 24</c:v>
                  </c:pt>
                  <c:pt idx="1">
                    <c:v>Q2 24</c:v>
                  </c:pt>
                  <c:pt idx="2">
                    <c:v>Q3 24</c:v>
                  </c:pt>
                  <c:pt idx="3">
                    <c:v>Q4 24</c:v>
                  </c:pt>
                  <c:pt idx="4">
                    <c:v>Q1 25</c:v>
                  </c:pt>
                  <c:pt idx="5">
                    <c:v>Q2 25</c:v>
                  </c:pt>
                  <c:pt idx="6">
                    <c:v>Q3 25</c:v>
                  </c:pt>
                  <c:pt idx="7">
                    <c:v>Q4 25</c:v>
                  </c:pt>
                  <c:pt idx="8">
                    <c:v>Q1 26</c:v>
                  </c:pt>
                  <c:pt idx="9">
                    <c:v>Q2 26</c:v>
                  </c:pt>
                  <c:pt idx="10">
                    <c:v>Q3 26</c:v>
                  </c:pt>
                  <c:pt idx="11">
                    <c:v>Q4 26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0.8</c:v>
                </c:pt>
                <c:pt idx="1">
                  <c:v>1.1</c:v>
                </c:pt>
                <c:pt idx="2">
                  <c:v>1.5</c:v>
                </c:pt>
                <c:pt idx="3">
                  <c:v>1.9</c:v>
                </c:pt>
                <c:pt idx="4">
                  <c:v>1.7</c:v>
                </c:pt>
                <c:pt idx="5">
                  <c:v>2.1</c:v>
                </c:pt>
                <c:pt idx="6">
                  <c:v>2.4</c:v>
                </c:pt>
                <c:pt idx="7">
                  <c:v>2.6</c:v>
                </c:pt>
                <c:pt idx="8">
                  <c:v>3.4</c:v>
                </c:pt>
                <c:pt idx="9">
                  <c:v>4</c:v>
                </c:pt>
                <c:pt idx="10">
                  <c:v>4.5</c:v>
                </c:pt>
                <c:pt idx="11">
                  <c:v>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26</c:v>
                  </c:pt>
                  <c:pt idx="1">
                    <c:v>Q2 26</c:v>
                  </c:pt>
                  <c:pt idx="2">
                    <c:v>Q3 26</c:v>
                  </c:pt>
                  <c:pt idx="3">
                    <c:v>Q4 26</c:v>
                  </c:pt>
                  <c:pt idx="4">
                    <c:v>Q1 27F</c:v>
                  </c:pt>
                  <c:pt idx="5">
                    <c:v>Q2 27F</c:v>
                  </c:pt>
                  <c:pt idx="6">
                    <c:v>Q3 27F</c:v>
                  </c:pt>
                  <c:pt idx="7">
                    <c:v>Q4 27F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21.2</c:v>
                </c:pt>
                <c:pt idx="1">
                  <c:v>23</c:v>
                </c:pt>
                <c:pt idx="2">
                  <c:v>24.4</c:v>
                </c:pt>
                <c:pt idx="3">
                  <c:v>27.8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26</c:v>
                  </c:pt>
                  <c:pt idx="1">
                    <c:v>Q2 26</c:v>
                  </c:pt>
                  <c:pt idx="2">
                    <c:v>Q3 26</c:v>
                  </c:pt>
                  <c:pt idx="3">
                    <c:v>Q4 26</c:v>
                  </c:pt>
                  <c:pt idx="4">
                    <c:v>Q1 27F</c:v>
                  </c:pt>
                  <c:pt idx="5">
                    <c:v>Q2 27F</c:v>
                  </c:pt>
                  <c:pt idx="6">
                    <c:v>Q3 27F</c:v>
                  </c:pt>
                  <c:pt idx="7">
                    <c:v>Q4 27F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4">
                  <c:v>26.4</c:v>
                </c:pt>
                <c:pt idx="5">
                  <c:v>28.9</c:v>
                </c:pt>
                <c:pt idx="6">
                  <c:v>30.1</c:v>
                </c:pt>
                <c:pt idx="7">
                  <c:v>32.6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chemeClr val="accent2"/>
            </a:solidFill>
            <a:ln w="25400" cap="flat">
              <a:solidFill>
                <a:schemeClr val="accent2"/>
              </a:solidFill>
              <a:prstDash val="dash"/>
              <a:round/>
            </a:ln>
            <a:effectLst/>
          </c:spPr>
          <c:marker>
            <c:symbol val="non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26</c:v>
                  </c:pt>
                  <c:pt idx="1">
                    <c:v>Q2 26</c:v>
                  </c:pt>
                  <c:pt idx="2">
                    <c:v>Q3 26</c:v>
                  </c:pt>
                  <c:pt idx="3">
                    <c:v>Q4 26</c:v>
                  </c:pt>
                  <c:pt idx="4">
                    <c:v>Q1 27F</c:v>
                  </c:pt>
                  <c:pt idx="5">
                    <c:v>Q2 27F</c:v>
                  </c:pt>
                  <c:pt idx="6">
                    <c:v>Q3 27F</c:v>
                  </c:pt>
                  <c:pt idx="7">
                    <c:v>Q4 27F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20</c:v>
                </c:pt>
                <c:pt idx="1">
                  <c:v>22</c:v>
                </c:pt>
                <c:pt idx="2">
                  <c:v>24</c:v>
                </c:pt>
                <c:pt idx="3">
                  <c:v>26</c:v>
                </c:pt>
                <c:pt idx="4">
                  <c:v>26</c:v>
                </c:pt>
                <c:pt idx="5">
                  <c:v>28</c:v>
                </c:pt>
                <c:pt idx="6">
                  <c:v>29</c:v>
                </c:pt>
                <c:pt idx="7">
                  <c:v>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9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customers</c:v>
                </c:pt>
              </c:strCache>
            </c:strRef>
          </c:tx>
          <c:spPr>
            <a:solidFill>
              <a:schemeClr val="accent3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13</c:v>
                </c:pt>
                <c:pt idx="2">
                  <c:v>15</c:v>
                </c:pt>
                <c:pt idx="3">
                  <c:v>14</c:v>
                </c:pt>
                <c:pt idx="4">
                  <c:v>16</c:v>
                </c:pt>
                <c:pt idx="5">
                  <c:v>18</c:v>
                </c:pt>
                <c:pt idx="6">
                  <c:v>17</c:v>
                </c:pt>
                <c:pt idx="7">
                  <c:v>19</c:v>
                </c:pt>
                <c:pt idx="8">
                  <c:v>21</c:v>
                </c:pt>
                <c:pt idx="9">
                  <c:v>22</c:v>
                </c:pt>
                <c:pt idx="10">
                  <c:v>22</c:v>
                </c:pt>
                <c:pt idx="1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chemeClr val="accent2"/>
            </a:solidFill>
            <a:ln w="31750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25.6</c:v>
                </c:pt>
                <c:pt idx="1">
                  <c:v>25.1</c:v>
                </c:pt>
                <c:pt idx="2">
                  <c:v>24.4</c:v>
                </c:pt>
                <c:pt idx="3">
                  <c:v>24.8</c:v>
                </c:pt>
                <c:pt idx="4">
                  <c:v>23.9</c:v>
                </c:pt>
                <c:pt idx="5">
                  <c:v>23</c:v>
                </c:pt>
                <c:pt idx="6">
                  <c:v>23.4</c:v>
                </c:pt>
                <c:pt idx="7">
                  <c:v>22.6</c:v>
                </c:pt>
                <c:pt idx="8">
                  <c:v>21.9</c:v>
                </c:pt>
                <c:pt idx="9">
                  <c:v>21.6</c:v>
                </c:pt>
                <c:pt idx="10">
                  <c:v>21.3</c:v>
                </c:pt>
                <c:pt idx="11">
                  <c:v>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10"/>
      </c:valAx>
      <c:valAx>
        <c:axId val="2094734553"/>
        <c:scaling>
          <c:orientation val="minMax"/>
          <c:max val="30"/>
          <c:min val="15"/>
        </c:scaling>
        <c:delete val="0"/>
        <c:axPos val="r"/>
        <c:numFmt formatCode="&quot;$&quot;0&quot;K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midCat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25</c:v>
                </c:pt>
              </c:strCache>
            </c:strRef>
          </c:tx>
          <c:spPr>
            <a:solidFill>
              <a:schemeClr val="accent3"/>
            </a:solidFill>
            <a:ln w="31750" cap="flat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Q0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104</c:v>
                </c:pt>
                <c:pt idx="2">
                  <c:v>108</c:v>
                </c:pt>
                <c:pt idx="3">
                  <c:v>111</c:v>
                </c:pt>
                <c:pt idx="4">
                  <c:v>115</c:v>
                </c:pt>
                <c:pt idx="5">
                  <c:v>118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25</c:v>
                </c:pt>
              </c:strCache>
            </c:strRef>
          </c:tx>
          <c:spPr>
            <a:solidFill>
              <a:schemeClr val="accent1"/>
            </a:solidFill>
            <a:ln w="31750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Q0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106</c:v>
                </c:pt>
                <c:pt idx="2">
                  <c:v>111</c:v>
                </c:pt>
                <c:pt idx="3">
                  <c:v>116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Q1 26</c:v>
                </c:pt>
              </c:strCache>
            </c:strRef>
          </c:tx>
          <c:spPr>
            <a:solidFill>
              <a:schemeClr val="accent2"/>
            </a:solidFill>
            <a:ln w="31750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Q0</c:v>
                  </c:pt>
                  <c:pt idx="1">
                    <c:v>Q1</c:v>
                  </c:pt>
                  <c:pt idx="2">
                    <c:v>Q2</c:v>
                  </c:pt>
                  <c:pt idx="3">
                    <c:v>Q3</c:v>
                  </c:pt>
                  <c:pt idx="4">
                    <c:v>Q4</c:v>
                  </c:pt>
                  <c:pt idx="5">
                    <c:v>Q5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108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95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chemeClr val="bg1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chemeClr val="tx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1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Recurring subscriptions</c:v>
                </c:pt>
                <c:pt idx="1">
                  <c:v>Professional services</c:v>
                </c:pt>
                <c:pt idx="2">
                  <c:v>Usage and marketplace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72.4</c:v>
                </c:pt>
                <c:pt idx="1">
                  <c:v>8.3</c:v>
                </c:pt>
                <c:pt idx="2">
                  <c:v>3.5</c:v>
                </c:pt>
              </c:numCache>
            </c:numRef>
          </c:val>
        </c:ser>
        <c:firstSliceAng val="40"/>
      </c:pieChart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chemeClr val="accent3"/>
            </a:solidFill>
            <a:effectLst/>
          </c:spP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18.9</c:v>
                </c:pt>
                <c:pt idx="1">
                  <c:v>24.3</c:v>
                </c:pt>
                <c:pt idx="2">
                  <c:v>30.4</c:v>
                </c:pt>
                <c:pt idx="3">
                  <c:v>36.6</c:v>
                </c:pt>
                <c:pt idx="4">
                  <c:v>41.4</c:v>
                </c:pt>
                <c:pt idx="5">
                  <c:v>44.7</c:v>
                </c:pt>
                <c:pt idx="6">
                  <c:v>60.1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area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Operating profit</c:v>
                </c:pt>
              </c:strCache>
            </c:strRef>
          </c:tx>
          <c:spPr>
            <a:solidFill>
              <a:schemeClr val="accent2"/>
            </a:solidFill>
            <a:ln w="38100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&quot;$&quot;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D948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1.4</c:v>
                </c:pt>
                <c:pt idx="1">
                  <c:v>2.8</c:v>
                </c:pt>
                <c:pt idx="2">
                  <c:v>4.6</c:v>
                </c:pt>
                <c:pt idx="3">
                  <c:v>6.1</c:v>
                </c:pt>
                <c:pt idx="4">
                  <c:v>7.8</c:v>
                </c:pt>
                <c:pt idx="5">
                  <c:v>9.3</c:v>
                </c:pt>
                <c:pt idx="6">
                  <c:v>15.7</c:v>
                </c:pt>
              </c:numCache>
            </c:numRef>
          </c:val>
          <c:smooth val="0"/>
        </c:ser>
        <c:dLbls>
          <c:numFmt formatCode="&quot;$&quot;0.0" sourceLinked="0"/>
          <c:txPr>
            <a:bodyPr/>
            <a:lstStyle/>
            <a:p>
              <a:pPr>
                <a:defRPr b="0" i="0" strike="noStrike" sz="900" u="none">
                  <a:solidFill>
                    <a:srgbClr val="D948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  <c:majorUnit val="10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R&amp;D</c:v>
                </c:pt>
              </c:strCache>
            </c:strRef>
          </c:tx>
          <c:spPr>
            <a:solidFill>
              <a:schemeClr val="tx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</c:v>
                </c:pt>
                <c:pt idx="1">
                  <c:v>30</c:v>
                </c:pt>
                <c:pt idx="2">
                  <c:v>32</c:v>
                </c:pt>
                <c:pt idx="3">
                  <c:v>33</c:v>
                </c:pt>
                <c:pt idx="4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30</c:v>
                </c:pt>
                <c:pt idx="2">
                  <c:v>29</c:v>
                </c:pt>
                <c:pt idx="3">
                  <c:v>29</c:v>
                </c:pt>
                <c:pt idx="4">
                  <c:v>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Marketing</c:v>
                </c:pt>
              </c:strCache>
            </c:strRef>
          </c:tx>
          <c:spPr>
            <a:solidFill>
              <a:srgbClr val="5A72D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15</c:v>
                </c:pt>
                <c:pt idx="1">
                  <c:v>15</c:v>
                </c:pt>
                <c:pt idx="2">
                  <c:v>15</c:v>
                </c:pt>
                <c:pt idx="3">
                  <c:v>15</c:v>
                </c:pt>
                <c:pt idx="4">
                  <c:v>14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G&amp;A</c:v>
                </c:pt>
              </c:strCache>
            </c:strRef>
          </c:tx>
          <c:spPr>
            <a:solidFill>
              <a:schemeClr val="accent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19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14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Customer success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overlap val="10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chemeClr val="accent3"/>
            </a:solidFill>
            <a:ln w="34925" cap="flat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67.7</c:v>
                </c:pt>
                <c:pt idx="1">
                  <c:v>69</c:v>
                </c:pt>
                <c:pt idx="2">
                  <c:v>69.4</c:v>
                </c:pt>
                <c:pt idx="3">
                  <c:v>70.2</c:v>
                </c:pt>
                <c:pt idx="4">
                  <c:v>70.5</c:v>
                </c:pt>
                <c:pt idx="5">
                  <c:v>69.6</c:v>
                </c:pt>
                <c:pt idx="6">
                  <c:v>71.4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chemeClr val="accent2"/>
            </a:solidFill>
            <a:ln w="3492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8</c:v>
                </c:pt>
                <c:pt idx="2">
                  <c:v>10.5</c:v>
                </c:pt>
                <c:pt idx="3">
                  <c:v>11.7</c:v>
                </c:pt>
                <c:pt idx="4">
                  <c:v>13.3</c:v>
                </c:pt>
                <c:pt idx="5">
                  <c:v>14.5</c:v>
                </c:pt>
                <c:pt idx="6">
                  <c:v>18.6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margin</c:v>
                </c:pt>
              </c:strCache>
            </c:strRef>
          </c:tx>
          <c:spPr>
            <a:solidFill>
              <a:schemeClr val="bg1"/>
            </a:solidFill>
            <a:ln w="34925" cap="flat">
              <a:solidFill>
                <a:schemeClr val="bg1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chemeClr val="bg1"/>
              </a:solidFill>
              <a:ln w="9525" cap="flat">
                <a:solidFill>
                  <a:schemeClr val="bg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bg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2020</c:v>
                  </c:pt>
                  <c:pt idx="1">
                    <c:v>2021</c:v>
                  </c:pt>
                  <c:pt idx="2">
                    <c:v>2022</c:v>
                  </c:pt>
                  <c:pt idx="3">
                    <c:v>2023</c:v>
                  </c:pt>
                  <c:pt idx="4">
                    <c:v>2024</c:v>
                  </c:pt>
                  <c:pt idx="5">
                    <c:v>2025</c:v>
                  </c:pt>
                  <c:pt idx="6">
                    <c:v>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2.1</c:v>
                </c:pt>
                <c:pt idx="1">
                  <c:v>4.6</c:v>
                </c:pt>
                <c:pt idx="2">
                  <c:v>6.8</c:v>
                </c:pt>
                <c:pt idx="3">
                  <c:v>7.9</c:v>
                </c:pt>
                <c:pt idx="4">
                  <c:v>8.8</c:v>
                </c:pt>
                <c:pt idx="5">
                  <c:v>9.6</c:v>
                </c:pt>
                <c:pt idx="6">
                  <c:v>13.2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bg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rgbClr val="2A3C86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2A3C86"/>
              </a:solidFill>
              <a:prstDash val="solid"/>
              <a:round/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chemeClr val="tx2"/>
        </a:solidFill>
        <a:ln>
          <a:noFill/>
        </a:ln>
        <a:effectLst/>
      </c:spPr>
    </c:plotArea>
    <c:plotVisOnly val="1"/>
    <c:dispBlanksAs val="span"/>
  </c:chart>
  <c:spPr>
    <a:solidFill>
      <a:schemeClr val="tx2"/>
    </a:solidFill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cash flow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1.4</c:v>
                </c:pt>
                <c:pt idx="1">
                  <c:v>0.6</c:v>
                </c:pt>
                <c:pt idx="2">
                  <c:v>-0.9</c:v>
                </c:pt>
                <c:pt idx="3">
                  <c:v>0.8</c:v>
                </c:pt>
                <c:pt idx="4">
                  <c:v>1.1</c:v>
                </c:pt>
                <c:pt idx="5">
                  <c:v>0.5</c:v>
                </c:pt>
                <c:pt idx="6">
                  <c:v>-0.4</c:v>
                </c:pt>
                <c:pt idx="7">
                  <c:v>1.2</c:v>
                </c:pt>
                <c:pt idx="8">
                  <c:v>0.9</c:v>
                </c:pt>
                <c:pt idx="9">
                  <c:v>1.3</c:v>
                </c:pt>
                <c:pt idx="10">
                  <c:v>0.7</c:v>
                </c:pt>
                <c:pt idx="11">
                  <c:v>1.8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Cash balance</c:v>
                </c:pt>
              </c:strCache>
            </c:strRef>
          </c:tx>
          <c:spPr>
            <a:solidFill>
              <a:schemeClr val="tx1"/>
            </a:solidFill>
            <a:ln w="28575" cap="flat">
              <a:solidFill>
                <a:schemeClr val="tx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 cap="flat">
                <a:solidFill>
                  <a:schemeClr val="tx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34</c:v>
                </c:pt>
                <c:pt idx="1">
                  <c:v>34.6</c:v>
                </c:pt>
                <c:pt idx="2">
                  <c:v>33.7</c:v>
                </c:pt>
                <c:pt idx="3">
                  <c:v>34.5</c:v>
                </c:pt>
                <c:pt idx="4">
                  <c:v>35.6</c:v>
                </c:pt>
                <c:pt idx="5">
                  <c:v>36.1</c:v>
                </c:pt>
                <c:pt idx="6">
                  <c:v>35.7</c:v>
                </c:pt>
                <c:pt idx="7">
                  <c:v>36.9</c:v>
                </c:pt>
                <c:pt idx="8">
                  <c:v>37.8</c:v>
                </c:pt>
                <c:pt idx="9">
                  <c:v>39.1</c:v>
                </c:pt>
                <c:pt idx="10">
                  <c:v>39.8</c:v>
                </c:pt>
                <c:pt idx="11">
                  <c:v>41.6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  <c:min val="-2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+0;−0;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valAx>
        <c:axId val="2094734553"/>
        <c:scaling>
          <c:orientation val="minMax"/>
          <c:max val="50"/>
          <c:min val="20"/>
        </c:scaling>
        <c:delete val="0"/>
        <c:axPos val="r"/>
        <c:numFmt formatCode="&quot;$&quot;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  <c:majorUnit val="5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3"/>
          <c:y val="0.1"/>
          <c:w val="0.95"/>
          <c:h val="0.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chemeClr val="bg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Revenue 2025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Price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Revenue 2026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64.3</c:v>
                </c:pt>
                <c:pt idx="2">
                  <c:v>74.1</c:v>
                </c:pt>
                <c:pt idx="3">
                  <c:v>86.69999999999999</c:v>
                </c:pt>
                <c:pt idx="4">
                  <c:v>85.5</c:v>
                </c:pt>
                <c:pt idx="5">
                  <c:v>84.2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tx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Revenue 2025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Price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Revenue 2026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64.3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84.2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Revenue 2025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Price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Revenue 2026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9.8</c:v>
                </c:pt>
                <c:pt idx="2">
                  <c:v>12.6</c:v>
                </c:pt>
                <c:pt idx="3">
                  <c:v>2.4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Revenue 2025</c:v>
                  </c:pt>
                  <c:pt idx="1">
                    <c:v>New logos</c:v>
                  </c:pt>
                  <c:pt idx="2">
                    <c:v>Expansion</c:v>
                  </c:pt>
                  <c:pt idx="3">
                    <c:v>Price</c:v>
                  </c:pt>
                  <c:pt idx="4">
                    <c:v>Churn</c:v>
                  </c:pt>
                  <c:pt idx="5">
                    <c:v>FX</c:v>
                  </c:pt>
                  <c:pt idx="6">
                    <c:v>Revenue 2026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3.6</c:v>
                </c:pt>
                <c:pt idx="5">
                  <c:v>1.3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effectLst/>
            </c:spPr>
          </c:dPt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2026A</c:v>
                  </c:pt>
                  <c:pt idx="1">
                    <c:v>2027F</c:v>
                  </c:pt>
                  <c:pt idx="2">
                    <c:v>2028F</c:v>
                  </c:pt>
                  <c:pt idx="3">
                    <c:v>2029F</c:v>
                  </c:pt>
                  <c:pt idx="4">
                    <c:v>2030F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84.2</c:v>
                </c:pt>
                <c:pt idx="1">
                  <c:v>109.5</c:v>
                </c:pt>
                <c:pt idx="2">
                  <c:v>138</c:v>
                </c:pt>
                <c:pt idx="3">
                  <c:v>168.4</c:v>
                </c:pt>
                <c:pt idx="4">
                  <c:v>201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business</c:v>
                </c:pt>
              </c:strCache>
            </c:strRef>
          </c:tx>
          <c:spPr>
            <a:solidFill>
              <a:schemeClr val="tx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2026A</c:v>
                  </c:pt>
                  <c:pt idx="1">
                    <c:v>2027F</c:v>
                  </c:pt>
                  <c:pt idx="2">
                    <c:v>2028F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84.2</c:v>
                </c:pt>
                <c:pt idx="1">
                  <c:v>96</c:v>
                </c:pt>
                <c:pt idx="2">
                  <c:v>106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Enterprise expansion</c:v>
                </c:pt>
              </c:strCache>
            </c:strRef>
          </c:tx>
          <c:spPr>
            <a:solidFill>
              <a:schemeClr val="accent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2026A</c:v>
                  </c:pt>
                  <c:pt idx="1">
                    <c:v>2027F</c:v>
                  </c:pt>
                  <c:pt idx="2">
                    <c:v>2028F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7.5</c:v>
                </c:pt>
                <c:pt idx="2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New markets</c:v>
                </c:pt>
              </c:strCache>
            </c:strRef>
          </c:tx>
          <c:spPr>
            <a:solidFill>
              <a:schemeClr val="accent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2026A</c:v>
                  </c:pt>
                  <c:pt idx="1">
                    <c:v>2027F</c:v>
                  </c:pt>
                  <c:pt idx="2">
                    <c:v>2028F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3.5</c:v>
                </c:pt>
                <c:pt idx="2">
                  <c:v>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New products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2026A</c:v>
                  </c:pt>
                  <c:pt idx="1">
                    <c:v>2027F</c:v>
                  </c:pt>
                  <c:pt idx="2">
                    <c:v>2028F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2.5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$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6"/>
          <c:y val="0.05"/>
          <c:w val="0.92"/>
          <c:h val="0.86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Quick wins</c:v>
                </c:pt>
              </c:strCache>
            </c:strRef>
          </c:tx>
          <c:spPr>
            <a:solidFill>
              <a:schemeClr val="accent2">
                <a:alpha val="80000"/>
              </a:schemeClr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</c:spPr>
          <c:xVal>
            <c:numRef>
              <c:f>Sheet1!$A$2:$A$8</c:f>
              <c:numCache>
                <c:formatCode>General</c:formatCode>
                <c:ptCount val="7"/>
                <c:pt idx="0">
                  <c:v>10</c:v>
                </c:pt>
                <c:pt idx="1">
                  <c:v>40</c:v>
                </c:pt>
                <c:pt idx="2">
                  <c:v>16</c:v>
                </c:pt>
                <c:pt idx="3">
                  <c:v>72</c:v>
                </c:pt>
                <c:pt idx="4">
                  <c:v>84</c:v>
                </c:pt>
                <c:pt idx="5">
                  <c:v>40</c:v>
                </c:pt>
                <c:pt idx="6">
                  <c:v>78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81</c:v>
                </c:pt>
                <c:pt idx="1">
                  <c:v>74</c:v>
                </c:pt>
                <c:pt idx="2">
                  <c:v>58</c:v>
                </c:pt>
              </c:numCache>
            </c:numRef>
          </c:yVal>
          <c:bubbleSize>
            <c:numRef>
              <c:f>Sheet1!$C$2:$C$8</c:f>
              <c:numCache>
                <c:formatCode>General</c:formatCode>
                <c:ptCount val="7"/>
                <c:pt idx="0">
                  <c:v>6</c:v>
                </c:pt>
                <c:pt idx="1">
                  <c:v>9</c:v>
                </c:pt>
                <c:pt idx="2">
                  <c:v>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Other opportunities</c:v>
                </c:pt>
              </c:strCache>
            </c:strRef>
          </c:tx>
          <c:spPr>
            <a:solidFill>
              <a:schemeClr val="accent1">
                <a:alpha val="80000"/>
              </a:schemeClr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c:spPr>
          <c:xVal>
            <c:numRef>
              <c:f>Sheet1!$A$2:$A$8</c:f>
              <c:numCache>
                <c:formatCode>General</c:formatCode>
                <c:ptCount val="7"/>
                <c:pt idx="0">
                  <c:v>10</c:v>
                </c:pt>
                <c:pt idx="1">
                  <c:v>40</c:v>
                </c:pt>
                <c:pt idx="2">
                  <c:v>16</c:v>
                </c:pt>
                <c:pt idx="3">
                  <c:v>72</c:v>
                </c:pt>
                <c:pt idx="4">
                  <c:v>84</c:v>
                </c:pt>
                <c:pt idx="5">
                  <c:v>40</c:v>
                </c:pt>
                <c:pt idx="6">
                  <c:v>78</c:v>
                </c:pt>
              </c:numCache>
            </c:numRef>
          </c:xVal>
          <c:yVal>
            <c:numRef>
              <c:f>Sheet1!$D$2:$D$8</c:f>
              <c:numCache>
                <c:formatCode>General</c:formatCode>
                <c:ptCount val="7"/>
                <c:pt idx="3">
                  <c:v>64</c:v>
                </c:pt>
                <c:pt idx="4">
                  <c:v>84</c:v>
                </c:pt>
                <c:pt idx="5">
                  <c:v>30</c:v>
                </c:pt>
                <c:pt idx="6">
                  <c:v>22</c:v>
                </c:pt>
              </c:numCache>
            </c:numRef>
          </c:yVal>
          <c:bubbleSize>
            <c:numRef>
              <c:f>Sheet1!$E$2:$E$8</c:f>
              <c:numCache>
                <c:formatCode>General</c:formatCode>
                <c:ptCount val="7"/>
                <c:pt idx="3">
                  <c:v>10</c:v>
                </c:pt>
                <c:pt idx="4">
                  <c:v>12</c:v>
                </c:pt>
                <c:pt idx="5">
                  <c:v>4</c:v>
                </c:pt>
                <c:pt idx="6">
                  <c:v>5</c:v>
                </c:pt>
              </c:numCache>
            </c:numRef>
          </c:bubbleSize>
          <c:bubble3D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howLeaderLines val="0"/>
            </c:ext>
          </c:extLst>
        </c:dLbls>
        <c:axId val="2094734554"/>
        <c:axId val="2094734552"/>
      </c:bubbleChart>
      <c:valAx>
        <c:axId val="209473455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majorUnit val="50"/>
      </c:val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chemeClr val="bg1">
            <a:alpha val="0"/>
          </a:schemeClr>
        </a:solidFill>
        <a:ln>
          <a:noFill/>
        </a:ln>
        <a:effectLst/>
      </c:spPr>
    </c:plotArea>
    <c:plotVisOnly val="1"/>
    <c:dispBlanksAs val="span"/>
  </c:chart>
  <c:spPr>
    <a:solidFill>
      <a:schemeClr val="bg2">
        <a:alpha val="0"/>
      </a:schemeClr>
    </a:solidFill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Planning Pro</c:v>
                </c:pt>
              </c:strCache>
            </c:strRef>
          </c:tx>
          <c:spPr>
            <a:solidFill>
              <a:schemeClr val="accent2"/>
            </a:solidFill>
            <a:ln w="2857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Ease of use</c:v>
                  </c:pt>
                  <c:pt idx="1">
                    <c:v>Speed</c:v>
                  </c:pt>
                  <c:pt idx="2">
                    <c:v>Collaboration</c:v>
                  </c:pt>
                  <c:pt idx="3">
                    <c:v>Integrations</c:v>
                  </c:pt>
                  <c:pt idx="4">
                    <c:v>AI features</c:v>
                  </c:pt>
                  <c:pt idx="5">
                    <c:v>Reporting</c:v>
                  </c:pt>
                  <c:pt idx="6">
                    <c:v>Security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9.1</c:v>
                </c:pt>
                <c:pt idx="1">
                  <c:v>8.7</c:v>
                </c:pt>
                <c:pt idx="2">
                  <c:v>8.9</c:v>
                </c:pt>
                <c:pt idx="3">
                  <c:v>8.2</c:v>
                </c:pt>
                <c:pt idx="4">
                  <c:v>9</c:v>
                </c:pt>
                <c:pt idx="5">
                  <c:v>8.4</c:v>
                </c:pt>
                <c:pt idx="6">
                  <c:v>8.8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Legacy suite</c:v>
                </c:pt>
              </c:strCache>
            </c:strRef>
          </c:tx>
          <c:spPr>
            <a:solidFill>
              <a:schemeClr val="accent1"/>
            </a:solidFill>
            <a:ln w="28575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Ease of use</c:v>
                  </c:pt>
                  <c:pt idx="1">
                    <c:v>Speed</c:v>
                  </c:pt>
                  <c:pt idx="2">
                    <c:v>Collaboration</c:v>
                  </c:pt>
                  <c:pt idx="3">
                    <c:v>Integrations</c:v>
                  </c:pt>
                  <c:pt idx="4">
                    <c:v>AI features</c:v>
                  </c:pt>
                  <c:pt idx="5">
                    <c:v>Reporting</c:v>
                  </c:pt>
                  <c:pt idx="6">
                    <c:v>Security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5.8</c:v>
                </c:pt>
                <c:pt idx="1">
                  <c:v>6.1</c:v>
                </c:pt>
                <c:pt idx="2">
                  <c:v>5.2</c:v>
                </c:pt>
                <c:pt idx="3">
                  <c:v>7.4</c:v>
                </c:pt>
                <c:pt idx="4">
                  <c:v>4.1</c:v>
                </c:pt>
                <c:pt idx="5">
                  <c:v>7.6</c:v>
                </c:pt>
                <c:pt idx="6">
                  <c:v>8.1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</c:rad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1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Content</c:v>
                </c:pt>
              </c:strCache>
            </c:strRef>
          </c:tx>
          <c:spPr>
            <a:solidFill>
              <a:schemeClr val="accent1"/>
            </a:solidFill>
            <a:ln w="28575" cap="flat">
              <a:solidFill>
                <a:schemeClr val="accent1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1"/>
              </a:solidFill>
              <a:ln w="9525" cap="flat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60</c:v>
                </c:pt>
                <c:pt idx="1">
                  <c:v>82</c:v>
                </c:pt>
                <c:pt idx="2">
                  <c:v>95</c:v>
                </c:pt>
                <c:pt idx="3">
                  <c:v>110</c:v>
                </c:pt>
                <c:pt idx="4">
                  <c:v>118</c:v>
                </c:pt>
                <c:pt idx="5">
                  <c:v>124</c:v>
                </c:pt>
                <c:pt idx="6">
                  <c:v>131</c:v>
                </c:pt>
                <c:pt idx="7">
                  <c:v>128</c:v>
                </c:pt>
                <c:pt idx="8">
                  <c:v>140</c:v>
                </c:pt>
                <c:pt idx="9">
                  <c:v>146</c:v>
                </c:pt>
                <c:pt idx="10">
                  <c:v>150</c:v>
                </c:pt>
                <c:pt idx="11">
                  <c:v>158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Events</c:v>
                </c:pt>
              </c:strCache>
            </c:strRef>
          </c:tx>
          <c:spPr>
            <a:solidFill>
              <a:schemeClr val="accent2"/>
            </a:solidFill>
            <a:ln w="28575" cap="flat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2"/>
              </a:solidFill>
              <a:ln w="9525" cap="flat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20</c:v>
                </c:pt>
                <c:pt idx="1">
                  <c:v>24</c:v>
                </c:pt>
                <c:pt idx="2">
                  <c:v>30</c:v>
                </c:pt>
                <c:pt idx="3">
                  <c:v>26</c:v>
                </c:pt>
                <c:pt idx="4">
                  <c:v>80</c:v>
                </c:pt>
                <c:pt idx="5">
                  <c:v>96</c:v>
                </c:pt>
                <c:pt idx="6">
                  <c:v>40</c:v>
                </c:pt>
                <c:pt idx="7">
                  <c:v>34</c:v>
                </c:pt>
                <c:pt idx="8">
                  <c:v>38</c:v>
                </c:pt>
                <c:pt idx="9">
                  <c:v>102</c:v>
                </c:pt>
                <c:pt idx="10">
                  <c:v>118</c:v>
                </c:pt>
                <c:pt idx="11">
                  <c:v>60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chemeClr val="accent3"/>
            </a:solidFill>
            <a:ln w="28575" cap="flat">
              <a:solidFill>
                <a:schemeClr val="accent3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chemeClr val="accent3"/>
              </a:solidFill>
              <a:ln w="9525" cap="flat">
                <a:solidFill>
                  <a:schemeClr val="accent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40</c:v>
                </c:pt>
                <c:pt idx="1">
                  <c:v>44</c:v>
                </c:pt>
                <c:pt idx="2">
                  <c:v>46</c:v>
                </c:pt>
                <c:pt idx="3">
                  <c:v>42</c:v>
                </c:pt>
                <c:pt idx="4">
                  <c:v>45</c:v>
                </c:pt>
                <c:pt idx="5">
                  <c:v>48</c:v>
                </c:pt>
                <c:pt idx="6">
                  <c:v>44</c:v>
                </c:pt>
                <c:pt idx="7">
                  <c:v>43</c:v>
                </c:pt>
                <c:pt idx="8">
                  <c:v>46</c:v>
                </c:pt>
                <c:pt idx="9">
                  <c:v>47</c:v>
                </c:pt>
                <c:pt idx="10">
                  <c:v>45</c:v>
                </c:pt>
                <c:pt idx="11">
                  <c:v>44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 cap="flat">
            <a:solidFill>
              <a:schemeClr val="accent4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9525" cap="flat">
              <a:solidFill>
                <a:srgbClr val="E9E6DF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"/>
      </c:valAx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chemeClr val="accent2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chemeClr val="accent1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25400" cap="flat">
                <a:solidFill>
                  <a:schemeClr val="bg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chemeClr val="tx1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Events</c:v>
                </c:pt>
                <c:pt idx="1">
                  <c:v>Content</c:v>
                </c:pt>
                <c:pt idx="2">
                  <c:v>Paid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31</c:v>
                </c:pt>
                <c:pt idx="2">
                  <c:v>27</c:v>
                </c:pt>
              </c:numCache>
            </c:numRef>
          </c:val>
        </c:ser>
        <c:firstSliceAng val="0"/>
        <c:holeSize val="60"/>
      </c:doughnutChart>
      <c:spPr>
        <a:solidFill>
          <a:schemeClr val="bg2"/>
        </a:solidFill>
        <a:ln>
          <a:noFill/>
        </a:ln>
        <a:effectLst/>
      </c:spPr>
    </c:plotArea>
    <c:plotVisOnly val="1"/>
    <c:dispBlanksAs val="span"/>
  </c:chart>
  <c:spPr>
    <a:solidFill>
      <a:schemeClr val="bg2"/>
    </a:solidFill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chemeClr val="accent4"/>
            </a:solidFill>
            <a:effectLst/>
          </c:spPr>
          <c:invertIfNegative val="0"/>
          <c:dLbls>
            <c:numFmt formatCode="0&quot; d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Month-end close</c:v>
                  </c:pt>
                  <c:pt idx="1">
                    <c:v>Budget cycle</c:v>
                  </c:pt>
                  <c:pt idx="2">
                    <c:v>Forecast refresh</c:v>
                  </c:pt>
                  <c:pt idx="3">
                    <c:v>Board pack</c:v>
                  </c:pt>
                  <c:pt idx="4">
                    <c:v>Variance review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38</c:v>
                </c:pt>
                <c:pt idx="2">
                  <c:v>30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dLbls>
            <c:numFmt formatCode="0&quot; d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chemeClr val="tx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Month-end close</c:v>
                  </c:pt>
                  <c:pt idx="1">
                    <c:v>Budget cycle</c:v>
                  </c:pt>
                  <c:pt idx="2">
                    <c:v>Forecast refresh</c:v>
                  </c:pt>
                  <c:pt idx="3">
                    <c:v>Board pack</c:v>
                  </c:pt>
                  <c:pt idx="4">
                    <c:v>Variance review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</c:v>
                </c:pt>
                <c:pt idx="1">
                  <c:v>14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0&quot; d&quot;" sourceLinked="0"/>
          <c:txPr>
            <a:bodyPr/>
            <a:lstStyle/>
            <a:p>
              <a:pPr>
                <a:defRPr b="0" i="0" strike="noStrike" sz="900" u="none">
                  <a:solidFill>
                    <a:schemeClr val="tx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chemeClr val="tx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</c:scaling>
        <c:delete val="1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chemeClr val="accent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span"/>
  </c:chart>
  <c:spPr>
    <a:solidFill>
      <a:schemeClr val="bg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The orbit artwork is built from editable circles. Replace the headline; keep the last word in italic coral for the signature accent.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STATEMENT. One sentence, set large. Use italic coral or cobalt runs to emphasise up to two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Two-column chapter list with italic serif numerals and starting slide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OVERVIEW. Split layout: narrative on the left, a full-height cobalt KPI rail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NUMBERS. Large headline KPI with a supporting native area chart (right-click › Edit Data).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SNAPSHOT. Three-panel dashboard: native doughnut, native column chart and an editable NPS meter built from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OVERVIEW. Full-width native column chart with one coral focus bar. Colour individual bars via Format Data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MODEL. Five-stage value chain on a single line. Nodes are grouped circles + icons; the coral node marks the profit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STREAMS. Native 100% stacked column chart; the cards on the right repeat the 2026 share and five-year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OPPORTUNITY. Dark data slide: one big number, two proof points and a native bar chart with a single coral highlight.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SIZE. Nested squares sized by area (side = base × √(value ÷ TAM)). Resize squares if you change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GROWTH. Native multi-series line chart; the highlighted series uses coral, supporting series stay muted.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SEGMENTATION. Heatmap built as a native table: change a score and recolour the cell from the five-step scale shown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SHARE. Two native charts: a doughnut for the current split and a stacked bar for the trend.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LANDSCAPE. Native scatter chart (X = price index, Y = capability). Point labels are text boxes. Your company is its own series (coral), so it stays highlighted when you edit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 COMPARISON. Native table with editable in-cell data bars (rectangles). Bar length = value ÷ column maximum × 0.8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POSITIONING MATRIX. Native bubble chart (X, Y, size) over four editable quadrant rectangles. Point labels are text boxes.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ANALYSIS. Dumbbell (dot) plot built from editable shapes; each row has its own scale (min/max set per metric).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DASHBOARD. Dark dashboard: KPI strip, native line chart (actual vs dashed plan) and a native bar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DASHBOARD. Gauges are native half-doughnut charts: values [achieved, remaining, 100] with the third slice coloured like the background. Bottom tiles use editable progress bars with a target marker.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MONTHLY PERFORMANCE. Native line chart with a manual plot layout so annotation callouts can be placed exactly over data points. Move callouts if data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COMPARISON. Native clustered column chart plus a native table of supporting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YEAR-OVER-YEAR GROWTH. Native combination chart: columns on the primary axis, growth line on a secondary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REGIONAL PERFORMANCE. Abstract tile map: regions are editable rectangles placed roughly by geography, coloured by growth band.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PERFORMANCE. Asymmetric layout: insight panel left, native stacked column chart right. The growth product is coral.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CATEGORY RANKING. Lollipop chart built from editable lines and circles; stick length = value ÷ scale max.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VS ACTUAL. Native combination chart: actual columns (coloured per point) and target as a line series with no line and dash markers.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 ANALYSIS. Native diverging bar chart: positive values cobalt, negative coral (per-point colours; invert-if-negative colours set).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FUNNEL. Native stacked bar: the first series ("Offset" = (max − value) ÷ 2) is white and centres the funnel. Edit the "Volume" column, then update Offset.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PIPELINE. KPI strip plus a native stacked bar chart by stage and segment; stage totals are text boxes. Company names are fictional.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CONVERSION RATE. Large KPI with channel breakdown, plus a native multi-series line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BY CHANNEL. Native stacked area chart; series order in the data sheet sets the stacking order (first = bottom).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FORECAST. Native combination chart: overlapping Actual/Forecast column series (leave cells blank where not applicable) and a dashed target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TERRITORY PERFORMANCE. Native table; the attainment column uses a four-band colour scale shown below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ACQUISITION. Native combination chart: area series on the primary axis, CAC line on a secondary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RETENTION. Cohort heatmap as a native table (five-step cobalt scale) and a native line chart of retention curves.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BREAKDOWN. Split screen: native pie chart (used only for three parts) and a dark breakdown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PROFITABILITY. Native combination chart: gross profit as an area, operating profit as a labelled line, under a KPI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EXPENSE STRUCTURE. Native 100% stacked bar chart; colours are all dark enough to carry white data labels.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MARGIN ANALYSIS. Dark data slide with a native three-series line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CASH FLOW. Native combination chart: per-point coloured net cash columns and a closing-balance line on a secondary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WATERFALL ANALYSIS. Native stacked column waterfall: "Base" is white (invisible) and positions each step; Total, Increase and Decrease are separate series so colours follow the data. Base = running total before the step (after it, for decreases).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FORECAST. Native column chart and a native P&amp;L table. The coral bar and shaded column mark the 2030 ambition.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PRIORITIES. Editorial 2×2 grid divided by hairlines; each priority has an italic numeral, icon, description and a goal chip.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SWOT. Four quadrants meeting at a central hub. Strengths sits on deep cobalt to signal the foundation of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STRATEGIC ROADMAP. Three horizon bands on a shared quarterly axis; milestones are editable diamonds positioned by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GROWTH STRATEGY. Native stacked column chart showing the contribution of each growth lever, with lever cards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 MATRIX. Native bubble chart (effort, impact, value) over editable quadrant rectangles. Quick wins are a separate series (coral) — move a row between series to re-classify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MATRIX. 5×5 grid of editable squares (score = likelihood × impact) with numbered risk markers, plus a native mitigation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 PLAN. Native table with italic numerals and editable progress bars (bar width = column width × percent).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OVERVIEW. Three module cards; the highlighted module uses deep cobalt with a coral icon. Icons are editable SVG (Phosphor Light).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COMPARISON. Native radar chart with two series plus a native specification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STRATEGY. Stepped price ladder: tier blocks rise in height with value. All blocks are editable rectangles; feature lists sit above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COMPARISON. Native table; the recommended tier column has a coral header and a light coral fill.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FUNNEL. Horizontal funnel of editable rectangles (height ∝ volume, compressed) with conversion chips between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CAMPAIGN DASHBOARD. Marketing dashboard: KPI tiles, a native multi-series line chart and a native doughnut.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CASE STUDY. Editorial layout: challenge and approach on the left, a full-bleed cobalt results panel on the right. Client name is fictional; attribute quotes by role, not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VS AFTER. Native clustered bar chart (before in neutral grey, after in coral) with reduction chips.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TAKEAWAYS. Three takeaways on deep cobalt; the decision you need is highlighted in coral.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Orbit artwork mirrors the cover. The CTA is a rounded rectangle — add a hyperlink via Insert ›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— Ivor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29844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Presentation Template 02</a:t>
            </a:r>
            <a:endParaRPr lang="en-US" sz="7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000"/>
              </a:lnSpc>
              <a:buNone/>
              <a:def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headline states the key message</a:t>
            </a:r>
            <a:endParaRPr lang="en-US" sz="27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— Whi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29844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Presentation Template 02</a:t>
            </a:r>
            <a:endParaRPr lang="en-US" sz="7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000"/>
              </a:lnSpc>
              <a:buNone/>
              <a:def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headline states the key message</a:t>
            </a:r>
            <a:endParaRPr lang="en-US" sz="27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— Cobal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29844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Presentation Template 02</a:t>
            </a:r>
            <a:endParaRPr lang="en-US" sz="7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8000"/>
              </a:lnSpc>
              <a:buNone/>
              <a:defRPr lang="en-US" sz="2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headline states the key message</a:t>
            </a:r>
            <a:endParaRPr lang="en-US" sz="27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— Blank Ivory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298448" y="64008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Presentation Template 02</a:t>
            </a:r>
            <a:endParaRPr lang="en-US" sz="75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anta — Blank Cobal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Relationship Id="rId8" Type="http://schemas.openxmlformats.org/officeDocument/2006/relationships/image" Target="../media/vx-PiFunnelLight_2340C8.svg"/><Relationship Id="rId9" Type="http://schemas.openxmlformats.org/officeDocument/2006/relationships/image" Target="../media/vx-PiRocketLaunchLight_2340C8.svg"/><Relationship Id="rId10" Type="http://schemas.openxmlformats.org/officeDocument/2006/relationships/image" Target="../media/vx-PiGearLight_2340C8.svg"/><Relationship Id="rId11" Type="http://schemas.openxmlformats.org/officeDocument/2006/relationships/image" Target="../media/vx-PiTrendUpLight_FFFFFF.svg"/><Relationship Id="rId12" Type="http://schemas.openxmlformats.org/officeDocument/2006/relationships/image" Target="../media/vx-PiArrowsClockwiseLight_2340C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4.xml"/><Relationship Id="rId7" Type="http://schemas.openxmlformats.org/officeDocument/2006/relationships/image" Target="../media/vx-PiTargetLight_FFFFFF.svg"/><Relationship Id="rId8" Type="http://schemas.openxmlformats.org/officeDocument/2006/relationships/image" Target="../media/vx-PiGlobeLight_FFFFFF.svg"/><Relationship Id="rId9" Type="http://schemas.openxmlformats.org/officeDocument/2006/relationships/image" Target="../media/vx-PiHandshakeLight_FFFFFF.svg"/><Relationship Id="rId10" Type="http://schemas.openxmlformats.org/officeDocument/2006/relationships/image" Target="../media/vx-PiSparkleLight_FFFFFF.sv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7.png"/><Relationship Id="rId8" Type="http://schemas.openxmlformats.org/officeDocument/2006/relationships/image" Target="../media/image-51-8.png"/><Relationship Id="rId9" Type="http://schemas.openxmlformats.org/officeDocument/2006/relationships/image" Target="../media/image-51-9.png"/><Relationship Id="rId10" Type="http://schemas.openxmlformats.org/officeDocument/2006/relationships/image" Target="../media/image-51-10.png"/><Relationship Id="rId11" Type="http://schemas.openxmlformats.org/officeDocument/2006/relationships/image" Target="../media/image-51-11.png"/><Relationship Id="rId12" Type="http://schemas.openxmlformats.org/officeDocument/2006/relationships/image" Target="../media/image-51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1.xml"/><Relationship Id="rId15" Type="http://schemas.openxmlformats.org/officeDocument/2006/relationships/image" Target="../media/vx-PiChartLineUpLight_2340C8.svg"/><Relationship Id="rId16" Type="http://schemas.openxmlformats.org/officeDocument/2006/relationships/image" Target="../media/vx-PiCheckLight_2340C8.svg"/><Relationship Id="rId17" Type="http://schemas.openxmlformats.org/officeDocument/2006/relationships/image" Target="../media/vx-PiCheckLight_2340C8.svg"/><Relationship Id="rId18" Type="http://schemas.openxmlformats.org/officeDocument/2006/relationships/image" Target="../media/vx-PiCheckLight_2340C8.svg"/><Relationship Id="rId19" Type="http://schemas.openxmlformats.org/officeDocument/2006/relationships/image" Target="../media/vx-PiStrategyLight_FFFFFF.svg"/><Relationship Id="rId20" Type="http://schemas.openxmlformats.org/officeDocument/2006/relationships/image" Target="../media/vx-PiCheckLight_FF6B4A.svg"/><Relationship Id="rId21" Type="http://schemas.openxmlformats.org/officeDocument/2006/relationships/image" Target="../media/vx-PiCheckLight_FF6B4A.svg"/><Relationship Id="rId22" Type="http://schemas.openxmlformats.org/officeDocument/2006/relationships/image" Target="../media/vx-PiCheckLight_FF6B4A.svg"/><Relationship Id="rId23" Type="http://schemas.openxmlformats.org/officeDocument/2006/relationships/image" Target="../media/vx-PiTargetLight_2340C8.svg"/><Relationship Id="rId24" Type="http://schemas.openxmlformats.org/officeDocument/2006/relationships/image" Target="../media/vx-PiCheckLight_2340C8.svg"/><Relationship Id="rId25" Type="http://schemas.openxmlformats.org/officeDocument/2006/relationships/image" Target="../media/vx-PiCheckLight_2340C8.svg"/><Relationship Id="rId26" Type="http://schemas.openxmlformats.org/officeDocument/2006/relationships/image" Target="../media/vx-PiCheckLight_2340C8.sv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image" Target="../media/image-53-7.png"/><Relationship Id="rId8" Type="http://schemas.openxmlformats.org/officeDocument/2006/relationships/image" Target="../media/image-53-8.png"/><Relationship Id="rId9" Type="http://schemas.openxmlformats.org/officeDocument/2006/relationships/image" Target="../media/image-5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3.xml"/><Relationship Id="rId12" Type="http://schemas.openxmlformats.org/officeDocument/2006/relationships/image" Target="../media/vx-PiCheckLight_2340C8.svg"/><Relationship Id="rId13" Type="http://schemas.openxmlformats.org/officeDocument/2006/relationships/image" Target="../media/vx-PiCheckLight_2340C8.svg"/><Relationship Id="rId14" Type="http://schemas.openxmlformats.org/officeDocument/2006/relationships/image" Target="../media/vx-PiCheckLight_2340C8.svg"/><Relationship Id="rId15" Type="http://schemas.openxmlformats.org/officeDocument/2006/relationships/image" Target="../media/vx-PiCheckLight_2340C8.svg"/><Relationship Id="rId16" Type="http://schemas.openxmlformats.org/officeDocument/2006/relationships/image" Target="../media/vx-PiCheckLight_2340C8.svg"/><Relationship Id="rId17" Type="http://schemas.openxmlformats.org/officeDocument/2006/relationships/image" Target="../media/vx-PiCheckLight_2340C8.svg"/><Relationship Id="rId18" Type="http://schemas.openxmlformats.org/officeDocument/2006/relationships/image" Target="../media/vx-PiCheckLight_2340C8.svg"/><Relationship Id="rId19" Type="http://schemas.openxmlformats.org/officeDocument/2006/relationships/image" Target="../media/vx-PiCheckLight_2340C8.svg"/><Relationship Id="rId20" Type="http://schemas.openxmlformats.org/officeDocument/2006/relationships/image" Target="../media/vx-PiCheckLight_2340C8.sv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chart" Target="/ppt/charts/chart4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60.xml"/><Relationship Id="rId5" Type="http://schemas.openxmlformats.org/officeDocument/2006/relationships/image" Target="../media/vx-PiEnvelopeSimpleLight_B7C6F5.svg"/><Relationship Id="rId6" Type="http://schemas.openxmlformats.org/officeDocument/2006/relationships/image" Target="../media/vx-PiGlobeLight_B7C6F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914400"/>
            <a:ext cx="5029200" cy="5029200"/>
          </a:xfrm>
          <a:prstGeom prst="ellipse">
            <a:avLst/>
          </a:prstGeom>
          <a:ln w="1143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20356" y="1568196"/>
            <a:ext cx="3721608" cy="3721608"/>
          </a:xfrm>
          <a:prstGeom prst="ellipse">
            <a:avLst/>
          </a:prstGeom>
          <a:ln w="1143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23860" y="2171700"/>
            <a:ext cx="2514600" cy="2514600"/>
          </a:xfrm>
          <a:prstGeom prst="ellipse">
            <a:avLst/>
          </a:prstGeom>
          <a:ln w="1143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2926080"/>
            <a:ext cx="1005840" cy="10058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11152591" y="1757782"/>
            <a:ext cx="109728" cy="10972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7715731" y="4455165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819134" y="2215520"/>
            <a:ext cx="64008" cy="640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8311742" y="5733065"/>
            <a:ext cx="54864" cy="5486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548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722815" y="548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87909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1828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BUSINESS PRESENTATION · 2026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103120"/>
            <a:ext cx="6583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 that
moves business
</a:t>
            </a:r>
            <a:r>
              <a:rPr lang="en-US" sz="56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forward.</a:t>
            </a:r>
            <a:endParaRPr lang="en-US" sz="5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920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Performance, market position and the plan for the year ahead — Halden Group.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806440"/>
            <a:ext cx="1737360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925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108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of Directors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5806440"/>
            <a:ext cx="1737360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06040" y="5925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6108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November 2026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5806440"/>
            <a:ext cx="1737360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5925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6108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· v2.1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17220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669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905637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help growing companies turn </a:t>
            </a:r>
            <a:r>
              <a:rPr lang="en-US" sz="44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r>
              <a:rPr lang="en-US" sz="44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into decisions — and decisions into </a:t>
            </a:r>
            <a:r>
              <a:rPr lang="en-US" sz="44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revenue.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38912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03520"/>
            <a:ext cx="2563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across mid-market and enterprise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40682" y="4434840"/>
            <a:ext cx="0" cy="132588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0138" y="438912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4460138" y="5303520"/>
            <a:ext cx="2563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served from 9 regional hubs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1013" y="4434840"/>
            <a:ext cx="0" cy="132588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70469" y="4389120"/>
            <a:ext cx="321655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8170469" y="5303520"/>
            <a:ext cx="2563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revenue retention in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091153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349087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</a:t>
            </a:r>
            <a:endParaRPr lang="en-US" sz="3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 today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27461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chapters, from context to results. Each chapter closes with the decision we need.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3840480"/>
            <a:ext cx="2746172" cy="21031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40233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937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minutes, including a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Q&amp;A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77993" y="1417320"/>
            <a:ext cx="32099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77993" y="1554480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918073" y="1581912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18073" y="1874520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Snapshot, growth and model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939316" y="1600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77993" y="2404872"/>
            <a:ext cx="3209963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7993" y="2542032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918073" y="2569464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18073" y="2862072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share and competition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939316" y="2587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77993" y="3392424"/>
            <a:ext cx="3209963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77993" y="3529584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918073" y="3557016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918073" y="3849624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and variance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939316" y="3575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77993" y="4379976"/>
            <a:ext cx="3209963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77993" y="4517136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918073" y="4544568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18073" y="4837176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Funnel, pipeline and forecast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939316" y="4562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16556" y="1417320"/>
            <a:ext cx="32099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716556" y="1554480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9356636" y="1581912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356636" y="1874520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margin and cash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377879" y="1600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716556" y="2404872"/>
            <a:ext cx="3209963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716556" y="2542032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356636" y="2569464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356636" y="2862072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Priorities, roadmap and risks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11377879" y="2587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716556" y="3392424"/>
            <a:ext cx="3209963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16556" y="3529584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9356636" y="3557016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356636" y="3849624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and campaigns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11377879" y="3575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716556" y="4379976"/>
            <a:ext cx="3209963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16556" y="4517136"/>
            <a:ext cx="82296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9356636" y="4544568"/>
            <a:ext cx="19298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next steps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9356636" y="4837176"/>
            <a:ext cx="21126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and takeaways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11377879" y="456285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900" dirty="0"/>
          </a:p>
        </p:txBody>
      </p:sp>
      <p:sp>
        <p:nvSpPr>
          <p:cNvPr id="49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endParaRPr lang="en-US" sz="27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 year, with three priorities for 2027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27362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Halden Group grew revenue 31% to $84.2M while lifting operating margin by four points. Growth came from enterprise expansion and our partner channel; the next stage is international scale.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627362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538728"/>
            <a:ext cx="82296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557016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 enterprise segment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49624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now 44% of new bookings, up from 29%.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627362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4407408"/>
            <a:ext cx="82296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425696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the partner channel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718304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sourced $11.6M of pipeline this year.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5166360"/>
            <a:ext cx="627362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5276088"/>
            <a:ext cx="82296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5294376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into DACH and Nordics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586984"/>
            <a:ext cx="534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hubs open in Q2 2027 with local sales teams.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15021" y="0"/>
            <a:ext cx="4176674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17941" y="960120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517941" y="1197864"/>
            <a:ext cx="317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$84.2M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517941" y="1710690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31%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17941" y="2103120"/>
            <a:ext cx="317083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17941" y="2258568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517941" y="2496312"/>
            <a:ext cx="317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517941" y="3009138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4.1 pts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517941" y="3401568"/>
            <a:ext cx="317083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17941" y="3557016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517941" y="3794760"/>
            <a:ext cx="317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1,850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8517941" y="4307586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212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net new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17941" y="4700016"/>
            <a:ext cx="317083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17941" y="4855464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RETENTION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517941" y="5093208"/>
            <a:ext cx="317083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8517941" y="5606034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6 pts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</a:t>
            </a:r>
            <a:endParaRPr lang="en-US" sz="9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has more than tripled since 2019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2026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148840"/>
            <a:ext cx="441845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$84.2M</a:t>
            </a:r>
            <a:endParaRPr lang="en-US" sz="8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44184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31%</a:t>
            </a: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2025 · 3.4× since 2019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14173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434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63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240280" y="4297680"/>
            <a:ext cx="14173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0280" y="4434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4663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$15.7M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40480" y="4297680"/>
            <a:ext cx="141732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44348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4663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5576" y="1783080"/>
            <a:ext cx="5346040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9896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$M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342736" y="2286000"/>
          <a:ext cx="50717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10639117" y="2656881"/>
            <a:ext cx="6858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639117" y="2656881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$84.2M</a:t>
            </a:r>
            <a:endParaRPr lang="en-US" sz="9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snapshot: a balanced, recurring revenue base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year 2026. Segment mix by revenue; headcount at year end.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490874" cy="4160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57400"/>
            <a:ext cx="30336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segment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76856"/>
            <a:ext cx="30336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$84.2M</a:t>
            </a:r>
            <a:endParaRPr lang="en-US" sz="8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2532888"/>
          <a:ext cx="3307994" cy="2404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1520" y="3461004"/>
            <a:ext cx="33079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872484"/>
            <a:ext cx="33079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914400" y="5120640"/>
            <a:ext cx="109728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97280" y="5074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3170834" y="5074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5394960"/>
            <a:ext cx="109728" cy="10972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53492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3170834" y="53492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" y="5669280"/>
            <a:ext cx="109728" cy="10972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97280" y="5623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3170834" y="56235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350410" y="1874520"/>
            <a:ext cx="3490874" cy="416052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579010" y="2057400"/>
            <a:ext cx="30336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579010" y="2276856"/>
            <a:ext cx="30336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at year end</a:t>
            </a:r>
            <a:endParaRPr lang="en-US" sz="850" dirty="0"/>
          </a:p>
        </p:txBody>
      </p:sp>
      <p:graphicFrame>
        <p:nvGraphicFramePr>
          <p:cNvPr id="24" name="Chart 1" descr=""/>
          <p:cNvGraphicFramePr/>
          <p:nvPr/>
        </p:nvGraphicFramePr>
        <p:xfrm>
          <a:off x="4441850" y="2532888"/>
          <a:ext cx="3307994" cy="34107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8060741" y="1874520"/>
            <a:ext cx="3490874" cy="41605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289341" y="2057400"/>
            <a:ext cx="30336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8289341" y="2276856"/>
            <a:ext cx="30336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Promoter Score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8289341" y="26517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6600" dirty="0"/>
          </a:p>
        </p:txBody>
      </p:sp>
      <p:sp>
        <p:nvSpPr>
          <p:cNvPr id="29" name="Text 25"/>
          <p:cNvSpPr txBox="1"/>
          <p:nvPr/>
        </p:nvSpPr>
        <p:spPr>
          <a:xfrm>
            <a:off x="8289341" y="3657600"/>
            <a:ext cx="30336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9 pts vs 2025 · industry average 38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8289341" y="4251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Promoters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591495" y="42519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8289341" y="4498848"/>
            <a:ext cx="3033674" cy="64008"/>
          </a:xfrm>
          <a:prstGeom prst="rect">
            <a:avLst/>
          </a:prstGeom>
          <a:solidFill>
            <a:srgbClr val="1D3283"/>
          </a:solidFill>
          <a:ln/>
        </p:spPr>
      </p:sp>
      <p:sp>
        <p:nvSpPr>
          <p:cNvPr id="33" name="Shape 29"/>
          <p:cNvSpPr/>
          <p:nvPr/>
        </p:nvSpPr>
        <p:spPr>
          <a:xfrm>
            <a:off x="8289341" y="4498848"/>
            <a:ext cx="2153909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8289341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Passives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10591495" y="48006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8289341" y="5047488"/>
            <a:ext cx="3033674" cy="64008"/>
          </a:xfrm>
          <a:prstGeom prst="rect">
            <a:avLst/>
          </a:prstGeom>
          <a:solidFill>
            <a:srgbClr val="1D3283"/>
          </a:solidFill>
          <a:ln/>
        </p:spPr>
      </p:sp>
      <p:sp>
        <p:nvSpPr>
          <p:cNvPr id="37" name="Shape 33"/>
          <p:cNvSpPr/>
          <p:nvPr/>
        </p:nvSpPr>
        <p:spPr>
          <a:xfrm>
            <a:off x="8289341" y="5047488"/>
            <a:ext cx="667408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289341" y="53492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Detractors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10591495" y="53492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8289341" y="5596128"/>
            <a:ext cx="3033674" cy="64008"/>
          </a:xfrm>
          <a:prstGeom prst="rect">
            <a:avLst/>
          </a:prstGeom>
          <a:solidFill>
            <a:srgbClr val="1D3283"/>
          </a:solidFill>
          <a:ln/>
        </p:spPr>
      </p:sp>
      <p:sp>
        <p:nvSpPr>
          <p:cNvPr id="41" name="Shape 37"/>
          <p:cNvSpPr/>
          <p:nvPr/>
        </p:nvSpPr>
        <p:spPr>
          <a:xfrm>
            <a:off x="8289341" y="5596128"/>
            <a:ext cx="212357" cy="640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31520"/>
            <a:ext cx="8128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straight quarters </a:t>
            </a:r>
            <a:r>
              <a:rPr lang="en-US" sz="4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growth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2012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revenue, $M — every quarter since Q1 2024 exceeded the one before.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148840"/>
          <a:ext cx="11094415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85455" y="163677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168335" y="1600200"/>
            <a:ext cx="6181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2024–25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932774" y="163677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15654" y="1600200"/>
            <a:ext cx="431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9693554" y="1636776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876434" y="1600200"/>
            <a:ext cx="105338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quarter</a:t>
            </a:r>
            <a:endParaRPr lang="en-US" sz="850" dirty="0"/>
          </a:p>
        </p:txBody>
      </p:sp>
      <p:sp>
        <p:nvSpPr>
          <p:cNvPr id="13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endParaRPr lang="en-US" sz="2700" dirty="0"/>
          </a:p>
        </p:txBody>
      </p:sp>
      <p:sp>
        <p:nvSpPr>
          <p:cNvPr id="1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business model creates value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land-and-expand model: acquisition is paid back in 14 months, then expansion compounds.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463040" y="3063240"/>
            <a:ext cx="9265615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60604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8" name="Icon PiFunnelLight 2340C8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61872" y="28620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51560" y="1874520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Acquire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Inbound, partners and outbound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" y="4663440"/>
            <a:ext cx="17373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$21K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22244" y="260604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5" name="Icon PiRocketLaunchLight 2340C8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78276" y="2862072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67964" y="1874520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2773604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2773604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guided implementation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910764" y="4663440"/>
            <a:ext cx="17373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2910764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value 26 days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638648" y="260604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Icon PiGearLight 2340C8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94680" y="2862072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684368" y="1874520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5090008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5090008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plus managed services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227168" y="4663440"/>
            <a:ext cx="17373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227168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71%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955051" y="260604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Icon PiTrendUpLight FFFFFF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11083" y="2862072"/>
            <a:ext cx="402336" cy="40233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000771" y="1874520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7406411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000" dirty="0"/>
          </a:p>
        </p:txBody>
      </p:sp>
      <p:sp>
        <p:nvSpPr>
          <p:cNvPr id="32" name="Text 26"/>
          <p:cNvSpPr txBox="1"/>
          <p:nvPr/>
        </p:nvSpPr>
        <p:spPr>
          <a:xfrm>
            <a:off x="7406411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Seats, modules and new teams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543571" y="4663440"/>
            <a:ext cx="17373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543571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 118%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10271455" y="2606040"/>
            <a:ext cx="914400" cy="914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6" name="Icon PiArrowsClockwiseLight 2340C8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27487" y="2862072"/>
            <a:ext cx="402336" cy="40233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317175" y="1874520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722815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</a:t>
            </a:r>
            <a:endParaRPr lang="en-US" sz="2000" dirty="0"/>
          </a:p>
        </p:txBody>
      </p:sp>
      <p:sp>
        <p:nvSpPr>
          <p:cNvPr id="39" name="Text 32"/>
          <p:cNvSpPr txBox="1"/>
          <p:nvPr/>
        </p:nvSpPr>
        <p:spPr>
          <a:xfrm>
            <a:off x="9722815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Multi-year agreements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9859975" y="4663440"/>
            <a:ext cx="17373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859975" y="4663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GRR 97%</a:t>
            </a:r>
            <a:endParaRPr lang="en-US" sz="850" dirty="0"/>
          </a:p>
        </p:txBody>
      </p:sp>
      <p:sp>
        <p:nvSpPr>
          <p:cNvPr id="42" name="Text 35"/>
          <p:cNvSpPr txBox="1"/>
          <p:nvPr/>
        </p:nvSpPr>
        <p:spPr>
          <a:xfrm>
            <a:off x="640080" y="562356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 now funds 38% of new growth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Subscriptions are now four-fifths of revenue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6365062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316038" y="1783080"/>
            <a:ext cx="4235577" cy="960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Shape 4"/>
          <p:cNvSpPr/>
          <p:nvPr/>
        </p:nvSpPr>
        <p:spPr>
          <a:xfrm>
            <a:off x="7544638" y="2020824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73238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773238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ARR-based, billed annually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362895" y="1947672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677095" y="23774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 pts since 2022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316038" y="2862072"/>
            <a:ext cx="4235577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0"/>
          <p:cNvSpPr/>
          <p:nvPr/>
        </p:nvSpPr>
        <p:spPr>
          <a:xfrm>
            <a:off x="7544638" y="3099816"/>
            <a:ext cx="128016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73238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773238" y="33192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and advisory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362895" y="3026664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677095" y="34564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-13 pts since 2022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16038" y="3941064"/>
            <a:ext cx="4235577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Shape 16"/>
          <p:cNvSpPr/>
          <p:nvPr/>
        </p:nvSpPr>
        <p:spPr>
          <a:xfrm>
            <a:off x="7544638" y="4178808"/>
            <a:ext cx="128016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773238" y="41239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7773238" y="439826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app commissions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362895" y="4105656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9677095" y="453542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 pts since 2022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316038" y="5020056"/>
            <a:ext cx="4235577" cy="9601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2"/>
          <p:cNvSpPr/>
          <p:nvPr/>
        </p:nvSpPr>
        <p:spPr>
          <a:xfrm>
            <a:off x="7544638" y="5257800"/>
            <a:ext cx="128016" cy="12801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773238" y="52029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7773238" y="54772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 programmes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10362895" y="5184648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677095" y="5614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 pts since 2022</a:t>
            </a:r>
            <a:endParaRPr lang="en-US" sz="8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$46B opportunity — and we serve less than 1% of it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34908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$46B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34908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spend on revenue analytics and planning software across our 24 markets, 2026.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1737360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63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166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market growth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06040" y="4526280"/>
            <a:ext cx="1737360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4663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5166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current share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69433" y="1783080"/>
            <a:ext cx="6182182" cy="4297680"/>
          </a:xfrm>
          <a:prstGeom prst="rect">
            <a:avLst/>
          </a:prstGeom>
          <a:solidFill>
            <a:srgbClr val="1D328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598033" y="1965960"/>
            <a:ext cx="57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by segment, $B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598033" y="2185416"/>
            <a:ext cx="572498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Highlighted: our priority segment for 2027</a:t>
            </a:r>
            <a:endParaRPr lang="en-US" sz="8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460873" y="2441448"/>
          <a:ext cx="5999302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size: a $6.2B segment we can realistically serve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160520" cy="41605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403696"/>
            <a:ext cx="2631344" cy="263134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5682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507599"/>
            <a:ext cx="1527441" cy="1527441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672191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97016" y="1874520"/>
            <a:ext cx="5254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97016" y="20391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$46.0B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8674456" y="2075688"/>
            <a:ext cx="287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addressable market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74456" y="2404872"/>
            <a:ext cx="287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revenue analytics and planning software spend in our 24 markets.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97016" y="3246120"/>
            <a:ext cx="5254600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97016" y="34107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$18.4B</a:t>
            </a:r>
            <a:endParaRPr lang="en-US" sz="3800" dirty="0"/>
          </a:p>
        </p:txBody>
      </p:sp>
      <p:sp>
        <p:nvSpPr>
          <p:cNvPr id="17" name="Text 15"/>
          <p:cNvSpPr txBox="1"/>
          <p:nvPr/>
        </p:nvSpPr>
        <p:spPr>
          <a:xfrm>
            <a:off x="8674456" y="3447288"/>
            <a:ext cx="287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Serviceable available market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74456" y="3776472"/>
            <a:ext cx="287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and enterprise companies in our five priority industries.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97016" y="4617720"/>
            <a:ext cx="5254600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97016" y="47823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$6.2B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8674456" y="4818888"/>
            <a:ext cx="287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Serviceable obtainable market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74456" y="5148072"/>
            <a:ext cx="287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achievable by 2029 at planned sales capacity and win rate.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97016" y="5870448"/>
            <a:ext cx="525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 areas are proportional to market value.</a:t>
            </a:r>
            <a:endParaRPr lang="en-US" sz="8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Asia-Pacific is the fastest-growing region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value by region, $B. Forecast from 2027.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783080"/>
          <a:ext cx="7384085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80781" y="1783080"/>
            <a:ext cx="3170834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55101" y="20116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655101" y="2286000"/>
            <a:ext cx="262219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4.4×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655101" y="3154680"/>
            <a:ext cx="26221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Asia-Pacific growth 2020–2029, overtaking Europe by 2029.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55101" y="3931920"/>
            <a:ext cx="262219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55101" y="4114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569501" y="4169664"/>
            <a:ext cx="17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 CAGR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655101" y="46634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569501" y="4718304"/>
            <a:ext cx="17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CAGR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655101" y="5212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569501" y="5266944"/>
            <a:ext cx="1707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 CAGR</a:t>
            </a:r>
            <a:endParaRPr lang="en-US" sz="10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 attractiveness: where we should play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1–5 from market data and win/loss analysis. Darker = more attractive.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98448"/>
                <a:gridCol w="1298448"/>
                <a:gridCol w="1298448"/>
                <a:gridCol w="1298448"/>
                <a:gridCol w="1298448"/>
                <a:gridCol w="1292047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Mid-market SaaS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Financial services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 &amp; e-commerce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Public sector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87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99846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325880" y="5989320"/>
            <a:ext cx="329184" cy="201168"/>
          </a:xfrm>
          <a:prstGeom prst="rect">
            <a:avLst/>
          </a:prstGeom>
          <a:solidFill>
            <a:srgbClr val="F1F3FA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325880" y="5989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709928" y="5989320"/>
            <a:ext cx="329184" cy="201168"/>
          </a:xfrm>
          <a:prstGeom prst="rect">
            <a:avLst/>
          </a:prstGeom>
          <a:solidFill>
            <a:srgbClr val="DCE3F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709928" y="5989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093976" y="5989320"/>
            <a:ext cx="329184" cy="20116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93976" y="5989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478024" y="5989320"/>
            <a:ext cx="329184" cy="201168"/>
          </a:xfrm>
          <a:prstGeom prst="rect">
            <a:avLst/>
          </a:prstGeom>
          <a:solidFill>
            <a:srgbClr val="6F87E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478024" y="5989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862072" y="5989320"/>
            <a:ext cx="329184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862072" y="598932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gained 3.2 points of share in four years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8608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486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2026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85416"/>
            <a:ext cx="486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revenue analytics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441448"/>
          <a:ext cx="2978722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731520" y="3941064"/>
            <a:ext cx="2978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306824"/>
            <a:ext cx="29787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share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12957" y="2990088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014125" y="2944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014125" y="31455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812957" y="3538728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014125" y="34930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014125" y="36941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22.6%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12957" y="4087368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014125" y="40416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014125" y="42428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12957" y="4636008"/>
            <a:ext cx="118872" cy="1188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014125" y="45902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014125" y="47914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812957" y="5184648"/>
            <a:ext cx="118872" cy="118872"/>
          </a:xfrm>
          <a:prstGeom prst="rect">
            <a:avLst/>
          </a:prstGeom>
          <a:solidFill>
            <a:srgbClr val="EDEAE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014125" y="5138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014125" y="5340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38.3%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33008" y="1783080"/>
            <a:ext cx="5318608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61608" y="1965960"/>
            <a:ext cx="486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trend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6461608" y="2185416"/>
            <a:ext cx="4861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 vs top competitors, %</a:t>
            </a:r>
            <a:endParaRPr lang="en-US" sz="85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6324448" y="2441448"/>
          <a:ext cx="5135728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landscape: premium capability at a mid-market price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index (market average = 100) against capability score from 40 analyst criteria.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384085" cy="4297680"/>
          </a:xfrm>
          <a:prstGeom prst="rect">
            <a:avLst/>
          </a:prstGeom>
          <a:solidFill>
            <a:schemeClr val="bg1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731520" y="1874520"/>
          <a:ext cx="720120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157253" y="292751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788573" y="278291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159660" y="36505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2841593" y="451818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3781350" y="40843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74117" y="336133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E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403039" y="495199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F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380781" y="1874520"/>
            <a:ext cx="31708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Sweet spot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8380781" y="2286000"/>
            <a:ext cx="31708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scores within 3 points of the market leader on capability while pricing 31% lower.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80781" y="333756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80781" y="3474720"/>
            <a:ext cx="3170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−31%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8380781" y="3867912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vs Competitor A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380781" y="420624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80781" y="4343400"/>
            <a:ext cx="3170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81/100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8380781" y="4736592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score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380781" y="507492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80781" y="5212080"/>
            <a:ext cx="3170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380781" y="5605272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value-for-money rank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comparison: fastest growth, highest satisfaction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2194560"/>
                <a:gridCol w="1828800"/>
                <a:gridCol w="1463040"/>
                <a:gridCol w="121889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COMPANY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PAYBACK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Halden Group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$84M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$168M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$132M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$71M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$58M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956048" y="2551176"/>
            <a:ext cx="731520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Shape 4"/>
          <p:cNvSpPr/>
          <p:nvPr/>
        </p:nvSpPr>
        <p:spPr>
          <a:xfrm>
            <a:off x="7150608" y="2551176"/>
            <a:ext cx="731520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Shape 5"/>
          <p:cNvSpPr/>
          <p:nvPr/>
        </p:nvSpPr>
        <p:spPr>
          <a:xfrm>
            <a:off x="4956048" y="3209544"/>
            <a:ext cx="283169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Shape 6"/>
          <p:cNvSpPr/>
          <p:nvPr/>
        </p:nvSpPr>
        <p:spPr>
          <a:xfrm>
            <a:off x="7150608" y="3209544"/>
            <a:ext cx="354330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Shape 7"/>
          <p:cNvSpPr/>
          <p:nvPr/>
        </p:nvSpPr>
        <p:spPr>
          <a:xfrm>
            <a:off x="4956048" y="3867912"/>
            <a:ext cx="424754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Shape 8"/>
          <p:cNvSpPr/>
          <p:nvPr/>
        </p:nvSpPr>
        <p:spPr>
          <a:xfrm>
            <a:off x="7150608" y="3867912"/>
            <a:ext cx="480060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Shape 9"/>
          <p:cNvSpPr/>
          <p:nvPr/>
        </p:nvSpPr>
        <p:spPr>
          <a:xfrm>
            <a:off x="4956048" y="4526280"/>
            <a:ext cx="212377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Shape 10"/>
          <p:cNvSpPr/>
          <p:nvPr/>
        </p:nvSpPr>
        <p:spPr>
          <a:xfrm>
            <a:off x="7150608" y="4526280"/>
            <a:ext cx="308610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4" name="Shape 11"/>
          <p:cNvSpPr/>
          <p:nvPr/>
        </p:nvSpPr>
        <p:spPr>
          <a:xfrm>
            <a:off x="4956048" y="5184648"/>
            <a:ext cx="519143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5" name="Shape 12"/>
          <p:cNvSpPr/>
          <p:nvPr/>
        </p:nvSpPr>
        <p:spPr>
          <a:xfrm>
            <a:off x="7150608" y="5184648"/>
            <a:ext cx="434340" cy="12801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6089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share are estimates from public filings and analyst reports, fiscal 2026.</a:t>
            </a:r>
            <a:endParaRPr lang="en-US" sz="75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Positioning: the only challenger moving into the leader quadrant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56966" y="1997964"/>
            <a:ext cx="3322838" cy="182651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Shape 4"/>
          <p:cNvSpPr/>
          <p:nvPr/>
        </p:nvSpPr>
        <p:spPr>
          <a:xfrm>
            <a:off x="4479804" y="1997964"/>
            <a:ext cx="3322838" cy="182651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7" name="Shape 5"/>
          <p:cNvSpPr/>
          <p:nvPr/>
        </p:nvSpPr>
        <p:spPr>
          <a:xfrm>
            <a:off x="1156966" y="3824478"/>
            <a:ext cx="3322838" cy="1826514"/>
          </a:xfrm>
          <a:prstGeom prst="rect">
            <a:avLst/>
          </a:prstGeom>
          <a:solidFill>
            <a:srgbClr val="F2EFE8"/>
          </a:solidFill>
          <a:ln/>
        </p:spPr>
      </p:sp>
      <p:sp>
        <p:nvSpPr>
          <p:cNvPr id="8" name="Shape 6"/>
          <p:cNvSpPr/>
          <p:nvPr/>
        </p:nvSpPr>
        <p:spPr>
          <a:xfrm>
            <a:off x="4479804" y="3824478"/>
            <a:ext cx="3322838" cy="182651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16964" y="21076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294126" y="21076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SPECIALISTS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294126" y="393420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 PLAYERS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4616964" y="393420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CHALLENGERS</a:t>
            </a:r>
            <a:endParaRPr lang="en-US" sz="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" y="1783080"/>
          <a:ext cx="7384085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515024" y="313941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989155" y="24088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6533588" y="4162257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3639538" y="430837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2659963" y="49659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D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3040017" y="270104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E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1156966" y="5925312"/>
            <a:ext cx="6645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presence →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 rot="16200000">
            <a:off x="-991874" y="373303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of vision →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380781" y="1874520"/>
            <a:ext cx="317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the matrix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80781" y="242316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380781" y="2560320"/>
            <a:ext cx="317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8380781" y="2788920"/>
            <a:ext cx="3170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revenue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380781" y="333756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380781" y="3474720"/>
            <a:ext cx="317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8380781" y="3703320"/>
            <a:ext cx="3170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 points on presence since 2024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380781" y="425196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80781" y="4389120"/>
            <a:ext cx="317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8380781" y="4617720"/>
            <a:ext cx="31708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 into Leaders with enterprise wins in 2027</a:t>
            </a:r>
            <a:endParaRPr lang="en-US" sz="11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ANALYSIS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Benchmarks: ahead of peers on five of six measures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 (coral) vs SaaS peer median (cobalt). Peer set: 42 companies, $50–250M revenue.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792224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0" y="1755648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915814" y="179222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98694" y="1755648"/>
            <a:ext cx="866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median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267712"/>
            <a:ext cx="5111267" cy="274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Shape 10"/>
          <p:cNvSpPr/>
          <p:nvPr/>
        </p:nvSpPr>
        <p:spPr>
          <a:xfrm>
            <a:off x="6085452" y="2263140"/>
            <a:ext cx="1533380" cy="365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94012" y="218998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Shape 12"/>
          <p:cNvSpPr/>
          <p:nvPr/>
        </p:nvSpPr>
        <p:spPr>
          <a:xfrm>
            <a:off x="7509104" y="2171700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70192" y="1920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536812" y="24140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07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926080"/>
            <a:ext cx="5111267" cy="274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9" name="Shape 17"/>
          <p:cNvSpPr/>
          <p:nvPr/>
        </p:nvSpPr>
        <p:spPr>
          <a:xfrm>
            <a:off x="5957670" y="2921508"/>
            <a:ext cx="1277817" cy="365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0" name="Shape 18"/>
          <p:cNvSpPr/>
          <p:nvPr/>
        </p:nvSpPr>
        <p:spPr>
          <a:xfrm>
            <a:off x="5866230" y="2848356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7125759" y="2830068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86847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409030" y="30723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108%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465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0" y="3584448"/>
            <a:ext cx="5111267" cy="274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8797" y="3579876"/>
            <a:ext cx="766690" cy="3657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Shape 25"/>
          <p:cNvSpPr/>
          <p:nvPr/>
        </p:nvSpPr>
        <p:spPr>
          <a:xfrm>
            <a:off x="7144047" y="3506724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Shape 26"/>
          <p:cNvSpPr/>
          <p:nvPr/>
        </p:nvSpPr>
        <p:spPr>
          <a:xfrm>
            <a:off x="6359069" y="3488436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20157" y="32369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686847" y="37307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123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40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4242816"/>
            <a:ext cx="5111267" cy="274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3" name="Shape 31"/>
          <p:cNvSpPr/>
          <p:nvPr/>
        </p:nvSpPr>
        <p:spPr>
          <a:xfrm>
            <a:off x="6298421" y="4238244"/>
            <a:ext cx="1618568" cy="365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06981" y="4165092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Shape 33"/>
          <p:cNvSpPr/>
          <p:nvPr/>
        </p:nvSpPr>
        <p:spPr>
          <a:xfrm>
            <a:off x="7807261" y="4146804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368349" y="38953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749781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782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payback (months)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4901184"/>
            <a:ext cx="5111267" cy="274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0" name="Shape 38"/>
          <p:cNvSpPr/>
          <p:nvPr/>
        </p:nvSpPr>
        <p:spPr>
          <a:xfrm>
            <a:off x="6042858" y="4896612"/>
            <a:ext cx="1022253" cy="365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1" name="Shape 39"/>
          <p:cNvSpPr/>
          <p:nvPr/>
        </p:nvSpPr>
        <p:spPr>
          <a:xfrm>
            <a:off x="6973672" y="48234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Shape 40"/>
          <p:cNvSpPr/>
          <p:nvPr/>
        </p:nvSpPr>
        <p:spPr>
          <a:xfrm>
            <a:off x="5933130" y="4805172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49421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516472" y="50474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mo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NPS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0" y="5559552"/>
            <a:ext cx="5111267" cy="2743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7" name="Shape 45"/>
          <p:cNvSpPr/>
          <p:nvPr/>
        </p:nvSpPr>
        <p:spPr>
          <a:xfrm>
            <a:off x="6128046" y="5554980"/>
            <a:ext cx="1448192" cy="36576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48" name="Shape 46"/>
          <p:cNvSpPr/>
          <p:nvPr/>
        </p:nvSpPr>
        <p:spPr>
          <a:xfrm>
            <a:off x="6036606" y="548182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Shape 47"/>
          <p:cNvSpPr/>
          <p:nvPr/>
        </p:nvSpPr>
        <p:spPr>
          <a:xfrm>
            <a:off x="7466510" y="5463540"/>
            <a:ext cx="219456" cy="21945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027598" y="52120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579406" y="57058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308363" y="1783080"/>
            <a:ext cx="2243252" cy="4297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9582683" y="2057400"/>
            <a:ext cx="16946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6</a:t>
            </a:r>
            <a:endParaRPr lang="en-US" sz="4000" dirty="0"/>
          </a:p>
        </p:txBody>
      </p:sp>
      <p:sp>
        <p:nvSpPr>
          <p:cNvPr id="54" name="Text 52"/>
          <p:cNvSpPr txBox="1"/>
          <p:nvPr/>
        </p:nvSpPr>
        <p:spPr>
          <a:xfrm>
            <a:off x="9582683" y="2788920"/>
            <a:ext cx="1694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 ahead of the peer median.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582683" y="3520440"/>
            <a:ext cx="1694612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582683" y="3703320"/>
            <a:ext cx="1694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to close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9582683" y="3977640"/>
            <a:ext cx="16946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trails peers by 3 points — services mix is the driver.</a:t>
            </a:r>
            <a:endParaRPr lang="en-US" sz="105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dashboard — fiscal 2026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year to date, 31 December 2026.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20824"/>
            <a:ext cx="236212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$96.4M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0190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24%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plan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49676" y="1828800"/>
            <a:ext cx="0" cy="96012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6564" y="178308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3596564" y="2020824"/>
            <a:ext cx="236212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596564" y="250190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31%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77560" y="1828800"/>
            <a:ext cx="0" cy="96012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4448" y="178308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RATE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6324448" y="2020824"/>
            <a:ext cx="236212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250190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5 pts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05443" y="1828800"/>
            <a:ext cx="0" cy="96012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331" y="178308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9052331" y="2020824"/>
            <a:ext cx="2362124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$41.8M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9052331" y="2501900"/>
            <a:ext cx="23621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$9.2M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YoY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063240"/>
            <a:ext cx="6365062" cy="3017520"/>
          </a:xfrm>
          <a:prstGeom prst="rect">
            <a:avLst/>
          </a:prstGeom>
          <a:solidFill>
            <a:srgbClr val="1D328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8680" y="3246120"/>
            <a:ext cx="59078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revenue vs plan, $M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27702" y="3328416"/>
            <a:ext cx="256032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56886" y="3246120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40857" y="3328416"/>
            <a:ext cx="91440" cy="320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Shape 24"/>
          <p:cNvSpPr/>
          <p:nvPr/>
        </p:nvSpPr>
        <p:spPr>
          <a:xfrm>
            <a:off x="5787161" y="3328416"/>
            <a:ext cx="91440" cy="320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70041" y="3246120"/>
            <a:ext cx="431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8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731520" y="3538728"/>
          <a:ext cx="6182182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Shape 26"/>
          <p:cNvSpPr/>
          <p:nvPr/>
        </p:nvSpPr>
        <p:spPr>
          <a:xfrm>
            <a:off x="7224598" y="3063240"/>
            <a:ext cx="4327017" cy="3017520"/>
          </a:xfrm>
          <a:prstGeom prst="rect">
            <a:avLst/>
          </a:prstGeom>
          <a:solidFill>
            <a:srgbClr val="1D3283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453198" y="3246120"/>
            <a:ext cx="38698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Bookings by segment, $M</a:t>
            </a:r>
            <a:endParaRPr lang="en-US" sz="1050" dirty="0"/>
          </a:p>
        </p:txBody>
      </p:sp>
      <p:graphicFrame>
        <p:nvGraphicFramePr>
          <p:cNvPr id="31" name="Chart 1" descr=""/>
          <p:cNvGraphicFramePr/>
          <p:nvPr/>
        </p:nvGraphicFramePr>
        <p:xfrm>
          <a:off x="7316038" y="3538728"/>
          <a:ext cx="4144137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dashboard: two of three goals already met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targets set by the board in January 2026.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90874" cy="26974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65960"/>
            <a:ext cx="3033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target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60120" y="2286000"/>
          <a:ext cx="2850794" cy="28507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3208477"/>
            <a:ext cx="3490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711397"/>
            <a:ext cx="3490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$84.2M of $81.0M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882597" y="406908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882597" y="4069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350410" y="1783080"/>
            <a:ext cx="3490874" cy="26974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9010" y="1965960"/>
            <a:ext cx="3033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retention target</a:t>
            </a:r>
            <a:endParaRPr lang="en-US" sz="105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4670450" y="2286000"/>
          <a:ext cx="2850794" cy="28507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350410" y="3208477"/>
            <a:ext cx="3490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350410" y="3711397"/>
            <a:ext cx="3490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 of 120%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592928" y="406908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5592928" y="4069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8060741" y="1783080"/>
            <a:ext cx="3490874" cy="26974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8289341" y="1965960"/>
            <a:ext cx="30336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target</a:t>
            </a:r>
            <a:endParaRPr lang="en-US" sz="1050" dirty="0"/>
          </a:p>
        </p:txBody>
      </p:sp>
      <p:graphicFrame>
        <p:nvGraphicFramePr>
          <p:cNvPr id="22" name="Chart 2" descr=""/>
          <p:cNvGraphicFramePr/>
          <p:nvPr/>
        </p:nvGraphicFramePr>
        <p:xfrm>
          <a:off x="8380781" y="2286000"/>
          <a:ext cx="2850794" cy="285079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 txBox="1"/>
          <p:nvPr/>
        </p:nvSpPr>
        <p:spPr>
          <a:xfrm>
            <a:off x="8060741" y="3208477"/>
            <a:ext cx="3490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112%</a:t>
            </a:r>
            <a:endParaRPr lang="en-US" sz="3000" dirty="0"/>
          </a:p>
        </p:txBody>
      </p:sp>
      <p:sp>
        <p:nvSpPr>
          <p:cNvPr id="24" name="Text 19"/>
          <p:cNvSpPr txBox="1"/>
          <p:nvPr/>
        </p:nvSpPr>
        <p:spPr>
          <a:xfrm>
            <a:off x="8060741" y="3711397"/>
            <a:ext cx="349087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 of 16.6%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303258" y="406908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9303258" y="40690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Achieved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640080" y="4709160"/>
            <a:ext cx="256329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868680" y="4892040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COVERAGE</a:t>
            </a:r>
            <a:endParaRPr lang="en-US" sz="800" dirty="0"/>
          </a:p>
        </p:txBody>
      </p:sp>
      <p:sp>
        <p:nvSpPr>
          <p:cNvPr id="29" name="Text 24"/>
          <p:cNvSpPr txBox="1"/>
          <p:nvPr/>
        </p:nvSpPr>
        <p:spPr>
          <a:xfrm>
            <a:off x="868680" y="5093208"/>
            <a:ext cx="2106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868680" y="5669280"/>
            <a:ext cx="2106092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1" name="Shape 26"/>
          <p:cNvSpPr/>
          <p:nvPr/>
        </p:nvSpPr>
        <p:spPr>
          <a:xfrm>
            <a:off x="868680" y="5669280"/>
            <a:ext cx="2075569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2" name="Shape 27"/>
          <p:cNvSpPr/>
          <p:nvPr/>
        </p:nvSpPr>
        <p:spPr>
          <a:xfrm>
            <a:off x="2690920" y="5605272"/>
            <a:ext cx="22860" cy="20116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68680" y="5788152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3×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3422828" y="4709160"/>
            <a:ext cx="256329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3651428" y="4892040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HEALTH</a:t>
            </a:r>
            <a:endParaRPr lang="en-US" sz="800" dirty="0"/>
          </a:p>
        </p:txBody>
      </p:sp>
      <p:sp>
        <p:nvSpPr>
          <p:cNvPr id="36" name="Text 31"/>
          <p:cNvSpPr txBox="1"/>
          <p:nvPr/>
        </p:nvSpPr>
        <p:spPr>
          <a:xfrm>
            <a:off x="3651428" y="5093208"/>
            <a:ext cx="2106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37" name="Shape 32"/>
          <p:cNvSpPr/>
          <p:nvPr/>
        </p:nvSpPr>
        <p:spPr>
          <a:xfrm>
            <a:off x="3651428" y="5669280"/>
            <a:ext cx="2106092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8" name="Shape 33"/>
          <p:cNvSpPr/>
          <p:nvPr/>
        </p:nvSpPr>
        <p:spPr>
          <a:xfrm>
            <a:off x="3651428" y="5669280"/>
            <a:ext cx="185293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Shape 34"/>
          <p:cNvSpPr/>
          <p:nvPr/>
        </p:nvSpPr>
        <p:spPr>
          <a:xfrm>
            <a:off x="5473668" y="5605272"/>
            <a:ext cx="22860" cy="20116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0" name="Text 35"/>
          <p:cNvSpPr txBox="1"/>
          <p:nvPr/>
        </p:nvSpPr>
        <p:spPr>
          <a:xfrm>
            <a:off x="3651428" y="5788152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85%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6205576" y="4709160"/>
            <a:ext cx="256329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6434176" y="4892040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PLAN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6434176" y="5093208"/>
            <a:ext cx="2106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44" name="Shape 39"/>
          <p:cNvSpPr/>
          <p:nvPr/>
        </p:nvSpPr>
        <p:spPr>
          <a:xfrm>
            <a:off x="6434176" y="5669280"/>
            <a:ext cx="2106092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5" name="Shape 40"/>
          <p:cNvSpPr/>
          <p:nvPr/>
        </p:nvSpPr>
        <p:spPr>
          <a:xfrm>
            <a:off x="6434176" y="5669280"/>
            <a:ext cx="1684873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6" name="Shape 41"/>
          <p:cNvSpPr/>
          <p:nvPr/>
        </p:nvSpPr>
        <p:spPr>
          <a:xfrm>
            <a:off x="8256416" y="5605272"/>
            <a:ext cx="22860" cy="20116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6434176" y="5788152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100%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8988323" y="4709160"/>
            <a:ext cx="2563292" cy="13716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9216923" y="4892040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800" dirty="0"/>
          </a:p>
        </p:txBody>
      </p:sp>
      <p:sp>
        <p:nvSpPr>
          <p:cNvPr id="50" name="Text 45"/>
          <p:cNvSpPr txBox="1"/>
          <p:nvPr/>
        </p:nvSpPr>
        <p:spPr>
          <a:xfrm>
            <a:off x="9216923" y="5093208"/>
            <a:ext cx="21060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99.97%</a:t>
            </a:r>
            <a:endParaRPr lang="en-US" sz="2200" dirty="0"/>
          </a:p>
        </p:txBody>
      </p:sp>
      <p:sp>
        <p:nvSpPr>
          <p:cNvPr id="51" name="Shape 46"/>
          <p:cNvSpPr/>
          <p:nvPr/>
        </p:nvSpPr>
        <p:spPr>
          <a:xfrm>
            <a:off x="9216923" y="5669280"/>
            <a:ext cx="2106092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52" name="Shape 47"/>
          <p:cNvSpPr/>
          <p:nvPr/>
        </p:nvSpPr>
        <p:spPr>
          <a:xfrm>
            <a:off x="9216923" y="5669280"/>
            <a:ext cx="1832667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Shape 48"/>
          <p:cNvSpPr/>
          <p:nvPr/>
        </p:nvSpPr>
        <p:spPr>
          <a:xfrm>
            <a:off x="11039164" y="5605272"/>
            <a:ext cx="22860" cy="201168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9216923" y="5788152"/>
            <a:ext cx="21060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99.9%</a:t>
            </a:r>
            <a:endParaRPr lang="en-US" sz="80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bookings: three moments shaped the year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bookings by month, $M, 2025–2026.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6596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1103361" y="6035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6262264" y="6035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65014" y="3784702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47310" y="3565246"/>
            <a:ext cx="0" cy="210312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41470" y="2906878"/>
            <a:ext cx="2011680" cy="640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51198" y="298003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enterprise deals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151198" y="323606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deals above $500K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544465" y="3511067"/>
            <a:ext cx="164592" cy="16459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26761" y="3291611"/>
            <a:ext cx="0" cy="210312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20921" y="2633243"/>
            <a:ext cx="2011680" cy="640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30649" y="2706395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programme launch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730649" y="2962427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+$1.4M partner-sourced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1123917" y="2611984"/>
            <a:ext cx="164592" cy="16459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206213" y="2392528"/>
            <a:ext cx="0" cy="210312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539935" y="1734160"/>
            <a:ext cx="2011680" cy="64008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649663" y="1807312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month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649663" y="206334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$11.4M, +36% YoY</a:t>
            </a:r>
            <a:endParaRPr lang="en-US" sz="85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quarter of 2026 beat the same quarter of 2025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6273622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00253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1965960"/>
            <a:ext cx="431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75181" y="200253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58061" y="1965960"/>
            <a:ext cx="431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31520" y="2240280"/>
          <a:ext cx="6090742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4598" y="1874520"/>
          <a:ext cx="4327017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8854"/>
                <a:gridCol w="738854"/>
                <a:gridCol w="738854"/>
                <a:gridCol w="738854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$M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YoY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logos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224598" y="4983480"/>
            <a:ext cx="4327017" cy="10972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53198" y="5074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+8.6%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7453198" y="5596128"/>
            <a:ext cx="38698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year-over-year growth per quarter</a:t>
            </a:r>
            <a:endParaRPr lang="en-US" sz="95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re-accelerated in 2026 after two steady years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($M, columns) and year-over-year growth (%, line).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866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$M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36115" y="1865376"/>
            <a:ext cx="256032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65299" y="1783080"/>
            <a:ext cx="7424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Growth, %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2103120"/>
          <a:ext cx="8311667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9308363" y="1920240"/>
            <a:ext cx="2243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9308363" y="2788920"/>
            <a:ext cx="22432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2026 — the fastest since 2021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308363" y="34290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08363" y="3611880"/>
            <a:ext cx="2243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308363" y="3977640"/>
            <a:ext cx="22432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600"/>
              </a:spcAft>
              <a:buChar char="•"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 launched in Q1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Char char="•"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channel added $11.6M pipeline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Char char="•"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increase of 7% at renewal</a:t>
            </a:r>
            <a:endParaRPr lang="en-US" sz="105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performance: Europe leads, APAC grows fastest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region 2026. Tiles are placed geographically; colour shows growth.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615184" cy="1719072"/>
          </a:xfrm>
          <a:prstGeom prst="rect">
            <a:avLst/>
          </a:prstGeom>
          <a:solidFill>
            <a:srgbClr val="5A72D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6207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$26.1M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004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YoY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8416" y="1828800"/>
            <a:ext cx="2615184" cy="1719072"/>
          </a:xfrm>
          <a:prstGeom prst="rect">
            <a:avLst/>
          </a:prstGeom>
          <a:solidFill>
            <a:srgbClr val="5A72D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65576" y="19385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2862072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$31.4M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465576" y="32004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YoY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28416" y="3621024"/>
            <a:ext cx="82296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5576" y="37307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465576" y="39867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$5.2M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24528" y="3621024"/>
            <a:ext cx="1719072" cy="17190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61688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Asia-Pacific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361688" y="465429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$12.9M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361688" y="499262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YoY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621024"/>
            <a:ext cx="1719072" cy="17190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3730752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America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654296"/>
            <a:ext cx="1444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4992624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YoY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32304" y="4517136"/>
            <a:ext cx="822960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569464" y="46268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2569464" y="488289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9161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17320" y="5925312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618488" y="5897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&lt;22%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377440" y="5925312"/>
            <a:ext cx="146304" cy="146304"/>
          </a:xfrm>
          <a:prstGeom prst="rect">
            <a:avLst/>
          </a:prstGeom>
          <a:solidFill>
            <a:srgbClr val="5A72D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578608" y="5897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22–29%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37560" y="592531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538728" y="5897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30–44%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297680" y="5925312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498848" y="5897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45%+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7316038" y="1828800"/>
            <a:ext cx="423557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ranking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16038" y="2286000"/>
            <a:ext cx="4235577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6038" y="2423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681798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722815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$31.4M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728655" y="2432304"/>
            <a:ext cx="777240" cy="237744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728655" y="24323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316038" y="2889504"/>
            <a:ext cx="4235577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316038" y="3026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7681798" y="30266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America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9722815" y="302666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$26.1M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0728655" y="3035808"/>
            <a:ext cx="777240" cy="237744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728655" y="30358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16038" y="3493008"/>
            <a:ext cx="4235577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316038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7681798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Asia-Pacific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9722815" y="3630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$12.9M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0728655" y="3639312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0728655" y="363931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316038" y="4096512"/>
            <a:ext cx="4235577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316038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Text 56"/>
          <p:cNvSpPr txBox="1"/>
          <p:nvPr/>
        </p:nvSpPr>
        <p:spPr>
          <a:xfrm>
            <a:off x="7681798" y="4233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Latin America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9722815" y="4233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$6.3M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10728655" y="4242816"/>
            <a:ext cx="777240" cy="237744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0728655" y="42428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316038" y="4700016"/>
            <a:ext cx="4235577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316038" y="48371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7681798" y="4837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9722815" y="483717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$5.2M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0728655" y="4846320"/>
            <a:ext cx="777240" cy="237744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0728655" y="484632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316038" y="5303520"/>
            <a:ext cx="4235577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316038" y="5440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681798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9722815" y="54406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$2.3M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0728655" y="5449824"/>
            <a:ext cx="777240" cy="237744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10728655" y="544982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</a:t>
            </a:r>
            <a:endParaRPr lang="en-US" sz="850" dirty="0"/>
          </a:p>
        </p:txBody>
      </p:sp>
      <p:sp>
        <p:nvSpPr>
          <p:cNvPr id="7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performance: Planning is now the growth engine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90874" cy="4297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29422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SUITE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294223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3.1×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94223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in eight quarters — from $2.4M to $7.4M per quarter.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4069080"/>
            <a:ext cx="294223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302154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$9.1M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16554" y="4206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302154" y="4636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$7.4M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216554" y="4636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+62%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65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302154" y="50657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216554" y="50657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4955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302154" y="54955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216554" y="54955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+44%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33290" y="181965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16170" y="1783080"/>
            <a:ext cx="7424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04967" y="1819656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87847" y="1783080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14465" y="18196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97345" y="1783080"/>
            <a:ext cx="866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10500" y="1819656"/>
            <a:ext cx="118872" cy="1188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993380" y="17830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</a:t>
            </a:r>
            <a:endParaRPr lang="en-US" sz="8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4396130" y="2103120"/>
          <a:ext cx="7155485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ranking: the top three drive half of new revenue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annual recurring revenue by customer category, 2026, $M.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&amp; internet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069287"/>
            <a:ext cx="4087764" cy="2194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8120268" y="199796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39724" y="1874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$9.8M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2480767"/>
            <a:ext cx="3378662" cy="2194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7411166" y="240944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630622" y="22860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$8.1M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697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697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services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892247"/>
            <a:ext cx="2669560" cy="2194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9" name="Shape 17"/>
          <p:cNvSpPr/>
          <p:nvPr/>
        </p:nvSpPr>
        <p:spPr>
          <a:xfrm>
            <a:off x="6702064" y="2820924"/>
            <a:ext cx="164592" cy="16459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21520" y="26974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$6.4M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3303727"/>
            <a:ext cx="2043882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Shape 22"/>
          <p:cNvSpPr/>
          <p:nvPr/>
        </p:nvSpPr>
        <p:spPr>
          <a:xfrm>
            <a:off x="6076386" y="32324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95842" y="31089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$4.9M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520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114800" y="3715207"/>
            <a:ext cx="1751899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Shape 27"/>
          <p:cNvSpPr/>
          <p:nvPr/>
        </p:nvSpPr>
        <p:spPr>
          <a:xfrm>
            <a:off x="5784403" y="364388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003859" y="3520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$4.2M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31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931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0" y="4126687"/>
            <a:ext cx="1501628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4" name="Shape 32"/>
          <p:cNvSpPr/>
          <p:nvPr/>
        </p:nvSpPr>
        <p:spPr>
          <a:xfrm>
            <a:off x="5534132" y="40553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753588" y="3931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$3.6M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434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4538167"/>
            <a:ext cx="1209645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9" name="Shape 37"/>
          <p:cNvSpPr/>
          <p:nvPr/>
        </p:nvSpPr>
        <p:spPr>
          <a:xfrm>
            <a:off x="5242149" y="446684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61605" y="43434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$2.9M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754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" y="4754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114800" y="4949647"/>
            <a:ext cx="875949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4" name="Shape 42"/>
          <p:cNvSpPr/>
          <p:nvPr/>
        </p:nvSpPr>
        <p:spPr>
          <a:xfrm>
            <a:off x="4908453" y="487832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127909" y="4754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$2.1M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1663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143000" y="5166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114800" y="5361127"/>
            <a:ext cx="583966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9" name="Shape 47"/>
          <p:cNvSpPr/>
          <p:nvPr/>
        </p:nvSpPr>
        <p:spPr>
          <a:xfrm>
            <a:off x="4616470" y="52898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35926" y="5166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577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43000" y="5577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sector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0" y="5772607"/>
            <a:ext cx="375407" cy="2194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4" name="Shape 52"/>
          <p:cNvSpPr/>
          <p:nvPr/>
        </p:nvSpPr>
        <p:spPr>
          <a:xfrm>
            <a:off x="4407911" y="570128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627367" y="55778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$0.9M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114800" y="6035040"/>
            <a:ext cx="4379747" cy="0"/>
          </a:xfrm>
          <a:prstGeom prst="line">
            <a:avLst/>
          </a:prstGeom>
          <a:noFill/>
          <a:ln w="9525">
            <a:solidFill>
              <a:schemeClr val="accent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08363" y="1874520"/>
            <a:ext cx="2243252" cy="41148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9582683" y="2103120"/>
            <a:ext cx="16946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4600" dirty="0"/>
          </a:p>
        </p:txBody>
      </p:sp>
      <p:sp>
        <p:nvSpPr>
          <p:cNvPr id="59" name="Text 57"/>
          <p:cNvSpPr txBox="1"/>
          <p:nvPr/>
        </p:nvSpPr>
        <p:spPr>
          <a:xfrm>
            <a:off x="9582683" y="2880360"/>
            <a:ext cx="16946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new ARR from the top three categories.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9582683" y="3611880"/>
            <a:ext cx="169461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582683" y="3794760"/>
            <a:ext cx="16946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for 2027: deepen software and financial services; test energy with two partners.</a:t>
            </a:r>
            <a:endParaRPr lang="en-US" sz="1000" dirty="0"/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vs actual: four of six business units above plan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business unit, $M. Columns show actual; markers show target.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target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98294" y="1819656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81174" y="178308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target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6509" y="1865376"/>
            <a:ext cx="256032" cy="3200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85693" y="1783080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103120"/>
          <a:ext cx="8311667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9308363" y="18288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08363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637215" y="20208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637215" y="2020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+7.9%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308363" y="25146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08363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0637215" y="27066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637215" y="2706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+15.6%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9308363" y="32004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08363" y="3383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Forecasting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0637215" y="33924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37215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+5.0%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9308363" y="38862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08363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cloud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10637215" y="40782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0637215" y="4078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+5.0%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308363" y="45720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308363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0637215" y="47640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637215" y="47640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−10.6%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9308363" y="5257800"/>
            <a:ext cx="22432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308363" y="5440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10637215" y="544982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637215" y="54498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−8.9%</a:t>
            </a:r>
            <a:endParaRPr lang="en-US" sz="8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PERFORMANCE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Variance to budget: revenue upside offset by hiring costs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Full-year variance vs budget by line item, $M. Positive = favourable.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201205" cy="4297680"/>
          </a:xfrm>
          <a:prstGeom prst="rect">
            <a:avLst/>
          </a:prstGeom>
          <a:solidFill>
            <a:schemeClr val="bg1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777240" y="1920240"/>
          <a:ext cx="6926885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8380781" y="1874520"/>
            <a:ext cx="317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VARIANCE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8380781" y="2103120"/>
            <a:ext cx="31708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+$2.5M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8380781" y="2834640"/>
            <a:ext cx="3170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favourable to budget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80781" y="338328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80781" y="3566160"/>
            <a:ext cx="3170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upside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380781" y="3840480"/>
            <a:ext cx="317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 revenue, +$4.6M from enterprise wins.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380781" y="4663440"/>
            <a:ext cx="31708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gap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380781" y="4937760"/>
            <a:ext cx="317083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&amp; marketing, −$2.3M from accelerated hiring.</a:t>
            </a:r>
            <a:endParaRPr lang="en-US" sz="100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funnel: 6.8% of leads become customers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twelve months. Centred bars are a native stacked bar chart.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240280" y="1783080"/>
          <a:ext cx="5783885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400702" y="2075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6331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400702" y="2763317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61325" y="2428646"/>
            <a:ext cx="640080" cy="25603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61325" y="242864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45094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400702" y="345094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61325" y="3116275"/>
            <a:ext cx="6400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161325" y="3116275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13857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641511" y="413857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460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161325" y="3803904"/>
            <a:ext cx="640080" cy="25603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61325" y="38039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82620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487089" y="482620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161325" y="4491533"/>
            <a:ext cx="640080" cy="25603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61325" y="4491533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55138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won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16236" y="5513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161325" y="5179162"/>
            <a:ext cx="640080" cy="25603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161325" y="517916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8161325" y="1508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CONVERSION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9536963" y="2194560"/>
            <a:ext cx="2014652" cy="3291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765563" y="2377440"/>
            <a:ext cx="15574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9765563" y="3154680"/>
            <a:ext cx="15574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→ discovery is our weakest step. A new SDR playbook targets 65%.</a:t>
            </a:r>
            <a:endParaRPr lang="en-US" sz="10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Pipeline: $68M open, weighted to late stages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18156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2179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PIPELINE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30552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$68.4M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7692" y="1783080"/>
            <a:ext cx="2618156" cy="9144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06292" y="1920240"/>
            <a:ext cx="2179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VALUE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706292" y="2130552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$31.2M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205576" y="1783080"/>
            <a:ext cx="2618156" cy="9144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34176" y="1920240"/>
            <a:ext cx="2179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130552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3.4×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933459" y="1783080"/>
            <a:ext cx="2618156" cy="9144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62059" y="1920240"/>
            <a:ext cx="2179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DEAL SIZE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9162059" y="2130552"/>
            <a:ext cx="21792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$84K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8128787" cy="3154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054096"/>
            <a:ext cx="118872" cy="1188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30175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002536" y="305409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85416" y="301752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36392" y="305409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19272" y="3017520"/>
            <a:ext cx="369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0080" y="2926080"/>
          <a:ext cx="8128787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822960" y="3336188"/>
            <a:ext cx="110757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609312" y="3336188"/>
            <a:ext cx="8229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$11.9M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3777844"/>
            <a:ext cx="110757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178328" y="3777844"/>
            <a:ext cx="8229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$13.4M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" y="4219499"/>
            <a:ext cx="110757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7292131" y="4219499"/>
            <a:ext cx="8229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$13.7M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4661154"/>
            <a:ext cx="110757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798984" y="4661154"/>
            <a:ext cx="8229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$12.4M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5102809"/>
            <a:ext cx="110757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660954" y="5102809"/>
            <a:ext cx="8229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$9.4M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822960" y="5544464"/>
            <a:ext cx="1107574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978136" y="5544464"/>
            <a:ext cx="82296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$7.6M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9216923" y="2926080"/>
            <a:ext cx="23346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Deals to watch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216923" y="3337560"/>
            <a:ext cx="233469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216923" y="3429000"/>
            <a:ext cx="1511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Arcwell Systems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10728655" y="3429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$1.4M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9216923" y="3685032"/>
            <a:ext cx="233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9216923" y="4005072"/>
            <a:ext cx="233469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216923" y="4096512"/>
            <a:ext cx="1511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Northgate Bank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10728655" y="40965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$1.1M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9216923" y="4352544"/>
            <a:ext cx="233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9216923" y="4672584"/>
            <a:ext cx="233469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216923" y="4764024"/>
            <a:ext cx="1511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Ferro Logistics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10728655" y="476402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$0.9M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9216923" y="5020056"/>
            <a:ext cx="233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9216923" y="5340096"/>
            <a:ext cx="233469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216923" y="5431536"/>
            <a:ext cx="1511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Lumen Health</a:t>
            </a:r>
            <a:endParaRPr lang="en-US" sz="1050" dirty="0"/>
          </a:p>
        </p:txBody>
      </p:sp>
      <p:sp>
        <p:nvSpPr>
          <p:cNvPr id="52" name="Text 49"/>
          <p:cNvSpPr txBox="1"/>
          <p:nvPr/>
        </p:nvSpPr>
        <p:spPr>
          <a:xfrm>
            <a:off x="10728655" y="543153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$0.8M</a:t>
            </a:r>
            <a:endParaRPr lang="en-US" sz="1050" dirty="0"/>
          </a:p>
        </p:txBody>
      </p:sp>
      <p:sp>
        <p:nvSpPr>
          <p:cNvPr id="53" name="Text 50"/>
          <p:cNvSpPr txBox="1"/>
          <p:nvPr/>
        </p:nvSpPr>
        <p:spPr>
          <a:xfrm>
            <a:off x="9216923" y="5687568"/>
            <a:ext cx="23346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9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Conversion is rising fastest in the partner channel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34908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LEAD-TO-CUSTOMER CONVERSION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148840"/>
            <a:ext cx="34908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349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1.9 pts</a:t>
            </a: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2025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349087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4197096"/>
            <a:ext cx="27432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4087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33674" y="4087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349087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37176"/>
            <a:ext cx="27432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727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33674" y="47274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349087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477256"/>
            <a:ext cx="274320" cy="457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5367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033674" y="5367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33290" y="1783080"/>
            <a:ext cx="7018325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761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conversion rate by channel, %</a:t>
            </a:r>
            <a:endParaRPr lang="en-US" sz="10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624730" y="2286000"/>
          <a:ext cx="6835445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by channel: partners grew from 6% to 19% of sales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new revenue by channel, $M.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8128787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75104"/>
            <a:ext cx="118872" cy="1188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938528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2614" y="197510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55494" y="1938528"/>
            <a:ext cx="6181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19933" y="1975104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02813" y="193852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53789" y="1975104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436669" y="1938528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8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31520" y="2240280"/>
          <a:ext cx="7945907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9308363" y="1783080"/>
            <a:ext cx="2243252" cy="9692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9536963" y="1920240"/>
            <a:ext cx="1786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9536963" y="2167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0408615" y="22860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 pts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308363" y="2862072"/>
            <a:ext cx="2243252" cy="9692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536963" y="2999232"/>
            <a:ext cx="1786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9536963" y="3246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0408615" y="3364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 pts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9308363" y="3941064"/>
            <a:ext cx="2243252" cy="9692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536963" y="4078224"/>
            <a:ext cx="1786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Inbound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9536963" y="4325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0408615" y="44439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 pts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308363" y="5020056"/>
            <a:ext cx="2243252" cy="96926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9536963" y="5157216"/>
            <a:ext cx="17860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9536963" y="54041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10408615" y="552297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 pts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forecast: $118M bookings in 2027, ahead of target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bookings, $M. Actual 2026, forecast 2027, board target dashed.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525219" y="181965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08099" y="1783080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34717" y="1865376"/>
            <a:ext cx="91440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Shape 9"/>
          <p:cNvSpPr/>
          <p:nvPr/>
        </p:nvSpPr>
        <p:spPr>
          <a:xfrm>
            <a:off x="2681021" y="1865376"/>
            <a:ext cx="91440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863901" y="1783080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2103120"/>
          <a:ext cx="8311667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9308363" y="1783080"/>
            <a:ext cx="2243252" cy="4297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582683" y="2057400"/>
            <a:ext cx="169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FORECAST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9582683" y="2286000"/>
            <a:ext cx="16946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$118.0M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9582683" y="3063240"/>
            <a:ext cx="1694612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82683" y="3337560"/>
            <a:ext cx="169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TARGET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9582683" y="3566160"/>
            <a:ext cx="16946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$114.0M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9582683" y="4343400"/>
            <a:ext cx="1694612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582683" y="4617720"/>
            <a:ext cx="169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9582683" y="4846320"/>
            <a:ext cx="16946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8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Territory performance: four of seven teams at or above quota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463040"/>
                <a:gridCol w="1554480"/>
                <a:gridCol w="1280160"/>
                <a:gridCol w="1463040"/>
                <a:gridCol w="1401775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TERRITORY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QUOTA $M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BOOKINGS $M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ATTAINMENT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 RATE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$M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UK &amp; Ireland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Benelux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Nordics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East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 West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 track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9984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ATTAINMENT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737360" y="601675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938528" y="5989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110%+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0" y="6016752"/>
            <a:ext cx="146304" cy="146304"/>
          </a:xfrm>
          <a:prstGeom prst="rect">
            <a:avLst/>
          </a:prstGeom>
          <a:solidFill>
            <a:srgbClr val="5A72D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27248" y="5989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100–109%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0" y="6016752"/>
            <a:ext cx="146304" cy="14630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315968" y="5989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90–99%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303520" y="6016752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504688" y="5989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&lt;90%</a:t>
            </a:r>
            <a:endParaRPr lang="en-US" sz="850" dirty="0"/>
          </a:p>
        </p:txBody>
      </p:sp>
      <p:sp>
        <p:nvSpPr>
          <p:cNvPr id="1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customers at a lower cost: CAC down 18%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 per month (area) and blended CAC in $K (line, right axis).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14268" y="181965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97148" y="1783080"/>
            <a:ext cx="991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34661" y="1865376"/>
            <a:ext cx="256032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163845" y="1783080"/>
            <a:ext cx="6181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CAC, $K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422828" y="2103120"/>
          <a:ext cx="8128787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1874520"/>
            <a:ext cx="247185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2057400"/>
            <a:ext cx="25632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651760"/>
            <a:ext cx="2563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3291840"/>
            <a:ext cx="24718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474720"/>
            <a:ext cx="25632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$21.0K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069080"/>
            <a:ext cx="2563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CAC (Dec)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0080" y="4709160"/>
            <a:ext cx="247185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4892040"/>
            <a:ext cx="25632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mo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486400"/>
            <a:ext cx="2563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Retention: newer cohorts keep more revenue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retained by signing cohort, % of starting ARR.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5289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23367"/>
                <a:gridCol w="723367"/>
                <a:gridCol w="723367"/>
                <a:gridCol w="723367"/>
                <a:gridCol w="723367"/>
                <a:gridCol w="723367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COHORT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 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7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7056" y="1783080"/>
            <a:ext cx="4934560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45656" y="1965960"/>
            <a:ext cx="447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revenue retention curves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845656" y="2185416"/>
            <a:ext cx="447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cohorts, % of starting ARR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708496" y="2441448"/>
          <a:ext cx="4751680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53338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breakdown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98448"/>
            <a:ext cx="53338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revenue types; recurring revenue is 86% of the total.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914400" y="1828800"/>
          <a:ext cx="4785202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339682" y="0"/>
            <a:ext cx="5852014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88322" y="822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2026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6888322" y="10515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$84.2M</a:t>
            </a:r>
            <a:endParaRPr lang="en-US" sz="5400" dirty="0"/>
          </a:p>
        </p:txBody>
      </p:sp>
      <p:sp>
        <p:nvSpPr>
          <p:cNvPr id="10" name="Shape 7"/>
          <p:cNvSpPr/>
          <p:nvPr/>
        </p:nvSpPr>
        <p:spPr>
          <a:xfrm>
            <a:off x="6888322" y="2514600"/>
            <a:ext cx="466329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88322" y="2788920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208362" y="27157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subscriptions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208362" y="3017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and multi-year platform contracts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10180015" y="2697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$72.4M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0180015" y="3017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88322" y="3703320"/>
            <a:ext cx="466329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88322" y="3977640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208362" y="3904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208362" y="42062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training and advisory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10180015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$8.3M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0180015" y="4206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888322" y="4892040"/>
            <a:ext cx="466329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88322" y="5166360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208362" y="50932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and marketplace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208362" y="53949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credits and partner app commissions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10180015" y="5074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$3.5M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0180015" y="5394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9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Profitability: operating profit grew twice as fast as revenue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and operating profit, $M, 2020–2026.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20824"/>
            <a:ext cx="173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71.4%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438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+1.8 pts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020824"/>
            <a:ext cx="173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18.6%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438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+4.1 pts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17830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020824"/>
            <a:ext cx="17373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4384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+3.6 pts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6038" y="191109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918" y="187452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574253" y="1956816"/>
            <a:ext cx="256032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03437" y="1874520"/>
            <a:ext cx="1177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profit</a:t>
            </a:r>
            <a:endParaRPr lang="en-US" sz="8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548640" y="2880360"/>
          <a:ext cx="11094415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Expense structure: R&amp;D share up, G&amp;A share down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 by function, % of total, 2022–2026.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201205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75104"/>
            <a:ext cx="118872" cy="1188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938528"/>
            <a:ext cx="369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13002" y="197510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795882" y="193852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35962" y="1975104"/>
            <a:ext cx="118872" cy="118872"/>
          </a:xfrm>
          <a:prstGeom prst="rect">
            <a:avLst/>
          </a:prstGeom>
          <a:solidFill>
            <a:srgbClr val="5A72D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18842" y="1938528"/>
            <a:ext cx="74249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507638" y="1975104"/>
            <a:ext cx="118872" cy="1188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90518" y="1938528"/>
            <a:ext cx="3694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1975104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89120" y="1938528"/>
            <a:ext cx="1177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success</a:t>
            </a:r>
            <a:endParaRPr lang="en-US" sz="85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777240" y="2240280"/>
          <a:ext cx="6926885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8380781" y="1874520"/>
            <a:ext cx="3170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OPEX 2026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8380781" y="2103120"/>
            <a:ext cx="31708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$44.4M</a:t>
            </a:r>
            <a:endParaRPr lang="en-US" sz="3800" dirty="0"/>
          </a:p>
        </p:txBody>
      </p:sp>
      <p:sp>
        <p:nvSpPr>
          <p:cNvPr id="20" name="Text 17"/>
          <p:cNvSpPr txBox="1"/>
          <p:nvPr/>
        </p:nvSpPr>
        <p:spPr>
          <a:xfrm>
            <a:off x="8380781" y="2788920"/>
            <a:ext cx="3170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52.7% of revenue, down from 58.1%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380781" y="333756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80781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10682935" y="3520440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682935" y="3520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pts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8380781" y="3867912"/>
            <a:ext cx="317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suite and AI features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380781" y="4663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G&amp;A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10682935" y="4663440"/>
            <a:ext cx="868680" cy="256032"/>
          </a:xfrm>
          <a:prstGeom prst="roundRect">
            <a:avLst>
              <a:gd name="adj" fmla="val 50000"/>
            </a:avLst>
          </a:prstGeom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682935" y="4663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 pts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8380781" y="5010912"/>
            <a:ext cx="31708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automation and shared services</a:t>
            </a:r>
            <a:endParaRPr lang="en-US" sz="10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 analysis: operating leverage is now visible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Gross, operating and net margin, % of revenue.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65376"/>
            <a:ext cx="256032" cy="320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9264" y="178308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26310" y="1865376"/>
            <a:ext cx="256032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55494" y="1783080"/>
            <a:ext cx="1177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61258" y="1865376"/>
            <a:ext cx="256032" cy="3200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990442" y="17830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margin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103120"/>
          <a:ext cx="8311667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9308363" y="1828800"/>
            <a:ext cx="2243252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08363" y="1993392"/>
            <a:ext cx="2243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+13.6 pts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9308363" y="2560320"/>
            <a:ext cx="22432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since 2020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308363" y="3200400"/>
            <a:ext cx="2243252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08363" y="3364992"/>
            <a:ext cx="2243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9308363" y="3931920"/>
            <a:ext cx="22432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target for 2027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308363" y="4572000"/>
            <a:ext cx="2243252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308363" y="4736592"/>
            <a:ext cx="22432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9308363" y="5303520"/>
            <a:ext cx="22432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margin, stable through scale</a:t>
            </a:r>
            <a:endParaRPr lang="en-US" sz="10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flow: positive in ten of twelve months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net cash flow ($M, columns) and closing cash balance ($M, line, right axis).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866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inflow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836115" y="1819656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018995" y="178308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outflow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094330" y="1865376"/>
            <a:ext cx="256032" cy="32004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3514" y="178308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balance</a:t>
            </a:r>
            <a:endParaRPr lang="en-US" sz="8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2103120"/>
          <a:ext cx="8311667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9308363" y="1783080"/>
            <a:ext cx="2243252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582683" y="2011680"/>
            <a:ext cx="169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CASH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9582683" y="2240280"/>
            <a:ext cx="16946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$41.6M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9582683" y="3017520"/>
            <a:ext cx="169461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582683" y="3291840"/>
            <a:ext cx="169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CASH FLOW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9582683" y="3520440"/>
            <a:ext cx="16946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$9.0M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9582683" y="4297680"/>
            <a:ext cx="1694612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582683" y="4572000"/>
            <a:ext cx="16946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CONVERSION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9582683" y="4800600"/>
            <a:ext cx="16946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80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bridge: expansion added more than new logos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2025 to 2026, $M.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911535" cy="4297680"/>
          </a:xfrm>
          <a:prstGeom prst="rect">
            <a:avLst/>
          </a:prstGeom>
          <a:solidFill>
            <a:schemeClr val="bg1"/>
          </a:solidFill>
          <a:ln/>
        </p:spPr>
      </p:sp>
      <p:graphicFrame>
        <p:nvGraphicFramePr>
          <p:cNvPr id="7" name="Chart 0" descr=""/>
          <p:cNvGraphicFramePr/>
          <p:nvPr/>
        </p:nvGraphicFramePr>
        <p:xfrm>
          <a:off x="640080" y="1783080"/>
          <a:ext cx="10911535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967426" y="2877477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$64.3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448277" y="2512460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+9.8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929128" y="2043154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+12.6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09980" y="1953762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+2.4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890831" y="1953762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371682" y="2087850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9852533" y="2136270"/>
            <a:ext cx="1480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$84.2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1956816"/>
            <a:ext cx="118872" cy="1188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1920240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737360" y="195681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920240" y="1920240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746858" y="1956816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929738" y="1920240"/>
            <a:ext cx="6803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Decrease</a:t>
            </a:r>
            <a:endParaRPr lang="en-US" sz="850" dirty="0"/>
          </a:p>
        </p:txBody>
      </p:sp>
      <p:sp>
        <p:nvSpPr>
          <p:cNvPr id="2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Five-year outlook: $200M revenue at a 24% operating margin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4418457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39612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$M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85416"/>
            <a:ext cx="396125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2026, forecast 2027–2030</a:t>
            </a:r>
            <a:endParaRPr lang="en-US" sz="8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31520" y="2441448"/>
          <a:ext cx="4235577" cy="3547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60873" y="1828800"/>
          <a:ext cx="609074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52388"/>
                <a:gridCol w="852388"/>
                <a:gridCol w="852388"/>
                <a:gridCol w="852388"/>
                <a:gridCol w="85238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2030F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profit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margin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 cash flow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60873" y="5852160"/>
            <a:ext cx="60907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actual · F = forecast. Shaded column = 2030 ambition.</a:t>
            </a:r>
            <a:endParaRPr lang="en-US" sz="800" dirty="0"/>
          </a:p>
        </p:txBody>
      </p:sp>
      <p:sp>
        <p:nvSpPr>
          <p:cNvPr id="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strategic priorities for 2027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1153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931920"/>
            <a:ext cx="10911535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1965960"/>
            <a:ext cx="0" cy="393192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8229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135728" y="2103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 PiTargetLight FFFFFF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1915" y="2229307"/>
            <a:ext cx="296266" cy="29626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691640" y="2121408"/>
            <a:ext cx="3078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enterprise segment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1691640" y="2743200"/>
            <a:ext cx="307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enterprise team, 30 named accounts and a new security tier.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691640" y="3383280"/>
            <a:ext cx="21945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691640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45% of new ARR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461608" y="2011680"/>
            <a:ext cx="8229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Shape 13"/>
          <p:cNvSpPr/>
          <p:nvPr/>
        </p:nvSpPr>
        <p:spPr>
          <a:xfrm>
            <a:off x="10591495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 PiGlobeLight FFFFFF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7682" y="2229307"/>
            <a:ext cx="296266" cy="29626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513168" y="2121408"/>
            <a:ext cx="3078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into DACH and the Nordics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7513168" y="2743200"/>
            <a:ext cx="307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regional hubs, local partners and data residency in the EU.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513168" y="3383280"/>
            <a:ext cx="21945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513168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$12M new-market ARR</a:t>
            </a:r>
            <a:endParaRPr lang="en-US" sz="85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4114800"/>
            <a:ext cx="8229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23" name="Shape 19"/>
          <p:cNvSpPr/>
          <p:nvPr/>
        </p:nvSpPr>
        <p:spPr>
          <a:xfrm>
            <a:off x="5135728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 PiHandshakeLight FFFFFF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61915" y="4332427"/>
            <a:ext cx="296266" cy="29626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91640" y="4224528"/>
            <a:ext cx="3078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the partner channel</a:t>
            </a:r>
            <a:endParaRPr lang="en-US" sz="1900" dirty="0"/>
          </a:p>
        </p:txBody>
      </p:sp>
      <p:sp>
        <p:nvSpPr>
          <p:cNvPr id="26" name="Text 21"/>
          <p:cNvSpPr txBox="1"/>
          <p:nvPr/>
        </p:nvSpPr>
        <p:spPr>
          <a:xfrm>
            <a:off x="1691640" y="4846320"/>
            <a:ext cx="307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Certify 40 partners and launch a co-selling programme.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1691640" y="5486400"/>
            <a:ext cx="21945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691640" y="5486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30% partner-sourced</a:t>
            </a:r>
            <a:endParaRPr lang="en-US" sz="850" dirty="0"/>
          </a:p>
        </p:txBody>
      </p:sp>
      <p:sp>
        <p:nvSpPr>
          <p:cNvPr id="29" name="Text 24"/>
          <p:cNvSpPr txBox="1"/>
          <p:nvPr/>
        </p:nvSpPr>
        <p:spPr>
          <a:xfrm>
            <a:off x="6461608" y="4114800"/>
            <a:ext cx="8229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30" name="Shape 25"/>
          <p:cNvSpPr/>
          <p:nvPr/>
        </p:nvSpPr>
        <p:spPr>
          <a:xfrm>
            <a:off x="10591495" y="4206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 PiSparkleLight FFFFFF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17682" y="4332427"/>
            <a:ext cx="296266" cy="296266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513168" y="4224528"/>
            <a:ext cx="3078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with intelligent planning</a:t>
            </a:r>
            <a:endParaRPr lang="en-US" sz="1900" dirty="0"/>
          </a:p>
        </p:txBody>
      </p:sp>
      <p:sp>
        <p:nvSpPr>
          <p:cNvPr id="33" name="Text 27"/>
          <p:cNvSpPr txBox="1"/>
          <p:nvPr/>
        </p:nvSpPr>
        <p:spPr>
          <a:xfrm>
            <a:off x="7513168" y="4846320"/>
            <a:ext cx="307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AI scenario planning and make it the default workflow.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513168" y="5486400"/>
            <a:ext cx="21945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513168" y="5486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60% feature adoption</a:t>
            </a:r>
            <a:endParaRPr lang="en-US" sz="8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SWOT: strong economics, thin international footprint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00904" cy="209397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Shape 4"/>
          <p:cNvSpPr/>
          <p:nvPr/>
        </p:nvSpPr>
        <p:spPr>
          <a:xfrm>
            <a:off x="6150712" y="1783080"/>
            <a:ext cx="5400904" cy="20939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3986784"/>
            <a:ext cx="5400904" cy="20939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150712" y="3986784"/>
            <a:ext cx="5400904" cy="2093976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1947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50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075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56232" y="2706624"/>
            <a:ext cx="64008" cy="640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11680" y="2624328"/>
            <a:ext cx="334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118% net revenue retention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56232" y="3054096"/>
            <a:ext cx="64008" cy="640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011680" y="2971800"/>
            <a:ext cx="334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 gross margin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56232" y="3401568"/>
            <a:ext cx="64008" cy="6400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11680" y="3319272"/>
            <a:ext cx="334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NPS in our category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927952" y="19476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5000" dirty="0"/>
          </a:p>
        </p:txBody>
      </p:sp>
      <p:sp>
        <p:nvSpPr>
          <p:cNvPr id="18" name="Text 16"/>
          <p:cNvSpPr txBox="1"/>
          <p:nvPr/>
        </p:nvSpPr>
        <p:spPr>
          <a:xfrm>
            <a:off x="7796632" y="2075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Weaknesses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24064" y="2706624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79512" y="2624328"/>
            <a:ext cx="288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margin below target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24064" y="3054096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79512" y="2971800"/>
            <a:ext cx="288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9% revenue outside Europe/US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824064" y="3401568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79512" y="3319272"/>
            <a:ext cx="288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references still few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41513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i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</a:t>
            </a:r>
            <a:endParaRPr lang="en-US" sz="50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856232" y="4910328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011680" y="4828032"/>
            <a:ext cx="334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data-residency demand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856232" y="5257800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011680" y="5175504"/>
            <a:ext cx="334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keen to co-sell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56232" y="5605272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011680" y="5522976"/>
            <a:ext cx="334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planning budgets growing 40%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927952" y="41513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i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5000" dirty="0"/>
          </a:p>
        </p:txBody>
      </p:sp>
      <p:sp>
        <p:nvSpPr>
          <p:cNvPr id="34" name="Text 32"/>
          <p:cNvSpPr txBox="1"/>
          <p:nvPr/>
        </p:nvSpPr>
        <p:spPr>
          <a:xfrm>
            <a:off x="7796632" y="4279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824064" y="4910328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979512" y="4828032"/>
            <a:ext cx="288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vendors bundling analytics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24064" y="5257800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979512" y="5175504"/>
            <a:ext cx="288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enterprise buying cycles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824064" y="5605272"/>
            <a:ext cx="64008" cy="6400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979512" y="5522976"/>
            <a:ext cx="2886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cost of senior engineers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47208" y="3383280"/>
            <a:ext cx="1097280" cy="1097280"/>
          </a:xfrm>
          <a:prstGeom prst="ellipse">
            <a:avLst/>
          </a:prstGeom>
          <a:solidFill>
            <a:schemeClr val="accent2"/>
          </a:solidFill>
          <a:ln w="50800">
            <a:solidFill>
              <a:schemeClr val="bg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47208" y="3383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</a:t>
            </a:r>
            <a:endParaRPr lang="en-US" sz="13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Roadmap: three horizons over the next two years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by quarter. Horizon 1 protects the core; horizons 2 and 3 build new growth.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27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164292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64292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5219624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9624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274956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4956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330288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30288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385620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385620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440951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440951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10496283" y="1874520"/>
            <a:ext cx="10553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28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496283" y="2194560"/>
            <a:ext cx="0" cy="3611880"/>
          </a:xfrm>
          <a:prstGeom prst="line">
            <a:avLst/>
          </a:prstGeom>
          <a:noFill/>
          <a:ln w="9525">
            <a:solidFill>
              <a:srgbClr val="E4E0D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108960" y="2167128"/>
            <a:ext cx="844265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377440"/>
            <a:ext cx="2286000" cy="10058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2542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27889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Strengthen the core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108960" y="2880360"/>
            <a:ext cx="8442655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45420" y="276148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41332" y="2450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 GA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56084" y="276148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51996" y="3063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refresh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794413" y="276148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90325" y="245059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3.0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3566160"/>
            <a:ext cx="2286000" cy="10058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2960" y="373075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22960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reach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3108960" y="4069080"/>
            <a:ext cx="8442655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3086" y="395020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68998" y="3639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Munich hub opens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83750" y="395020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79662" y="42519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certification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322079" y="395020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617991" y="36393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Stockholm hub opens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4754880"/>
            <a:ext cx="2286000" cy="10058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22960" y="4919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822960" y="5166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new growth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3108960" y="5257800"/>
            <a:ext cx="8442655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28418" y="513892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24330" y="4828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planning beta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266748" y="513892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62660" y="5440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marketplace pilot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905077" y="5138928"/>
            <a:ext cx="237744" cy="237744"/>
          </a:xfrm>
          <a:prstGeom prst="diamond">
            <a:avLst/>
          </a:prstGeom>
          <a:solidFill>
            <a:schemeClr val="bg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905695" y="4828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cloud launch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943600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Diamonds mark board-level milestones. Shaded quarters (cobalt labels) are committed; later quarters are indicative.</a:t>
            </a:r>
            <a:endParaRPr lang="en-US" sz="8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strategy: four levers take us to $150M by 2028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growth lever, $M. Core includes price and retention effects.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819656"/>
            <a:ext cx="118872" cy="118872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99121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60474" y="1819656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43354" y="1783080"/>
            <a:ext cx="14264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expansion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16122" y="1819656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99002" y="1783080"/>
            <a:ext cx="8668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markets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12157" y="1819656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95037" y="1783080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products</a:t>
            </a:r>
            <a:endParaRPr lang="en-US" sz="8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48640" y="2103120"/>
          <a:ext cx="54374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6479896" y="1828800"/>
            <a:ext cx="507172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3"/>
          <p:cNvSpPr/>
          <p:nvPr/>
        </p:nvSpPr>
        <p:spPr>
          <a:xfrm>
            <a:off x="6754216" y="2057400"/>
            <a:ext cx="128016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82816" y="1993392"/>
            <a:ext cx="324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expansion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754216" y="2304288"/>
            <a:ext cx="324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tier, 30 named accounts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9951415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+$18.0M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9951415" y="2514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79896" y="3246120"/>
            <a:ext cx="5071720" cy="12801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2" name="Shape 19"/>
          <p:cNvSpPr/>
          <p:nvPr/>
        </p:nvSpPr>
        <p:spPr>
          <a:xfrm>
            <a:off x="6754216" y="3474720"/>
            <a:ext cx="128016" cy="12801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82816" y="3410712"/>
            <a:ext cx="324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markets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754216" y="3721608"/>
            <a:ext cx="324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 and Nordic hubs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9951415" y="34290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+$12.0M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9951415" y="39319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479896" y="4663440"/>
            <a:ext cx="5071720" cy="128016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8" name="Shape 25"/>
          <p:cNvSpPr/>
          <p:nvPr/>
        </p:nvSpPr>
        <p:spPr>
          <a:xfrm>
            <a:off x="6754216" y="4892040"/>
            <a:ext cx="128016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982816" y="4828032"/>
            <a:ext cx="324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products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754216" y="5138928"/>
            <a:ext cx="324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planning and data marketplace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9951415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+$14.0M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9951415" y="53492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2028</a:t>
            </a:r>
            <a:endParaRPr lang="en-US" sz="9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Opportunity matrix: three quick wins to start now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83125" y="1997964"/>
            <a:ext cx="3396679" cy="1848002"/>
          </a:xfrm>
          <a:prstGeom prst="rect">
            <a:avLst/>
          </a:prstGeom>
          <a:solidFill>
            <a:srgbClr val="FFF1E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20285" y="21076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479804" y="1997964"/>
            <a:ext cx="3396679" cy="1848002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6964" y="21076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PROJECTS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83125" y="3845966"/>
            <a:ext cx="3396679" cy="1848002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20285" y="395569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FILL-INS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79804" y="3845966"/>
            <a:ext cx="3396679" cy="1848002"/>
          </a:xfrm>
          <a:prstGeom prst="rect">
            <a:avLst/>
          </a:prstGeom>
          <a:solidFill>
            <a:srgbClr val="F2EF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6964" y="395569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DEPRIORITISE</a:t>
            </a:r>
            <a:endParaRPr lang="en-US" sz="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40080" y="1783080"/>
          <a:ext cx="7384085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2144009" y="2599621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price uplift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255437" y="2858341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co-selling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2523146" y="344970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48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450954" y="322794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 residency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626761" y="2488741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planning suite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4122068" y="4484583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templates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4382940" y="47802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tool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083125" y="5922569"/>
            <a:ext cx="67933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→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 rot="16200000">
            <a:off x="-1019995" y="375452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→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8380781" y="1828800"/>
            <a:ext cx="31708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this quarter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8380781" y="237744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0781" y="2487168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8929421" y="2514600"/>
            <a:ext cx="2622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price uplift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929421" y="2807208"/>
            <a:ext cx="2622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+$2.4M ARR, 6 weeks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380781" y="329184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80781" y="3401568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929421" y="3429000"/>
            <a:ext cx="2622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co-selling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8929421" y="3721608"/>
            <a:ext cx="2622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+$3.1M pipeline, 8 weeks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380781" y="420624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80781" y="4315968"/>
            <a:ext cx="8229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8929421" y="4343400"/>
            <a:ext cx="26221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onboarding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8929421" y="4636008"/>
            <a:ext cx="26221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 time to value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380781" y="5852160"/>
            <a:ext cx="31708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 size = expected annual value.</a:t>
            </a:r>
            <a:endParaRPr lang="en-US" sz="8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matrix: two risks need board attention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188720" y="1874520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" name="Shape 4"/>
          <p:cNvSpPr/>
          <p:nvPr/>
        </p:nvSpPr>
        <p:spPr>
          <a:xfrm>
            <a:off x="1975104" y="1874520"/>
            <a:ext cx="740664" cy="7406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7" name="Shape 5"/>
          <p:cNvSpPr/>
          <p:nvPr/>
        </p:nvSpPr>
        <p:spPr>
          <a:xfrm>
            <a:off x="2761488" y="1874520"/>
            <a:ext cx="740664" cy="7406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3547872" y="1874520"/>
            <a:ext cx="740664" cy="7406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9" name="Shape 7"/>
          <p:cNvSpPr/>
          <p:nvPr/>
        </p:nvSpPr>
        <p:spPr>
          <a:xfrm>
            <a:off x="4334256" y="1874520"/>
            <a:ext cx="740664" cy="7406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660904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11" name="Shape 9"/>
          <p:cNvSpPr/>
          <p:nvPr/>
        </p:nvSpPr>
        <p:spPr>
          <a:xfrm>
            <a:off x="1975104" y="2660904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61488" y="2660904"/>
            <a:ext cx="740664" cy="7406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47872" y="2660904"/>
            <a:ext cx="740664" cy="7406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34256" y="2660904"/>
            <a:ext cx="740664" cy="7406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8720" y="3447288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16" name="Shape 14"/>
          <p:cNvSpPr/>
          <p:nvPr/>
        </p:nvSpPr>
        <p:spPr>
          <a:xfrm>
            <a:off x="1975104" y="3447288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7" name="Shape 15"/>
          <p:cNvSpPr/>
          <p:nvPr/>
        </p:nvSpPr>
        <p:spPr>
          <a:xfrm>
            <a:off x="2761488" y="3447288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8" name="Shape 16"/>
          <p:cNvSpPr/>
          <p:nvPr/>
        </p:nvSpPr>
        <p:spPr>
          <a:xfrm>
            <a:off x="3547872" y="3447288"/>
            <a:ext cx="740664" cy="7406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9" name="Shape 17"/>
          <p:cNvSpPr/>
          <p:nvPr/>
        </p:nvSpPr>
        <p:spPr>
          <a:xfrm>
            <a:off x="4334256" y="3447288"/>
            <a:ext cx="740664" cy="7406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88720" y="4233672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21" name="Shape 19"/>
          <p:cNvSpPr/>
          <p:nvPr/>
        </p:nvSpPr>
        <p:spPr>
          <a:xfrm>
            <a:off x="1975104" y="4233672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22" name="Shape 20"/>
          <p:cNvSpPr/>
          <p:nvPr/>
        </p:nvSpPr>
        <p:spPr>
          <a:xfrm>
            <a:off x="2761488" y="4233672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3" name="Shape 21"/>
          <p:cNvSpPr/>
          <p:nvPr/>
        </p:nvSpPr>
        <p:spPr>
          <a:xfrm>
            <a:off x="3547872" y="4233672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4" name="Shape 22"/>
          <p:cNvSpPr/>
          <p:nvPr/>
        </p:nvSpPr>
        <p:spPr>
          <a:xfrm>
            <a:off x="4334256" y="4233672"/>
            <a:ext cx="740664" cy="740664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88720" y="5020056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1975104" y="5020056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27" name="Shape 25"/>
          <p:cNvSpPr/>
          <p:nvPr/>
        </p:nvSpPr>
        <p:spPr>
          <a:xfrm>
            <a:off x="2761488" y="5020056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28" name="Shape 26"/>
          <p:cNvSpPr/>
          <p:nvPr/>
        </p:nvSpPr>
        <p:spPr>
          <a:xfrm>
            <a:off x="3547872" y="5020056"/>
            <a:ext cx="740664" cy="740664"/>
          </a:xfrm>
          <a:prstGeom prst="rect">
            <a:avLst/>
          </a:prstGeom>
          <a:solidFill>
            <a:srgbClr val="EEF1FC"/>
          </a:solidFill>
          <a:ln/>
        </p:spPr>
      </p:sp>
      <p:sp>
        <p:nvSpPr>
          <p:cNvPr id="29" name="Shape 27"/>
          <p:cNvSpPr/>
          <p:nvPr/>
        </p:nvSpPr>
        <p:spPr>
          <a:xfrm>
            <a:off x="4334256" y="5020056"/>
            <a:ext cx="740664" cy="74066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0" name="Shape 28"/>
          <p:cNvSpPr/>
          <p:nvPr/>
        </p:nvSpPr>
        <p:spPr>
          <a:xfrm>
            <a:off x="3735324" y="2848356"/>
            <a:ext cx="365760" cy="36576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735324" y="28483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48940" y="2061972"/>
            <a:ext cx="365760" cy="36576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48940" y="2061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35324" y="363474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35324" y="3634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62556" y="3634740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162556" y="36347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376172" y="2061972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376172" y="2061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948940" y="4421124"/>
            <a:ext cx="365760" cy="365760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48940" y="44211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1188720" y="58521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→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 rot="16200000">
            <a:off x="-1188720" y="37490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→</a:t>
            </a:r>
            <a:endParaRPr lang="en-US" sz="85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05576" y="1828800"/>
          <a:ext cx="53460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874520"/>
                <a:gridCol w="548640"/>
                <a:gridCol w="191704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sales cycles lengthen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Mutual action plans; exec sponsors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engineering attrition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grants; succession plans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bundles 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Bundle-proof pricing; partner integrations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expansion delayed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Phased launch; local partners first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security incident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 2 Type II; quarterly pen tests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FX volatility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Natural hedging; EUR pricing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CFO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plan: twelve weeks to launch the 2027 strategy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1371600"/>
                <a:gridCol w="1188720"/>
                <a:gridCol w="1371600"/>
                <a:gridCol w="2133295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spc="120" kern="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01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Appoint enterprise sales lead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Jan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02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Finalise security tier pricing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 Jan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03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 Munich hub lease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Feb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04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Certify first 10 partners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 Partners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Feb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05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AI planning beta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2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06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review of progress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Mar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509760" y="2468880"/>
            <a:ext cx="1310335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hape 4"/>
          <p:cNvSpPr/>
          <p:nvPr/>
        </p:nvSpPr>
        <p:spPr>
          <a:xfrm>
            <a:off x="9509760" y="2468880"/>
            <a:ext cx="1310335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11535" y="23957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9509760" y="3072384"/>
            <a:ext cx="1310335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0" name="Shape 7"/>
          <p:cNvSpPr/>
          <p:nvPr/>
        </p:nvSpPr>
        <p:spPr>
          <a:xfrm>
            <a:off x="9509760" y="3072384"/>
            <a:ext cx="1310335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911535" y="2999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509760" y="3675888"/>
            <a:ext cx="1310335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3" name="Shape 10"/>
          <p:cNvSpPr/>
          <p:nvPr/>
        </p:nvSpPr>
        <p:spPr>
          <a:xfrm>
            <a:off x="9509760" y="3675888"/>
            <a:ext cx="786201" cy="914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911535" y="360273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509760" y="4279392"/>
            <a:ext cx="1310335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Shape 13"/>
          <p:cNvSpPr/>
          <p:nvPr/>
        </p:nvSpPr>
        <p:spPr>
          <a:xfrm>
            <a:off x="9509760" y="4279392"/>
            <a:ext cx="524134" cy="9144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911535" y="4206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509760" y="4882896"/>
            <a:ext cx="1310335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911535" y="48097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509760" y="5486400"/>
            <a:ext cx="1310335" cy="914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11535" y="5413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50" dirty="0"/>
          </a:p>
        </p:txBody>
      </p:sp>
      <p:sp>
        <p:nvSpPr>
          <p:cNvPr id="2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modules that work better together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 of customers now run two or more modules, up from 38% in 2024.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490874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8" name="Icon PiChartLineUpLight 2340C8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0140" y="22631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0120" y="2971800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474720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performance in real time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60120" y="3931920"/>
            <a:ext cx="2850794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pic>
        <p:nvPicPr>
          <p:cNvPr id="12" name="Icon PiCheckLight 2340C8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0120" y="414223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4123944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dashboards</a:t>
            </a:r>
            <a:endParaRPr lang="en-US" sz="1050" dirty="0"/>
          </a:p>
        </p:txBody>
      </p:sp>
      <p:pic>
        <p:nvPicPr>
          <p:cNvPr id="14" name="Icon PiCheckLight 2340C8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60120" y="4526280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507992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140+ data connectors</a:t>
            </a:r>
            <a:endParaRPr lang="en-US" sz="1050" dirty="0"/>
          </a:p>
        </p:txBody>
      </p:sp>
      <p:pic>
        <p:nvPicPr>
          <p:cNvPr id="16" name="Icon PiCheckLight 2340C8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0120" y="491032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4892040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exploration</a:t>
            </a:r>
            <a:endParaRPr lang="en-US" sz="1050" dirty="0"/>
          </a:p>
        </p:txBody>
      </p:sp>
      <p:sp>
        <p:nvSpPr>
          <p:cNvPr id="18" name="Text 12"/>
          <p:cNvSpPr txBox="1"/>
          <p:nvPr/>
        </p:nvSpPr>
        <p:spPr>
          <a:xfrm>
            <a:off x="960120" y="5532120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1,620 customers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350410" y="1783080"/>
            <a:ext cx="3490874" cy="4297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Shape 14"/>
          <p:cNvSpPr/>
          <p:nvPr/>
        </p:nvSpPr>
        <p:spPr>
          <a:xfrm>
            <a:off x="4670450" y="21031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con PiStrategyLight FFFFFF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30470" y="2263140"/>
            <a:ext cx="320040" cy="3200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6378245" y="224028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378245" y="22402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growing</a:t>
            </a:r>
            <a:endParaRPr lang="en-US" sz="850" dirty="0"/>
          </a:p>
        </p:txBody>
      </p:sp>
      <p:sp>
        <p:nvSpPr>
          <p:cNvPr id="24" name="Text 17"/>
          <p:cNvSpPr txBox="1"/>
          <p:nvPr/>
        </p:nvSpPr>
        <p:spPr>
          <a:xfrm>
            <a:off x="4670450" y="2971800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</a:t>
            </a:r>
            <a:endParaRPr lang="en-US" sz="2600" dirty="0"/>
          </a:p>
        </p:txBody>
      </p:sp>
      <p:sp>
        <p:nvSpPr>
          <p:cNvPr id="25" name="Text 18"/>
          <p:cNvSpPr txBox="1"/>
          <p:nvPr/>
        </p:nvSpPr>
        <p:spPr>
          <a:xfrm>
            <a:off x="4670450" y="3474720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scenarios with confidence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670450" y="3931920"/>
            <a:ext cx="2850794" cy="0"/>
          </a:xfrm>
          <a:prstGeom prst="line">
            <a:avLst/>
          </a:prstGeom>
          <a:noFill/>
          <a:ln w="12700">
            <a:solidFill>
              <a:srgbClr val="1D3283"/>
            </a:solidFill>
            <a:prstDash val="solid"/>
          </a:ln>
        </p:spPr>
      </p:sp>
      <p:pic>
        <p:nvPicPr>
          <p:cNvPr id="27" name="Icon PiCheckLight FF6B4A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70450" y="4142232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4990490" y="4123944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Driver-based models</a:t>
            </a:r>
            <a:endParaRPr lang="en-US" sz="1050" dirty="0"/>
          </a:p>
        </p:txBody>
      </p:sp>
      <p:pic>
        <p:nvPicPr>
          <p:cNvPr id="29" name="Icon PiCheckLight FF6B4A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670450" y="452628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990490" y="4507992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scenario planning</a:t>
            </a:r>
            <a:endParaRPr lang="en-US" sz="1050" dirty="0"/>
          </a:p>
        </p:txBody>
      </p:sp>
      <p:pic>
        <p:nvPicPr>
          <p:cNvPr id="31" name="Icon PiCheckLight FF6B4A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70450" y="4910328"/>
            <a:ext cx="201168" cy="20116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4990490" y="4892040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Board-ready reports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4670450" y="5532120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880 customers</a:t>
            </a:r>
            <a:endParaRPr lang="en-US" sz="1200" dirty="0"/>
          </a:p>
        </p:txBody>
      </p:sp>
      <p:sp>
        <p:nvSpPr>
          <p:cNvPr id="34" name="Shape 24"/>
          <p:cNvSpPr/>
          <p:nvPr/>
        </p:nvSpPr>
        <p:spPr>
          <a:xfrm>
            <a:off x="8060741" y="1783080"/>
            <a:ext cx="3490874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5" name="Shape 25"/>
          <p:cNvSpPr/>
          <p:nvPr/>
        </p:nvSpPr>
        <p:spPr>
          <a:xfrm>
            <a:off x="8380781" y="210312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6" name="Icon PiTargetLight 2340C8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40801" y="22631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380781" y="2971800"/>
            <a:ext cx="28507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Forecasting</a:t>
            </a:r>
            <a:endParaRPr lang="en-US" sz="2600" dirty="0"/>
          </a:p>
        </p:txBody>
      </p:sp>
      <p:sp>
        <p:nvSpPr>
          <p:cNvPr id="38" name="Text 27"/>
          <p:cNvSpPr txBox="1"/>
          <p:nvPr/>
        </p:nvSpPr>
        <p:spPr>
          <a:xfrm>
            <a:off x="8380781" y="3474720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every number that matters</a:t>
            </a:r>
            <a:endParaRPr lang="en-US" sz="1100" dirty="0"/>
          </a:p>
        </p:txBody>
      </p:sp>
      <p:sp>
        <p:nvSpPr>
          <p:cNvPr id="39" name="Shape 28"/>
          <p:cNvSpPr/>
          <p:nvPr/>
        </p:nvSpPr>
        <p:spPr>
          <a:xfrm>
            <a:off x="8380781" y="3931920"/>
            <a:ext cx="2850794" cy="0"/>
          </a:xfrm>
          <a:prstGeom prst="line">
            <a:avLst/>
          </a:prstGeom>
          <a:noFill/>
          <a:ln w="12700">
            <a:solidFill>
              <a:srgbClr val="E4E0D8"/>
            </a:solidFill>
            <a:prstDash val="solid"/>
          </a:ln>
        </p:spPr>
      </p:sp>
      <p:pic>
        <p:nvPicPr>
          <p:cNvPr id="40" name="Icon PiCheckLight 2340C8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80781" y="4142232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700821" y="4123944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and pipeline forecasts</a:t>
            </a:r>
            <a:endParaRPr lang="en-US" sz="1050" dirty="0"/>
          </a:p>
        </p:txBody>
      </p:sp>
      <p:pic>
        <p:nvPicPr>
          <p:cNvPr id="42" name="Icon PiCheckLight 2340C8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80781" y="4526280"/>
            <a:ext cx="201168" cy="201168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8700821" y="4507992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tracking</a:t>
            </a:r>
            <a:endParaRPr lang="en-US" sz="1050" dirty="0"/>
          </a:p>
        </p:txBody>
      </p:sp>
      <p:pic>
        <p:nvPicPr>
          <p:cNvPr id="44" name="Icon PiCheckLight 2340C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80781" y="4910328"/>
            <a:ext cx="201168" cy="201168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8700821" y="4892040"/>
            <a:ext cx="25764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18-month view</a:t>
            </a:r>
            <a:endParaRPr lang="en-US" sz="1050" dirty="0"/>
          </a:p>
        </p:txBody>
      </p:sp>
      <p:sp>
        <p:nvSpPr>
          <p:cNvPr id="46" name="Text 32"/>
          <p:cNvSpPr txBox="1"/>
          <p:nvPr/>
        </p:nvSpPr>
        <p:spPr>
          <a:xfrm>
            <a:off x="8380781" y="5532120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customers</a:t>
            </a:r>
            <a:endParaRPr lang="en-US" sz="12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comparison: Planning Pro outscores the legacy suite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Customer-rated capability, 1–10, from 214 product reviews.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273622" cy="4297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75104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938528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Pro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2614" y="1975104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55494" y="1938528"/>
            <a:ext cx="9290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suite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822960" y="2194560"/>
          <a:ext cx="5907862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7478" y="1828800"/>
          <a:ext cx="4144137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40549"/>
                <a:gridCol w="1340549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Pro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Legacy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On-premise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 to value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 days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months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refresh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time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scenarios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per user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D948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407478" y="4846320"/>
            <a:ext cx="4144137" cy="12344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636078" y="49560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+2.3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7636078" y="5532120"/>
            <a:ext cx="368693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 advantage across seven dimensions</a:t>
            </a:r>
            <a:endParaRPr lang="en-US" sz="950" dirty="0"/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strategy: three tiers, each priced on value delivered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60320"/>
            <a:ext cx="349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starting with analytics</a:t>
            </a:r>
            <a:endParaRPr lang="en-US" sz="1050" dirty="0"/>
          </a:p>
        </p:txBody>
      </p:sp>
      <p:pic>
        <p:nvPicPr>
          <p:cNvPr id="6" name="Icon PiCheckLight 2340C8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0080" y="2926080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2688" y="290779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module</a:t>
            </a:r>
            <a:endParaRPr lang="en-US" sz="1050" dirty="0"/>
          </a:p>
        </p:txBody>
      </p:sp>
      <p:pic>
        <p:nvPicPr>
          <p:cNvPr id="8" name="Icon PiCheckLight 2340C8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080" y="3291840"/>
            <a:ext cx="182880" cy="182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32688" y="327355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connectors</a:t>
            </a:r>
            <a:endParaRPr lang="en-US" sz="1050" dirty="0"/>
          </a:p>
        </p:txBody>
      </p:sp>
      <p:pic>
        <p:nvPicPr>
          <p:cNvPr id="10" name="Icon PiCheckLight 2340C8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0080" y="3657600"/>
            <a:ext cx="182880" cy="182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2688" y="363931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640080" y="4343400"/>
            <a:ext cx="3490874" cy="173736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914400" y="4572000"/>
            <a:ext cx="2942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4800600"/>
            <a:ext cx="29422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</a:t>
            </a:r>
            <a:endParaRPr lang="en-US" sz="4000" dirty="0"/>
          </a:p>
        </p:txBody>
      </p:sp>
      <p:sp>
        <p:nvSpPr>
          <p:cNvPr id="15" name="Text 10"/>
          <p:cNvSpPr txBox="1"/>
          <p:nvPr/>
        </p:nvSpPr>
        <p:spPr>
          <a:xfrm>
            <a:off x="914400" y="5486400"/>
            <a:ext cx="2942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user / month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350410" y="1645920"/>
            <a:ext cx="349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teams that plan and forecast</a:t>
            </a:r>
            <a:endParaRPr lang="en-US" sz="1050" dirty="0"/>
          </a:p>
        </p:txBody>
      </p:sp>
      <p:pic>
        <p:nvPicPr>
          <p:cNvPr id="17" name="Icon PiCheckLight 2340C8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350410" y="2011680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643018" y="199339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modules</a:t>
            </a:r>
            <a:endParaRPr lang="en-US" sz="1050" dirty="0"/>
          </a:p>
        </p:txBody>
      </p:sp>
      <p:pic>
        <p:nvPicPr>
          <p:cNvPr id="19" name="Icon PiCheckLight 2340C8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50410" y="2377440"/>
            <a:ext cx="182880" cy="18288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4643018" y="235915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scenario planning</a:t>
            </a:r>
            <a:endParaRPr lang="en-US" sz="1050" dirty="0"/>
          </a:p>
        </p:txBody>
      </p:sp>
      <p:pic>
        <p:nvPicPr>
          <p:cNvPr id="21" name="Icon PiCheckLight 2340C8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0410" y="2743200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643018" y="272491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success manager</a:t>
            </a:r>
            <a:endParaRPr lang="en-US" sz="1050" dirty="0"/>
          </a:p>
        </p:txBody>
      </p:sp>
      <p:sp>
        <p:nvSpPr>
          <p:cNvPr id="23" name="Shape 15"/>
          <p:cNvSpPr/>
          <p:nvPr/>
        </p:nvSpPr>
        <p:spPr>
          <a:xfrm>
            <a:off x="4350410" y="3429000"/>
            <a:ext cx="3490874" cy="2651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4624730" y="3657600"/>
            <a:ext cx="2942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4624730" y="3886200"/>
            <a:ext cx="29422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</a:t>
            </a:r>
            <a:endParaRPr lang="en-US" sz="4000" dirty="0"/>
          </a:p>
        </p:txBody>
      </p:sp>
      <p:sp>
        <p:nvSpPr>
          <p:cNvPr id="26" name="Text 18"/>
          <p:cNvSpPr txBox="1"/>
          <p:nvPr/>
        </p:nvSpPr>
        <p:spPr>
          <a:xfrm>
            <a:off x="4624730" y="4572000"/>
            <a:ext cx="2942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user / month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6515405" y="3657600"/>
            <a:ext cx="105156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8" name="Text 20"/>
          <p:cNvSpPr txBox="1"/>
          <p:nvPr/>
        </p:nvSpPr>
        <p:spPr>
          <a:xfrm>
            <a:off x="6515405" y="3657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chosen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8060741" y="731520"/>
            <a:ext cx="34908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Complex, multi-entity organisations</a:t>
            </a:r>
            <a:endParaRPr lang="en-US" sz="1050" dirty="0"/>
          </a:p>
        </p:txBody>
      </p:sp>
      <p:pic>
        <p:nvPicPr>
          <p:cNvPr id="30" name="Icon PiCheckLight 2340C8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0741" y="109728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353349" y="107899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data residency</a:t>
            </a:r>
            <a:endParaRPr lang="en-US" sz="1050" dirty="0"/>
          </a:p>
        </p:txBody>
      </p:sp>
      <p:pic>
        <p:nvPicPr>
          <p:cNvPr id="32" name="Icon PiCheckLight 2340C8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060741" y="1463040"/>
            <a:ext cx="182880" cy="18288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353349" y="144475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audit and admin controls</a:t>
            </a:r>
            <a:endParaRPr lang="en-US" sz="1050" dirty="0"/>
          </a:p>
        </p:txBody>
      </p:sp>
      <p:pic>
        <p:nvPicPr>
          <p:cNvPr id="34" name="Icon PiCheckLight 2340C8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60741" y="1828800"/>
            <a:ext cx="182880" cy="18288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8353349" y="1810512"/>
            <a:ext cx="31251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99.95% uptime SLA</a:t>
            </a:r>
            <a:endParaRPr lang="en-US" sz="1050" dirty="0"/>
          </a:p>
        </p:txBody>
      </p:sp>
      <p:sp>
        <p:nvSpPr>
          <p:cNvPr id="36" name="Shape 25"/>
          <p:cNvSpPr/>
          <p:nvPr/>
        </p:nvSpPr>
        <p:spPr>
          <a:xfrm>
            <a:off x="8060741" y="2514600"/>
            <a:ext cx="3490874" cy="3566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7" name="Text 26"/>
          <p:cNvSpPr txBox="1"/>
          <p:nvPr/>
        </p:nvSpPr>
        <p:spPr>
          <a:xfrm>
            <a:off x="8335061" y="2743200"/>
            <a:ext cx="29422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900" dirty="0"/>
          </a:p>
        </p:txBody>
      </p:sp>
      <p:sp>
        <p:nvSpPr>
          <p:cNvPr id="38" name="Text 27"/>
          <p:cNvSpPr txBox="1"/>
          <p:nvPr/>
        </p:nvSpPr>
        <p:spPr>
          <a:xfrm>
            <a:off x="8335061" y="2971800"/>
            <a:ext cx="294223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4000" dirty="0"/>
          </a:p>
        </p:txBody>
      </p:sp>
      <p:sp>
        <p:nvSpPr>
          <p:cNvPr id="39" name="Text 28"/>
          <p:cNvSpPr txBox="1"/>
          <p:nvPr/>
        </p:nvSpPr>
        <p:spPr>
          <a:xfrm>
            <a:off x="8335061" y="3657600"/>
            <a:ext cx="2942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agreement</a:t>
            </a:r>
            <a:endParaRPr lang="en-US" sz="9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comparison: what each tier includes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11535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86584"/>
                <a:gridCol w="2386584"/>
                <a:gridCol w="2389327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Feature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Essential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Growth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Enterprise</a:t>
                      </a:r>
                      <a:endParaRPr lang="en-US" sz="15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dashboards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Planning and forecasting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scenario planning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connectors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140+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140+ and custom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 included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data residency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 and audit log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accent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Email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 manager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24/7 and TAM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Uptime SLA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99.95%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4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funnel: content drives the top, events close the gap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Fiscal 2026. Bars run left to right; height is proportional to volume.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1779971" cy="29260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429000"/>
            <a:ext cx="14142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2.4M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22192"/>
            <a:ext cx="1414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49240"/>
            <a:ext cx="1779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3203" y="3749040"/>
            <a:ext cx="35661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42327" y="3246120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2327" y="32461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22971" y="2607869"/>
            <a:ext cx="1779971" cy="228234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05851" y="3429000"/>
            <a:ext cx="14142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186K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105851" y="3822192"/>
            <a:ext cx="1414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2922971" y="5349240"/>
            <a:ext cx="1779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sessions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6094" y="3749040"/>
            <a:ext cx="35661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625218" y="3246120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25218" y="32461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05862" y="2900477"/>
            <a:ext cx="1779971" cy="169712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388742" y="3429000"/>
            <a:ext cx="14142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9,450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5388742" y="3822192"/>
            <a:ext cx="1414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205862" y="5349240"/>
            <a:ext cx="1779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fills, events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058985" y="3749040"/>
            <a:ext cx="35661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908109" y="3246120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08109" y="32461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488753" y="3134563"/>
            <a:ext cx="1779971" cy="122895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71633" y="3429000"/>
            <a:ext cx="14142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671633" y="3822192"/>
            <a:ext cx="1414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MQLS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488753" y="5349240"/>
            <a:ext cx="1779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and qualified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341876" y="3749040"/>
            <a:ext cx="356616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91000" y="3246120"/>
            <a:ext cx="658368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91000" y="324612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771644" y="3310128"/>
            <a:ext cx="1779971" cy="8778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954524" y="3429000"/>
            <a:ext cx="141421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1,490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9954524" y="3822192"/>
            <a:ext cx="14142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SQLS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9771644" y="5349240"/>
            <a:ext cx="17799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 by sales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760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SQL fell 22% to $412 as events replaced paid search.</a:t>
            </a:r>
            <a:endParaRPr lang="en-US" sz="11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MARKETING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dashboard: “Plan with Confidence” beat every goal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12-week integrated campaign, Q3 2026.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590724" cy="1143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92024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57984"/>
            <a:ext cx="213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$8.6M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54381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43%</a:t>
            </a: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goal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3684" y="1783080"/>
            <a:ext cx="2590724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192024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157984"/>
            <a:ext cx="213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2,940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254381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18%</a:t>
            </a: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goal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87288" y="1783080"/>
            <a:ext cx="2590724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5888" y="192024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LEAD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6415888" y="2157984"/>
            <a:ext cx="213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$118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15888" y="254381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21%</a:t>
            </a: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lower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960891" y="1783080"/>
            <a:ext cx="2590724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89491" y="192024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6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9189491" y="2157984"/>
            <a:ext cx="213352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7.4×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189491" y="2543810"/>
            <a:ext cx="21335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2.1×</a:t>
            </a:r>
            <a:r>
              <a:rPr lang="en-US" sz="9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goal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7155485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3291840"/>
            <a:ext cx="66982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leads by source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37965" y="3374136"/>
            <a:ext cx="256032" cy="320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67149" y="3291840"/>
            <a:ext cx="6181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213299" y="3374136"/>
            <a:ext cx="256032" cy="320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42483" y="3291840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26454" y="3374136"/>
            <a:ext cx="256032" cy="320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55638" y="3291840"/>
            <a:ext cx="4315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8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3584448"/>
          <a:ext cx="6972605" cy="2404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7978445" y="3108960"/>
            <a:ext cx="3573170" cy="2971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07045" y="3291840"/>
            <a:ext cx="31159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by channel</a:t>
            </a:r>
            <a:endParaRPr lang="en-US" sz="105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8069885" y="3584448"/>
          <a:ext cx="1864660" cy="24048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Shape 30"/>
          <p:cNvSpPr/>
          <p:nvPr/>
        </p:nvSpPr>
        <p:spPr>
          <a:xfrm>
            <a:off x="10036253" y="4133088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0237421" y="40873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10237421" y="42885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10036253" y="4681728"/>
            <a:ext cx="118872" cy="1188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10237421" y="46360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950" dirty="0"/>
          </a:p>
        </p:txBody>
      </p:sp>
      <p:sp>
        <p:nvSpPr>
          <p:cNvPr id="39" name="Text 35"/>
          <p:cNvSpPr txBox="1"/>
          <p:nvPr/>
        </p:nvSpPr>
        <p:spPr>
          <a:xfrm>
            <a:off x="10237421" y="483717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10036253" y="5230368"/>
            <a:ext cx="118872" cy="1188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237421" y="5184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</a:t>
            </a:r>
            <a:endParaRPr lang="en-US" sz="950" dirty="0"/>
          </a:p>
        </p:txBody>
      </p:sp>
      <p:sp>
        <p:nvSpPr>
          <p:cNvPr id="42" name="Text 38"/>
          <p:cNvSpPr txBox="1"/>
          <p:nvPr/>
        </p:nvSpPr>
        <p:spPr>
          <a:xfrm>
            <a:off x="10237421" y="5385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NEXT STEPS · CASE STUDY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49808"/>
            <a:ext cx="72012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Arcwell Systems closed its books in 4 days instead of 12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171203" y="7498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0314203" y="731520"/>
            <a:ext cx="1237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software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171203" y="11155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314203" y="1097280"/>
            <a:ext cx="1237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2,300 employees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71203" y="1481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40" kern="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0314203" y="1463040"/>
            <a:ext cx="1237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Planning, Forecasting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05740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60320"/>
            <a:ext cx="2654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971800"/>
            <a:ext cx="26547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consolidated 14 entities in spreadsheets. Month-end close took 12 days and forecasts were six weeks out of date.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59988" y="205740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59988" y="2560320"/>
            <a:ext cx="26547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559988" y="2971800"/>
            <a:ext cx="26547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connected the ERP and CRM in three weeks, automated consolidation and moved forecasting to a rolling weekly cycle.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79896" y="1783080"/>
            <a:ext cx="5711800" cy="5074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37096" y="2057400"/>
            <a:ext cx="479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8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AFTER SIX MONTHS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6937096" y="24688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days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9771736" y="2670048"/>
            <a:ext cx="187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close, from 12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937096" y="3456432"/>
            <a:ext cx="4705960" cy="0"/>
          </a:xfrm>
          <a:prstGeom prst="line">
            <a:avLst/>
          </a:prstGeom>
          <a:noFill/>
          <a:ln w="12700">
            <a:solidFill>
              <a:srgbClr val="4A63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37096" y="3657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9771736" y="3858768"/>
            <a:ext cx="187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accuracy, from 71%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37096" y="4645152"/>
            <a:ext cx="4705960" cy="0"/>
          </a:xfrm>
          <a:prstGeom prst="line">
            <a:avLst/>
          </a:prstGeom>
          <a:noFill/>
          <a:ln w="12700">
            <a:solidFill>
              <a:srgbClr val="4A63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37096" y="4846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</a:t>
            </a:r>
            <a:endParaRPr lang="en-US" sz="4400" dirty="0"/>
          </a:p>
        </p:txBody>
      </p:sp>
      <p:sp>
        <p:nvSpPr>
          <p:cNvPr id="26" name="Text 24"/>
          <p:cNvSpPr txBox="1"/>
          <p:nvPr/>
        </p:nvSpPr>
        <p:spPr>
          <a:xfrm>
            <a:off x="9771736" y="5047488"/>
            <a:ext cx="187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capital released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257800"/>
            <a:ext cx="516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now spend the first week of the month deciding, not reconciling.”  — Group Finance Director</a:t>
            </a:r>
            <a:endParaRPr lang="en-US" sz="1300" dirty="0"/>
          </a:p>
        </p:txBody>
      </p:sp>
      <p:sp>
        <p:nvSpPr>
          <p:cNvPr id="28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endParaRPr lang="en-US" sz="2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NEXT STEPS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and after: every finance cycle got faster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170469" y="786384"/>
            <a:ext cx="338114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Arcwell Systems, working days per cycle, six months before and after go-live.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7201205" cy="429768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75104"/>
            <a:ext cx="118872" cy="11887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1938528"/>
            <a:ext cx="5559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99539" y="1975104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82419" y="193852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77240" y="2240280"/>
          <a:ext cx="6926885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8380781" y="1828800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80781" y="2029968"/>
            <a:ext cx="21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Month-end close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637215" y="2048256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637215" y="2048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−67%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380781" y="2670048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380781" y="2871216"/>
            <a:ext cx="21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cycle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637215" y="2889504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637215" y="28895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−63%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380781" y="3511296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80781" y="3712464"/>
            <a:ext cx="21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refresh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10637215" y="3730752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637215" y="3730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−83%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8380781" y="4352544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0781" y="4553712"/>
            <a:ext cx="21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pack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637215" y="4572000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0637215" y="45720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−67%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380781" y="5193792"/>
            <a:ext cx="3170834" cy="0"/>
          </a:xfrm>
          <a:prstGeom prst="line">
            <a:avLst/>
          </a:prstGeom>
          <a:noFill/>
          <a:ln w="9525">
            <a:solidFill>
              <a:srgbClr val="E4E0D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80781" y="5394960"/>
            <a:ext cx="21649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 review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0637215" y="5413248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10637215" y="54132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−67%</a:t>
            </a:r>
            <a:endParaRPr lang="en-US" sz="8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5321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NEXT STEPS</a:t>
            </a:r>
            <a:endParaRPr lang="en-US" sz="85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70640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remember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i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3393338" cy="0"/>
          </a:xfrm>
          <a:prstGeom prst="line">
            <a:avLst/>
          </a:prstGeom>
          <a:noFill/>
          <a:ln w="19050">
            <a:solidFill>
              <a:srgbClr val="1D328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3749040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 year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3393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up 31% to $84.2M with operating margin at 18.6% — growth and profitability together.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399178" y="2103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i="1" dirty="0">
                <a:solidFill>
                  <a:schemeClr val="accent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10" name="Shape 8"/>
          <p:cNvSpPr/>
          <p:nvPr/>
        </p:nvSpPr>
        <p:spPr>
          <a:xfrm>
            <a:off x="4399178" y="3520440"/>
            <a:ext cx="3393338" cy="0"/>
          </a:xfrm>
          <a:prstGeom prst="line">
            <a:avLst/>
          </a:prstGeom>
          <a:noFill/>
          <a:ln w="19050">
            <a:solidFill>
              <a:srgbClr val="1D32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99178" y="3749040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clear plan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399178" y="4251960"/>
            <a:ext cx="3393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priorities and three horizons take us to $150M by 2028 with international scale.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58277" y="21031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14" name="Shape 12"/>
          <p:cNvSpPr/>
          <p:nvPr/>
        </p:nvSpPr>
        <p:spPr>
          <a:xfrm>
            <a:off x="8158277" y="3520440"/>
            <a:ext cx="3393338" cy="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58277" y="3749040"/>
            <a:ext cx="33933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decision today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158277" y="4251960"/>
            <a:ext cx="33933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2027 investment plan: $14M for enterprise, EU expansion and AI planning.</a:t>
            </a:r>
            <a:endParaRPr lang="en-US" sz="115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chemeClr val="accent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1051560"/>
            <a:ext cx="4754880" cy="4754880"/>
          </a:xfrm>
          <a:prstGeom prst="ellipse">
            <a:avLst/>
          </a:prstGeom>
          <a:ln w="1143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50454" y="1669694"/>
            <a:ext cx="3518611" cy="3518611"/>
          </a:xfrm>
          <a:prstGeom prst="ellipse">
            <a:avLst/>
          </a:prstGeom>
          <a:ln w="1143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2240280"/>
            <a:ext cx="2377440" cy="2377440"/>
          </a:xfrm>
          <a:prstGeom prst="ellipse">
            <a:avLst/>
          </a:prstGeom>
          <a:ln w="1143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34272" y="2953512"/>
            <a:ext cx="950976" cy="95097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Shape 4"/>
          <p:cNvSpPr/>
          <p:nvPr/>
        </p:nvSpPr>
        <p:spPr>
          <a:xfrm>
            <a:off x="7220833" y="2561004"/>
            <a:ext cx="109728" cy="109728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5"/>
          <p:cNvSpPr/>
          <p:nvPr/>
        </p:nvSpPr>
        <p:spPr>
          <a:xfrm>
            <a:off x="11121818" y="3989570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hape 6"/>
          <p:cNvSpPr/>
          <p:nvPr/>
        </p:nvSpPr>
        <p:spPr>
          <a:xfrm>
            <a:off x="8883396" y="4426458"/>
            <a:ext cx="64008" cy="6400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10671048" y="1342645"/>
            <a:ext cx="54864" cy="54864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548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79092"/>
            <a:ext cx="82296" cy="8229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1828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22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48840"/>
            <a:ext cx="6400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4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build
what comes
</a:t>
            </a:r>
            <a:r>
              <a:rPr lang="en-US" sz="5400" i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640080" y="4937760"/>
            <a:ext cx="2377440" cy="5029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49377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a strategy session</a:t>
            </a:r>
            <a:endParaRPr lang="en-US" sz="1050" dirty="0"/>
          </a:p>
        </p:txBody>
      </p:sp>
      <p:pic>
        <p:nvPicPr>
          <p:cNvPr id="16" name="Icon PiEnvelopeSimpleLight B7C6F5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280" y="507492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703320" y="5047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hello@haldengroup.com</a:t>
            </a:r>
            <a:endParaRPr lang="en-US" sz="1050" dirty="0"/>
          </a:p>
        </p:txBody>
      </p:sp>
      <p:pic>
        <p:nvPicPr>
          <p:cNvPr id="18" name="Icon PiGlobeLight B7C6F5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0720" y="507492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080760" y="5047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www.haldengroup.com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6263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Halden Group · Business Presentation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nta 02">
  <a:themeElements>
    <a:clrScheme name="Vanta 02">
      <a:dk1>
        <a:srgbClr val="1A1D23"/>
      </a:dk1>
      <a:lt1>
        <a:srgbClr val="FFFFFF"/>
      </a:lt1>
      <a:dk2>
        <a:srgbClr val="13246B"/>
      </a:dk2>
      <a:lt2>
        <a:srgbClr val="F8F5EF"/>
      </a:lt2>
      <a:accent1>
        <a:srgbClr val="2340C8"/>
      </a:accent1>
      <a:accent2>
        <a:srgbClr val="FF6B4A"/>
      </a:accent2>
      <a:accent3>
        <a:srgbClr val="B7C6F5"/>
      </a:accent3>
      <a:accent4>
        <a:srgbClr val="DCDFE6"/>
      </a:accent4>
      <a:accent5>
        <a:srgbClr val="6B7080"/>
      </a:accent5>
      <a:accent6>
        <a:srgbClr val="FFD3C4"/>
      </a:accent6>
      <a:hlink>
        <a:srgbClr val="2340C8"/>
      </a:hlink>
      <a:folHlink>
        <a:srgbClr val="6B7080"/>
      </a:folHlink>
    </a:clrScheme>
    <a:fontScheme name="Vanta 02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anta 02">
  <a:themeElements>
    <a:clrScheme name="Vanta 02">
      <a:dk1>
        <a:srgbClr val="1A1D23"/>
      </a:dk1>
      <a:lt1>
        <a:srgbClr val="FFFFFF"/>
      </a:lt1>
      <a:dk2>
        <a:srgbClr val="13246B"/>
      </a:dk2>
      <a:lt2>
        <a:srgbClr val="F8F5EF"/>
      </a:lt2>
      <a:accent1>
        <a:srgbClr val="2340C8"/>
      </a:accent1>
      <a:accent2>
        <a:srgbClr val="FF6B4A"/>
      </a:accent2>
      <a:accent3>
        <a:srgbClr val="B7C6F5"/>
      </a:accent3>
      <a:accent4>
        <a:srgbClr val="DCDFE6"/>
      </a:accent4>
      <a:accent5>
        <a:srgbClr val="6B7080"/>
      </a:accent5>
      <a:accent6>
        <a:srgbClr val="FFD3C4"/>
      </a:accent6>
      <a:hlink>
        <a:srgbClr val="2340C8"/>
      </a:hlink>
      <a:folHlink>
        <a:srgbClr val="6B7080"/>
      </a:folHlink>
    </a:clrScheme>
    <a:fontScheme name="Vanta 02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Vanta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Vanta — Business Presentation Template 02</dc:title>
  <dc:subject>PptxGenJS Presentation</dc:subject>
  <dc:creator>Vanta Studio</dc:creator>
  <cp:lastModifiedBy>Vanta Studio</cp:lastModifiedBy>
  <cp:revision>1</cp:revision>
  <dcterms:created xsi:type="dcterms:W3CDTF">2026-10-02T08:27:18Z</dcterms:created>
  <dcterms:modified xsi:type="dcterms:W3CDTF">2026-10-02T08:27:18Z</dcterms:modified>
</cp:coreProperties>
</file>